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548235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7F1D1D"/>
              </a:solidFill>
            </c:spPr>
          </c:dPt>
          <c:dPt>
            <c:idx val="2"/>
            <c:spPr>
              <a:solidFill>
                <a:srgbClr val="7F1D1D"/>
              </a:solidFill>
            </c:spPr>
          </c:dPt>
          <c:dPt>
            <c:idx val="3"/>
            <c:spPr>
              <a:solidFill>
                <a:srgbClr val="7F1D1D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F4E78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548235"/>
              </a:solidFill>
            </c:spPr>
          </c:dPt>
          <c:dPt>
            <c:idx val="2"/>
            <c:spPr>
              <a:solidFill>
                <a:srgbClr val="548235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ABA/ABS
avg (ref.)</c:v>
                </c:pt>
                <c:pt idx="4">
                  <c:v>Concentric conv.
pumps avg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42.4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C06C2C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Operating margin by phase: 2.7% -&gt; ~10% (phase 1) -&gt; 15% -&gt; 26.6% ceiling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 %</c:v>
                </c:pt>
              </c:strCache>
            </c:strRef>
          </c:tx>
          <c:spPr>
            <a:solidFill>
              <a:srgbClr val="1F4E78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548235"/>
              </a:solidFill>
            </c:spPr>
          </c:dPt>
          <c:dPt>
            <c:idx val="2"/>
            <c:spPr>
              <a:solidFill>
                <a:srgbClr val="2E592E"/>
              </a:solidFill>
            </c:spPr>
          </c:dPt>
          <c:dPt>
            <c:idx val="3"/>
            <c:spPr>
              <a:solidFill>
                <a:srgbClr val="595959"/>
              </a:solidFill>
            </c:spPr>
          </c:dPt>
          <c:cat>
            <c:strRef>
              <c:f>Sheet1!$A$2:$A$5</c:f>
              <c:strCache>
                <c:ptCount val="4"/>
                <c:pt idx="0">
                  <c:v>Actual
FY3/26</c:v>
                </c:pt>
                <c:pt idx="1">
                  <c:v>PHASE 1 (realistic)
+9% reprice, ~450 heads</c:v>
                </c:pt>
                <c:pt idx="2">
                  <c:v>PHASE 2 (full realization)
+15%, 500 heads</c:v>
                </c:pt>
                <c:pt idx="3">
                  <c:v>FULL premises
(leakage meter)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10.6</c:v>
                </c:pt>
                <c:pt idx="2">
                  <c:v>15.0</c:v>
                </c:pt>
                <c:pt idx="3">
                  <c:v>26.6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F4E78"/>
            </a:solidFill>
          </c:spPr>
          <c:dPt>
            <c:idx val="4"/>
            <c:spPr>
              <a:solidFill>
                <a:srgbClr val="7F1D1D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7F1D1D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548235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average (5 peers)</c:v>
                </c:pt>
              </c:strCache>
            </c:strRef>
          </c:tx>
          <c:spPr>
            <a:ln w="28575">
              <a:solidFill>
                <a:srgbClr val="595959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</c:v>
                </c:pt>
                <c:pt idx="1">
                  <c:v>5.9</c:v>
                </c:pt>
                <c:pt idx="2">
                  <c:v>6.3</c:v>
                </c:pt>
                <c:pt idx="3">
                  <c:v>2.8</c:v>
                </c:pt>
                <c:pt idx="4">
                  <c:v>5.1</c:v>
                </c:pt>
                <c:pt idx="5">
                  <c:v>4.3</c:v>
                </c:pt>
                <c:pt idx="6">
                  <c:v>6.7</c:v>
                </c:pt>
                <c:pt idx="7">
                  <c:v>4.1</c:v>
                </c:pt>
                <c:pt idx="8">
                  <c:v>5.5</c:v>
                </c:pt>
                <c:pt idx="9">
                  <c:v>4.6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filings, TBK's audited FY3/2026 results, and company-internal product economics (TBK, Concentric AR2023 + MR pack, Haldex)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stock, not the flow: competitors' capitalized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base in the peer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knowledge-intensive business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case that TBK's gross margin is structurally too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Same product categories, same customers' industry — 5-15 points more margin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and the phased pro-forma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(later page) shows the full management-premise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Product-level proof: same pumps, half 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Customer curve: Isuzu 25.8% &gt; MMTH 23.0% &gt; ITT 22.6% &gt; Kubota 17.0%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e-pump/TCU program targets exactly this ladder — the data proves the rungs exist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Inside TBK Japan: the keiretsu discount, quantified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Haldex lesson: aftermarket is the profit pool — and subscale OE discs lose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9788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F4E78"/>
                </a:solidFill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 segment: TBK vs Haldex — product-level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…and the AFTERMARKET annuity: 48.2% CII vs TBK Sales 30.2%, on 4x the sales weight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SAW case: TBK's best product, sold ~30% below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At market price, SAW earns 38-44% contribution — exactly the level of Haldex's core products (ABA 41.4%, ABS 43.4%)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Price flows straight to contribution: no cost change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Class-leading tech + below-market price = the export business case writes itself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 segment: TBK vs Concentric — product-level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normalized TBK: right prices, right factories, real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Pro-forma on audited FY3/2026 — pricing corrected (SAW only), factory structure fixed, competitive R&amp;D loaded. Deficit repayment kept separate, per scope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3093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463040"/>
            <a:ext cx="47091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PHASE 1 — the realistic target: ~10% OPM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Sales 59,342 | GP 13,211 (22.3%) | R&amp;D 2,789 at 4.7% | OP 6,263 (10.6%) | Net 4,398 = ¥138 EPS (~2.2x mkt cap)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Captures only ~1/3 of the stated pricing gap + ~45% of excess heads — via pruning, renewal-cycle repricing, aftermarket/non-keiretsu mix, first consolidations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Funds the entire R&amp;D program (incl. deficit memo) in ~18-24 months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840480"/>
            <a:ext cx="47091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Why not more, at first — operator calibration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 peaked at ~22% OPM — on best-in-class FULL price realization, a discipline built over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 could have reached ~30% by shedding Europe for the US — portfolio focus is the second lever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Above ~10% in phase 1 is difficult: keiretsu contracts reprice at renewal, factories close on multi-year clocks. Phase 2 (15%) = Concentric-grade realization + grown aftermarket. FULL premises (26.6%) = leakage meter, not a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F4E78"/>
                </a:solidFill>
              </a:rPr>
              <a:t>Nothing here requires new products or customers — existing book, honest prices, loaded factories, peer-level R&amp;D (4.7%) absorbed in every phase. MEMO (separate financing): R&amp;D deficit ~¥1.5bn/yr x5, ADB capex ¥4.5-7.5bn, restructuring cash ~¥2-3bn. Premises are management/first-hand information; phasing reflects operator experience at Concentric and Haldex.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Why TBK looks lean on OPEX: its factory costs hide in COGS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segment sales + losses both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That IS the underutilized-footprint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phase-1 pro-forma uplift (+¥4.8bn / ~$32M operating profit vs actual) more than covers the ~$27M/yr program.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I: external quality &amp; service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Brembo: all 10 F1 teams; AMS brake-brand vote 11 of 13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every proxy the systems players lead — and TBK does not appear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E78"/>
                </a:solidFill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II: innovation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innovation is real but INVISIBLE: 75 years of retarder/brake/pump engineering, an ADB prototype, e-pumps and a thermal control unit in development — none of it patented at scale, published at JSAE, or externally awarded. Invisible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framework ranking: TBK scores 5.38 — 9th of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incl. TBK 5.38, Mikuni 5.00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Durable problem, fragile solution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moat profile: where it is strong, where it bleeds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Chapter scores (1-10) — TBK vs Concentric (best newly scored) vs the average of the five newly scored peers (TBK excluded from the average)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Substitution 3.5 — both products in active displacement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criteria: TBK vs competitors, criterion by criterion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Research quality &amp; methodology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How this material was produced, verified, and where its limits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3: single-source estimates and market research — always labeled in the underlying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Aggregator's 'TBK FY26 ¥138M profit' contradicted by the audited tanshin (-¥131M)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ADB exhibit year unresolved (2019 vs 2022 sources conflict); Concentric MR pack period 2112 = Dec 2021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FY3/26 division split estimated from FY3/25 (yuho due June 2026); USD at ¥150/USD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Company-internal documents (TBK/TBKK product P&amp;Ls, Concentric MR pack, Haldex packs) and management statements (~30% below-market pricing, ~1,000 excess heads) are first-hand but NOT externally verified — labeled wherever used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Scenario pages state assumptions on-slide; peer-margin scenarios use comparable reporters only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User-provided datasets: TBK 10-year financials; Peers 10-year; Peers LTM (7 companies, consistent methodology); moat methodology v3.2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Internal management documents: TBK Japan profitability by product/customer + share map + acquired projects (H1 FY2025); TBKK Thailand profit by items (Apr-Sep 2025); Concentric Group MR Pack (Dec 2021); Haldex analysis file (2019) and May-2014 MR pack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