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Sheet1!$A$2:$A$12</c:f>
              <c:strCache>
                <c:ptCount val="11"/>
                <c:pt idx="0">
                  <c:v>TBK</c:v>
                </c:pt>
                <c:pt idx="1">
                  <c:v>SAF-Holland</c:v>
                </c:pt>
                <c:pt idx="2">
                  <c:v>Cummins</c:v>
                </c:pt>
                <c:pt idx="3">
                  <c:v>Aisin</c:v>
                </c:pt>
                <c:pt idx="4">
                  <c:v>Concentric*</c:v>
                </c:pt>
                <c:pt idx="5">
                  <c:v>Hanon*</c:v>
                </c:pt>
                <c:pt idx="6">
                  <c:v>Mahle</c:v>
                </c:pt>
                <c:pt idx="7">
                  <c:v>Mikuni</c:v>
                </c:pt>
                <c:pt idx="8">
                  <c:v>Brembo</c:v>
                </c:pt>
                <c:pt idx="9">
                  <c:v>Knorr-Bremse</c:v>
                </c:pt>
                <c:pt idx="10">
                  <c:v>ZF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2.2</c:v>
                </c:pt>
                <c:pt idx="1">
                  <c:v>2.1</c:v>
                </c:pt>
                <c:pt idx="2">
                  <c:v>4.3</c:v>
                </c:pt>
                <c:pt idx="3">
                  <c:v>4.8</c:v>
                </c:pt>
                <c:pt idx="4">
                  <c:v>5.0</c:v>
                </c:pt>
                <c:pt idx="5">
                  <c:v>5.0</c:v>
                </c:pt>
                <c:pt idx="6">
                  <c:v>5.4</c:v>
                </c:pt>
                <c:pt idx="7">
                  <c:v>5.4</c:v>
                </c:pt>
                <c:pt idx="8">
                  <c:v>6.1</c:v>
                </c:pt>
                <c:pt idx="9">
                  <c:v>6.9</c:v>
                </c:pt>
                <c:pt idx="10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TBK gross profit (¥bn): actual FY3/2026 vs peer-margin scenarios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(¥bn)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MEDIAN</c:v>
                </c:pt>
                <c:pt idx="2">
                  <c:v>At peer
AVERAGE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4.4</c:v>
                </c:pt>
                <c:pt idx="2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/ engine components (¥bn)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MEDIAN</c:v>
                </c:pt>
                <c:pt idx="2">
                  <c:v>At peer
AVERAGE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4.3</c:v>
                </c:pt>
                <c:pt idx="2">
                  <c:v>5.1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(¥bn)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MEDIAN</c:v>
                </c:pt>
                <c:pt idx="2">
                  <c:v>At peer
AVERAGE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6.8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7F1D1D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/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F4E78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548235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Closing the R&amp;D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0DCE8"/>
                </a:solidFill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8B8C8"/>
                </a:solidFill>
              </a:rPr>
              <a:t>Based on peer-reviewed and adversarially verified research, competitor filings, and TBK's audited FY3/2026 results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Brakes: drum brakes are a shrinking island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 from peer-reviewed literature, regulatory records, and industry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Drums: ~18% of EU demand (off-road)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Trailers still lag at ~15%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Domestic flip is when, not if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EBS/AEB/ADAS mandates favor disc actuation precision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Value shifts: wear parts → corrosion/NVH/low-dust + retarders &amp; blending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Pumps: electrification grows the category — and reallocates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Verified findings: peer-reviewed thermal studies, regulatory texts, and adversarial company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Small lever → slow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protected short-term, atrophied long-term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→ content/vehicle ~8-30x diesel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EC antitrust (M.8102): pump niches at 90-100% concentration — sockets are sticky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Sockets are awarded years before volume (Pierburg order book runs 2028-35)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Same customers — two different purchase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Isuzu, Fuso, Hino, Komatsu buy both product lines, but through different people, cycles, and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4E78"/>
                </a:solidFill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Competitors kept innovating — in brakes and in pumps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Every relevant peer has repositioned its product line for discs, electronics, and electrification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Concentric/Pierburg: 400-800V e-coolant pump families; e-products 24% of Concentric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The pattern: every pump peer redirected R&amp;D to electric pumps &amp; BEV thermal — the exact adjacency open to TBK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competitors spend on R&amp;D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TBK ¥1.2bn (~$8M)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Brake systems players spend 6-9% of sales; pump/thermal players cluster at 4-5.5%. TBK sits at 2.2% — trailer-parts intensity, while facing a systems transition in brakes AND a socket race in pumps. *Hanon mid-range of conflicting filings; Concentric per secondary source.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At peer gross margins, TBK's gross profit rises 28-33%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Updated to TBK's audited FY3/2026 results (tanshin, May 2026): gross margin recovered to 12.5% — gap to peers narrowed but remains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0350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766560" y="1463040"/>
            <a:ext cx="4983480" cy="2331720"/>
          </a:xfrm>
          <a:prstGeom prst="rect">
            <a:avLst/>
          </a:prstGeom>
          <a:solidFill>
            <a:srgbClr val="F2F2F2"/>
          </a:solidFill>
          <a:ln w="15875">
            <a:solidFill>
              <a:srgbClr val="1F4E78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1F4E78"/>
                </a:solidFill>
              </a:rPr>
              <a:t>Peer margin statistics (comparable set only)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BRAKES — avg 21.0% | median 23.4%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(Haldex 27.3%, Cummins 24.7%, SAF-Holland ~22%, Akebono 10.0%)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PUMPS — avg 14.3% | median 12.1%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(TPR 21.7%, Aisin 12.1%, Hanon 9.1%)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3931920"/>
            <a:ext cx="4983480" cy="233172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math (TBK FY3/2026, ¥M)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Sales ¥54,756; division split est. from FY3/25 (34.7% / 65.3%)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Brakes ~¥18,981 x 21.0% / 23.4% = ¥3,986 / ¥4,432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Pumps &amp; eng. comp. ~¥35,775 x 14.3% / 12.1% = ¥5,116 / ¥4,329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TOTAL: avg ¥9,102 (16.6%) | median ¥8,761 (16.0%)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202020"/>
                </a:solidFill>
              </a:rPr>
              <a:t>vs actual ¥6,825 (12.5%) → UPLIFT +¥1.9-2.3bn = +28-33%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95959"/>
                </a:solidFill>
              </a:rPr>
              <a:t>FY3/2026 marks real progress: gross margin 10.6% → 12.5% (cost of sales cut ¥0.7bn on flat sales), operating profit +59%, North America exited, ¥1.1bn equity raised from Brakes India, capex up to ¥3.3bn. Even so, peer-parity margins would add ~¥2bn more gross profit — still roughly the cost of the full R&amp;D catch-up program (~¥2.6bn/yr). Caveats: FY3/26 division split estimated (yuho due June 2026); peer set excludes nature-of-expense reporters and customers.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TBK's accumulated R&amp;D deficit: ~US$100M over a decade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TBK dataset FY2016-2025; benchmark = blended peer floor for a brake + pump supplier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7F1D1D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7F1D1D"/>
                </a:solidFill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202020"/>
                </a:solidFill>
              </a:rPr>
              <a:t>2.6% (FY22) → 2.2% (FY25)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8"/>
          </a:solidFill>
        </p:spPr>
        <p:txBody>
          <a:bodyPr wrap="square" lIns="457200" tIns="164592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The reinvestment requirement: two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2F2F2"/>
          </a:solidFill>
          <a:ln w="15875">
            <a:solidFill>
              <a:srgbClr val="548235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500" b="1">
                <a:solidFill>
                  <a:srgbClr val="548235"/>
                </a:solidFill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202020"/>
                </a:solidFill>
              </a:rPr>
              <a:t>(~$30-50M, outside R&amp;D line)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FY3/26 margin recovery (+¥1bn gross profit) plus peer-parity margin upside (~¥2bn) covers the program.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