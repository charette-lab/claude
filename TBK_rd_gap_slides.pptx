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4" r:id="rId15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TBK</c:v>
                </c:pt>
                <c:pt idx="1">
                  <c:v>SAF-Holland</c:v>
                </c:pt>
                <c:pt idx="2">
                  <c:v>Cummins</c:v>
                </c:pt>
                <c:pt idx="3">
                  <c:v>Aisin</c:v>
                </c:pt>
                <c:pt idx="4">
                  <c:v>Concentric*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2.2</c:v>
                </c:pt>
                <c:pt idx="1">
                  <c:v>2.1</c:v>
                </c:pt>
                <c:pt idx="2">
                  <c:v>4.3</c:v>
                </c:pt>
                <c:pt idx="3">
                  <c:v>4.8</c:v>
                </c:pt>
                <c:pt idx="4">
                  <c:v>5.0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FY25
actual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FY25
actual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TBK gross profit (¥bn): actual vs peer-margin scenarios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(¥bn)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FY3/2025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4.4</c:v>
                </c:pt>
                <c:pt idx="2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/ engine components (¥bn)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FY3/2025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4.3</c:v>
                </c:pt>
                <c:pt idx="2">
                  <c:v>5.1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(¥bn)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FY3/2025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 plus competitor filings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Concentric/Pierburg: 400-800V e-coolant pump families; e-products 24% of Concentric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Brake systems players spend 6-9% of sales; pump/thermal players cluster at 4-5.5%. TBK sits at 2.2% — trailer-parts intensity, while facing a systems transition in brakes AND a socket race in pumps. *Hanon mid-range of conflicting filings; Concentric per secondary source.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also fell from $59M (FY16) to $16M (FY25).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Two decision rooms at the same customers — two ring-fenced programs.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At peer gross margins, TBK's gross profit rises 51-57%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FY3/2025 division sales x comparable-peer margin statistics (nature-of-expense reporters excluded)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3317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 margin statistics (comparable set only)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BRAKES — avg 21.0% | median 23.4%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(Haldex 27.3%, Cummins 24.7%, SAF-Holland ~22%, Akebono 10.0% — Akebono drags the average below the median)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PUMPS — avg 14.3% | median 12.1%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(TPR 21.7%, Aisin 12.1%, Hanon 9.1% — TPR lifts the average above the median)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931920"/>
            <a:ext cx="4983480" cy="23317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math (TBK FY3/2025, ¥M)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Brakes ¥18,863 x 21.0% / 23.4% = ¥3,961 / ¥4,405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Pumps &amp; eng. comp. ¥35,552 x 14.3% / 12.1% = ¥5,084 / ¥4,302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TOTAL: avg ¥9,045 (16.6% blended) | median ¥8,706 (16.0%)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vs actual ¥5,768 (10.6%)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UPLIFT: +¥2.9-3.3bn gross profit = +51-57%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Read: closing the margin gap to mere peer parity adds ~¥3bn of annual gross profit at constant sales — by itself enough to fund the entire R&amp;D catch-up program (~¥2.6bn/yr incl. deficit repayment). Caveats: TBK's filings split products only into 'brakes' and 'engine components &amp; other' (pumps not separated — castings/engine parts included); peer set excludes Knorr-Bremse/Brembo (materials-only accounting) and customers Isuzu/Hino.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