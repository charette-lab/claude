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Capitalized R&amp;D stock,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Sheet1!$A$2:$A$7</c:f>
              <c:strCache>
                <c:ptCount val="6"/>
                <c:pt idx="0">
                  <c:v>TBK</c:v>
                </c:pt>
                <c:pt idx="1">
                  <c:v>Akebono</c:v>
                </c:pt>
                <c:pt idx="2">
                  <c:v>SAF-Holland</c:v>
                </c:pt>
                <c:pt idx="3">
                  <c:v>Mikuni</c:v>
                </c:pt>
                <c:pt idx="4">
                  <c:v>Knorr-Bremse</c:v>
                </c:pt>
                <c:pt idx="5">
                  <c:v>Cummins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  <c:pt idx="4">
                  <c:v>2569</c:v>
                </c:pt>
                <c:pt idx="5">
                  <c:v>5594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6F899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3C3937"/>
              </a:solidFill>
            </c:spPr>
          </c:dPt>
          <c:dPt>
            <c:idx val="2"/>
            <c:spPr>
              <a:solidFill>
                <a:srgbClr val="3C3937"/>
              </a:solidFill>
            </c:spPr>
          </c:dPt>
          <c:dPt>
            <c:idx val="3"/>
            <c:spPr>
              <a:solidFill>
                <a:srgbClr val="3C3937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ABA/ABS
avg (ref.)</c:v>
                </c:pt>
                <c:pt idx="4">
                  <c:v>Concentric conv.
pumps avg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42.4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9A958E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Operating margin by phase: 2.7% -&gt; ~10% (phase 1) -&gt; 15% -&gt; 26.6% ceiling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314359"/>
              </a:solidFill>
            </c:spPr>
          </c:dPt>
          <c:dPt>
            <c:idx val="3"/>
            <c:spPr>
              <a:solidFill>
                <a:srgbClr val="556A83"/>
              </a:solidFill>
            </c:spPr>
          </c:dPt>
          <c:cat>
            <c:strRef>
              <c:f>Sheet1!$A$2:$A$5</c:f>
              <c:strCache>
                <c:ptCount val="4"/>
                <c:pt idx="0">
                  <c:v>Actual
FY3/26</c:v>
                </c:pt>
                <c:pt idx="1">
                  <c:v>PHASE 1 (realistic)
+9% reprice, ~450 heads</c:v>
                </c:pt>
                <c:pt idx="2">
                  <c:v>PHASE 2 (full realization)
+15%, 500 heads</c:v>
                </c:pt>
                <c:pt idx="3">
                  <c:v>FULL premises
(leakage meter)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10.6</c:v>
                </c:pt>
                <c:pt idx="2">
                  <c:v>15.0</c:v>
                </c:pt>
                <c:pt idx="3">
                  <c:v>26.6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4"/>
            <c:spPr>
              <a:solidFill>
                <a:srgbClr val="3C3937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3C3937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6F8990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average (5 peers)</c:v>
                </c:pt>
              </c:strCache>
            </c:strRef>
          </c:tx>
          <c:spPr>
            <a:ln w="28575">
              <a:solidFill>
                <a:srgbClr val="556A83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</c:v>
                </c:pt>
                <c:pt idx="1">
                  <c:v>5.9</c:v>
                </c:pt>
                <c:pt idx="2">
                  <c:v>6.3</c:v>
                </c:pt>
                <c:pt idx="3">
                  <c:v>2.8</c:v>
                </c:pt>
                <c:pt idx="4">
                  <c:v>5.1</c:v>
                </c:pt>
                <c:pt idx="5">
                  <c:v>4.3</c:v>
                </c:pt>
                <c:pt idx="6">
                  <c:v>6.7</c:v>
                </c:pt>
                <c:pt idx="7">
                  <c:v>4.1</c:v>
                </c:pt>
                <c:pt idx="8">
                  <c:v>5.5</c:v>
                </c:pt>
                <c:pt idx="9">
                  <c:v>4.6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pic>
        <p:nvPicPr>
          <p:cNvPr id="3" name="Picture 2" descr="athanas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2377440" cy="4911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FFFFFF"/>
                </a:solidFill>
                <a:latin typeface="Times New Roman"/>
              </a:rPr>
              <a:t>Closing the R&amp;D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2E5E9"/>
                </a:solidFill>
                <a:latin typeface="Arial"/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Based on peer-reviewed and adversarially verified research, competitor filings, TBK's audited FY3/2026 results, and company-internal product economics (TBK, Concentric AR2023 + MR pack, Haldex)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Contents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market has moved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3   Brakes: drum brakes are a shrinking island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4   Pumps: electrification grows the category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5   Same customers — two different purchase decisions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Competitor innovation &amp;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6   Competitors kept innovating — brakes and pumps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7   What competitors spend on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8   Capitalized R&amp;D: the knowledge stock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margin case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9   Why TBK's gross margin is structurally too low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10   The margin gap by business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11   The prize: ~$22-24M more gross profit per year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Inside the products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12   Product-level proof: TBKK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13   Inside TBK Japan: the keiretsu discount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14   The Haldex lesson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15   Brake segment: TBK vs Haldex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16   The SAW case: flagship priced below market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17   Pump segment: TBK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18   The normalized TBK (pro-forma, phased)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Costs, capital &amp; the plan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19   OPEX: factory costs hide in COGS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20   The accumulated R&amp;D deficit (~$100M)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21   The reinvestment requirement: two phases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Product &amp; moat evaluation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22   Product evaluation I: quality &amp; service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23   Product evaluation II: innovation output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24   Moat framework ranking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25   TBK's moat profile: strengths &amp; weaknesses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26   Moat criteria: TBK vs competitors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Method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27   Research quality &amp; methodology notes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28  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Brakes: drum brakes are a shrinking island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 from peer-reviewed literature, regulatory records, and industry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Drums: ~18% of EU demand (off-road)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Trailers still lag at ~15%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Domestic flip is when, not 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EBS/AEB/ADAS mandates favor disc actuation 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Value shifts: wear parts → corrosion/NVH/low-dust + retarders &amp; blending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Pumps: electrification grows the category — and reallocates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findings: peer-reviewed thermal studies, regulatory texts, and adversarial company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Small lever → slow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protected short-term, atrophied long-term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→ content/vehicle ~8-30x diesel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EC antitrust (M.8102): pump niches at 90-100% concentration — sockets are sticky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Sockets are awarded years before volume (Pierburg order book runs 2028-35)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Same customers — two different purchase decisions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Isuzu, Fuso, Hino, Komatsu buy both product lines, but through different people, cycles, and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Competitors kept innovating — in brakes and in pumps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Every relevant peer has repositioned its product line for discs, electronics, and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pattern: every pump peer redirected R&amp;D to electric pumps &amp; BEV thermal — the exact adjacency open to TBK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What competitors spend on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¥1.2bn (~$8M)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Brake systems players spend 6-9% of sales; large pump/thermal players cluster at 4-5.5%; Akebono now at 4.3% (EMB + copper-free friction ramp, per consistent peer dataset). TBK sits at 2.2%. *Concentric (AR2023, verified): expensed product development only 2.3% — yet 25% gross margin: niche dominance, not raw R&amp;D scale, drives pump profitability. *Hanon mid-range of conflicting filings.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stock, not the flow: competitors' capitalized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stock gap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$5.6bn — 130x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$2.6bn — 60x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Mikuni $194M — 4.5x TBK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$131M | Akebono $123M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TBK: $43M — the smallest knowledge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base in the peer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knowledge-intensive business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Why it matters: the R&amp;D gap is cumulative, not annual. A decade of under-spending leaves TBK rebuilding a depleted asset while competitors amortize billions of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case that TBK's gross margin is structurally too low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Same product categories, same customers' industry — 5-15 points more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Inverted economics = pricing power sits with the customer: keiretsu concentration (Isuzu alone ¥12bn = 22% of sales) and annual price-downs, against commodity drum/mechanical products with no systems, electronics or branded-aftermarket content to defend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 underperforms peer gross margins in BOTH businesses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Akebono — by 9-11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CV pump comp by ~13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does not disclose gross profit per division, so its blended 12.5% is shown against both panels. Even on the most charitable reading — assuming all underperformance sits in one business — TBK is below peer average in the other. Peer set: IFRS cost-of-sales / JGAAP reporters only.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margin gap is worth ~$22-24M more gross profit per year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Split roughly half brakes, half pumps (~$11-14M each)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funds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The entire R&amp;D catch-up program costs ~$27M/yr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(parity run-rate $17M + deficit repayment $10M)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→ closing ~90% of the margin gap pays for ALL of it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FY3/2026 already delivered the first ~$7M/yr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(margin 10.6% → 12.5%) — and the phased pro-forma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(later page) shows the full management-premise 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Product-level proof: same pumps, half the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Customer curve: Isuzu 25.8% &gt; MMTH 23.0% &gt; ITT 22.6% &gt; Kubota 17.0%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e-pump/TCU program targets exactly this ladder — the data proves the rungs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Inside TBK Japan: the keiretsu discount, quantified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Haldex lesson: the profit pool is the aftermarket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 segment: TBK vs Haldex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…and the AFTERMARKET annuity: 48.2% CII vs TBK Sales 30.2%, on 4x the sales 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SAW case: TBK's best product, sold ~30% below 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At market price, SAW earns 38-44% contribution — exactly the level of Haldex's core products (ABA 41.4%, ABS 43.4%)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Price flows straight to contribution: no cost change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Class-leading tech + below-market price = the export business case writes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 segment: TBK vs Concentric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normalized TBK: right prices, right factories, real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PHASE 1 — the realistic target: ~10% OPM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Sales 59,342 | GP 13,211 (22.3%) | R&amp;D 2,789 at 4.7% | OP 6,263 (10.6%) | Net 4,398 = ¥138 EPS (~2.2x mkt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Captures only ~1/3 of the stated pricing gap + ~45% of excess heads — via pruning, renewal-cycle repricing, aftermarket/non-keiretsu mix, first consolidations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Funds the entire R&amp;D program (incl. deficit memo) in ~18-24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Why not more, at first — operator calibration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peaked at ~22% OPM — on best-in-class FULL price realization, a discipline built over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could have reached ~30% by shedding Europe for the US — portfolio focus is the second lever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Above ~10% in phase 1 is difficult: keiretsu contracts reprice at renewal, factories close on multi-year clocks. Phase 2 (15%) = Concentric-grade realization + grown aftermarket. FULL premises (26.6%) = leakage meter, not a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Nothing here requires new products or customers — existing book, honest prices, loaded factories, peer-level R&amp;D (4.7%) absorbed in every phase. MEMO (separate financing): R&amp;D deficit ~¥1.5bn/yr x5, ADB capex ¥4.5-7.5bn, restructuring cash ~¥2-3bn. Premises are management/first-hand information; phasing reflects operator experience at Concentric and Haldex.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Why TBK looks lean on OPEX: its factory costs hide in COGS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segment sales + losses both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That IS the underutilized-footprint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accumulated R&amp;D deficit: ~US$100M over a decade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dataset FY2016-2025; benchmark = blended peer floor for a brake + pump supplier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2.6% (FY22) → 2.2% (FY25)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reinvestment requirement: two phases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(~$30-50M, outside R&amp;D 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phase-1 pro-forma uplift (+¥4.8bn / ~$32M operating profit vs actual) more than covers the ~$27M/yr program. The Concentric lesson: focused niche engineering at 2.3% intensity earns 25% gross margins — spend must buy sockets, not just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I: external quality &amp; service evidence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Brembo: all 10 F1 teams; AMS brake-brand vote 11 of 13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every proxy the systems players lead — and TBK does not appear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52130"/>
                </a:solidFill>
                <a:latin typeface="Arial"/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II: innovation output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retarders since the 1960s; 19.5" ADB exhibited (year unconfirmed: 2019 vs 2022 sources conflict); e-pumps/TCU in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innovation is real but INVISIBLE: 75 years of retarder/brake/pump engineering, an ADB prototype, e-pumps and a thermal control unit in development — none of it patented at scale, published at JSAE, or externally awarded. Invisible innovation cannot win sockets outside the keiretsu.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Fix costs little: patent the e-pump/TCU and ADB work (Mikuni shows the value), publish, pursue external validation — a required complement to the R&amp;D spend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framework ranking: TBK scores 5.38 — 9th of 13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incl. TBK 5.38, Mikuni 5.00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Durable problem, fragile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moat profile: where it is strong, where it bleeds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Chapter scores (1-10) — TBK vs Concentric (best newly scored) vs the average of the five newly scored peers (TBK excluded from the average)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Substitution 3.5 — both products in active displacement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criteria: TBK vs competitors, criterion by criterion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Research quality &amp; methodology notes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How this material was produced, verified, and where its limits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Tier 3: single-source estimates and market research — always labeled in the underlying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Aggregator's 'TBK FY26 ¥138M profit' contradicted by the audited tanshin (-¥131M)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ADB exhibit year unresolved (2019 vs 2022 sources conflict); Concentric MR pack period 2112 = Dec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Accounting bases differ: German/Italian nature-of-expense 'gross margins' (Knorr ~50%, Brembo ~50%) are materials-only and EXCLUDED from margin comparisons; JGAAP fully expenses R&amp;D while IFRS peers capitalize part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FY3/26 division split estimated from FY3/25 (yuho due June 2026); USD at ¥150/USD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Company-internal documents (TBK/TBKK product P&amp;Ls, Concentric MR pack, Haldex packs) and management statements (~30% below-market pricing, ~1,000 excess heads) are first-hand but NOT externally verified — labeled wherever used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Scenario pages state assumptions on-slide; peer-margin scenarios use comparable reporters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Sources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User-provided datasets: TBK 10-year financials; Peers 10-year; Peers LTM (7 companies, consistent methodology); moat methodology v3.2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Internal management documents: TBK Japan profitability by product/customer + share map + acquired projects (H1 FY2025); TBKK Thailand profit by items (Apr-Sep 2025); Concentric Group MR Pack (Dec 2021); Haldex analysis file (2019) and May-2014 MR pack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