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R&amp;D intensity (% of sales)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R&amp;D % of sales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Sheet1!$A$2:$A$13</c:f>
              <c:strCache>
                <c:ptCount val="12"/>
                <c:pt idx="0">
                  <c:v>SAF-Holland</c:v>
                </c:pt>
                <c:pt idx="1">
                  <c:v>TBK</c:v>
                </c:pt>
                <c:pt idx="2">
                  <c:v>Concentric*</c:v>
                </c:pt>
                <c:pt idx="3">
                  <c:v>Cummins</c:v>
                </c:pt>
                <c:pt idx="4">
                  <c:v>Akebono</c:v>
                </c:pt>
                <c:pt idx="5">
                  <c:v>Aisin</c:v>
                </c:pt>
                <c:pt idx="6">
                  <c:v>Hanon*</c:v>
                </c:pt>
                <c:pt idx="7">
                  <c:v>Mahle</c:v>
                </c:pt>
                <c:pt idx="8">
                  <c:v>Mikuni</c:v>
                </c:pt>
                <c:pt idx="9">
                  <c:v>Brembo</c:v>
                </c:pt>
                <c:pt idx="10">
                  <c:v>Knorr-Bremse</c:v>
                </c:pt>
                <c:pt idx="11">
                  <c:v>ZF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1.7</c:v>
                </c:pt>
                <c:pt idx="1">
                  <c:v>2.2</c:v>
                </c:pt>
                <c:pt idx="2">
                  <c:v>2.3</c:v>
                </c:pt>
                <c:pt idx="3">
                  <c:v>4.1</c:v>
                </c:pt>
                <c:pt idx="4">
                  <c:v>4.3</c:v>
                </c:pt>
                <c:pt idx="5">
                  <c:v>4.8</c:v>
                </c:pt>
                <c:pt idx="6">
                  <c:v>5.0</c:v>
                </c:pt>
                <c:pt idx="7">
                  <c:v>5.4</c:v>
                </c:pt>
                <c:pt idx="8">
                  <c:v>5.9</c:v>
                </c:pt>
                <c:pt idx="9">
                  <c:v>6.1</c:v>
                </c:pt>
                <c:pt idx="10">
                  <c:v>6.8</c:v>
                </c:pt>
                <c:pt idx="11">
                  <c:v>8.6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Capitalized R&amp;D stock, US$M (2025)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R&amp;D Capital Base ($M)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Sheet1!$A$2:$A$7</c:f>
              <c:strCache>
                <c:ptCount val="6"/>
                <c:pt idx="0">
                  <c:v>TBK</c:v>
                </c:pt>
                <c:pt idx="1">
                  <c:v>Akebono</c:v>
                </c:pt>
                <c:pt idx="2">
                  <c:v>SAF-Holland</c:v>
                </c:pt>
                <c:pt idx="3">
                  <c:v>Mikuni</c:v>
                </c:pt>
                <c:pt idx="4">
                  <c:v>Knorr-Bremse</c:v>
                </c:pt>
                <c:pt idx="5">
                  <c:v>Cummins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43</c:v>
                </c:pt>
                <c:pt idx="1">
                  <c:v>123</c:v>
                </c:pt>
                <c:pt idx="2">
                  <c:v>131</c:v>
                </c:pt>
                <c:pt idx="3">
                  <c:v>194</c:v>
                </c:pt>
                <c:pt idx="4">
                  <c:v>2569</c:v>
                </c:pt>
                <c:pt idx="5">
                  <c:v>5594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Gross margin: TBK vs peers, by business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gross margin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Sheet1!$A$2:$A$3</c:f>
              <c:strCache>
                <c:ptCount val="2"/>
                <c:pt idx="0">
                  <c:v>BRAKES
(TBK sales ~$127M)</c:v>
                </c:pt>
                <c:pt idx="1">
                  <c:v>PUMPS &amp; ENGINE COMP.
(TBK sales ~$238M)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12.5</c:v>
                </c:pt>
                <c:pt idx="1">
                  <c:v>12.5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Peer average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Sheet1!$A$2:$A$3</c:f>
              <c:strCache>
                <c:ptCount val="2"/>
                <c:pt idx="0">
                  <c:v>BRAKES
(TBK sales ~$127M)</c:v>
                </c:pt>
                <c:pt idx="1">
                  <c:v>PUMPS &amp; ENGINE COMP.
(TBK sales ~$238M)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21.0</c:v>
                </c:pt>
                <c:pt idx="1">
                  <c:v>17.0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Peer median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Sheet1!$A$2:$A$3</c:f>
              <c:strCache>
                <c:ptCount val="2"/>
                <c:pt idx="0">
                  <c:v>BRAKES
(TBK sales ~$127M)</c:v>
                </c:pt>
                <c:pt idx="1">
                  <c:v>PUMPS &amp; ENGINE COMP.
(TBK sales ~$238M)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23.4</c:v>
                </c:pt>
                <c:pt idx="1">
                  <c:v>16.9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TBK annual gross profit (US$M)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Brakes ($M)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Sheet1!$A$2:$A$4</c:f>
              <c:strCache>
                <c:ptCount val="3"/>
                <c:pt idx="0">
                  <c:v>Actual
FY3/2026</c:v>
                </c:pt>
                <c:pt idx="1">
                  <c:v>At peer
average</c:v>
                </c:pt>
                <c:pt idx="2">
                  <c:v>At peer
median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1">
                  <c:v>26.6</c:v>
                </c:pt>
                <c:pt idx="2">
                  <c:v>29.5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Pumps &amp; engine components ($M)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Sheet1!$A$2:$A$4</c:f>
              <c:strCache>
                <c:ptCount val="3"/>
                <c:pt idx="0">
                  <c:v>Actual
FY3/2026</c:v>
                </c:pt>
                <c:pt idx="1">
                  <c:v>At peer
average</c:v>
                </c:pt>
                <c:pt idx="2">
                  <c:v>At peer
median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1">
                  <c:v>40.5</c:v>
                </c:pt>
                <c:pt idx="2">
                  <c:v>40.3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Actual blended ($M)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Sheet1!$A$2:$A$4</c:f>
              <c:strCache>
                <c:ptCount val="3"/>
                <c:pt idx="0">
                  <c:v>Actual
FY3/2026</c:v>
                </c:pt>
                <c:pt idx="1">
                  <c:v>At peer
average</c:v>
                </c:pt>
                <c:pt idx="2">
                  <c:v>At peer
median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45.5</c:v>
                </c:pt>
              </c:numCache>
            </c:numRef>
          </c:val>
        </c:ser>
        <c:dLbls>
          <c:numFmt formatCode="$0.0&quot;M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Contribution margin by product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TBKK marginal profit %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Sheet1!$A$2:$A$5</c:f>
              <c:strCache>
                <c:ptCount val="4"/>
                <c:pt idx="0">
                  <c:v>Water pumps</c:v>
                </c:pt>
                <c:pt idx="1">
                  <c:v>Oil pumps</c:v>
                </c:pt>
                <c:pt idx="2">
                  <c:v>GROUP TOTAL</c:v>
                </c:pt>
                <c:pt idx="3">
                  <c:v>Concentric value-added
(semi-var./electric/ALFDEX)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19.5</c:v>
                </c:pt>
                <c:pt idx="1">
                  <c:v>22.6</c:v>
                </c:pt>
                <c:pt idx="2">
                  <c:v>22.7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Concentric Contribution I %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Sheet1!$A$2:$A$5</c:f>
              <c:strCache>
                <c:ptCount val="4"/>
                <c:pt idx="0">
                  <c:v>Water pumps</c:v>
                </c:pt>
                <c:pt idx="1">
                  <c:v>Oil pumps</c:v>
                </c:pt>
                <c:pt idx="2">
                  <c:v>GROUP TOTAL</c:v>
                </c:pt>
                <c:pt idx="3">
                  <c:v>Concentric value-added
(semi-var./electric/ALFDEX)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38.2</c:v>
                </c:pt>
                <c:pt idx="1">
                  <c:v>42.9</c:v>
                </c:pt>
                <c:pt idx="2">
                  <c:v>44.5</c:v>
                </c:pt>
                <c:pt idx="3">
                  <c:v>56.0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OPEX as % of sales: TBK vs peers, by business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(blended)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Sheet1!$A$2:$A$3</c:f>
              <c:strCache>
                <c:ptCount val="2"/>
                <c:pt idx="0">
                  <c:v>BRAKES panel</c:v>
                </c:pt>
                <c:pt idx="1">
                  <c:v>PUMPS panel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9.7</c:v>
                </c:pt>
                <c:pt idx="1">
                  <c:v>9.7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Peer average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Sheet1!$A$2:$A$3</c:f>
              <c:strCache>
                <c:ptCount val="2"/>
                <c:pt idx="0">
                  <c:v>BRAKES panel</c:v>
                </c:pt>
                <c:pt idx="1">
                  <c:v>PUMPS panel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13.8</c:v>
                </c:pt>
                <c:pt idx="1">
                  <c:v>10.4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Peer median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Sheet1!$A$2:$A$3</c:f>
              <c:strCache>
                <c:ptCount val="2"/>
                <c:pt idx="0">
                  <c:v>BRAKES panel</c:v>
                </c:pt>
                <c:pt idx="1">
                  <c:v>PUMPS panel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13.6</c:v>
                </c:pt>
                <c:pt idx="1">
                  <c:v>9.3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Actual R&amp;D vs peer-floor benchmark (US$M)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actual R&amp;D ($M)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Sheet1!$A$2:$A$10</c:f>
              <c:strCache>
                <c:ptCount val="9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  <c:pt idx="4">
                  <c:v>2021</c:v>
                </c:pt>
                <c:pt idx="5">
                  <c:v>2022</c:v>
                </c:pt>
                <c:pt idx="6">
                  <c:v>2023</c:v>
                </c:pt>
                <c:pt idx="7">
                  <c:v>2024</c:v>
                </c:pt>
                <c:pt idx="8">
                  <c:v>2025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11.1</c:v>
                </c:pt>
                <c:pt idx="1">
                  <c:v>11.4</c:v>
                </c:pt>
                <c:pt idx="2">
                  <c:v>10.6</c:v>
                </c:pt>
                <c:pt idx="3">
                  <c:v>11.4</c:v>
                </c:pt>
                <c:pt idx="4">
                  <c:v>11.6</c:v>
                </c:pt>
                <c:pt idx="5">
                  <c:v>11.8</c:v>
                </c:pt>
                <c:pt idx="6">
                  <c:v>8.9</c:v>
                </c:pt>
                <c:pt idx="7">
                  <c:v>8.1</c:v>
                </c:pt>
                <c:pt idx="8">
                  <c:v>7.8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At 4.5% of sales ($M)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Sheet1!$A$2:$A$10</c:f>
              <c:strCache>
                <c:ptCount val="9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  <c:pt idx="4">
                  <c:v>2021</c:v>
                </c:pt>
                <c:pt idx="5">
                  <c:v>2022</c:v>
                </c:pt>
                <c:pt idx="6">
                  <c:v>2023</c:v>
                </c:pt>
                <c:pt idx="7">
                  <c:v>2024</c:v>
                </c:pt>
                <c:pt idx="8">
                  <c:v>2025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19.4</c:v>
                </c:pt>
                <c:pt idx="1">
                  <c:v>20.9</c:v>
                </c:pt>
                <c:pt idx="2">
                  <c:v>21.8</c:v>
                </c:pt>
                <c:pt idx="3">
                  <c:v>21.3</c:v>
                </c:pt>
                <c:pt idx="4">
                  <c:v>18.7</c:v>
                </c:pt>
                <c:pt idx="5">
                  <c:v>20.5</c:v>
                </c:pt>
                <c:pt idx="6">
                  <c:v>17.8</c:v>
                </c:pt>
                <c:pt idx="7">
                  <c:v>17.7</c:v>
                </c:pt>
                <c:pt idx="8">
                  <c:v>16.1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R&amp;D spend plan (US$M per year)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Parity run-rate (~4.5-5% of sales)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Sheet1!$A$2:$A$8</c:f>
              <c:strCache>
                <c:ptCount val="7"/>
                <c:pt idx="0">
                  <c:v>FY26
actual est.</c:v>
                </c:pt>
                <c:pt idx="1">
                  <c:v>FY27</c:v>
                </c:pt>
                <c:pt idx="2">
                  <c:v>FY28</c:v>
                </c:pt>
                <c:pt idx="3">
                  <c:v>FY29</c:v>
                </c:pt>
                <c:pt idx="4">
                  <c:v>FY30</c:v>
                </c:pt>
                <c:pt idx="5">
                  <c:v>FY31</c:v>
                </c:pt>
                <c:pt idx="6">
                  <c:v>Steady state
FY32+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7.8</c:v>
                </c:pt>
                <c:pt idx="1">
                  <c:v>17</c:v>
                </c:pt>
                <c:pt idx="2">
                  <c:v>17</c:v>
                </c:pt>
                <c:pt idx="3">
                  <c:v>17</c:v>
                </c:pt>
                <c:pt idx="4">
                  <c:v>17</c:v>
                </c:pt>
                <c:pt idx="5">
                  <c:v>17</c:v>
                </c:pt>
                <c:pt idx="6">
                  <c:v>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Deficit repayment (catch-up)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Sheet1!$A$2:$A$8</c:f>
              <c:strCache>
                <c:ptCount val="7"/>
                <c:pt idx="0">
                  <c:v>FY26
actual est.</c:v>
                </c:pt>
                <c:pt idx="1">
                  <c:v>FY27</c:v>
                </c:pt>
                <c:pt idx="2">
                  <c:v>FY28</c:v>
                </c:pt>
                <c:pt idx="3">
                  <c:v>FY29</c:v>
                </c:pt>
                <c:pt idx="4">
                  <c:v>FY30</c:v>
                </c:pt>
                <c:pt idx="5">
                  <c:v>FY31</c:v>
                </c:pt>
                <c:pt idx="6">
                  <c:v>Steady state
FY32+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10</c:v>
                </c:pt>
                <c:pt idx="2">
                  <c:v>10</c:v>
                </c:pt>
                <c:pt idx="3">
                  <c:v>10</c:v>
                </c:pt>
                <c:pt idx="4">
                  <c:v>10</c:v>
                </c:pt>
                <c:pt idx="5">
                  <c:v>10</c:v>
                </c:pt>
                <c:pt idx="6">
                  <c:v>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Final weighted moat scores (TBK in red)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Moat score</c:v>
                </c:pt>
              </c:strCache>
            </c:strRef>
          </c:tx>
          <c:spPr>
            <a:solidFill>
              <a:srgbClr val="1F4E78"/>
            </a:solidFill>
          </c:spPr>
          <c:dPt>
            <c:idx val="4"/>
            <c:spPr>
              <a:solidFill>
                <a:srgbClr val="7F1D1D"/>
              </a:solidFill>
            </c:spPr>
          </c:dPt>
          <c:cat>
            <c:strRef>
              <c:f>Sheet1!$A$2:$A$14</c:f>
              <c:strCache>
                <c:ptCount val="13"/>
                <c:pt idx="0">
                  <c:v>Akebono</c:v>
                </c:pt>
                <c:pt idx="1">
                  <c:v>Mikuni</c:v>
                </c:pt>
                <c:pt idx="2">
                  <c:v>ZF</c:v>
                </c:pt>
                <c:pt idx="3">
                  <c:v>Mahle</c:v>
                </c:pt>
                <c:pt idx="4">
                  <c:v>TBK</c:v>
                </c:pt>
                <c:pt idx="5">
                  <c:v>TPR</c:v>
                </c:pt>
                <c:pt idx="6">
                  <c:v>Hanon</c:v>
                </c:pt>
                <c:pt idx="7">
                  <c:v>Aisin</c:v>
                </c:pt>
                <c:pt idx="8">
                  <c:v>SAF-Holland</c:v>
                </c:pt>
                <c:pt idx="9">
                  <c:v>Cummins</c:v>
                </c:pt>
                <c:pt idx="10">
                  <c:v>Brembo</c:v>
                </c:pt>
                <c:pt idx="11">
                  <c:v>Concentric</c:v>
                </c:pt>
                <c:pt idx="12">
                  <c:v>Knorr-Bremse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4.95</c:v>
                </c:pt>
                <c:pt idx="1">
                  <c:v>5.0</c:v>
                </c:pt>
                <c:pt idx="2">
                  <c:v>5.25</c:v>
                </c:pt>
                <c:pt idx="3">
                  <c:v>5.35</c:v>
                </c:pt>
                <c:pt idx="4">
                  <c:v>5.38</c:v>
                </c:pt>
                <c:pt idx="5">
                  <c:v>5.45</c:v>
                </c:pt>
                <c:pt idx="6">
                  <c:v>5.88</c:v>
                </c:pt>
                <c:pt idx="7">
                  <c:v>6.25</c:v>
                </c:pt>
                <c:pt idx="8">
                  <c:v>6.59</c:v>
                </c:pt>
                <c:pt idx="9">
                  <c:v>6.73</c:v>
                </c:pt>
                <c:pt idx="10">
                  <c:v>6.73</c:v>
                </c:pt>
                <c:pt idx="11">
                  <c:v>6.98</c:v>
                </c:pt>
                <c:pt idx="12">
                  <c:v>7.55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mc:AlternateContent xmlns:mc="http://schemas.openxmlformats.org/markup-compatibility/2006">
    <mc:Choice xmlns:c14="http://schemas.microsoft.com/office/drawing/2007/8/2/chart" Requires="c14">
      <c14:style val="118"/>
    </mc:Choice>
    <mc:Fallback>
      <c:style val="18"/>
    </mc:Fallback>
  </mc:AlternateContent>
  <c:chart>
    <c:autoTitleDeleted val="1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TBK</c:v>
                </c:pt>
              </c:strCache>
            </c:strRef>
          </c:tx>
          <c:spPr>
            <a:ln w="28575">
              <a:solidFill>
                <a:srgbClr val="7F1D1D"/>
              </a:solidFill>
            </a:ln>
          </c:spPr>
          <c:cat>
            <c:strRef>
              <c:f>Sheet1!$A$2:$A$11</c:f>
              <c:strCache>
                <c:ptCount val="10"/>
                <c:pt idx="0">
                  <c:v>Criticality</c:v>
                </c:pt>
                <c:pt idx="1">
                  <c:v>Standard premium</c:v>
                </c:pt>
                <c:pt idx="2">
                  <c:v>Market hegemony</c:v>
                </c:pt>
                <c:pt idx="3">
                  <c:v>Ecosystem</c:v>
                </c:pt>
                <c:pt idx="4">
                  <c:v>Lifecycle cost adv.</c:v>
                </c:pt>
                <c:pt idx="5">
                  <c:v>Substitution resistance</c:v>
                </c:pt>
                <c:pt idx="6">
                  <c:v>Demand horizon</c:v>
                </c:pt>
                <c:pt idx="7">
                  <c:v>Capital allocation</c:v>
                </c:pt>
                <c:pt idx="8">
                  <c:v>Reinvestment runway</c:v>
                </c:pt>
                <c:pt idx="9">
                  <c:v>Reverse- Lindy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7.5</c:v>
                </c:pt>
                <c:pt idx="1">
                  <c:v>6.0</c:v>
                </c:pt>
                <c:pt idx="2">
                  <c:v>8.0</c:v>
                </c:pt>
                <c:pt idx="3">
                  <c:v>2.0</c:v>
                </c:pt>
                <c:pt idx="4">
                  <c:v>3.0</c:v>
                </c:pt>
                <c:pt idx="5">
                  <c:v>3.5</c:v>
                </c:pt>
                <c:pt idx="6">
                  <c:v>7.0</c:v>
                </c:pt>
                <c:pt idx="7">
                  <c:v>2.0</c:v>
                </c:pt>
                <c:pt idx="8">
                  <c:v>3.0</c:v>
                </c:pt>
                <c:pt idx="9">
                  <c:v>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Concentric</c:v>
                </c:pt>
              </c:strCache>
            </c:strRef>
          </c:tx>
          <c:spPr>
            <a:ln w="28575">
              <a:solidFill>
                <a:srgbClr val="548235"/>
              </a:solidFill>
            </a:ln>
          </c:spPr>
          <c:cat>
            <c:strRef>
              <c:f>Sheet1!$A$2:$A$11</c:f>
              <c:strCache>
                <c:ptCount val="10"/>
                <c:pt idx="0">
                  <c:v>Criticality</c:v>
                </c:pt>
                <c:pt idx="1">
                  <c:v>Standard premium</c:v>
                </c:pt>
                <c:pt idx="2">
                  <c:v>Market hegemony</c:v>
                </c:pt>
                <c:pt idx="3">
                  <c:v>Ecosystem</c:v>
                </c:pt>
                <c:pt idx="4">
                  <c:v>Lifecycle cost adv.</c:v>
                </c:pt>
                <c:pt idx="5">
                  <c:v>Substitution resistance</c:v>
                </c:pt>
                <c:pt idx="6">
                  <c:v>Demand horizon</c:v>
                </c:pt>
                <c:pt idx="7">
                  <c:v>Capital allocation</c:v>
                </c:pt>
                <c:pt idx="8">
                  <c:v>Reinvestment runway</c:v>
                </c:pt>
                <c:pt idx="9">
                  <c:v>Reverse- Lindy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7.0</c:v>
                </c:pt>
                <c:pt idx="1">
                  <c:v>6.0</c:v>
                </c:pt>
                <c:pt idx="2">
                  <c:v>7.5</c:v>
                </c:pt>
                <c:pt idx="3">
                  <c:v>2.5</c:v>
                </c:pt>
                <c:pt idx="4">
                  <c:v>7.0</c:v>
                </c:pt>
                <c:pt idx="5">
                  <c:v>5.0</c:v>
                </c:pt>
                <c:pt idx="6">
                  <c:v>7.5</c:v>
                </c:pt>
                <c:pt idx="7">
                  <c:v>7.5</c:v>
                </c:pt>
                <c:pt idx="8">
                  <c:v>7.0</c:v>
                </c:pt>
                <c:pt idx="9">
                  <c:v>5.5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Peer avg (6 scored)</c:v>
                </c:pt>
              </c:strCache>
            </c:strRef>
          </c:tx>
          <c:spPr>
            <a:ln w="28575">
              <a:solidFill>
                <a:srgbClr val="595959"/>
              </a:solidFill>
            </a:ln>
          </c:spPr>
          <c:cat>
            <c:strRef>
              <c:f>Sheet1!$A$2:$A$11</c:f>
              <c:strCache>
                <c:ptCount val="10"/>
                <c:pt idx="0">
                  <c:v>Criticality</c:v>
                </c:pt>
                <c:pt idx="1">
                  <c:v>Standard premium</c:v>
                </c:pt>
                <c:pt idx="2">
                  <c:v>Market hegemony</c:v>
                </c:pt>
                <c:pt idx="3">
                  <c:v>Ecosystem</c:v>
                </c:pt>
                <c:pt idx="4">
                  <c:v>Lifecycle cost adv.</c:v>
                </c:pt>
                <c:pt idx="5">
                  <c:v>Substitution resistance</c:v>
                </c:pt>
                <c:pt idx="6">
                  <c:v>Demand horizon</c:v>
                </c:pt>
                <c:pt idx="7">
                  <c:v>Capital allocation</c:v>
                </c:pt>
                <c:pt idx="8">
                  <c:v>Reinvestment runway</c:v>
                </c:pt>
                <c:pt idx="9">
                  <c:v>Reverse- Lindy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7.17</c:v>
                </c:pt>
                <c:pt idx="1">
                  <c:v>5.92</c:v>
                </c:pt>
                <c:pt idx="2">
                  <c:v>6.58</c:v>
                </c:pt>
                <c:pt idx="3">
                  <c:v>2.67</c:v>
                </c:pt>
                <c:pt idx="4">
                  <c:v>4.75</c:v>
                </c:pt>
                <c:pt idx="5">
                  <c:v>4.17</c:v>
                </c:pt>
                <c:pt idx="6">
                  <c:v>6.75</c:v>
                </c:pt>
                <c:pt idx="7">
                  <c:v>3.75</c:v>
                </c:pt>
                <c:pt idx="8">
                  <c:v>5.08</c:v>
                </c:pt>
                <c:pt idx="9">
                  <c:v>4.5</c:v>
                </c:pt>
              </c:numCache>
            </c:numRef>
          </c:val>
          <c:smooth val="0"/>
        </c:ser>
        <c:axId val="2073612648"/>
        <c:axId val="-2112772216"/>
      </c:radarChart>
      <c:catAx>
        <c:axId val="2073612648"/>
        <c:scaling>
          <c:orientation val="minMax"/>
        </c:scaling>
        <c:delete val="0"/>
        <c:axPos val="b"/>
        <c:majorGridlines/>
        <c:numFmt formatCode="m/d/yy" sourceLinked="1"/>
        <c:majorTickMark val="out"/>
        <c:minorTickMark val="none"/>
        <c:tickLblPos val="nextTo"/>
        <c:crossAx val="-2112772216"/>
        <c:crosses val="autoZero"/>
        <c:auto val="1"/>
        <c:lblAlgn val="ctr"/>
        <c:lblOffset val="100"/>
        <c:noMultiLvlLbl val="0"/>
      </c:catAx>
      <c:valAx>
        <c:axId val="-2112772216"/>
        <c:scaling>
          <c:orientation val="minMax"/>
        </c:scaling>
        <c:delete val="0"/>
        <c:axPos val="l"/>
        <c:majorGridlines/>
        <c:numFmt formatCode="General" sourceLinked="1"/>
        <c:majorTickMark val="cross"/>
        <c:minorTickMark val="none"/>
        <c:tickLblPos val="nextTo"/>
        <c:crossAx val="2073612648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/>
              <a:t>Phase 1 — Structural durability (Ch1-5)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7.5</c:v>
                </c:pt>
                <c:pt idx="1">
                  <c:v>6.0</c:v>
                </c:pt>
                <c:pt idx="2">
                  <c:v>8.0</c:v>
                </c:pt>
                <c:pt idx="3">
                  <c:v>2.0</c:v>
                </c:pt>
                <c:pt idx="4">
                  <c:v>3.0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Mikuni</c:v>
                </c:pt>
              </c:strCache>
            </c:strRef>
          </c:tx>
          <c:spPr>
            <a:solidFill>
              <a:srgbClr val="BF9000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7.0</c:v>
                </c:pt>
                <c:pt idx="1">
                  <c:v>5.0</c:v>
                </c:pt>
                <c:pt idx="2">
                  <c:v>4.0</c:v>
                </c:pt>
                <c:pt idx="3">
                  <c:v>2.0</c:v>
                </c:pt>
                <c:pt idx="4">
                  <c:v>4.0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Concentric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7.0</c:v>
                </c:pt>
                <c:pt idx="1">
                  <c:v>6.0</c:v>
                </c:pt>
                <c:pt idx="2">
                  <c:v>7.5</c:v>
                </c:pt>
                <c:pt idx="3">
                  <c:v>2.5</c:v>
                </c:pt>
                <c:pt idx="4">
                  <c:v>7.0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Aisin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7.0</c:v>
                </c:pt>
                <c:pt idx="1">
                  <c:v>7.0</c:v>
                </c:pt>
                <c:pt idx="2">
                  <c:v>6.0</c:v>
                </c:pt>
                <c:pt idx="3">
                  <c:v>5.0</c:v>
                </c:pt>
                <c:pt idx="4">
                  <c:v>5.0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TPR</c:v>
                </c:pt>
              </c:strCache>
            </c:strRef>
          </c:tx>
          <c:spPr>
            <a:solidFill>
              <a:srgbClr val="808080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7.5</c:v>
                </c:pt>
                <c:pt idx="1">
                  <c:v>6.0</c:v>
                </c:pt>
                <c:pt idx="2">
                  <c:v>7.5</c:v>
                </c:pt>
                <c:pt idx="3">
                  <c:v>2.0</c:v>
                </c:pt>
                <c:pt idx="4">
                  <c:v>6.0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Hanon</c:v>
                </c:pt>
              </c:strCache>
            </c:strRef>
          </c:tx>
          <c:spPr>
            <a:solidFill>
              <a:srgbClr val="4FB3BF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7.0</c:v>
                </c:pt>
                <c:pt idx="1">
                  <c:v>5.5</c:v>
                </c:pt>
                <c:pt idx="2">
                  <c:v>6.5</c:v>
                </c:pt>
                <c:pt idx="3">
                  <c:v>2.5</c:v>
                </c:pt>
                <c:pt idx="4">
                  <c:v>3.5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/>
              <a:t>Phases 2-3 — Endurance &amp; compounding engine (Ch6-10)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3.5</c:v>
                </c:pt>
                <c:pt idx="1">
                  <c:v>7.0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Mikuni</c:v>
                </c:pt>
              </c:strCache>
            </c:strRef>
          </c:tx>
          <c:spPr>
            <a:solidFill>
              <a:srgbClr val="BF9000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3.0</c:v>
                </c:pt>
                <c:pt idx="1">
                  <c:v>7.0</c:v>
                </c:pt>
                <c:pt idx="2">
                  <c:v>2.5</c:v>
                </c:pt>
                <c:pt idx="3">
                  <c:v>5.5</c:v>
                </c:pt>
                <c:pt idx="4">
                  <c:v>4.5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Concentric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5.0</c:v>
                </c:pt>
                <c:pt idx="1">
                  <c:v>7.5</c:v>
                </c:pt>
                <c:pt idx="2">
                  <c:v>7.5</c:v>
                </c:pt>
                <c:pt idx="3">
                  <c:v>7.0</c:v>
                </c:pt>
                <c:pt idx="4">
                  <c:v>5.5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Aisin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4.0</c:v>
                </c:pt>
                <c:pt idx="1">
                  <c:v>7.0</c:v>
                </c:pt>
                <c:pt idx="2">
                  <c:v>4.5</c:v>
                </c:pt>
                <c:pt idx="3">
                  <c:v>6.0</c:v>
                </c:pt>
                <c:pt idx="4">
                  <c:v>4.5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TPR</c:v>
                </c:pt>
              </c:strCache>
            </c:strRef>
          </c:tx>
          <c:spPr>
            <a:solidFill>
              <a:srgbClr val="808080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2.5</c:v>
                </c:pt>
                <c:pt idx="1">
                  <c:v>4.0</c:v>
                </c:pt>
                <c:pt idx="2">
                  <c:v>4.0</c:v>
                </c:pt>
                <c:pt idx="3">
                  <c:v>4.0</c:v>
                </c:pt>
                <c:pt idx="4">
                  <c:v>3.5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Hanon</c:v>
                </c:pt>
              </c:strCache>
            </c:strRef>
          </c:tx>
          <c:spPr>
            <a:solidFill>
              <a:srgbClr val="4FB3BF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7.0</c:v>
                </c:pt>
                <c:pt idx="1">
                  <c:v>8.0</c:v>
                </c:pt>
                <c:pt idx="2">
                  <c:v>2.0</c:v>
                </c:pt>
                <c:pt idx="3">
                  <c:v>5.0</c:v>
                </c:pt>
                <c:pt idx="4">
                  <c:v>5.0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Relationship Id="rId3" Type="http://schemas.openxmlformats.org/officeDocument/2006/relationships/chart" Target="../charts/chart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8"/>
          </a:solidFill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14400" y="21031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</a:rPr>
              <a:t>Closing the R&amp;D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10896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D0DCE8"/>
                </a:solidFill>
              </a:rPr>
              <a:t>TBK Co., Ltd. (7277.T) — brakes and pumps: market evolution, competitor innovation, and the reinvestment requirement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9436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8B8C8"/>
                </a:solidFill>
              </a:rPr>
              <a:t>Based on peer-reviewed and adversarially verified research, competitor filings (incl. Concentric AR2023), and TBK's audited FY3/2026 results  | 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Brakes: drum brakes are a shrinking island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Verified findings from peer-reviewed literature, regulatory records, and industry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365760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Europe — converted ~2000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1996 Actros: first heavy truck with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all-axle EBS disc brakes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~70% disc/EBS take rate by 2000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Near-universal on-highway since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Drums: ~18% of EU demand (off-road)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0" y="1417320"/>
            <a:ext cx="365760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North America — tipped 2023-24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FMVSS 121 (2009): −30% stopping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distance, drum-compatible by design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Tractors: &lt;5% disc (2011) → ~25%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(2018) → ~50%+ (2023-24)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Trailers still lag at ~15%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0" y="1417320"/>
            <a:ext cx="361188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Japan — the last drum market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Drums still majority on MD/HD trucks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UD Quon all-disc since 2017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New Giga tractor: all-wheel discs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Isuzu export heavies all-disc (MY25)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Domestic flip is when, not if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434840"/>
            <a:ext cx="557784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Why discs won (peer-reviewed)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Fade resistance under thermal load (SAE 902206, 1990; physics in Day et al. 1984)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~30% shorter stops vs standard drums (NHTSA simulator, 108 drivers)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10-20% braking advantage, 12-80% lifecycle savings in demanding duty (Ampadu 2023)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EBS/AEB/ADAS mandates favor disc actuation precision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4434840"/>
            <a:ext cx="553212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Electrification re-shuffles the deck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Regen braking cuts friction wear 64-95% (multiple peer-reviewed studies)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Friction aftermarket growth ~2% CAGR with EV headwind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EU brake-dust limits for heavy vehicles expected ~2030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Value shifts: wear parts → corrosion/NVH/low-dust + retarders &amp; blending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Pumps: electrification grows the category — and reallocates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Verified findings: peer-reviewed thermal studies, regulatory texts, and adversarial company documents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365760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Diesel era — refined commodity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Pumps = only ~1-2% of fuel energy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E-coolant pump on 13L truck engine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saves just 0.71-0.94% (TU Graz 2021)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Variable pumps: ~1-1.5% verified vs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3-6% in industry marketing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Small lever → slow innovation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0" y="1417320"/>
            <a:ext cx="365760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Regulation — Japan pushed least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US GEM: codified credits for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electric pumps (0.5-1 g/ton-mi)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EU VECTO: pump tech classes;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62.5% of fleet still fixed-displ.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Japan: NO accessory-level signal —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protected short-term, atrophied long-term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0" y="1417320"/>
            <a:ext cx="361188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ZEV trucks — content multiplies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BEV: 2-4 coolant loops vs 1 pump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(battery &lt;40°C, motor ~85°C)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FCEV: 40-45% of fuel energy out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via coolant; 1.5-2x heat exchanger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HV e-pump ≈ 4-8x unit value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→ content/vehicle ~8-30x diesel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434840"/>
            <a:ext cx="557784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The adversarial record on ICE pumps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Rheinmetall sold Pierburg (€2bn rev) for €350M ≈ 0.18x sales, after ~€550M impairments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Dayco carved out OE engine components; SHW cites Asian entrants + price-downs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Hanon forced to unwind flattering R&amp;D capitalization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EC antitrust (M.8102): pump niches at 90-100% concentration — sockets are sticky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4434840"/>
            <a:ext cx="553212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Japan: slow melt, early sockets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TBK's own filing: EV shift in buses/small-medium trucks may cut pump demand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BEV truck volumes tiny today (Dutro Z EV: ~400 units yr 1) — diesel persists past 2030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BUT: Mikuni already produces e-oil pumps for a domestic small BEV truck (2022)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Sockets are awarded years before volume (Pierburg order book runs 2028-35)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Same customers — two different purchase decisions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Isuzu, Fuso, Hino, Komatsu buy both product lines, but through different people, cycles, and triggers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5577840" cy="365760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BRAKES — safety &amp; chassis domain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Decision owners: chassis/safety engineering + homologation, OEM-wide platform decisions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Trigger: regulation (stopping distance, EBS/AEB, brake dust) and platform renewals — spec flips are abrupt and fleet-wide (Europe converted in ~5 yrs)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Cycle: long platform homologation; switching mid-cycle is rare → incumbent until the flip, then winner-takes-platform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Revenue model: aftermarket-heavy (wear parts annuity) — but discs + regen shrink friction events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TBK sales motion: defend drum platforms while qualifying ADB for the domestic disc flip; access EBS/systems layer via Brakes India alliance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17320"/>
            <a:ext cx="5532120" cy="365760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PUMPS — powertrain &amp; thermal domain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Decision owners: engine/e-powertrain and thermal-architecture teams, decided at program kick-off per powertrain program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Trigger: efficiency/cost in ICE era (weak in Japan — no regulatory credit); now EV thermal architecture awards 2-4 sockets at once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Cycle: sockets fixed years before volume (orders running 2028-35 signed now); concentrated niches — share lost is rarely regained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Revenue model: OE-heavy, little aftermarket (pumps last engine life) — value is in content growth per vehicle, not wear parts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TBK sales motion: convert dominant mechanical-pump incumbency into e-pump/TCU sockets on Isuzu/Fuso/Hino EV &amp; FC programs before Mikuni/Yamada lock them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25780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4E78"/>
                </a:solidFill>
              </a:rPr>
              <a:t>Implication: one customer list, two sales motions and two R&amp;D programs. Brake timing is regulatory/platform-driven (defend + be ready for the flip); pump timing is program-driven and running NOW (sockets being awarded while diesel volume still pays the bills). TBK must be present in both rooms at the same OEMs — chassis engineering for ADB, thermal/e-powertrain teams for e-pumps — which argues for ring-fenced teams and budgets per domain, not one shared engineering pool.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Competitors kept innovating — in brakes and in pumps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Every relevant peer has repositioned its product line for discs, electronics, and electrification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5577840" cy="51206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BRAKES — from castings to systems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Knorr-Bremse/Bendix: ADB standard on Peterbilt/Kenworth steer axles (2013); ~20M discs in field; Global Scalable Brake Control platform; driverless-truck braking (ATLAS-L4)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ZF/Wabco: EBS + ADAS integration; $7bn acquisition built the #2 systems house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Brembo: Sensify brake-by-wire; 6.1% of sales into R&amp;D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Akebono: electro-mechanical brakes (EMB) + copper-free friction — spending up despite losses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SAF-Holland/Haldex: trailer ADB + EBS at low cost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Consolidation priced the lesson: Haldex sold at HALF Knorr-Bremse's blocked 2017 offer after staying sub-scale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17320"/>
            <a:ext cx="5532120" cy="512064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PUMPS — mechanical → electric thermal management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Aisin: record ¥250bn R&amp;D plan; e-water/oil pumps + coolant valves inside the eAxle strategy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Mahle: thermal-management modules; €1.2bn BEV module order (2024) — largest in company history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Hanon: BEV heat pumps, CO2 refrigerant, e-coolant pumps (~4-6% of sales)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Mikuni (3x TBK's size): e-oil pump ALREADY in production for a Japanese small BEV truck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Yamada: e-water pumps shipping in Honda EVs/FCEVs (2024)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Concentric: e-products 20% of 2023 sales (AR2023), 25% gross margin on focused niches; Pierburg: 400-800V e-coolant pump families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The pattern: every pump peer redirected R&amp;D to electric pumps &amp; BEV thermal — the exact adjacency open to TBK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What competitors spend on R&amp;D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Latest fiscal year, group level (no peer discloses brake-only or pump-only R&amp;D); USD indicative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9494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80960" y="1463040"/>
            <a:ext cx="4069080" cy="402336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Absolute spend (≈USD)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ZF €3.6bn (~$3.9bn)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Aisin ¥237bn (~$1.6bn)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Cummins $1.46bn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Mahle €607M (~$655M)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Knorr-Bremse €544M (~$590M)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Hanon ~$360-440M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Brembo ~$250M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SAF-Holland €39M (~$42M)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Mikuni ¥5.5bn (~$37M)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Concentric MSEK 95 (~$9M)*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TBK ¥1.2bn (~$8M)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Brake systems players spend 6-9% of sales; large pump/thermal players cluster at 4-5.5%; Akebono now at 4.3% (EMB + copper-free friction ramp, per consistent peer dataset). TBK sits at 2.2%. *Concentric (AR2023, verified): expensed product development only 2.3% — yet 25% gross margin: niche dominance, not raw R&amp;D scale, drives pump profitability. *Hanon mid-range of conflicting filings.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The stock, not the flow: competitors' capitalized R&amp;D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R&amp;D Capital Base = cumulative R&amp;D capitalized and amortized on a consistent basis (peer dataset, 2025, USD) — the knowledge asset each company has built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6751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406640" y="1463040"/>
            <a:ext cx="434340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The stock gap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Cummins $5.6bn — 130x TBK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Knorr-Bremse $2.6bn — 60x TBK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Mikuni $194M — 4.5x TBK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SAF-Holland $131M | Akebono $123M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TBK: $43M — the smallest knowledge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base in the peer 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0" y="3703320"/>
            <a:ext cx="434340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Knowledge intensity (RDCB / sales)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Knorr-Bremse 29% | Mikuni 29%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Cummins 17%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TBK 12% | Akebono 12%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SAF-Holland 7%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The systems winners run structurally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knowledge-intensive business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064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Why it matters: the R&amp;D gap is cumulative, not annual. A decade of under-spending leaves TBK rebuilding a depleted asset while competitors amortize billions of accumulated know-how into every bid (brake control software, ADB iterations, e-pump motor/inverter design). This is why the catch-up phase must run YEARS at elevated spend — one good budget year cannot rebuild a stock — and why partnering (Brakes India) to borrow an existing knowledge base is rational.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The case that TBK's gross margin is structurally too 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TBK FY3/2026: 12.5% gross margin, 2.7% operating margin — four independent lines of evidence say this is a fixable defect, not the nature of the business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5577840" cy="21488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1. Peers prove the products can carry more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Every comparable brake peer except Akebono earns 22-27% (Haldex 27.3%, Cummins 24.7%, SAF-Holland ~22%)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Pump peers: Concentric 25.2% (verified AR2023), TPR 21.7% — the high-share niche players, i.e. exactly TBK's structural position in Japanese truck pumps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Same product categories, same customers' industry — 5-15 points more margin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17320"/>
            <a:ext cx="5532120" cy="214884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2. TBK earns LESS than its own customers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Isuzu gross margin ~19%, Hino ~17% vs TBK 12.5%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Healthy specialist suppliers out-margin their OEMs (Knorr-Bremse 13% EBIT vs truck OEMs' mid-single digits)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Inverted economics = pricing power sits with the customer: keiretsu concentration (Isuzu alone ¥12bn = 22% of sales) and annual price-downs, against commodity drum/mechanical products with no systems, electronics or branded-aftermarket content to defend price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703320"/>
            <a:ext cx="5577840" cy="21488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3. The COGS line carries an underloaded footprint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PP&amp;E at 39% of sales — 3x Concentric's ~12%; depreciation 5.3% of sales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China: depreciation 12.8% of segment sales, losses both years; Japan segment margin just 1.6%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&gt;¥2.2bn impairments + restructuring losses in 2 years = the cost of underutilized plants crystallizing (booked below the operating line, so the true factory burden is even larger than the margin gap shows)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3703320"/>
            <a:ext cx="5532120" cy="214884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4. The repair has already started — and works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FY3/2026: gross margin 10.6% → 12.5% in one year (cost of sales cut ¥0.7bn on flat sales); North America exited; ¥712M Japan impairment = footprint action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Concentric's playbook validates the destination: focused niches, 25% gross margin, opex GROWING into the e-transition at 18.4% average operating margin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Nothing about brakes or pumps caps TBK at 12.5% — peers with the same products price and load their factories better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4E78"/>
                </a:solidFill>
              </a:rPr>
              <a:t>Conclusion: at peer margins TBK's existing sales generate $22-24M more gross profit per year (next pages) — enough to fund the entire R&amp;D catch-up. The margin is the constraint, and it is self-inflicted: underloaded factories in COGS, commodity mix, and customer-held pricing power — all addressable.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TBK underperforms peer gross margins in BOTH businesses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TBK audited FY3/2026 (blended 12.5%) vs comparable peers per panel  |  all figures USD at ¥150/USD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6751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406640" y="1463040"/>
            <a:ext cx="434340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Brake peers (comparable basis)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Haldex 27.3% | Cummins 24.7%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SAF-Holland ~22% | Akebono 10.0%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TBK trails every brake peer except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Akebono — by 9-11 points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0" y="3703320"/>
            <a:ext cx="434340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Pump peers (comparable basis)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Concentric 25.2% (verified AR2023)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TPR 21.7% | Aisin 12.1% | Hanon 9.1%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TBK trails the panel average by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~4.5 points — and the pure-play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CV pump comp by ~13 points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064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TBK does not disclose gross profit per division, so its blended 12.5% is shown against both panels. Even on the most charitable reading — assuming all underperformance sits in one business — TBK is below peer average in the other. Peer set: IFRS cost-of-sales / JGAAP reporters only.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Closing the margin gap is worth ~$22-24M more gross profit per year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TBK FY3/2026 sales ($365M) at peer margins  |  USD at ¥150/USD  |  division split estimated from FY3/2025 (35% / 65%)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2179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949440" y="1463040"/>
            <a:ext cx="4800600" cy="182880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The annual prize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+$21.6M/yr at peer AVERAGE margins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+$24.4M/yr at peer MEDIAN margins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≈ +50% on today's $45.5M gross profit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Split roughly half brakes, half pumps (~$11-14M each)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0" y="3429000"/>
            <a:ext cx="4800600" cy="237744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What it funds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The entire R&amp;D catch-up program costs ~$27M/yr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(parity run-rate $17M + deficit repayment $10M)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→ closing ~90% of the margin gap pays for ALL of it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FY3/2026 already delivered the first ~$7M/yr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(margin 10.6% → 12.5%) — the path is proven, not theoretical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064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Method: brakes ~$127M sales x peer avg 21.0% / median 23.4%; pumps &amp; engine components ~$238M x 17.0% / 16.9%; vs actual blended 12.5%. Margin levers per the benchmark: aftermarket/branded content, niche pricing power (Concentric/TPR model), price-down discipline, and mix shift to disc brakes and e-pumps.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Product-level proof: same pumps, half the contribution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Internal data both sides: TBKK (Thailand) profit by items Apr-Sep 2025 vs Concentric Group MR Pack Dec-2021 YTD. Contribution = sales minus variable costs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40080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132320" y="1463040"/>
            <a:ext cx="461772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Inside TBKK's own book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Pockets of real pricing power: Isuzu brake VD00 (HR) 64.1%, brake 700P 41.7%, gears 30.6%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Bleeding lines: GKN case-set/diff -30.2% (negative contribution), Suzuki -1.2%, ISZ W/P ES 1.7%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Customer curve: Isuzu 25.8% &gt; MMTH 23.0% &gt; ITT 22.6% &gt; Kubota 17.0%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3840480"/>
            <a:ext cx="461772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Concentric's ladder = TBK's roadmap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Conventional pump 38-43% -&gt; semi-variable 54% -&gt; electric 55% -&gt; system (ALFDEX) 56%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Each evolution step = roughly +15 points of contribution on the SAME base product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TBK's e-pump/TCU program targets exactly this ladder — the data proves the rungs exist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9788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This is the micro-mechanism behind every macro gap in this deck: gross margin, EBITA, and ROIC differences all begin at contribution per part number. Caveats: TBKK = Thai subsidiary (~26% of group sales); periods/currencies differ — ratios comparable, absolutes not; Concentric 2021 was a strong year. First actions are free: prune negative-contribution lines (GKN case-set), reprice near-zero lines.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Why TBK looks lean on OPEX: its factory costs hide in COGS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OPEX here = gross margin − operating margin (SG&amp;A + R&amp;D). Under JGAAP, factory overhead, depreciation and idle capacity sit in COST OF SALES  |  USD at ¥150/USD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6751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406640" y="1463040"/>
            <a:ext cx="434340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The lean look is an artifact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TBK's 9.7% covers only SG&amp;A + its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thin ~2.2% R&amp;D — the future-building costs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it has starved. The factory burden is in COGS: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PP&amp;E 39% of sales vs Concentric ~12% (3x)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Depreciation 5.3% of sales; China: 12.8% of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segment sales + losses both years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0" y="3703320"/>
            <a:ext cx="434340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Restructuring bypasses BOTH metrics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Impairments ¥459M + ¥712M and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restructuring losses ¥775M + ¥297M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(&gt;¥2.2bn in 2 years) booked as JGAAP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extraordinary items — below operating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profit, invisible to GM and OPEX alike.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That IS the underutilized-footprint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064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Two-front program, mapped to the P&amp;L: (1) footprint/utilization repair attacks COGS — the $22-24M/yr gross-margin prize (North America exit and the ¥712M Japan impairment show it has started); (2) R&amp;D catch-up deliberately GROWS opex toward peer levels (peers spend 10-14% incl. 4%+ R&amp;D and earn 2.5x TBK's operating margin — Concentric grew opex 10.3%→11.7% funding its e-pump transition at 18.4% avg OPM). Cut above the line, invest below it.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TBK's accumulated R&amp;D deficit: ~US$100M over a decade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TBK dataset FY2016-2025; benchmark = blended peer floor for a brake + pump supplier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9494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80960" y="1463040"/>
            <a:ext cx="4069080" cy="402336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The deficit, quantified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Cumulative sales FY16-25: $4.26bn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Cumulative R&amp;D: $93.5M (2.2%)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Gap vs 4.0% benchmark: ~$77M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Gap vs 4.5% benchmark: ~$98M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Gap vs 5.0% benchmark: ~$120M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Central estimate: ~US$100M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And intensity is FALLING: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2.6% (FY22) → 2.2% (FY25)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7150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Compounding the problem: TBK's marginal return on invested capital has been negative on every horizon (-2% to -10%) — the deficit is in direction as well as amount. Capex fell to $16M by FY25, though FY3/26 shows a turn: capex back up to ¥3.3bn and ¥1.1bn equity raised from Brakes India.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The reinvestment requirement: two phases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Catch-up to repay the technological deficit, then a permanently higher run-rate to match peers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9494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80960" y="1463040"/>
            <a:ext cx="4069080" cy="402336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The numbers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PHASE 1 — Catch-up (5 yrs):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~$27M/yr ≈ 7.5% of sales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= parity run-rate ($16-18M)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+ deficit repayment (~$10M/yr,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~$50M split between ADB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industrialization and e-pump/TCU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programs)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Total: ~$135M over 5 years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PHASE 2 — Steady state: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$16-18M/yr ≈ 4.5-5% of sales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= 2.2x today's spend, forever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Plus one-off ADB line capex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(~$30-50M, outside R&amp;D line)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Allocation discipline, per domain: (1) brakes — ADB industrialization for the Japanese disc flip, systems/ADAS access via Brakes India, timed to regulation and platform renewals; (2) pumps — e-pump/TCU sockets on Isuzu/Fuso/Hino electrified programs, timed to program kick-offs happening NOW. Funding: the ~$22-24M/yr peer-margin prize covers the ~$27M/yr program almost fully. The Concentric lesson: focused niche engineering at 2.3% intensity earns 25% gross margins — spend must buy sockets, not just scale.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Product evaluation I: external quality &amp; service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Evidence hierarchy: NHTSA recalls (supplier named by law) &gt; OEM-granted awards &gt; independent surveys &gt; patents &gt; self-claims. Japan's MLIT does not name suppliers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5577840" cy="228600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The validated leaders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Knorr-Bremse/Bendix: PACCAR supplier-performance award 6 consecutive yrs; 3 plants on PACCAR's &lt;=10 defects-per-million list; ETM 'Best Brand - Brakes' (German fleet/driver vote) 19 YEARS RUNNING; ~85% of NA air-disc wheel ends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Meritor/Cummins: Daimler 'Masters of Quality' + 2020 global quality award ('1.3M axles/brakes at low defect rate'); DTNA EXTENDED its ADB contract — revealed preference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Brembo: all 10 F1 teams; AMS brake-brand vote 11 of 13 years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17320"/>
            <a:ext cx="5532120" cy="228600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The adverse records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Bendix: 2019 ADB22X caliper recall (fire risk); 2024-25 EC-80 ECU recall, 442k units (software fix) — scale produces both install base and recalls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Haldex: lost a WILLFUL patent-infringement verdict to Bendix (copied its ADB); two modest component recalls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Akebono: the only Japanese supplier with documented adverse events — 2015 GM recall of its brake products + 2019-21 inspection-data falsification (no recall, governance black mark)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557784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TBK: externally invisible — in BOTH directions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No OEM award findable, no survey presence, no service network beyond Japan/Thailand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BUT also: no recall, no scandal, no misconduct report in Japanese-language search — a meaningful null in a scandal-rich industry (cf. Akebono)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75 years inside Isuzu/Fuso/Hino = quality is probably fine; 'probably fine, unproven' is the ceiling the evidence supports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Dataset moat scores align: Knorr 7.55 top, Akebono 4.95 bottom — TBK was unscored: literally unmeasurable from outside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3840480"/>
            <a:ext cx="553212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TCO &amp; service: only proxies exist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Brand-level TCO data is NOT public (fleets don't publish; IMR studies paywalled) — standing must be inferred: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Install base: Bendix 20M+ ADBs in field | Contract renewals: Meritor-DTNA extension | Networks: Knorr's pan-EMEA certified workshop network vs TBK's Japan+Thailand footprint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On every proxy the systems players lead — and TBK does not appear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172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4E78"/>
                </a:solidFill>
              </a:rPr>
              <a:t>Strategic point: TBK's quality reputation is held entirely inside the keiretsu — like its market share, it cannot be sold to new customers. Making quality externally legible (awards, certifications, published data) is a cheap, necessary complement to the R&amp;D program.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Product evaluation II: innovation output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Patents, documented product firsts, and technical-society awards — the externally visible output of R&amp;D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5577840" cy="228600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The patent gap (independent registries)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Knorr-Bremse: ~2,900 patent families / 10,900+ patents (~7,500 in the truck division)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Aisin: ~680 JP applications/yr; Clarivate Top-100 Global Innovator 7 consecutive years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Akebono: ~321 US-registered patents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Mikuni: e-oil-pump fault-detection patents — its BEV-truck win is engineering-backed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TBK: 2-3 patent GRANTS PER YEAR — two to three orders of magnitude below the leaders.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Independently confirms the capitalized-R&amp;D finding ($43M vs $2.6-5.6bn) from a different data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17320"/>
            <a:ext cx="5532120" cy="228600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Documented product firsts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Knorr: EBS 1989; series air disc brake 1992; Actros/Scania volume 1996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Bendix ADB22X: 2005, now ~85% of NA air-disc wheel ends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UD Quon 2017: first all-disc Japanese heavy truck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Mikuni 2022: e-oil pump in production for a domestic small BEV truck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Akebono FY2023: JSME Technology Award — world-first electric parking brake unit for medium/light trucks (innovating through distress)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TBK: retarders since the 1960s; 19.5" ADB exhibited (year unconfirmed: 2019 vs 2022 sources conflict); e-pumps/TCU in development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11292840" cy="173736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The pattern — and TBK's fix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Innovation output tracks the moat and margin rankings almost perfectly: the companies with validated quality (Knorr, Cummins) also hold the patent fortresses and the product firsts; the distressed (Akebono) still out-publish TBK; even the similarly-sized peer (Mikuni) protects its e-pump work with patents.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TBK's innovation is real but INVISIBLE: 75 years of retarder/brake/pump engineering, an ADB prototype, e-pumps and a thermal control unit in development — none of it patented at scale, published at JSAE, or externally awarded. Invisible innovation cannot win sockets outside the keiretsu.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Fix costs little: patent the e-pump/TCU and ADB work (Mikuni shows the value), publish, pursue external validation — a required complement to the R&amp;D spend itself.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Moat framework ranking: TBK scores 5.38 — 9th of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Unified Niche Compounder Methodology v3.2: 10 weighted criteria, domain-blended internal/external evidence. Thresholds: &gt;7.8 Compounder, 6.5-7.8 Watchlist, &lt;6.5 Pass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67512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406640" y="1463040"/>
            <a:ext cx="4343400" cy="219456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Bands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Compounder Target (&gt;7.8): NONE —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no company in this industry qualifies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Watchlist (6.5-7.8): Knorr 7.55,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Concentric 6.98, Brembo/Cummins 6.73,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SAF-Holland 6.59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Pass (&lt;6.5): everyone else —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incl. TBK 5.38, Mikuni 5.00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0" y="3794760"/>
            <a:ext cx="434340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TBK's decomposition is unique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The strongest STATIC moat of the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unscored set (Criticality 7.5 +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Hegemony 8.0 = 2.33 of its 5.38)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…drained by the worst COMPOUNDING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engine in the whole group (Capital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allocation 2.0 + Runway 3.0 = just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0.50 of a possible 2.00)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Durable problem, fragile solution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TBK's moat profile: where it is strong, where it bleeds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Chapter scores (1-10) — TBK vs Concentric (best newly-scored) vs Mikuni vs average of the 6 newly-scored peers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365760" y="1371600"/>
          <a:ext cx="640080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040880" y="1417320"/>
            <a:ext cx="4709160" cy="228600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TBK's STRONG points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Market hegemony 8.0 — top domestic share in entry-proof niches (best score in the set on this criterion)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Criticality 7.5 — life-support product: &lt;1% of truck cost protecting 100% of value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Demand horizon 7.0 — stopping &amp; cooling heavy trucks is permanent; content GROWS with electrification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0" y="3840480"/>
            <a:ext cx="4709160" cy="228600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TBK's WEAK points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Capital allocation 2.0 — ROIIC negative at every horizon with 100% reinvestment (worst in the group)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Ecosystem 2.0 — standalone hardware, no installed-base annuity (vs Knorr's EBS/TruckServices)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Lifecycle cost 3.0 — no cost edge: underloaded plants in COGS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Reinvestment runway 3.0 — runway exists but unproven; $43M knowledge stock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Substitution 3.5 — both products in active displacement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Moat criteria: TBK vs competitors, criterion by criterion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Newly-scored companies (chapter detail unavailable for the 5 pre-scored names). TBK in red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365760" y="1417320"/>
          <a:ext cx="5669280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172200" y="1417320"/>
          <a:ext cx="5669280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8064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Read: in Phase 1 (left) TBK leads or matches on Criticality and Hegemony and collapses on Ecosystem/Lifecycle cost. In Phases 2-3 (right) TBK is last or near-last on every engine criterion — while Concentric (green) leads precisely there. Closing the gap to Concentric is execution (allocation, substitution positioning), not moat-building: the moat already exists.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Research quality &amp; methodology notes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How this material was produced, verified, and where its limits 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5577840" cy="23774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Method &amp; confidence tiers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Two deep-research studies (brake market; pump market): 5 parallel search angles each, claims extracted as falsifiable statements, then ADVERSARIAL VERIFICATION — 3 independent voters per claim set, actively attempting refutation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Tier 1: peer-reviewed papers, primary regulation, audited filings (TBK tanshin, Concentric AR2023, SEC)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Tier 2: government data and multi-source-verified company/industry figures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Tier 3: single-source estimates and market research — always labeled in the underlying documents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17320"/>
            <a:ext cx="5532120" cy="237744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Corrections made by verification (transparency)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TBK's famous '~70% share' belongs to its WATER PUMPS, not brakes (brakes: 'top share', unaudited)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Euro 7 heavy-duty brake-dust limits apply ~2030, not 2028/29 (those are exhaust dates)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Concentric R&amp;D = 2.3% of sales per AR2023 — the circulating '~5%' was wrong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'85-90% of Asia on drums' could not be corroborated — stated as 'majority' only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A claimed TBK-Mikuni alliance is erroneous (conflation with Mikuni-Suzuki)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Aggregator's 'TBK FY26 ¥138M profit' contradicted by the audited tanshin (-¥131M)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931920"/>
            <a:ext cx="5577840" cy="23774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Known limitations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Full-text retrieval was blocked in the research environment: paywalled SAE/journal numbers rest on abstracts; flagged where unverified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No peer discloses brake-only or pump-only R&amp;D, gross profit, or segment margins — group figures used; ratios are the valid comparison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Accounting bases differ: German/Italian nature-of-expense 'gross margins' (Knorr ~50%, Brembo ~50%) are materials-only and EXCLUDED from margin comparisons; JGAAP fully expenses R&amp;D while IFRS peers capitalize part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TBK FY3/26 division split estimated from FY3/25 (yuho due June 2026); USD at ¥150/USD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3931920"/>
            <a:ext cx="5532120" cy="237744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Data hierarchy &amp; framework constructs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Where sources conflict, the audited primary document wins (e.g., TBK tanshin over aggregators)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Consistent-basis peer metrics (margins, R&amp;D, ROIC) come from the user-provided 10-year/LTM peer dataset — same methodology across all 7 companies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ROIIC (ROICm) = return on incremental invested capital over the stated horizon; RR = reinvestment rate; R&amp;D Capital Base = cumulative R&amp;D capitalized/amortized per the dataset framework — a modeling construct, not a balance-sheet line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Scenario pages state assumptions on-slide; peer-margin scenarios use comparable reporters only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577840" cy="26060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Primary &amp; audited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TBK Co., Ltd. — Consolidated Financial Results FY ended 31 Mar 2026 (tanshin, 14 May 2026); securities-report risk factors (有価証券報告書 via kitaishihon/irbank)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Concentric AB — Annual Report 2023 (income statement, balance sheet, 5-year key figures)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User-provided datasets: TBK 10-year financials; Peers 10-year; Peers LTM (7 companies, consistent methodology)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SEC filings: Cummins 10-K/10-Q/8-K (FY2024-25); WABCO &amp; Meritor merger 8-Ks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Company releases: Knorr-Bremse FY2023-25; ZF AR2024-25; SAF-Holland AR2024; Mahle AR2024-25; Haldex year-end 2021; Rheinmetall FY2025 + AEQUITA divestment (3 Jun 2026); Circle BidCo/A.P. Møller offer documents (2024); Brakes India-TBK alliance (Dec 2025)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188720"/>
            <a:ext cx="5532120" cy="26060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Peer-reviewed &amp; academic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Göhring &amp; von Glasner, SAE 902206 (1990); Kajiyama et al. (Isuzu/TBK), SAE 902200 (1990); Day, Harding &amp; Newcomb, Proc IMechE (1984); Hoover et al., SAE 2005-01-3614; Subel &amp; Kienhöfer, Proc IMechE D (2020)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Ampadu, Alrejjal &amp; Ksaibati, JSDTL 8(1) 2023 — disc vs drum cost-effectiveness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Granitz et al., SN Applied Sciences (2021) — e-coolant pump, 13L HD diesel; Bitsis &amp; Miwa, SAE 2018-01-0980; Cummins SuperTruck 2, SAE 2019-01-0247; MIT S.M. thesis (2012) — HD parasitic losses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Zhang et al., J. Hazardous Materials 465 (2024); Hagino, Atmosphere 15:75 (2024, JARI); Environmental Pollution (2023) — regen braking &amp; brake wear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Energies 16:4024 (2023), 19:1748 (2026); Sustainability 15:3132 (2023); Energies 16:168 (2023) — BEV/FCEV truck &amp; bus thermal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977639"/>
            <a:ext cx="5577840" cy="26060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Regulatory &amp; legal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NHTSA: FMVSS 121 final rule 74 FR 37122 (2009) + Regulatory Impact Analysis; DOT HS 811 367 (2010, NADS simulator); ESV 07-0242 (2007); heavy-vehicle AEB NPRM (2023)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UNECE Regulation No. 13 (braking, Type-II fade tests)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EU: Reg 2019/1242 &amp; 2024/1610 (HDV CO2); Reg 2024/1257 (Euro 7); Reg 2017/2400 Annex IX (VECTO auxiliaries) + JRC112015; EPA Phase 2 (40 CFR 1037.520 accessory credits) &amp; Phase 3 (2024)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EC merger decisions: M.8102 Valeo/FTE (2017, 90-100% concentration, Raicam remedy); Knorr-Bremse/Haldex Phase II (IP-17-2126, 2017)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Japan: MY2025 HDV fuel-economy standards (via ICCT/TransportPolicy); METI supplier-transition studies (2023, 2025); FMCSA Crash Cost Methodology (2025); AAA Foundation (2017)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3977639"/>
            <a:ext cx="5532120" cy="26060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Industry &amp; financial data (verified, labeled where single-source)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Adoption data: Haldex ADB history; Bendix/Knorr production milestones; FleetOwner, TruckingInfo, Fleet Maintenance, Transport Topics, Fleet Equipment; NACFE confidence reports; NAS 25542; DOE SuperTruck (OSTI)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Deal records: Knorr-Bremse-Bendix (2002); ZF-Wabco $7bn (2020); Cummins-Meritor $3.7bn (2022); SAF-Holland-Haldex (2022); Concentric take-private SEK 230 (2024); Pierburg-AEQUITA €350M (2026)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Japanese filings via irbank, kitaishihon, buffett-code, kabutan, MarkLines (incl. TBK JSAE 2022 exhibit; Mikuni 2022 BEV-truck e-oil pump disclosure; Yamada e-water pump adoptions)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Aggregators for computed ratios: macrotrends, stockanalysis, Simply Wall St — cross-checked against filings; market research (MarketsandMarkets, GVR, IDTechEx) used directionally only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