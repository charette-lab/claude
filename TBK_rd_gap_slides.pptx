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charts/chart4.xml" ContentType="application/vnd.openxmlformats-officedocument.drawingml.chart+xml"/>
  <Override PartName="/ppt/charts/chart5.xml" ContentType="application/vnd.openxmlformats-officedocument.drawingml.chart+xml"/>
  <Override PartName="/ppt/charts/chart6.xml" ContentType="application/vnd.openxmlformats-officedocument.drawingml.chart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_rels/chart3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3.xlsx"/></Relationships>
</file>

<file path=ppt/charts/_rels/chart4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4.xlsx"/></Relationships>
</file>

<file path=ppt/charts/_rels/chart5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5.xlsx"/></Relationships>
</file>

<file path=ppt/charts/_rels/chart6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6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r>
              <a:rPr sz="1400"/>
              <a:t>R&amp;D intensity (% of sales)</a:t>
            </a:r>
          </a:p>
        </c:rich>
      </c:tx>
      <c:layout/>
      <c:overlay val="0"/>
    </c:title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R&amp;D % of sales</c:v>
                </c:pt>
              </c:strCache>
            </c:strRef>
          </c:tx>
          <c:spPr>
            <a:solidFill>
              <a:srgbClr val="1F4E78"/>
            </a:solidFill>
          </c:spPr>
          <c:cat>
            <c:strRef>
              <c:f>Sheet1!$A$2:$A$12</c:f>
              <c:strCache>
                <c:ptCount val="11"/>
                <c:pt idx="0">
                  <c:v>SAF-Holland</c:v>
                </c:pt>
                <c:pt idx="1">
                  <c:v>TBK</c:v>
                </c:pt>
                <c:pt idx="2">
                  <c:v>Concentric*</c:v>
                </c:pt>
                <c:pt idx="3">
                  <c:v>Cummins</c:v>
                </c:pt>
                <c:pt idx="4">
                  <c:v>Aisin</c:v>
                </c:pt>
                <c:pt idx="5">
                  <c:v>Hanon*</c:v>
                </c:pt>
                <c:pt idx="6">
                  <c:v>Mahle</c:v>
                </c:pt>
                <c:pt idx="7">
                  <c:v>Mikuni</c:v>
                </c:pt>
                <c:pt idx="8">
                  <c:v>Brembo</c:v>
                </c:pt>
                <c:pt idx="9">
                  <c:v>Knorr-Bremse</c:v>
                </c:pt>
                <c:pt idx="10">
                  <c:v>ZF</c:v>
                </c:pt>
              </c:strCache>
            </c:strRef>
          </c:cat>
          <c:val>
            <c:numRef>
              <c:f>Sheet1!$B$2:$B$12</c:f>
              <c:numCache>
                <c:formatCode>General</c:formatCode>
                <c:ptCount val="11"/>
                <c:pt idx="0">
                  <c:v>2.1</c:v>
                </c:pt>
                <c:pt idx="1">
                  <c:v>2.2</c:v>
                </c:pt>
                <c:pt idx="2">
                  <c:v>2.3</c:v>
                </c:pt>
                <c:pt idx="3">
                  <c:v>4.3</c:v>
                </c:pt>
                <c:pt idx="4">
                  <c:v>4.8</c:v>
                </c:pt>
                <c:pt idx="5">
                  <c:v>5.0</c:v>
                </c:pt>
                <c:pt idx="6">
                  <c:v>5.4</c:v>
                </c:pt>
                <c:pt idx="7">
                  <c:v>5.4</c:v>
                </c:pt>
                <c:pt idx="8">
                  <c:v>6.1</c:v>
                </c:pt>
                <c:pt idx="9">
                  <c:v>6.9</c:v>
                </c:pt>
                <c:pt idx="10">
                  <c:v>8.6</c:v>
                </c:pt>
              </c:numCache>
            </c:numRef>
          </c:val>
        </c:ser>
        <c:dLbls>
          <c:numFmt formatCode="0.0&quot;%&quot;" sourceLinked="0"/>
          <c:txPr>
            <a:bodyPr/>
            <a:lstStyle/>
            <a:p>
              <a:pPr>
                <a:defRPr sz="1000"/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10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/>
        <c:majorTickMark val="out"/>
        <c:minorTickMark val="none"/>
        <c:tickLblPos val="nextTo"/>
        <c:crossAx val="-2068027336"/>
        <c:crosses val="autoZero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r>
              <a:rPr sz="1400"/>
              <a:t>Gross margin: TBK vs peers, by business (%)</a:t>
            </a:r>
          </a:p>
        </c:rich>
      </c:tx>
      <c:layout/>
      <c:overlay val="0"/>
    </c:title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TBK gross margin</c:v>
                </c:pt>
              </c:strCache>
            </c:strRef>
          </c:tx>
          <c:spPr>
            <a:solidFill>
              <a:srgbClr val="7F1D1D"/>
            </a:solidFill>
          </c:spPr>
          <c:cat>
            <c:strRef>
              <c:f>Sheet1!$A$2:$A$3</c:f>
              <c:strCache>
                <c:ptCount val="2"/>
                <c:pt idx="0">
                  <c:v>BRAKES
(TBK sales ~$127M)</c:v>
                </c:pt>
                <c:pt idx="1">
                  <c:v>PUMPS &amp; ENGINE COMP.
(TBK sales ~$238M)</c:v>
                </c:pt>
              </c:strCache>
            </c: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12.5</c:v>
                </c:pt>
                <c:pt idx="1">
                  <c:v>12.5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Peer average</c:v>
                </c:pt>
              </c:strCache>
            </c:strRef>
          </c:tx>
          <c:spPr>
            <a:solidFill>
              <a:srgbClr val="1F4E78"/>
            </a:solidFill>
          </c:spPr>
          <c:cat>
            <c:strRef>
              <c:f>Sheet1!$A$2:$A$3</c:f>
              <c:strCache>
                <c:ptCount val="2"/>
                <c:pt idx="0">
                  <c:v>BRAKES
(TBK sales ~$127M)</c:v>
                </c:pt>
                <c:pt idx="1">
                  <c:v>PUMPS &amp; ENGINE COMP.
(TBK sales ~$238M)</c:v>
                </c:pt>
              </c:strCache>
            </c:strRef>
          </c:cat>
          <c:val>
            <c:numRef>
              <c:f>Sheet1!$C$2:$C$3</c:f>
              <c:numCache>
                <c:formatCode>General</c:formatCode>
                <c:ptCount val="2"/>
                <c:pt idx="0">
                  <c:v>21.0</c:v>
                </c:pt>
                <c:pt idx="1">
                  <c:v>17.0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Peer median</c:v>
                </c:pt>
              </c:strCache>
            </c:strRef>
          </c:tx>
          <c:spPr>
            <a:solidFill>
              <a:srgbClr val="548235"/>
            </a:solidFill>
          </c:spPr>
          <c:cat>
            <c:strRef>
              <c:f>Sheet1!$A$2:$A$3</c:f>
              <c:strCache>
                <c:ptCount val="2"/>
                <c:pt idx="0">
                  <c:v>BRAKES
(TBK sales ~$127M)</c:v>
                </c:pt>
                <c:pt idx="1">
                  <c:v>PUMPS &amp; ENGINE COMP.
(TBK sales ~$238M)</c:v>
                </c:pt>
              </c:strCache>
            </c:strRef>
          </c:cat>
          <c:val>
            <c:numRef>
              <c:f>Sheet1!$D$2:$D$3</c:f>
              <c:numCache>
                <c:formatCode>General</c:formatCode>
                <c:ptCount val="2"/>
                <c:pt idx="0">
                  <c:v>23.4</c:v>
                </c:pt>
                <c:pt idx="1">
                  <c:v>16.9</c:v>
                </c:pt>
              </c:numCache>
            </c:numRef>
          </c:val>
        </c:ser>
        <c:dLbls>
          <c:numFmt formatCode="0.0&quot;%&quot;" sourceLinked="0"/>
          <c:txPr>
            <a:bodyPr/>
            <a:lstStyle/>
            <a:p>
              <a:pPr>
                <a:defRPr sz="1100"/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11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/>
        <c:majorTickMark val="out"/>
        <c:minorTickMark val="none"/>
        <c:tickLblPos val="nextTo"/>
        <c:crossAx val="-2068027336"/>
        <c:crosses val="autoZero"/>
      </c:valAx>
    </c:plotArea>
    <c:legend>
      <c:legendPos val="b"/>
      <c:overlay val="0"/>
      <c:txPr>
        <a:bodyPr/>
        <a:lstStyle/>
        <a:p>
          <a:pPr>
            <a:defRPr sz="1200"/>
          </a:pPr>
        </a:p>
      </c:txPr>
    </c:legend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r>
              <a:rPr sz="1400"/>
              <a:t>TBK annual gross profit (US$M)</a:t>
            </a:r>
          </a:p>
        </c:rich>
      </c:tx>
      <c:layout/>
      <c:overlay val="0"/>
    </c:title>
    <c:autoTitleDeleted val="0"/>
    <c:plotArea>
      <c:barChart>
        <c:barDir val="col"/>
        <c:grouping val="stacked"/>
        <c:ser>
          <c:idx val="0"/>
          <c:order val="0"/>
          <c:tx>
            <c:strRef>
              <c:f>Sheet1!$B$1</c:f>
              <c:strCache>
                <c:ptCount val="1"/>
                <c:pt idx="0">
                  <c:v>Brakes ($M)</c:v>
                </c:pt>
              </c:strCache>
            </c:strRef>
          </c:tx>
          <c:spPr>
            <a:solidFill>
              <a:srgbClr val="1F4E78"/>
            </a:solidFill>
          </c:spPr>
          <c:cat>
            <c:strRef>
              <c:f>Sheet1!$A$2:$A$4</c:f>
              <c:strCache>
                <c:ptCount val="3"/>
                <c:pt idx="0">
                  <c:v>Actual
FY3/2026</c:v>
                </c:pt>
                <c:pt idx="1">
                  <c:v>At peer
average</c:v>
                </c:pt>
                <c:pt idx="2">
                  <c:v>At peer
median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1">
                  <c:v>26.6</c:v>
                </c:pt>
                <c:pt idx="2">
                  <c:v>29.5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Pumps &amp; engine components ($M)</c:v>
                </c:pt>
              </c:strCache>
            </c:strRef>
          </c:tx>
          <c:spPr>
            <a:solidFill>
              <a:srgbClr val="548235"/>
            </a:solidFill>
          </c:spPr>
          <c:cat>
            <c:strRef>
              <c:f>Sheet1!$A$2:$A$4</c:f>
              <c:strCache>
                <c:ptCount val="3"/>
                <c:pt idx="0">
                  <c:v>Actual
FY3/2026</c:v>
                </c:pt>
                <c:pt idx="1">
                  <c:v>At peer
average</c:v>
                </c:pt>
                <c:pt idx="2">
                  <c:v>At peer
median</c:v>
                </c:pt>
              </c:strCache>
            </c:strRef>
          </c:cat>
          <c:val>
            <c:numRef>
              <c:f>Sheet1!$C$2:$C$4</c:f>
              <c:numCache>
                <c:formatCode>General</c:formatCode>
                <c:ptCount val="3"/>
                <c:pt idx="1">
                  <c:v>40.5</c:v>
                </c:pt>
                <c:pt idx="2">
                  <c:v>40.3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Actual blended ($M)</c:v>
                </c:pt>
              </c:strCache>
            </c:strRef>
          </c:tx>
          <c:spPr>
            <a:solidFill>
              <a:srgbClr val="7F1D1D"/>
            </a:solidFill>
          </c:spPr>
          <c:cat>
            <c:strRef>
              <c:f>Sheet1!$A$2:$A$4</c:f>
              <c:strCache>
                <c:ptCount val="3"/>
                <c:pt idx="0">
                  <c:v>Actual
FY3/2026</c:v>
                </c:pt>
                <c:pt idx="1">
                  <c:v>At peer
average</c:v>
                </c:pt>
                <c:pt idx="2">
                  <c:v>At peer
median</c:v>
                </c:pt>
              </c:strCache>
            </c:strRef>
          </c:cat>
          <c:val>
            <c:numRef>
              <c:f>Sheet1!$D$2:$D$4</c:f>
              <c:numCache>
                <c:formatCode>General</c:formatCode>
                <c:ptCount val="3"/>
                <c:pt idx="0">
                  <c:v>45.5</c:v>
                </c:pt>
              </c:numCache>
            </c:numRef>
          </c:val>
        </c:ser>
        <c:dLbls>
          <c:numFmt formatCode="$0.0&quot;M&quot;" sourceLinked="0"/>
          <c:txPr>
            <a:bodyPr/>
            <a:lstStyle/>
            <a:p>
              <a:pPr>
                <a:defRPr sz="1000"/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overlap val="10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11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/>
        <c:majorTickMark val="out"/>
        <c:minorTickMark val="none"/>
        <c:tickLblPos val="nextTo"/>
        <c:crossAx val="-2068027336"/>
        <c:crosses val="autoZero"/>
      </c:valAx>
    </c:plotArea>
    <c:legend>
      <c:legendPos val="b"/>
      <c:overlay val="0"/>
      <c:txPr>
        <a:bodyPr/>
        <a:lstStyle/>
        <a:p>
          <a:pPr>
            <a:defRPr sz="1100"/>
          </a:pPr>
        </a:p>
      </c:txPr>
    </c:legend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r>
              <a:rPr sz="1400"/>
              <a:t>OPEX as % of sales: TBK vs peers, by business</a:t>
            </a:r>
          </a:p>
        </c:rich>
      </c:tx>
      <c:layout/>
      <c:overlay val="0"/>
    </c:title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TBK (blended)</c:v>
                </c:pt>
              </c:strCache>
            </c:strRef>
          </c:tx>
          <c:spPr>
            <a:solidFill>
              <a:srgbClr val="7F1D1D"/>
            </a:solidFill>
          </c:spPr>
          <c:cat>
            <c:strRef>
              <c:f>Sheet1!$A$2:$A$3</c:f>
              <c:strCache>
                <c:ptCount val="2"/>
                <c:pt idx="0">
                  <c:v>BRAKES panel</c:v>
                </c:pt>
                <c:pt idx="1">
                  <c:v>PUMPS panel</c:v>
                </c:pt>
              </c:strCache>
            </c: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9.7</c:v>
                </c:pt>
                <c:pt idx="1">
                  <c:v>9.7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Peer average</c:v>
                </c:pt>
              </c:strCache>
            </c:strRef>
          </c:tx>
          <c:spPr>
            <a:solidFill>
              <a:srgbClr val="1F4E78"/>
            </a:solidFill>
          </c:spPr>
          <c:cat>
            <c:strRef>
              <c:f>Sheet1!$A$2:$A$3</c:f>
              <c:strCache>
                <c:ptCount val="2"/>
                <c:pt idx="0">
                  <c:v>BRAKES panel</c:v>
                </c:pt>
                <c:pt idx="1">
                  <c:v>PUMPS panel</c:v>
                </c:pt>
              </c:strCache>
            </c:strRef>
          </c:cat>
          <c:val>
            <c:numRef>
              <c:f>Sheet1!$C$2:$C$3</c:f>
              <c:numCache>
                <c:formatCode>General</c:formatCode>
                <c:ptCount val="2"/>
                <c:pt idx="0">
                  <c:v>13.8</c:v>
                </c:pt>
                <c:pt idx="1">
                  <c:v>10.4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Peer median</c:v>
                </c:pt>
              </c:strCache>
            </c:strRef>
          </c:tx>
          <c:spPr>
            <a:solidFill>
              <a:srgbClr val="548235"/>
            </a:solidFill>
          </c:spPr>
          <c:cat>
            <c:strRef>
              <c:f>Sheet1!$A$2:$A$3</c:f>
              <c:strCache>
                <c:ptCount val="2"/>
                <c:pt idx="0">
                  <c:v>BRAKES panel</c:v>
                </c:pt>
                <c:pt idx="1">
                  <c:v>PUMPS panel</c:v>
                </c:pt>
              </c:strCache>
            </c:strRef>
          </c:cat>
          <c:val>
            <c:numRef>
              <c:f>Sheet1!$D$2:$D$3</c:f>
              <c:numCache>
                <c:formatCode>General</c:formatCode>
                <c:ptCount val="2"/>
                <c:pt idx="0">
                  <c:v>13.6</c:v>
                </c:pt>
                <c:pt idx="1">
                  <c:v>9.3</c:v>
                </c:pt>
              </c:numCache>
            </c:numRef>
          </c:val>
        </c:ser>
        <c:dLbls>
          <c:numFmt formatCode="0.0&quot;%&quot;" sourceLinked="0"/>
          <c:txPr>
            <a:bodyPr/>
            <a:lstStyle/>
            <a:p>
              <a:pPr>
                <a:defRPr sz="1100"/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11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/>
        <c:majorTickMark val="out"/>
        <c:minorTickMark val="none"/>
        <c:tickLblPos val="nextTo"/>
        <c:crossAx val="-2068027336"/>
        <c:crosses val="autoZero"/>
      </c:valAx>
    </c:plotArea>
    <c:legend>
      <c:legendPos val="b"/>
      <c:overlay val="0"/>
      <c:txPr>
        <a:bodyPr/>
        <a:lstStyle/>
        <a:p>
          <a:pPr>
            <a:defRPr sz="1200"/>
          </a:pPr>
        </a:p>
      </c:txPr>
    </c:legend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r>
              <a:rPr sz="1400"/>
              <a:t>Actual R&amp;D vs peer-floor benchmark (US$M)</a:t>
            </a:r>
          </a:p>
        </c:rich>
      </c:tx>
      <c:layout/>
      <c:overlay val="0"/>
    </c:title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TBK actual R&amp;D ($M)</c:v>
                </c:pt>
              </c:strCache>
            </c:strRef>
          </c:tx>
          <c:spPr>
            <a:solidFill>
              <a:srgbClr val="7F1D1D"/>
            </a:solidFill>
          </c:spPr>
          <c:cat>
            <c:strRef>
              <c:f>Sheet1!$A$2:$A$10</c:f>
              <c:strCache>
                <c:ptCount val="9"/>
                <c:pt idx="0">
                  <c:v>2017</c:v>
                </c:pt>
                <c:pt idx="1">
                  <c:v>2018</c:v>
                </c:pt>
                <c:pt idx="2">
                  <c:v>2019</c:v>
                </c:pt>
                <c:pt idx="3">
                  <c:v>2020</c:v>
                </c:pt>
                <c:pt idx="4">
                  <c:v>2021</c:v>
                </c:pt>
                <c:pt idx="5">
                  <c:v>2022</c:v>
                </c:pt>
                <c:pt idx="6">
                  <c:v>2023</c:v>
                </c:pt>
                <c:pt idx="7">
                  <c:v>2024</c:v>
                </c:pt>
                <c:pt idx="8">
                  <c:v>2025</c:v>
                </c:pt>
              </c:strCache>
            </c: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11.1</c:v>
                </c:pt>
                <c:pt idx="1">
                  <c:v>11.4</c:v>
                </c:pt>
                <c:pt idx="2">
                  <c:v>10.6</c:v>
                </c:pt>
                <c:pt idx="3">
                  <c:v>11.4</c:v>
                </c:pt>
                <c:pt idx="4">
                  <c:v>11.6</c:v>
                </c:pt>
                <c:pt idx="5">
                  <c:v>11.8</c:v>
                </c:pt>
                <c:pt idx="6">
                  <c:v>8.9</c:v>
                </c:pt>
                <c:pt idx="7">
                  <c:v>8.1</c:v>
                </c:pt>
                <c:pt idx="8">
                  <c:v>7.8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At 4.5% of sales ($M)</c:v>
                </c:pt>
              </c:strCache>
            </c:strRef>
          </c:tx>
          <c:spPr>
            <a:solidFill>
              <a:srgbClr val="1F4E78"/>
            </a:solidFill>
          </c:spPr>
          <c:cat>
            <c:strRef>
              <c:f>Sheet1!$A$2:$A$10</c:f>
              <c:strCache>
                <c:ptCount val="9"/>
                <c:pt idx="0">
                  <c:v>2017</c:v>
                </c:pt>
                <c:pt idx="1">
                  <c:v>2018</c:v>
                </c:pt>
                <c:pt idx="2">
                  <c:v>2019</c:v>
                </c:pt>
                <c:pt idx="3">
                  <c:v>2020</c:v>
                </c:pt>
                <c:pt idx="4">
                  <c:v>2021</c:v>
                </c:pt>
                <c:pt idx="5">
                  <c:v>2022</c:v>
                </c:pt>
                <c:pt idx="6">
                  <c:v>2023</c:v>
                </c:pt>
                <c:pt idx="7">
                  <c:v>2024</c:v>
                </c:pt>
                <c:pt idx="8">
                  <c:v>2025</c:v>
                </c:pt>
              </c:strCache>
            </c:strRef>
          </c:cat>
          <c:val>
            <c:numRef>
              <c:f>Sheet1!$C$2:$C$10</c:f>
              <c:numCache>
                <c:formatCode>General</c:formatCode>
                <c:ptCount val="9"/>
                <c:pt idx="0">
                  <c:v>19.4</c:v>
                </c:pt>
                <c:pt idx="1">
                  <c:v>20.9</c:v>
                </c:pt>
                <c:pt idx="2">
                  <c:v>21.8</c:v>
                </c:pt>
                <c:pt idx="3">
                  <c:v>21.3</c:v>
                </c:pt>
                <c:pt idx="4">
                  <c:v>18.7</c:v>
                </c:pt>
                <c:pt idx="5">
                  <c:v>20.5</c:v>
                </c:pt>
                <c:pt idx="6">
                  <c:v>17.8</c:v>
                </c:pt>
                <c:pt idx="7">
                  <c:v>17.7</c:v>
                </c:pt>
                <c:pt idx="8">
                  <c:v>16.1</c:v>
                </c:pt>
              </c:numCache>
            </c:numRef>
          </c:val>
        </c:ser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10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/>
        <c:majorTickMark val="out"/>
        <c:minorTickMark val="none"/>
        <c:tickLblPos val="nextTo"/>
        <c:crossAx val="-2068027336"/>
        <c:crosses val="autoZero"/>
      </c:valAx>
    </c:plotArea>
    <c:legend>
      <c:legendPos val="b"/>
      <c:overlay val="0"/>
      <c:txPr>
        <a:bodyPr/>
        <a:lstStyle/>
        <a:p>
          <a:pPr>
            <a:defRPr sz="1100"/>
          </a:pPr>
        </a:p>
      </c:txPr>
    </c:legend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6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r>
              <a:rPr sz="1400"/>
              <a:t>R&amp;D spend plan (US$M per year)</a:t>
            </a:r>
          </a:p>
        </c:rich>
      </c:tx>
      <c:layout/>
      <c:overlay val="0"/>
    </c:title>
    <c:autoTitleDeleted val="0"/>
    <c:plotArea>
      <c:barChart>
        <c:barDir val="col"/>
        <c:grouping val="stacked"/>
        <c:ser>
          <c:idx val="0"/>
          <c:order val="0"/>
          <c:tx>
            <c:strRef>
              <c:f>Sheet1!$B$1</c:f>
              <c:strCache>
                <c:ptCount val="1"/>
                <c:pt idx="0">
                  <c:v>Parity run-rate (~4.5-5% of sales)</c:v>
                </c:pt>
              </c:strCache>
            </c:strRef>
          </c:tx>
          <c:spPr>
            <a:solidFill>
              <a:srgbClr val="1F4E78"/>
            </a:solidFill>
          </c:spPr>
          <c:cat>
            <c:strRef>
              <c:f>Sheet1!$A$2:$A$8</c:f>
              <c:strCache>
                <c:ptCount val="7"/>
                <c:pt idx="0">
                  <c:v>FY26
actual est.</c:v>
                </c:pt>
                <c:pt idx="1">
                  <c:v>FY27</c:v>
                </c:pt>
                <c:pt idx="2">
                  <c:v>FY28</c:v>
                </c:pt>
                <c:pt idx="3">
                  <c:v>FY29</c:v>
                </c:pt>
                <c:pt idx="4">
                  <c:v>FY30</c:v>
                </c:pt>
                <c:pt idx="5">
                  <c:v>FY31</c:v>
                </c:pt>
                <c:pt idx="6">
                  <c:v>Steady state
FY32+</c:v>
                </c:pt>
              </c:strCache>
            </c:strRef>
          </c:cat>
          <c:val>
            <c:numRef>
              <c:f>Sheet1!$B$2:$B$8</c:f>
              <c:numCache>
                <c:formatCode>General</c:formatCode>
                <c:ptCount val="7"/>
                <c:pt idx="0">
                  <c:v>7.8</c:v>
                </c:pt>
                <c:pt idx="1">
                  <c:v>17</c:v>
                </c:pt>
                <c:pt idx="2">
                  <c:v>17</c:v>
                </c:pt>
                <c:pt idx="3">
                  <c:v>17</c:v>
                </c:pt>
                <c:pt idx="4">
                  <c:v>17</c:v>
                </c:pt>
                <c:pt idx="5">
                  <c:v>17</c:v>
                </c:pt>
                <c:pt idx="6">
                  <c:v>17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Deficit repayment (catch-up)</c:v>
                </c:pt>
              </c:strCache>
            </c:strRef>
          </c:tx>
          <c:spPr>
            <a:solidFill>
              <a:srgbClr val="548235"/>
            </a:solidFill>
          </c:spPr>
          <c:cat>
            <c:strRef>
              <c:f>Sheet1!$A$2:$A$8</c:f>
              <c:strCache>
                <c:ptCount val="7"/>
                <c:pt idx="0">
                  <c:v>FY26
actual est.</c:v>
                </c:pt>
                <c:pt idx="1">
                  <c:v>FY27</c:v>
                </c:pt>
                <c:pt idx="2">
                  <c:v>FY28</c:v>
                </c:pt>
                <c:pt idx="3">
                  <c:v>FY29</c:v>
                </c:pt>
                <c:pt idx="4">
                  <c:v>FY30</c:v>
                </c:pt>
                <c:pt idx="5">
                  <c:v>FY31</c:v>
                </c:pt>
                <c:pt idx="6">
                  <c:v>Steady state
FY32+</c:v>
                </c:pt>
              </c:strCache>
            </c:strRef>
          </c:cat>
          <c:val>
            <c:numRef>
              <c:f>Sheet1!$C$2:$C$8</c:f>
              <c:numCache>
                <c:formatCode>General</c:formatCode>
                <c:ptCount val="7"/>
                <c:pt idx="0">
                  <c:v>0</c:v>
                </c:pt>
                <c:pt idx="1">
                  <c:v>10</c:v>
                </c:pt>
                <c:pt idx="2">
                  <c:v>10</c:v>
                </c:pt>
                <c:pt idx="3">
                  <c:v>10</c:v>
                </c:pt>
                <c:pt idx="4">
                  <c:v>10</c:v>
                </c:pt>
                <c:pt idx="5">
                  <c:v>10</c:v>
                </c:pt>
                <c:pt idx="6">
                  <c:v>0</c:v>
                </c:pt>
              </c:numCache>
            </c:numRef>
          </c:val>
        </c:ser>
        <c:overlap val="10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9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/>
        <c:majorTickMark val="out"/>
        <c:minorTickMark val="none"/>
        <c:tickLblPos val="nextTo"/>
        <c:crossAx val="-2068027336"/>
        <c:crosses val="autoZero"/>
      </c:valAx>
    </c:plotArea>
    <c:legend>
      <c:legendPos val="b"/>
      <c:overlay val="0"/>
      <c:txPr>
        <a:bodyPr/>
        <a:lstStyle/>
        <a:p>
          <a:pPr>
            <a:defRPr sz="1100"/>
          </a:pPr>
        </a:p>
      </c:txPr>
    </c:legend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2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3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4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5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6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F4E78"/>
          </a:solidFill>
        </p:spPr>
        <p:txBody>
          <a:bodyPr wrap="none">
            <a:spAutoFit/>
          </a:bodyPr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914400" y="2103120"/>
            <a:ext cx="1033272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400" b="1">
                <a:solidFill>
                  <a:srgbClr val="FFFFFF"/>
                </a:solidFill>
              </a:rPr>
              <a:t>Closing the R&amp;D Gap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3108960"/>
            <a:ext cx="103327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0">
                <a:solidFill>
                  <a:srgbClr val="D0DCE8"/>
                </a:solidFill>
              </a:rPr>
              <a:t>TBK Co., Ltd. (7277.T) — brakes and pumps: market evolution, competitor innovation, and the reinvestment requirement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5943600"/>
            <a:ext cx="103327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A8B8C8"/>
                </a:solidFill>
              </a:rPr>
              <a:t>Based on peer-reviewed and adversarially verified research, competitor filings (incl. Concentric AR2023), and TBK's audited FY3/2026 results  |  June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F4E78"/>
          </a:solidFill>
        </p:spPr>
        <p:txBody>
          <a:bodyPr wrap="square" lIns="457200" tIns="164592">
            <a:spAutoFit/>
          </a:bodyPr>
          <a:lstStyle/>
          <a:p>
            <a:r>
              <a:rPr sz="2600" b="1">
                <a:solidFill>
                  <a:srgbClr val="FFFFFF"/>
                </a:solidFill>
              </a:rPr>
              <a:t>Brakes: drum brakes are a shrinking island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14400"/>
            <a:ext cx="112471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595959"/>
                </a:solidFill>
              </a:rPr>
              <a:t>Verified findings from peer-reviewed literature, regulatory records, and industry data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417320"/>
            <a:ext cx="3657600" cy="2834640"/>
          </a:xfrm>
          <a:prstGeom prst="rect">
            <a:avLst/>
          </a:prstGeom>
          <a:solidFill>
            <a:srgbClr val="F2F2F2"/>
          </a:solidFill>
          <a:ln w="15875">
            <a:solidFill>
              <a:srgbClr val="1F4E78"/>
            </a:solidFill>
          </a:ln>
        </p:spPr>
        <p:txBody>
          <a:bodyPr wrap="square" lIns="137160" rIns="137160" tIns="109728">
            <a:spAutoFit/>
          </a:bodyPr>
          <a:lstStyle/>
          <a:p>
            <a:r>
              <a:rPr sz="1500" b="1">
                <a:solidFill>
                  <a:srgbClr val="1F4E78"/>
                </a:solidFill>
              </a:rPr>
              <a:t>Europe — converted ~2000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202020"/>
                </a:solidFill>
              </a:rPr>
              <a:t>1996 Actros: first heavy truck with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202020"/>
                </a:solidFill>
              </a:rPr>
              <a:t>all-axle EBS disc brakes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202020"/>
                </a:solidFill>
              </a:rPr>
              <a:t>~70% disc/EBS take rate by 2000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202020"/>
                </a:solidFill>
              </a:rPr>
              <a:t>Near-universal on-highway since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202020"/>
                </a:solidFill>
              </a:rPr>
              <a:t>Drums: ~18% of EU demand (off-road)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297680" y="1417320"/>
            <a:ext cx="3657600" cy="2834640"/>
          </a:xfrm>
          <a:prstGeom prst="rect">
            <a:avLst/>
          </a:prstGeom>
          <a:solidFill>
            <a:srgbClr val="F2F2F2"/>
          </a:solidFill>
          <a:ln w="15875">
            <a:solidFill>
              <a:srgbClr val="1F4E78"/>
            </a:solidFill>
          </a:ln>
        </p:spPr>
        <p:txBody>
          <a:bodyPr wrap="square" lIns="137160" rIns="137160" tIns="109728">
            <a:spAutoFit/>
          </a:bodyPr>
          <a:lstStyle/>
          <a:p>
            <a:r>
              <a:rPr sz="1500" b="1">
                <a:solidFill>
                  <a:srgbClr val="1F4E78"/>
                </a:solidFill>
              </a:rPr>
              <a:t>North America — tipped 2023-24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202020"/>
                </a:solidFill>
              </a:rPr>
              <a:t>FMVSS 121 (2009): −30% stopping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202020"/>
                </a:solidFill>
              </a:rPr>
              <a:t>distance, drum-compatible by design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202020"/>
                </a:solidFill>
              </a:rPr>
              <a:t>Tractors: &lt;5% disc (2011) → ~25%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202020"/>
                </a:solidFill>
              </a:rPr>
              <a:t>(2018) → ~50%+ (2023-24)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202020"/>
                </a:solidFill>
              </a:rPr>
              <a:t>Trailers still lag at ~15%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138160" y="1417320"/>
            <a:ext cx="3611880" cy="2834640"/>
          </a:xfrm>
          <a:prstGeom prst="rect">
            <a:avLst/>
          </a:prstGeom>
          <a:solidFill>
            <a:srgbClr val="F2F2F2"/>
          </a:solidFill>
          <a:ln w="15875">
            <a:solidFill>
              <a:srgbClr val="7F1D1D"/>
            </a:solidFill>
          </a:ln>
        </p:spPr>
        <p:txBody>
          <a:bodyPr wrap="square" lIns="137160" rIns="137160" tIns="109728">
            <a:spAutoFit/>
          </a:bodyPr>
          <a:lstStyle/>
          <a:p>
            <a:r>
              <a:rPr sz="1500" b="1">
                <a:solidFill>
                  <a:srgbClr val="7F1D1D"/>
                </a:solidFill>
              </a:rPr>
              <a:t>Japan — the last drum market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202020"/>
                </a:solidFill>
              </a:rPr>
              <a:t>Drums still majority on MD/HD trucks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202020"/>
                </a:solidFill>
              </a:rPr>
              <a:t>UD Quon all-disc since 2017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202020"/>
                </a:solidFill>
              </a:rPr>
              <a:t>New Giga tractor: all-wheel discs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202020"/>
                </a:solidFill>
              </a:rPr>
              <a:t>Isuzu export heavies all-disc (MY25)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202020"/>
                </a:solidFill>
              </a:rPr>
              <a:t>Domestic flip is when, not if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4434840"/>
            <a:ext cx="5577840" cy="2103120"/>
          </a:xfrm>
          <a:prstGeom prst="rect">
            <a:avLst/>
          </a:prstGeom>
          <a:solidFill>
            <a:srgbClr val="F2F2F2"/>
          </a:solidFill>
          <a:ln w="15875">
            <a:solidFill>
              <a:srgbClr val="1F4E78"/>
            </a:solidFill>
          </a:ln>
        </p:spPr>
        <p:txBody>
          <a:bodyPr wrap="square" lIns="137160" rIns="137160" tIns="109728">
            <a:spAutoFit/>
          </a:bodyPr>
          <a:lstStyle/>
          <a:p>
            <a:r>
              <a:rPr sz="1500" b="1">
                <a:solidFill>
                  <a:srgbClr val="1F4E78"/>
                </a:solidFill>
              </a:rPr>
              <a:t>Why discs won (peer-reviewed)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202020"/>
                </a:solidFill>
              </a:rPr>
              <a:t>Fade resistance under thermal load (SAE 902206, 1990; physics in Day et al. 1984)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202020"/>
                </a:solidFill>
              </a:rPr>
              <a:t>~30% shorter stops vs standard drums (NHTSA simulator, 108 drivers)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202020"/>
                </a:solidFill>
              </a:rPr>
              <a:t>10-20% braking advantage, 12-80% lifecycle savings in demanding duty (Ampadu 2023)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202020"/>
                </a:solidFill>
              </a:rPr>
              <a:t>EBS/AEB/ADAS mandates favor disc actuation precision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217920" y="4434840"/>
            <a:ext cx="5532120" cy="2103120"/>
          </a:xfrm>
          <a:prstGeom prst="rect">
            <a:avLst/>
          </a:prstGeom>
          <a:solidFill>
            <a:srgbClr val="F2F2F2"/>
          </a:solidFill>
          <a:ln w="15875">
            <a:solidFill>
              <a:srgbClr val="548235"/>
            </a:solidFill>
          </a:ln>
        </p:spPr>
        <p:txBody>
          <a:bodyPr wrap="square" lIns="137160" rIns="137160" tIns="109728">
            <a:spAutoFit/>
          </a:bodyPr>
          <a:lstStyle/>
          <a:p>
            <a:r>
              <a:rPr sz="1500" b="1">
                <a:solidFill>
                  <a:srgbClr val="548235"/>
                </a:solidFill>
              </a:rPr>
              <a:t>Electrification re-shuffles the deck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202020"/>
                </a:solidFill>
              </a:rPr>
              <a:t>Regen braking cuts friction wear 64-95% (multiple peer-reviewed studies)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202020"/>
                </a:solidFill>
              </a:rPr>
              <a:t>Friction aftermarket growth ~2% CAGR with EV headwind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202020"/>
                </a:solidFill>
              </a:rPr>
              <a:t>EU brake-dust limits for heavy vehicles expected ~2030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202020"/>
                </a:solidFill>
              </a:rPr>
              <a:t>Value shifts: wear parts → corrosion/NVH/low-dust + retarders &amp; blending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F4E78"/>
          </a:solidFill>
        </p:spPr>
        <p:txBody>
          <a:bodyPr wrap="square" lIns="457200" tIns="164592">
            <a:spAutoFit/>
          </a:bodyPr>
          <a:lstStyle/>
          <a:p>
            <a:r>
              <a:rPr sz="2600" b="1">
                <a:solidFill>
                  <a:srgbClr val="FFFFFF"/>
                </a:solidFill>
              </a:rPr>
              <a:t>Pumps: electrification grows the category — and reallocates it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14400"/>
            <a:ext cx="112471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595959"/>
                </a:solidFill>
              </a:rPr>
              <a:t>Verified findings: peer-reviewed thermal studies, regulatory texts, and adversarial company documents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417320"/>
            <a:ext cx="3657600" cy="2834640"/>
          </a:xfrm>
          <a:prstGeom prst="rect">
            <a:avLst/>
          </a:prstGeom>
          <a:solidFill>
            <a:srgbClr val="F2F2F2"/>
          </a:solidFill>
          <a:ln w="15875">
            <a:solidFill>
              <a:srgbClr val="1F4E78"/>
            </a:solidFill>
          </a:ln>
        </p:spPr>
        <p:txBody>
          <a:bodyPr wrap="square" lIns="137160" rIns="137160" tIns="109728">
            <a:spAutoFit/>
          </a:bodyPr>
          <a:lstStyle/>
          <a:p>
            <a:r>
              <a:rPr sz="1500" b="1">
                <a:solidFill>
                  <a:srgbClr val="1F4E78"/>
                </a:solidFill>
              </a:rPr>
              <a:t>Diesel era — refined commodity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202020"/>
                </a:solidFill>
              </a:rPr>
              <a:t>Pumps = only ~1-2% of fuel energy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202020"/>
                </a:solidFill>
              </a:rPr>
              <a:t>E-coolant pump on 13L truck engine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202020"/>
                </a:solidFill>
              </a:rPr>
              <a:t>saves just 0.71-0.94% (TU Graz 2021)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202020"/>
                </a:solidFill>
              </a:rPr>
              <a:t>Variable pumps: ~1-1.5% verified vs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202020"/>
                </a:solidFill>
              </a:rPr>
              <a:t>3-6% in industry marketing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202020"/>
                </a:solidFill>
              </a:rPr>
              <a:t>Small lever → slow innovation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297680" y="1417320"/>
            <a:ext cx="3657600" cy="2834640"/>
          </a:xfrm>
          <a:prstGeom prst="rect">
            <a:avLst/>
          </a:prstGeom>
          <a:solidFill>
            <a:srgbClr val="F2F2F2"/>
          </a:solidFill>
          <a:ln w="15875">
            <a:solidFill>
              <a:srgbClr val="7F1D1D"/>
            </a:solidFill>
          </a:ln>
        </p:spPr>
        <p:txBody>
          <a:bodyPr wrap="square" lIns="137160" rIns="137160" tIns="109728">
            <a:spAutoFit/>
          </a:bodyPr>
          <a:lstStyle/>
          <a:p>
            <a:r>
              <a:rPr sz="1500" b="1">
                <a:solidFill>
                  <a:srgbClr val="7F1D1D"/>
                </a:solidFill>
              </a:rPr>
              <a:t>Regulation — Japan pushed least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202020"/>
                </a:solidFill>
              </a:rPr>
              <a:t>US GEM: codified credits for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202020"/>
                </a:solidFill>
              </a:rPr>
              <a:t>electric pumps (0.5-1 g/ton-mi)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202020"/>
                </a:solidFill>
              </a:rPr>
              <a:t>EU VECTO: pump tech classes;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202020"/>
                </a:solidFill>
              </a:rPr>
              <a:t>62.5% of fleet still fixed-displ.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202020"/>
                </a:solidFill>
              </a:rPr>
              <a:t>Japan: NO accessory-level signal —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202020"/>
                </a:solidFill>
              </a:rPr>
              <a:t>protected short-term, atrophied long-term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138160" y="1417320"/>
            <a:ext cx="3611880" cy="2834640"/>
          </a:xfrm>
          <a:prstGeom prst="rect">
            <a:avLst/>
          </a:prstGeom>
          <a:solidFill>
            <a:srgbClr val="F2F2F2"/>
          </a:solidFill>
          <a:ln w="15875">
            <a:solidFill>
              <a:srgbClr val="548235"/>
            </a:solidFill>
          </a:ln>
        </p:spPr>
        <p:txBody>
          <a:bodyPr wrap="square" lIns="137160" rIns="137160" tIns="109728">
            <a:spAutoFit/>
          </a:bodyPr>
          <a:lstStyle/>
          <a:p>
            <a:r>
              <a:rPr sz="1500" b="1">
                <a:solidFill>
                  <a:srgbClr val="548235"/>
                </a:solidFill>
              </a:rPr>
              <a:t>ZEV trucks — content multiplies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202020"/>
                </a:solidFill>
              </a:rPr>
              <a:t>BEV: 2-4 coolant loops vs 1 pump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202020"/>
                </a:solidFill>
              </a:rPr>
              <a:t>(battery &lt;40°C, motor ~85°C)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202020"/>
                </a:solidFill>
              </a:rPr>
              <a:t>FCEV: 40-45% of fuel energy out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202020"/>
                </a:solidFill>
              </a:rPr>
              <a:t>via coolant; 1.5-2x heat exchanger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202020"/>
                </a:solidFill>
              </a:rPr>
              <a:t>HV e-pump ≈ 4-8x unit value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202020"/>
                </a:solidFill>
              </a:rPr>
              <a:t>→ content/vehicle ~8-30x diesel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4434840"/>
            <a:ext cx="5577840" cy="2103120"/>
          </a:xfrm>
          <a:prstGeom prst="rect">
            <a:avLst/>
          </a:prstGeom>
          <a:solidFill>
            <a:srgbClr val="F2F2F2"/>
          </a:solidFill>
          <a:ln w="15875">
            <a:solidFill>
              <a:srgbClr val="7F1D1D"/>
            </a:solidFill>
          </a:ln>
        </p:spPr>
        <p:txBody>
          <a:bodyPr wrap="square" lIns="137160" rIns="137160" tIns="109728">
            <a:spAutoFit/>
          </a:bodyPr>
          <a:lstStyle/>
          <a:p>
            <a:r>
              <a:rPr sz="1500" b="1">
                <a:solidFill>
                  <a:srgbClr val="7F1D1D"/>
                </a:solidFill>
              </a:rPr>
              <a:t>The adversarial record on ICE pumps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202020"/>
                </a:solidFill>
              </a:rPr>
              <a:t>Rheinmetall sold Pierburg (€2bn rev) for €350M ≈ 0.18x sales, after ~€550M impairments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202020"/>
                </a:solidFill>
              </a:rPr>
              <a:t>Dayco carved out OE engine components; SHW cites Asian entrants + price-downs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202020"/>
                </a:solidFill>
              </a:rPr>
              <a:t>Hanon forced to unwind flattering R&amp;D capitalization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202020"/>
                </a:solidFill>
              </a:rPr>
              <a:t>EC antitrust (M.8102): pump niches at 90-100% concentration — sockets are sticky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217920" y="4434840"/>
            <a:ext cx="5532120" cy="2103120"/>
          </a:xfrm>
          <a:prstGeom prst="rect">
            <a:avLst/>
          </a:prstGeom>
          <a:solidFill>
            <a:srgbClr val="F2F2F2"/>
          </a:solidFill>
          <a:ln w="15875">
            <a:solidFill>
              <a:srgbClr val="548235"/>
            </a:solidFill>
          </a:ln>
        </p:spPr>
        <p:txBody>
          <a:bodyPr wrap="square" lIns="137160" rIns="137160" tIns="109728">
            <a:spAutoFit/>
          </a:bodyPr>
          <a:lstStyle/>
          <a:p>
            <a:r>
              <a:rPr sz="1500" b="1">
                <a:solidFill>
                  <a:srgbClr val="548235"/>
                </a:solidFill>
              </a:rPr>
              <a:t>Japan: slow melt, early sockets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202020"/>
                </a:solidFill>
              </a:rPr>
              <a:t>TBK's own filing: EV shift in buses/small-medium trucks may cut pump demand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202020"/>
                </a:solidFill>
              </a:rPr>
              <a:t>BEV truck volumes tiny today (Dutro Z EV: ~400 units yr 1) — diesel persists past 2030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202020"/>
                </a:solidFill>
              </a:rPr>
              <a:t>BUT: Mikuni already produces e-oil pumps for a domestic small BEV truck (2022)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202020"/>
                </a:solidFill>
              </a:rPr>
              <a:t>Sockets are awarded years before volume (Pierburg order book runs 2028-35)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F4E78"/>
          </a:solidFill>
        </p:spPr>
        <p:txBody>
          <a:bodyPr wrap="square" lIns="457200" tIns="164592">
            <a:spAutoFit/>
          </a:bodyPr>
          <a:lstStyle/>
          <a:p>
            <a:r>
              <a:rPr sz="2600" b="1">
                <a:solidFill>
                  <a:srgbClr val="FFFFFF"/>
                </a:solidFill>
              </a:rPr>
              <a:t>Same customers — two different purchase decisions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14400"/>
            <a:ext cx="112471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595959"/>
                </a:solidFill>
              </a:rPr>
              <a:t>Isuzu, Fuso, Hino, Komatsu buy both product lines, but through different people, cycles, and triggers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417320"/>
            <a:ext cx="5577840" cy="3657600"/>
          </a:xfrm>
          <a:prstGeom prst="rect">
            <a:avLst/>
          </a:prstGeom>
          <a:solidFill>
            <a:srgbClr val="F2F2F2"/>
          </a:solidFill>
          <a:ln w="15875">
            <a:solidFill>
              <a:srgbClr val="1F4E78"/>
            </a:solidFill>
          </a:ln>
        </p:spPr>
        <p:txBody>
          <a:bodyPr wrap="square" lIns="137160" rIns="137160" tIns="109728">
            <a:spAutoFit/>
          </a:bodyPr>
          <a:lstStyle/>
          <a:p>
            <a:r>
              <a:rPr sz="1500" b="1">
                <a:solidFill>
                  <a:srgbClr val="1F4E78"/>
                </a:solidFill>
              </a:rPr>
              <a:t>BRAKES — safety &amp; chassis domain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202020"/>
                </a:solidFill>
              </a:rPr>
              <a:t>Decision owners: chassis/safety engineering + homologation, OEM-wide platform decisions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202020"/>
                </a:solidFill>
              </a:rPr>
              <a:t>Trigger: regulation (stopping distance, EBS/AEB, brake dust) and platform renewals — spec flips are abrupt and fleet-wide (Europe converted in ~5 yrs)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202020"/>
                </a:solidFill>
              </a:rPr>
              <a:t>Cycle: long platform homologation; switching mid-cycle is rare → incumbent until the flip, then winner-takes-platform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202020"/>
                </a:solidFill>
              </a:rPr>
              <a:t>Revenue model: aftermarket-heavy (wear parts annuity) — but discs + regen shrink friction events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202020"/>
                </a:solidFill>
              </a:rPr>
              <a:t>TBK sales motion: defend drum platforms while qualifying ADB for the domestic disc flip; access EBS/systems layer via Brakes India alliance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17920" y="1417320"/>
            <a:ext cx="5532120" cy="3657600"/>
          </a:xfrm>
          <a:prstGeom prst="rect">
            <a:avLst/>
          </a:prstGeom>
          <a:solidFill>
            <a:srgbClr val="F2F2F2"/>
          </a:solidFill>
          <a:ln w="15875">
            <a:solidFill>
              <a:srgbClr val="548235"/>
            </a:solidFill>
          </a:ln>
        </p:spPr>
        <p:txBody>
          <a:bodyPr wrap="square" lIns="137160" rIns="137160" tIns="109728">
            <a:spAutoFit/>
          </a:bodyPr>
          <a:lstStyle/>
          <a:p>
            <a:r>
              <a:rPr sz="1500" b="1">
                <a:solidFill>
                  <a:srgbClr val="548235"/>
                </a:solidFill>
              </a:rPr>
              <a:t>PUMPS — powertrain &amp; thermal domain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202020"/>
                </a:solidFill>
              </a:rPr>
              <a:t>Decision owners: engine/e-powertrain and thermal-architecture teams, decided at program kick-off per powertrain program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202020"/>
                </a:solidFill>
              </a:rPr>
              <a:t>Trigger: efficiency/cost in ICE era (weak in Japan — no regulatory credit); now EV thermal architecture awards 2-4 sockets at once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202020"/>
                </a:solidFill>
              </a:rPr>
              <a:t>Cycle: sockets fixed years before volume (orders running 2028-35 signed now); concentrated niches — share lost is rarely regained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202020"/>
                </a:solidFill>
              </a:rPr>
              <a:t>Revenue model: OE-heavy, little aftermarket (pumps last engine life) — value is in content growth per vehicle, not wear parts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202020"/>
                </a:solidFill>
              </a:rPr>
              <a:t>TBK sales motion: convert dominant mechanical-pump incumbency into e-pump/TCU sockets on Isuzu/Fuso/Hino EV &amp; FC programs before Mikuni/Yamada lock them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5257800"/>
            <a:ext cx="1124712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1F4E78"/>
                </a:solidFill>
              </a:rPr>
              <a:t>Implication: one customer list, two sales motions and two R&amp;D programs. Brake timing is regulatory/platform-driven (defend + be ready for the flip); pump timing is program-driven and running NOW (sockets being awarded while diesel volume still pays the bills). TBK must be present in both rooms at the same OEMs — chassis engineering for ADB, thermal/e-powertrain teams for e-pumps — which argues for ring-fenced teams and budgets per domain, not one shared engineering pool.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F4E78"/>
          </a:solidFill>
        </p:spPr>
        <p:txBody>
          <a:bodyPr wrap="square" lIns="457200" tIns="164592">
            <a:spAutoFit/>
          </a:bodyPr>
          <a:lstStyle/>
          <a:p>
            <a:r>
              <a:rPr sz="2600" b="1">
                <a:solidFill>
                  <a:srgbClr val="FFFFFF"/>
                </a:solidFill>
              </a:rPr>
              <a:t>Competitors kept innovating — in brakes and in pumps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14400"/>
            <a:ext cx="112471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595959"/>
                </a:solidFill>
              </a:rPr>
              <a:t>Every relevant peer has repositioned its product line for discs, electronics, and electrification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417320"/>
            <a:ext cx="5577840" cy="5120640"/>
          </a:xfrm>
          <a:prstGeom prst="rect">
            <a:avLst/>
          </a:prstGeom>
          <a:solidFill>
            <a:srgbClr val="F2F2F2"/>
          </a:solidFill>
          <a:ln w="15875">
            <a:solidFill>
              <a:srgbClr val="1F4E78"/>
            </a:solidFill>
          </a:ln>
        </p:spPr>
        <p:txBody>
          <a:bodyPr wrap="square" lIns="137160" rIns="137160" tIns="109728">
            <a:spAutoFit/>
          </a:bodyPr>
          <a:lstStyle/>
          <a:p>
            <a:r>
              <a:rPr sz="1500" b="1">
                <a:solidFill>
                  <a:srgbClr val="1F4E78"/>
                </a:solidFill>
              </a:rPr>
              <a:t>BRAKES — from castings to systems</a:t>
            </a:r>
          </a:p>
          <a:p>
            <a:pPr>
              <a:spcBef>
                <a:spcPts val="400"/>
              </a:spcBef>
            </a:pPr>
            <a:r>
              <a:rPr sz="1150">
                <a:solidFill>
                  <a:srgbClr val="202020"/>
                </a:solidFill>
              </a:rPr>
              <a:t>Knorr-Bremse/Bendix: ADB standard on Peterbilt/Kenworth steer axles (2013); ~20M discs in field; Global Scalable Brake Control platform; driverless-truck braking (ATLAS-L4)</a:t>
            </a:r>
          </a:p>
          <a:p>
            <a:pPr>
              <a:spcBef>
                <a:spcPts val="400"/>
              </a:spcBef>
            </a:pPr>
            <a:r>
              <a:rPr sz="1150">
                <a:solidFill>
                  <a:srgbClr val="202020"/>
                </a:solidFill>
              </a:rPr>
              <a:t>ZF/Wabco: EBS + ADAS integration; $7bn acquisition built the #2 systems house</a:t>
            </a:r>
          </a:p>
          <a:p>
            <a:pPr>
              <a:spcBef>
                <a:spcPts val="400"/>
              </a:spcBef>
            </a:pPr>
            <a:r>
              <a:rPr sz="1150">
                <a:solidFill>
                  <a:srgbClr val="202020"/>
                </a:solidFill>
              </a:rPr>
              <a:t>Brembo: Sensify brake-by-wire; 6.1% of sales into R&amp;D</a:t>
            </a:r>
          </a:p>
          <a:p>
            <a:pPr>
              <a:spcBef>
                <a:spcPts val="400"/>
              </a:spcBef>
            </a:pPr>
            <a:r>
              <a:rPr sz="1150">
                <a:solidFill>
                  <a:srgbClr val="202020"/>
                </a:solidFill>
              </a:rPr>
              <a:t>Akebono: electro-mechanical brakes (EMB) + copper-free friction — spending up despite losses</a:t>
            </a:r>
          </a:p>
          <a:p>
            <a:pPr>
              <a:spcBef>
                <a:spcPts val="400"/>
              </a:spcBef>
            </a:pPr>
            <a:r>
              <a:rPr sz="1150">
                <a:solidFill>
                  <a:srgbClr val="202020"/>
                </a:solidFill>
              </a:rPr>
              <a:t>SAF-Holland/Haldex: trailer ADB + EBS at low cost</a:t>
            </a:r>
          </a:p>
          <a:p>
            <a:pPr>
              <a:spcBef>
                <a:spcPts val="400"/>
              </a:spcBef>
            </a:pPr>
            <a:r>
              <a:rPr sz="1150">
                <a:solidFill>
                  <a:srgbClr val="202020"/>
                </a:solidFill>
              </a:rPr>
              <a:t>Consolidation priced the lesson: Haldex sold at HALF Knorr-Bremse's blocked 2017 offer after staying sub-scale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17920" y="1417320"/>
            <a:ext cx="5532120" cy="5120640"/>
          </a:xfrm>
          <a:prstGeom prst="rect">
            <a:avLst/>
          </a:prstGeom>
          <a:solidFill>
            <a:srgbClr val="F2F2F2"/>
          </a:solidFill>
          <a:ln w="15875">
            <a:solidFill>
              <a:srgbClr val="548235"/>
            </a:solidFill>
          </a:ln>
        </p:spPr>
        <p:txBody>
          <a:bodyPr wrap="square" lIns="137160" rIns="137160" tIns="109728">
            <a:spAutoFit/>
          </a:bodyPr>
          <a:lstStyle/>
          <a:p>
            <a:r>
              <a:rPr sz="1500" b="1">
                <a:solidFill>
                  <a:srgbClr val="548235"/>
                </a:solidFill>
              </a:rPr>
              <a:t>PUMPS — mechanical → electric thermal management</a:t>
            </a:r>
          </a:p>
          <a:p>
            <a:pPr>
              <a:spcBef>
                <a:spcPts val="400"/>
              </a:spcBef>
            </a:pPr>
            <a:r>
              <a:rPr sz="1150">
                <a:solidFill>
                  <a:srgbClr val="202020"/>
                </a:solidFill>
              </a:rPr>
              <a:t>Aisin: record ¥250bn R&amp;D plan; e-water/oil pumps + coolant valves inside the eAxle strategy</a:t>
            </a:r>
          </a:p>
          <a:p>
            <a:pPr>
              <a:spcBef>
                <a:spcPts val="400"/>
              </a:spcBef>
            </a:pPr>
            <a:r>
              <a:rPr sz="1150">
                <a:solidFill>
                  <a:srgbClr val="202020"/>
                </a:solidFill>
              </a:rPr>
              <a:t>Mahle: thermal-management modules; €1.2bn BEV module order (2024) — largest in company history</a:t>
            </a:r>
          </a:p>
          <a:p>
            <a:pPr>
              <a:spcBef>
                <a:spcPts val="400"/>
              </a:spcBef>
            </a:pPr>
            <a:r>
              <a:rPr sz="1150">
                <a:solidFill>
                  <a:srgbClr val="202020"/>
                </a:solidFill>
              </a:rPr>
              <a:t>Hanon: BEV heat pumps, CO2 refrigerant, e-coolant pumps (~4-6% of sales)</a:t>
            </a:r>
          </a:p>
          <a:p>
            <a:pPr>
              <a:spcBef>
                <a:spcPts val="400"/>
              </a:spcBef>
            </a:pPr>
            <a:r>
              <a:rPr sz="1150">
                <a:solidFill>
                  <a:srgbClr val="202020"/>
                </a:solidFill>
              </a:rPr>
              <a:t>Mikuni (3x TBK's size): e-oil pump ALREADY in production for a Japanese small BEV truck</a:t>
            </a:r>
          </a:p>
          <a:p>
            <a:pPr>
              <a:spcBef>
                <a:spcPts val="400"/>
              </a:spcBef>
            </a:pPr>
            <a:r>
              <a:rPr sz="1150">
                <a:solidFill>
                  <a:srgbClr val="202020"/>
                </a:solidFill>
              </a:rPr>
              <a:t>Yamada: e-water pumps shipping in Honda EVs/FCEVs (2024)</a:t>
            </a:r>
          </a:p>
          <a:p>
            <a:pPr>
              <a:spcBef>
                <a:spcPts val="400"/>
              </a:spcBef>
            </a:pPr>
            <a:r>
              <a:rPr sz="1150">
                <a:solidFill>
                  <a:srgbClr val="202020"/>
                </a:solidFill>
              </a:rPr>
              <a:t>Concentric: e-products 20% of 2023 sales (AR2023), 25% gross margin on focused niches; Pierburg: 400-800V e-coolant pump families</a:t>
            </a:r>
          </a:p>
          <a:p>
            <a:pPr>
              <a:spcBef>
                <a:spcPts val="400"/>
              </a:spcBef>
            </a:pPr>
            <a:r>
              <a:rPr sz="1150">
                <a:solidFill>
                  <a:srgbClr val="202020"/>
                </a:solidFill>
              </a:rPr>
              <a:t>The pattern: every pump peer redirected R&amp;D to electric pumps &amp; BEV thermal — the exact adjacency open to TBK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F4E78"/>
          </a:solidFill>
        </p:spPr>
        <p:txBody>
          <a:bodyPr wrap="square" lIns="457200" tIns="164592">
            <a:spAutoFit/>
          </a:bodyPr>
          <a:lstStyle/>
          <a:p>
            <a:r>
              <a:rPr sz="2600" b="1">
                <a:solidFill>
                  <a:srgbClr val="FFFFFF"/>
                </a:solidFill>
              </a:rPr>
              <a:t>What competitors spend on R&amp;D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14400"/>
            <a:ext cx="112471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595959"/>
                </a:solidFill>
              </a:rPr>
              <a:t>Latest fiscal year, group level (no peer discloses brake-only or pump-only R&amp;D); USD indicative</a:t>
            </a:r>
          </a:p>
        </p:txBody>
      </p:sp>
      <p:graphicFrame>
        <p:nvGraphicFramePr>
          <p:cNvPr id="4" name="Chart 3"/>
          <p:cNvGraphicFramePr>
            <a:graphicFrameLocks noGrp="1"/>
          </p:cNvGraphicFramePr>
          <p:nvPr/>
        </p:nvGraphicFramePr>
        <p:xfrm>
          <a:off x="457200" y="1463040"/>
          <a:ext cx="6949440" cy="402336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7680960" y="1463040"/>
            <a:ext cx="4069080" cy="4023360"/>
          </a:xfrm>
          <a:prstGeom prst="rect">
            <a:avLst/>
          </a:prstGeom>
          <a:solidFill>
            <a:srgbClr val="F2F2F2"/>
          </a:solidFill>
          <a:ln w="15875">
            <a:solidFill>
              <a:srgbClr val="1F4E78"/>
            </a:solidFill>
          </a:ln>
        </p:spPr>
        <p:txBody>
          <a:bodyPr wrap="square" lIns="137160" rIns="137160" tIns="109728">
            <a:spAutoFit/>
          </a:bodyPr>
          <a:lstStyle/>
          <a:p>
            <a:r>
              <a:rPr sz="1500" b="1">
                <a:solidFill>
                  <a:srgbClr val="1F4E78"/>
                </a:solidFill>
              </a:rPr>
              <a:t>Absolute spend (≈USD)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202020"/>
                </a:solidFill>
              </a:rPr>
              <a:t>ZF €3.6bn (~$3.9bn)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202020"/>
                </a:solidFill>
              </a:rPr>
              <a:t>Aisin ¥237bn (~$1.6bn)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202020"/>
                </a:solidFill>
              </a:rPr>
              <a:t>Cummins $1.46bn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202020"/>
                </a:solidFill>
              </a:rPr>
              <a:t>Mahle €607M (~$655M)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202020"/>
                </a:solidFill>
              </a:rPr>
              <a:t>Knorr-Bremse €544M (~$590M)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202020"/>
                </a:solidFill>
              </a:rPr>
              <a:t>Hanon ~$360-440M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202020"/>
                </a:solidFill>
              </a:rPr>
              <a:t>Brembo ~$250M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202020"/>
                </a:solidFill>
              </a:rPr>
              <a:t>SAF-Holland €39M (~$42M)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202020"/>
                </a:solidFill>
              </a:rPr>
              <a:t>Mikuni ¥5.5bn (~$37M)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202020"/>
                </a:solidFill>
              </a:rPr>
              <a:t>Concentric MSEK 95 (~$9M)*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202020"/>
                </a:solidFill>
              </a:rPr>
              <a:t>TBK ¥1.2bn (~$8M)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5715000"/>
            <a:ext cx="1124712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>
                <a:solidFill>
                  <a:srgbClr val="595959"/>
                </a:solidFill>
              </a:rPr>
              <a:t>Brake systems players spend 6-9% of sales; large pump/thermal players cluster at 4-5.5%. TBK sits at 2.2%. *Concentric (AR2023, verified): expensed product development only 2.3% — yet 25% gross margin: niche dominance, not raw R&amp;D scale, drives pump profitability. The catch-up case rests on the larger peers and on winning specific e-pump sockets. *Hanon mid-range of conflicting filings.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F4E78"/>
          </a:solidFill>
        </p:spPr>
        <p:txBody>
          <a:bodyPr wrap="square" lIns="457200" tIns="164592">
            <a:spAutoFit/>
          </a:bodyPr>
          <a:lstStyle/>
          <a:p>
            <a:r>
              <a:rPr sz="2600" b="1">
                <a:solidFill>
                  <a:srgbClr val="FFFFFF"/>
                </a:solidFill>
              </a:rPr>
              <a:t>The case that TBK's gross margin is structurally too low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14400"/>
            <a:ext cx="112471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595959"/>
                </a:solidFill>
              </a:rPr>
              <a:t>TBK FY3/2026: 12.5% gross margin, 2.7% operating margin — four independent lines of evidence say this is a fixable defect, not the nature of the business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417320"/>
            <a:ext cx="5577840" cy="2148840"/>
          </a:xfrm>
          <a:prstGeom prst="rect">
            <a:avLst/>
          </a:prstGeom>
          <a:solidFill>
            <a:srgbClr val="F2F2F2"/>
          </a:solidFill>
          <a:ln w="15875">
            <a:solidFill>
              <a:srgbClr val="1F4E78"/>
            </a:solidFill>
          </a:ln>
        </p:spPr>
        <p:txBody>
          <a:bodyPr wrap="square" lIns="137160" rIns="137160" tIns="109728">
            <a:spAutoFit/>
          </a:bodyPr>
          <a:lstStyle/>
          <a:p>
            <a:r>
              <a:rPr sz="1500" b="1">
                <a:solidFill>
                  <a:srgbClr val="1F4E78"/>
                </a:solidFill>
              </a:rPr>
              <a:t>1. Peers prove the products can carry more</a:t>
            </a:r>
          </a:p>
          <a:p>
            <a:pPr>
              <a:spcBef>
                <a:spcPts val="400"/>
              </a:spcBef>
            </a:pPr>
            <a:r>
              <a:rPr sz="1150">
                <a:solidFill>
                  <a:srgbClr val="202020"/>
                </a:solidFill>
              </a:rPr>
              <a:t>Every comparable brake peer except Akebono earns 22-27% (Haldex 27.3%, Cummins 24.7%, SAF-Holland ~22%)</a:t>
            </a:r>
          </a:p>
          <a:p>
            <a:pPr>
              <a:spcBef>
                <a:spcPts val="400"/>
              </a:spcBef>
            </a:pPr>
            <a:r>
              <a:rPr sz="1150">
                <a:solidFill>
                  <a:srgbClr val="202020"/>
                </a:solidFill>
              </a:rPr>
              <a:t>Pump peers: Concentric 25.2% (verified AR2023), TPR 21.7% — the high-share niche players, i.e. exactly TBK's structural position in Japanese truck pumps</a:t>
            </a:r>
          </a:p>
          <a:p>
            <a:pPr>
              <a:spcBef>
                <a:spcPts val="400"/>
              </a:spcBef>
            </a:pPr>
            <a:r>
              <a:rPr sz="1150">
                <a:solidFill>
                  <a:srgbClr val="202020"/>
                </a:solidFill>
              </a:rPr>
              <a:t>Same product categories, same customers' industry — 5-15 points more margin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17920" y="1417320"/>
            <a:ext cx="5532120" cy="2148840"/>
          </a:xfrm>
          <a:prstGeom prst="rect">
            <a:avLst/>
          </a:prstGeom>
          <a:solidFill>
            <a:srgbClr val="F2F2F2"/>
          </a:solidFill>
          <a:ln w="15875">
            <a:solidFill>
              <a:srgbClr val="7F1D1D"/>
            </a:solidFill>
          </a:ln>
        </p:spPr>
        <p:txBody>
          <a:bodyPr wrap="square" lIns="137160" rIns="137160" tIns="109728">
            <a:spAutoFit/>
          </a:bodyPr>
          <a:lstStyle/>
          <a:p>
            <a:r>
              <a:rPr sz="1500" b="1">
                <a:solidFill>
                  <a:srgbClr val="7F1D1D"/>
                </a:solidFill>
              </a:rPr>
              <a:t>2. TBK earns LESS than its own customers</a:t>
            </a:r>
          </a:p>
          <a:p>
            <a:pPr>
              <a:spcBef>
                <a:spcPts val="400"/>
              </a:spcBef>
            </a:pPr>
            <a:r>
              <a:rPr sz="1150">
                <a:solidFill>
                  <a:srgbClr val="202020"/>
                </a:solidFill>
              </a:rPr>
              <a:t>Isuzu gross margin ~19%, Hino ~17% vs TBK 12.5%</a:t>
            </a:r>
          </a:p>
          <a:p>
            <a:pPr>
              <a:spcBef>
                <a:spcPts val="400"/>
              </a:spcBef>
            </a:pPr>
            <a:r>
              <a:rPr sz="1150">
                <a:solidFill>
                  <a:srgbClr val="202020"/>
                </a:solidFill>
              </a:rPr>
              <a:t>Healthy specialist suppliers out-margin their OEMs (Knorr-Bremse 13% EBIT vs truck OEMs' mid-single digits)</a:t>
            </a:r>
          </a:p>
          <a:p>
            <a:pPr>
              <a:spcBef>
                <a:spcPts val="400"/>
              </a:spcBef>
            </a:pPr>
            <a:r>
              <a:rPr sz="1150">
                <a:solidFill>
                  <a:srgbClr val="202020"/>
                </a:solidFill>
              </a:rPr>
              <a:t>Inverted economics = pricing power sits with the customer: keiretsu concentration (Isuzu alone ¥12bn = 22% of sales) and annual price-downs, against commodity drum/mechanical products with no systems, electronics or branded-aftermarket content to defend price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3703320"/>
            <a:ext cx="5577840" cy="2148840"/>
          </a:xfrm>
          <a:prstGeom prst="rect">
            <a:avLst/>
          </a:prstGeom>
          <a:solidFill>
            <a:srgbClr val="F2F2F2"/>
          </a:solidFill>
          <a:ln w="15875">
            <a:solidFill>
              <a:srgbClr val="1F4E78"/>
            </a:solidFill>
          </a:ln>
        </p:spPr>
        <p:txBody>
          <a:bodyPr wrap="square" lIns="137160" rIns="137160" tIns="109728">
            <a:spAutoFit/>
          </a:bodyPr>
          <a:lstStyle/>
          <a:p>
            <a:r>
              <a:rPr sz="1500" b="1">
                <a:solidFill>
                  <a:srgbClr val="1F4E78"/>
                </a:solidFill>
              </a:rPr>
              <a:t>3. The COGS line carries an underloaded footprint</a:t>
            </a:r>
          </a:p>
          <a:p>
            <a:pPr>
              <a:spcBef>
                <a:spcPts val="400"/>
              </a:spcBef>
            </a:pPr>
            <a:r>
              <a:rPr sz="1150">
                <a:solidFill>
                  <a:srgbClr val="202020"/>
                </a:solidFill>
              </a:rPr>
              <a:t>PP&amp;E at 39% of sales — 3x Concentric's ~12%; depreciation 5.3% of sales</a:t>
            </a:r>
          </a:p>
          <a:p>
            <a:pPr>
              <a:spcBef>
                <a:spcPts val="400"/>
              </a:spcBef>
            </a:pPr>
            <a:r>
              <a:rPr sz="1150">
                <a:solidFill>
                  <a:srgbClr val="202020"/>
                </a:solidFill>
              </a:rPr>
              <a:t>China: depreciation 12.8% of segment sales, losses both years; Japan segment margin just 1.6%</a:t>
            </a:r>
          </a:p>
          <a:p>
            <a:pPr>
              <a:spcBef>
                <a:spcPts val="400"/>
              </a:spcBef>
            </a:pPr>
            <a:r>
              <a:rPr sz="1150">
                <a:solidFill>
                  <a:srgbClr val="202020"/>
                </a:solidFill>
              </a:rPr>
              <a:t>&gt;¥2.2bn impairments + restructuring losses in 2 years = the cost of underutilized plants crystallizing (booked below the operating line, so the true factory burden is even larger than the margin gap shows)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217920" y="3703320"/>
            <a:ext cx="5532120" cy="2148840"/>
          </a:xfrm>
          <a:prstGeom prst="rect">
            <a:avLst/>
          </a:prstGeom>
          <a:solidFill>
            <a:srgbClr val="F2F2F2"/>
          </a:solidFill>
          <a:ln w="15875">
            <a:solidFill>
              <a:srgbClr val="548235"/>
            </a:solidFill>
          </a:ln>
        </p:spPr>
        <p:txBody>
          <a:bodyPr wrap="square" lIns="137160" rIns="137160" tIns="109728">
            <a:spAutoFit/>
          </a:bodyPr>
          <a:lstStyle/>
          <a:p>
            <a:r>
              <a:rPr sz="1500" b="1">
                <a:solidFill>
                  <a:srgbClr val="548235"/>
                </a:solidFill>
              </a:rPr>
              <a:t>4. The repair has already started — and works</a:t>
            </a:r>
          </a:p>
          <a:p>
            <a:pPr>
              <a:spcBef>
                <a:spcPts val="400"/>
              </a:spcBef>
            </a:pPr>
            <a:r>
              <a:rPr sz="1150">
                <a:solidFill>
                  <a:srgbClr val="202020"/>
                </a:solidFill>
              </a:rPr>
              <a:t>FY3/2026: gross margin 10.6% → 12.5% in one year (cost of sales cut ¥0.7bn on flat sales); North America exited; ¥712M Japan impairment = footprint action</a:t>
            </a:r>
          </a:p>
          <a:p>
            <a:pPr>
              <a:spcBef>
                <a:spcPts val="400"/>
              </a:spcBef>
            </a:pPr>
            <a:r>
              <a:rPr sz="1150">
                <a:solidFill>
                  <a:srgbClr val="202020"/>
                </a:solidFill>
              </a:rPr>
              <a:t>Concentric's playbook validates the destination: focused niches, 25% gross margin, opex GROWING into the e-transition at 18.4% average operating margin</a:t>
            </a:r>
          </a:p>
          <a:p>
            <a:pPr>
              <a:spcBef>
                <a:spcPts val="400"/>
              </a:spcBef>
            </a:pPr>
            <a:r>
              <a:rPr sz="1150">
                <a:solidFill>
                  <a:srgbClr val="202020"/>
                </a:solidFill>
              </a:rPr>
              <a:t>Nothing about brakes or pumps caps TBK at 12.5% — peers with the same products price and load their factories better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5943600"/>
            <a:ext cx="112471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1F4E78"/>
                </a:solidFill>
              </a:rPr>
              <a:t>Conclusion: at peer margins TBK's existing sales generate $22-24M more gross profit per year (next pages) — enough to fund the entire R&amp;D catch-up. The margin is the constraint, and it is self-inflicted: underloaded factories in COGS, commodity mix, and customer-held pricing power — all addressable.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F4E78"/>
          </a:solidFill>
        </p:spPr>
        <p:txBody>
          <a:bodyPr wrap="square" lIns="457200" tIns="164592">
            <a:spAutoFit/>
          </a:bodyPr>
          <a:lstStyle/>
          <a:p>
            <a:r>
              <a:rPr sz="2600" b="1">
                <a:solidFill>
                  <a:srgbClr val="FFFFFF"/>
                </a:solidFill>
              </a:rPr>
              <a:t>TBK underperforms peer gross margins in BOTH businesses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14400"/>
            <a:ext cx="112471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595959"/>
                </a:solidFill>
              </a:rPr>
              <a:t>TBK audited FY3/2026 (blended 12.5%) vs comparable peers per panel  |  all figures USD at ¥150/USD</a:t>
            </a:r>
          </a:p>
        </p:txBody>
      </p:sp>
      <p:graphicFrame>
        <p:nvGraphicFramePr>
          <p:cNvPr id="4" name="Chart 3"/>
          <p:cNvGraphicFramePr>
            <a:graphicFrameLocks noGrp="1"/>
          </p:cNvGraphicFramePr>
          <p:nvPr/>
        </p:nvGraphicFramePr>
        <p:xfrm>
          <a:off x="457200" y="1463040"/>
          <a:ext cx="6675120" cy="420624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7406640" y="1463040"/>
            <a:ext cx="4343400" cy="2103120"/>
          </a:xfrm>
          <a:prstGeom prst="rect">
            <a:avLst/>
          </a:prstGeom>
          <a:solidFill>
            <a:srgbClr val="F2F2F2"/>
          </a:solidFill>
          <a:ln w="15875">
            <a:solidFill>
              <a:srgbClr val="1F4E78"/>
            </a:solidFill>
          </a:ln>
        </p:spPr>
        <p:txBody>
          <a:bodyPr wrap="square" lIns="137160" rIns="137160" tIns="109728">
            <a:spAutoFit/>
          </a:bodyPr>
          <a:lstStyle/>
          <a:p>
            <a:r>
              <a:rPr sz="1500" b="1">
                <a:solidFill>
                  <a:srgbClr val="1F4E78"/>
                </a:solidFill>
              </a:rPr>
              <a:t>Brake peers (comparable basis)</a:t>
            </a:r>
          </a:p>
          <a:p>
            <a:pPr>
              <a:spcBef>
                <a:spcPts val="400"/>
              </a:spcBef>
            </a:pPr>
            <a:r>
              <a:rPr sz="1250">
                <a:solidFill>
                  <a:srgbClr val="202020"/>
                </a:solidFill>
              </a:rPr>
              <a:t>Haldex 27.3% | Cummins 24.7%</a:t>
            </a:r>
          </a:p>
          <a:p>
            <a:pPr>
              <a:spcBef>
                <a:spcPts val="400"/>
              </a:spcBef>
            </a:pPr>
            <a:r>
              <a:rPr sz="1250">
                <a:solidFill>
                  <a:srgbClr val="202020"/>
                </a:solidFill>
              </a:rPr>
              <a:t>SAF-Holland ~22% | Akebono 10.0%</a:t>
            </a:r>
          </a:p>
          <a:p>
            <a:pPr>
              <a:spcBef>
                <a:spcPts val="400"/>
              </a:spcBef>
            </a:pPr>
            <a:r>
              <a:rPr sz="1250">
                <a:solidFill>
                  <a:srgbClr val="202020"/>
                </a:solidFill>
              </a:rPr>
              <a:t>TBK trails every brake peer except</a:t>
            </a:r>
          </a:p>
          <a:p>
            <a:pPr>
              <a:spcBef>
                <a:spcPts val="400"/>
              </a:spcBef>
            </a:pPr>
            <a:r>
              <a:rPr sz="1250">
                <a:solidFill>
                  <a:srgbClr val="202020"/>
                </a:solidFill>
              </a:rPr>
              <a:t>Akebono — by 9-11 points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406640" y="3703320"/>
            <a:ext cx="4343400" cy="2103120"/>
          </a:xfrm>
          <a:prstGeom prst="rect">
            <a:avLst/>
          </a:prstGeom>
          <a:solidFill>
            <a:srgbClr val="F2F2F2"/>
          </a:solidFill>
          <a:ln w="15875">
            <a:solidFill>
              <a:srgbClr val="548235"/>
            </a:solidFill>
          </a:ln>
        </p:spPr>
        <p:txBody>
          <a:bodyPr wrap="square" lIns="137160" rIns="137160" tIns="109728">
            <a:spAutoFit/>
          </a:bodyPr>
          <a:lstStyle/>
          <a:p>
            <a:r>
              <a:rPr sz="1500" b="1">
                <a:solidFill>
                  <a:srgbClr val="548235"/>
                </a:solidFill>
              </a:rPr>
              <a:t>Pump peers (comparable basis)</a:t>
            </a:r>
          </a:p>
          <a:p>
            <a:pPr>
              <a:spcBef>
                <a:spcPts val="400"/>
              </a:spcBef>
            </a:pPr>
            <a:r>
              <a:rPr sz="1250">
                <a:solidFill>
                  <a:srgbClr val="202020"/>
                </a:solidFill>
              </a:rPr>
              <a:t>Concentric 25.2% (verified AR2023)</a:t>
            </a:r>
          </a:p>
          <a:p>
            <a:pPr>
              <a:spcBef>
                <a:spcPts val="400"/>
              </a:spcBef>
            </a:pPr>
            <a:r>
              <a:rPr sz="1250">
                <a:solidFill>
                  <a:srgbClr val="202020"/>
                </a:solidFill>
              </a:rPr>
              <a:t>TPR 21.7% | Aisin 12.1% | Hanon 9.1%</a:t>
            </a:r>
          </a:p>
          <a:p>
            <a:pPr>
              <a:spcBef>
                <a:spcPts val="400"/>
              </a:spcBef>
            </a:pPr>
            <a:r>
              <a:rPr sz="1250">
                <a:solidFill>
                  <a:srgbClr val="202020"/>
                </a:solidFill>
              </a:rPr>
              <a:t>TBK trails the panel average by</a:t>
            </a:r>
          </a:p>
          <a:p>
            <a:pPr>
              <a:spcBef>
                <a:spcPts val="400"/>
              </a:spcBef>
            </a:pPr>
            <a:r>
              <a:rPr sz="1250">
                <a:solidFill>
                  <a:srgbClr val="202020"/>
                </a:solidFill>
              </a:rPr>
              <a:t>~4.5 points — and the pure-play</a:t>
            </a:r>
          </a:p>
          <a:p>
            <a:pPr>
              <a:spcBef>
                <a:spcPts val="400"/>
              </a:spcBef>
            </a:pPr>
            <a:r>
              <a:rPr sz="1250">
                <a:solidFill>
                  <a:srgbClr val="202020"/>
                </a:solidFill>
              </a:rPr>
              <a:t>CV pump comp by ~13 points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5806440"/>
            <a:ext cx="112471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>
                <a:solidFill>
                  <a:srgbClr val="595959"/>
                </a:solidFill>
              </a:rPr>
              <a:t>TBK does not disclose gross profit per division, so its blended 12.5% is shown against both panels. Even on the most charitable reading — assuming all underperformance sits in one business — TBK is below peer average in the other. Peer set: IFRS cost-of-sales / JGAAP reporters only.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F4E78"/>
          </a:solidFill>
        </p:spPr>
        <p:txBody>
          <a:bodyPr wrap="square" lIns="457200" tIns="164592">
            <a:spAutoFit/>
          </a:bodyPr>
          <a:lstStyle/>
          <a:p>
            <a:r>
              <a:rPr sz="2600" b="1">
                <a:solidFill>
                  <a:srgbClr val="FFFFFF"/>
                </a:solidFill>
              </a:rPr>
              <a:t>Closing the margin gap is worth ~$22-24M more gross profit per year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14400"/>
            <a:ext cx="112471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595959"/>
                </a:solidFill>
              </a:rPr>
              <a:t>TBK FY3/2026 sales ($365M) at peer margins  |  USD at ¥150/USD  |  division split estimated from FY3/2025 (35% / 65%)</a:t>
            </a:r>
          </a:p>
        </p:txBody>
      </p:sp>
      <p:graphicFrame>
        <p:nvGraphicFramePr>
          <p:cNvPr id="4" name="Chart 3"/>
          <p:cNvGraphicFramePr>
            <a:graphicFrameLocks noGrp="1"/>
          </p:cNvGraphicFramePr>
          <p:nvPr/>
        </p:nvGraphicFramePr>
        <p:xfrm>
          <a:off x="457200" y="1463040"/>
          <a:ext cx="6217920" cy="420624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6949440" y="1463040"/>
            <a:ext cx="4800600" cy="1828800"/>
          </a:xfrm>
          <a:prstGeom prst="rect">
            <a:avLst/>
          </a:prstGeom>
          <a:solidFill>
            <a:srgbClr val="F2F2F2"/>
          </a:solidFill>
          <a:ln w="15875">
            <a:solidFill>
              <a:srgbClr val="1F4E78"/>
            </a:solidFill>
          </a:ln>
        </p:spPr>
        <p:txBody>
          <a:bodyPr wrap="square" lIns="137160" rIns="137160" tIns="109728">
            <a:spAutoFit/>
          </a:bodyPr>
          <a:lstStyle/>
          <a:p>
            <a:r>
              <a:rPr sz="1500" b="1">
                <a:solidFill>
                  <a:srgbClr val="1F4E78"/>
                </a:solidFill>
              </a:rPr>
              <a:t>The annual prize</a:t>
            </a:r>
          </a:p>
          <a:p>
            <a:pPr>
              <a:spcBef>
                <a:spcPts val="400"/>
              </a:spcBef>
            </a:pPr>
            <a:r>
              <a:rPr sz="1300">
                <a:solidFill>
                  <a:srgbClr val="202020"/>
                </a:solidFill>
              </a:rPr>
              <a:t>+$21.6M/yr at peer AVERAGE margins</a:t>
            </a:r>
          </a:p>
          <a:p>
            <a:pPr>
              <a:spcBef>
                <a:spcPts val="400"/>
              </a:spcBef>
            </a:pPr>
            <a:r>
              <a:rPr sz="1300">
                <a:solidFill>
                  <a:srgbClr val="202020"/>
                </a:solidFill>
              </a:rPr>
              <a:t>+$24.4M/yr at peer MEDIAN margins</a:t>
            </a:r>
          </a:p>
          <a:p>
            <a:pPr>
              <a:spcBef>
                <a:spcPts val="400"/>
              </a:spcBef>
            </a:pPr>
            <a:r>
              <a:rPr sz="1300">
                <a:solidFill>
                  <a:srgbClr val="202020"/>
                </a:solidFill>
              </a:rPr>
              <a:t>≈ +50% on today's $45.5M gross profit</a:t>
            </a:r>
          </a:p>
          <a:p>
            <a:pPr>
              <a:spcBef>
                <a:spcPts val="400"/>
              </a:spcBef>
            </a:pPr>
            <a:r>
              <a:rPr sz="1300">
                <a:solidFill>
                  <a:srgbClr val="202020"/>
                </a:solidFill>
              </a:rPr>
              <a:t>Split roughly half brakes, half pumps (~$11-14M each)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949440" y="3429000"/>
            <a:ext cx="4800600" cy="2377440"/>
          </a:xfrm>
          <a:prstGeom prst="rect">
            <a:avLst/>
          </a:prstGeom>
          <a:solidFill>
            <a:srgbClr val="F2F2F2"/>
          </a:solidFill>
          <a:ln w="15875">
            <a:solidFill>
              <a:srgbClr val="548235"/>
            </a:solidFill>
          </a:ln>
        </p:spPr>
        <p:txBody>
          <a:bodyPr wrap="square" lIns="137160" rIns="137160" tIns="109728">
            <a:spAutoFit/>
          </a:bodyPr>
          <a:lstStyle/>
          <a:p>
            <a:r>
              <a:rPr sz="1500" b="1">
                <a:solidFill>
                  <a:srgbClr val="548235"/>
                </a:solidFill>
              </a:rPr>
              <a:t>What it funds</a:t>
            </a:r>
          </a:p>
          <a:p>
            <a:pPr>
              <a:spcBef>
                <a:spcPts val="400"/>
              </a:spcBef>
            </a:pPr>
            <a:r>
              <a:rPr sz="1300">
                <a:solidFill>
                  <a:srgbClr val="202020"/>
                </a:solidFill>
              </a:rPr>
              <a:t>The entire R&amp;D catch-up program costs ~$27M/yr</a:t>
            </a:r>
          </a:p>
          <a:p>
            <a:pPr>
              <a:spcBef>
                <a:spcPts val="400"/>
              </a:spcBef>
            </a:pPr>
            <a:r>
              <a:rPr sz="1300">
                <a:solidFill>
                  <a:srgbClr val="202020"/>
                </a:solidFill>
              </a:rPr>
              <a:t>(parity run-rate $17M + deficit repayment $10M)</a:t>
            </a:r>
          </a:p>
          <a:p>
            <a:pPr>
              <a:spcBef>
                <a:spcPts val="400"/>
              </a:spcBef>
            </a:pPr>
            <a:r>
              <a:rPr sz="1300">
                <a:solidFill>
                  <a:srgbClr val="202020"/>
                </a:solidFill>
              </a:rPr>
              <a:t>→ closing ~90% of the margin gap pays for ALL of it</a:t>
            </a:r>
          </a:p>
          <a:p>
            <a:pPr>
              <a:spcBef>
                <a:spcPts val="400"/>
              </a:spcBef>
            </a:pPr>
          </a:p>
          <a:p>
            <a:pPr>
              <a:spcBef>
                <a:spcPts val="400"/>
              </a:spcBef>
            </a:pPr>
            <a:r>
              <a:rPr sz="1300">
                <a:solidFill>
                  <a:srgbClr val="202020"/>
                </a:solidFill>
              </a:rPr>
              <a:t>FY3/2026 already delivered the first ~$7M/yr</a:t>
            </a:r>
          </a:p>
          <a:p>
            <a:pPr>
              <a:spcBef>
                <a:spcPts val="400"/>
              </a:spcBef>
            </a:pPr>
            <a:r>
              <a:rPr sz="1300">
                <a:solidFill>
                  <a:srgbClr val="202020"/>
                </a:solidFill>
              </a:rPr>
              <a:t>(margin 10.6% → 12.5%) — the path is proven, not theoretical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5806440"/>
            <a:ext cx="112471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>
                <a:solidFill>
                  <a:srgbClr val="595959"/>
                </a:solidFill>
              </a:rPr>
              <a:t>Method: brakes ~$127M sales x peer avg 21.0% / median 23.4%; pumps &amp; engine components ~$238M x 17.0% / 16.9%; vs actual blended 12.5%. Margin levers per the benchmark: aftermarket/branded content, niche pricing power (Concentric/TPR model), price-down discipline, and mix shift to disc brakes and e-pumps.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F4E78"/>
          </a:solidFill>
        </p:spPr>
        <p:txBody>
          <a:bodyPr wrap="square" lIns="457200" tIns="164592">
            <a:spAutoFit/>
          </a:bodyPr>
          <a:lstStyle/>
          <a:p>
            <a:r>
              <a:rPr sz="2600" b="1">
                <a:solidFill>
                  <a:srgbClr val="FFFFFF"/>
                </a:solidFill>
              </a:rPr>
              <a:t>Why TBK looks lean on OPEX: its factory costs hide in COGS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14400"/>
            <a:ext cx="112471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595959"/>
                </a:solidFill>
              </a:rPr>
              <a:t>OPEX here = gross margin − operating margin (SG&amp;A + R&amp;D). Under JGAAP, factory overhead, depreciation and idle capacity sit in COST OF SALES  |  USD at ¥150/USD</a:t>
            </a:r>
          </a:p>
        </p:txBody>
      </p:sp>
      <p:graphicFrame>
        <p:nvGraphicFramePr>
          <p:cNvPr id="4" name="Chart 3"/>
          <p:cNvGraphicFramePr>
            <a:graphicFrameLocks noGrp="1"/>
          </p:cNvGraphicFramePr>
          <p:nvPr/>
        </p:nvGraphicFramePr>
        <p:xfrm>
          <a:off x="457200" y="1463040"/>
          <a:ext cx="6675120" cy="420624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7406640" y="1463040"/>
            <a:ext cx="4343400" cy="2103120"/>
          </a:xfrm>
          <a:prstGeom prst="rect">
            <a:avLst/>
          </a:prstGeom>
          <a:solidFill>
            <a:srgbClr val="F2F2F2"/>
          </a:solidFill>
          <a:ln w="15875">
            <a:solidFill>
              <a:srgbClr val="1F4E78"/>
            </a:solidFill>
          </a:ln>
        </p:spPr>
        <p:txBody>
          <a:bodyPr wrap="square" lIns="137160" rIns="137160" tIns="109728">
            <a:spAutoFit/>
          </a:bodyPr>
          <a:lstStyle/>
          <a:p>
            <a:r>
              <a:rPr sz="1500" b="1">
                <a:solidFill>
                  <a:srgbClr val="1F4E78"/>
                </a:solidFill>
              </a:rPr>
              <a:t>The lean look is an artifact</a:t>
            </a:r>
          </a:p>
          <a:p>
            <a:pPr>
              <a:spcBef>
                <a:spcPts val="400"/>
              </a:spcBef>
            </a:pPr>
            <a:r>
              <a:rPr sz="1150">
                <a:solidFill>
                  <a:srgbClr val="202020"/>
                </a:solidFill>
              </a:rPr>
              <a:t>TBK's 9.7% covers only SG&amp;A + its</a:t>
            </a:r>
          </a:p>
          <a:p>
            <a:pPr>
              <a:spcBef>
                <a:spcPts val="400"/>
              </a:spcBef>
            </a:pPr>
            <a:r>
              <a:rPr sz="1150">
                <a:solidFill>
                  <a:srgbClr val="202020"/>
                </a:solidFill>
              </a:rPr>
              <a:t>thin ~2.2% R&amp;D — the future-building costs</a:t>
            </a:r>
          </a:p>
          <a:p>
            <a:pPr>
              <a:spcBef>
                <a:spcPts val="400"/>
              </a:spcBef>
            </a:pPr>
            <a:r>
              <a:rPr sz="1150">
                <a:solidFill>
                  <a:srgbClr val="202020"/>
                </a:solidFill>
              </a:rPr>
              <a:t>it has starved. The factory burden is in COGS:</a:t>
            </a:r>
          </a:p>
          <a:p>
            <a:pPr>
              <a:spcBef>
                <a:spcPts val="400"/>
              </a:spcBef>
            </a:pPr>
            <a:r>
              <a:rPr sz="1150">
                <a:solidFill>
                  <a:srgbClr val="202020"/>
                </a:solidFill>
              </a:rPr>
              <a:t>PP&amp;E 39% of sales vs Concentric ~12% (3x)</a:t>
            </a:r>
          </a:p>
          <a:p>
            <a:pPr>
              <a:spcBef>
                <a:spcPts val="400"/>
              </a:spcBef>
            </a:pPr>
            <a:r>
              <a:rPr sz="1150">
                <a:solidFill>
                  <a:srgbClr val="202020"/>
                </a:solidFill>
              </a:rPr>
              <a:t>Depreciation 5.3% of sales; China: 12.8% of</a:t>
            </a:r>
          </a:p>
          <a:p>
            <a:pPr>
              <a:spcBef>
                <a:spcPts val="400"/>
              </a:spcBef>
            </a:pPr>
            <a:r>
              <a:rPr sz="1150">
                <a:solidFill>
                  <a:srgbClr val="202020"/>
                </a:solidFill>
              </a:rPr>
              <a:t>segment sales + losses both years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406640" y="3703320"/>
            <a:ext cx="4343400" cy="2103120"/>
          </a:xfrm>
          <a:prstGeom prst="rect">
            <a:avLst/>
          </a:prstGeom>
          <a:solidFill>
            <a:srgbClr val="F2F2F2"/>
          </a:solidFill>
          <a:ln w="15875">
            <a:solidFill>
              <a:srgbClr val="7F1D1D"/>
            </a:solidFill>
          </a:ln>
        </p:spPr>
        <p:txBody>
          <a:bodyPr wrap="square" lIns="137160" rIns="137160" tIns="109728">
            <a:spAutoFit/>
          </a:bodyPr>
          <a:lstStyle/>
          <a:p>
            <a:r>
              <a:rPr sz="1500" b="1">
                <a:solidFill>
                  <a:srgbClr val="7F1D1D"/>
                </a:solidFill>
              </a:rPr>
              <a:t>Restructuring bypasses BOTH metrics</a:t>
            </a:r>
          </a:p>
          <a:p>
            <a:pPr>
              <a:spcBef>
                <a:spcPts val="400"/>
              </a:spcBef>
            </a:pPr>
            <a:r>
              <a:rPr sz="1150">
                <a:solidFill>
                  <a:srgbClr val="202020"/>
                </a:solidFill>
              </a:rPr>
              <a:t>Impairments ¥459M + ¥712M and</a:t>
            </a:r>
          </a:p>
          <a:p>
            <a:pPr>
              <a:spcBef>
                <a:spcPts val="400"/>
              </a:spcBef>
            </a:pPr>
            <a:r>
              <a:rPr sz="1150">
                <a:solidFill>
                  <a:srgbClr val="202020"/>
                </a:solidFill>
              </a:rPr>
              <a:t>restructuring losses ¥775M + ¥297M</a:t>
            </a:r>
          </a:p>
          <a:p>
            <a:pPr>
              <a:spcBef>
                <a:spcPts val="400"/>
              </a:spcBef>
            </a:pPr>
            <a:r>
              <a:rPr sz="1150">
                <a:solidFill>
                  <a:srgbClr val="202020"/>
                </a:solidFill>
              </a:rPr>
              <a:t>(&gt;¥2.2bn in 2 years) booked as JGAAP</a:t>
            </a:r>
          </a:p>
          <a:p>
            <a:pPr>
              <a:spcBef>
                <a:spcPts val="400"/>
              </a:spcBef>
            </a:pPr>
            <a:r>
              <a:rPr sz="1150">
                <a:solidFill>
                  <a:srgbClr val="202020"/>
                </a:solidFill>
              </a:rPr>
              <a:t>extraordinary items — below operating</a:t>
            </a:r>
          </a:p>
          <a:p>
            <a:pPr>
              <a:spcBef>
                <a:spcPts val="400"/>
              </a:spcBef>
            </a:pPr>
            <a:r>
              <a:rPr sz="1150">
                <a:solidFill>
                  <a:srgbClr val="202020"/>
                </a:solidFill>
              </a:rPr>
              <a:t>profit, invisible to GM and OPEX alike.</a:t>
            </a:r>
          </a:p>
          <a:p>
            <a:pPr>
              <a:spcBef>
                <a:spcPts val="400"/>
              </a:spcBef>
            </a:pPr>
            <a:r>
              <a:rPr sz="1150">
                <a:solidFill>
                  <a:srgbClr val="202020"/>
                </a:solidFill>
              </a:rPr>
              <a:t>That IS the underutilized-footprint cost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5806440"/>
            <a:ext cx="112471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>
                <a:solidFill>
                  <a:srgbClr val="595959"/>
                </a:solidFill>
              </a:rPr>
              <a:t>Two-front program, mapped to the P&amp;L: (1) footprint/utilization repair attacks COGS — the $22-24M/yr gross-margin prize (North America exit and the ¥712M Japan impairment show it has started); (2) R&amp;D catch-up deliberately GROWS opex toward peer levels (peers spend 10-14% incl. 4%+ R&amp;D and earn 2.5x TBK's operating margin — Concentric grew opex 10.3%→11.7% funding its e-pump transition at 18.4% avg OPM). Cut above the line, invest below it.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F4E78"/>
          </a:solidFill>
        </p:spPr>
        <p:txBody>
          <a:bodyPr wrap="square" lIns="457200" tIns="164592">
            <a:spAutoFit/>
          </a:bodyPr>
          <a:lstStyle/>
          <a:p>
            <a:r>
              <a:rPr sz="2600" b="1">
                <a:solidFill>
                  <a:srgbClr val="FFFFFF"/>
                </a:solidFill>
              </a:rPr>
              <a:t>TBK's accumulated R&amp;D deficit: ~US$100M over a decade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14400"/>
            <a:ext cx="112471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595959"/>
                </a:solidFill>
              </a:rPr>
              <a:t>TBK dataset FY2016-2025; benchmark = blended peer floor for a brake + pump supplier</a:t>
            </a:r>
          </a:p>
        </p:txBody>
      </p:sp>
      <p:graphicFrame>
        <p:nvGraphicFramePr>
          <p:cNvPr id="4" name="Chart 3"/>
          <p:cNvGraphicFramePr>
            <a:graphicFrameLocks noGrp="1"/>
          </p:cNvGraphicFramePr>
          <p:nvPr/>
        </p:nvGraphicFramePr>
        <p:xfrm>
          <a:off x="457200" y="1463040"/>
          <a:ext cx="6949440" cy="402336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7680960" y="1463040"/>
            <a:ext cx="4069080" cy="4023360"/>
          </a:xfrm>
          <a:prstGeom prst="rect">
            <a:avLst/>
          </a:prstGeom>
          <a:solidFill>
            <a:srgbClr val="F2F2F2"/>
          </a:solidFill>
          <a:ln w="15875">
            <a:solidFill>
              <a:srgbClr val="7F1D1D"/>
            </a:solidFill>
          </a:ln>
        </p:spPr>
        <p:txBody>
          <a:bodyPr wrap="square" lIns="137160" rIns="137160" tIns="109728">
            <a:spAutoFit/>
          </a:bodyPr>
          <a:lstStyle/>
          <a:p>
            <a:r>
              <a:rPr sz="1500" b="1">
                <a:solidFill>
                  <a:srgbClr val="7F1D1D"/>
                </a:solidFill>
              </a:rPr>
              <a:t>The deficit, quantified</a:t>
            </a:r>
          </a:p>
          <a:p>
            <a:pPr>
              <a:spcBef>
                <a:spcPts val="400"/>
              </a:spcBef>
            </a:pPr>
            <a:r>
              <a:rPr sz="1250">
                <a:solidFill>
                  <a:srgbClr val="202020"/>
                </a:solidFill>
              </a:rPr>
              <a:t>Cumulative sales FY16-25: $4.26bn</a:t>
            </a:r>
          </a:p>
          <a:p>
            <a:pPr>
              <a:spcBef>
                <a:spcPts val="400"/>
              </a:spcBef>
            </a:pPr>
            <a:r>
              <a:rPr sz="1250">
                <a:solidFill>
                  <a:srgbClr val="202020"/>
                </a:solidFill>
              </a:rPr>
              <a:t>Cumulative R&amp;D: $93.5M (2.2%)</a:t>
            </a:r>
          </a:p>
          <a:p>
            <a:pPr>
              <a:spcBef>
                <a:spcPts val="400"/>
              </a:spcBef>
            </a:pPr>
          </a:p>
          <a:p>
            <a:pPr>
              <a:spcBef>
                <a:spcPts val="400"/>
              </a:spcBef>
            </a:pPr>
            <a:r>
              <a:rPr sz="1250">
                <a:solidFill>
                  <a:srgbClr val="202020"/>
                </a:solidFill>
              </a:rPr>
              <a:t>Gap vs 4.0% benchmark: ~$77M</a:t>
            </a:r>
          </a:p>
          <a:p>
            <a:pPr>
              <a:spcBef>
                <a:spcPts val="400"/>
              </a:spcBef>
            </a:pPr>
            <a:r>
              <a:rPr sz="1250">
                <a:solidFill>
                  <a:srgbClr val="202020"/>
                </a:solidFill>
              </a:rPr>
              <a:t>Gap vs 4.5% benchmark: ~$98M</a:t>
            </a:r>
          </a:p>
          <a:p>
            <a:pPr>
              <a:spcBef>
                <a:spcPts val="400"/>
              </a:spcBef>
            </a:pPr>
            <a:r>
              <a:rPr sz="1250">
                <a:solidFill>
                  <a:srgbClr val="202020"/>
                </a:solidFill>
              </a:rPr>
              <a:t>Gap vs 5.0% benchmark: ~$120M</a:t>
            </a:r>
          </a:p>
          <a:p>
            <a:pPr>
              <a:spcBef>
                <a:spcPts val="400"/>
              </a:spcBef>
            </a:pPr>
          </a:p>
          <a:p>
            <a:pPr>
              <a:spcBef>
                <a:spcPts val="400"/>
              </a:spcBef>
            </a:pPr>
            <a:r>
              <a:rPr sz="1250">
                <a:solidFill>
                  <a:srgbClr val="202020"/>
                </a:solidFill>
              </a:rPr>
              <a:t>Central estimate: ~US$100M</a:t>
            </a:r>
          </a:p>
          <a:p>
            <a:pPr>
              <a:spcBef>
                <a:spcPts val="400"/>
              </a:spcBef>
            </a:pPr>
          </a:p>
          <a:p>
            <a:pPr>
              <a:spcBef>
                <a:spcPts val="400"/>
              </a:spcBef>
            </a:pPr>
            <a:r>
              <a:rPr sz="1250">
                <a:solidFill>
                  <a:srgbClr val="202020"/>
                </a:solidFill>
              </a:rPr>
              <a:t>And intensity is FALLING:</a:t>
            </a:r>
          </a:p>
          <a:p>
            <a:pPr>
              <a:spcBef>
                <a:spcPts val="400"/>
              </a:spcBef>
            </a:pPr>
            <a:r>
              <a:rPr sz="1250">
                <a:solidFill>
                  <a:srgbClr val="202020"/>
                </a:solidFill>
              </a:rPr>
              <a:t>2.6% (FY22) → 2.2% (FY25)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5715000"/>
            <a:ext cx="112471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595959"/>
                </a:solidFill>
              </a:rPr>
              <a:t>Compounding the problem: TBK's marginal return on invested capital has been negative on every horizon (-2% to -10%) — the deficit is in direction as well as amount. Capex fell to $16M by FY25, though FY3/26 shows a turn: capex back up to ¥3.3bn and ¥1.1bn equity raised from Brakes India.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F4E78"/>
          </a:solidFill>
        </p:spPr>
        <p:txBody>
          <a:bodyPr wrap="square" lIns="457200" tIns="164592">
            <a:spAutoFit/>
          </a:bodyPr>
          <a:lstStyle/>
          <a:p>
            <a:r>
              <a:rPr sz="2600" b="1">
                <a:solidFill>
                  <a:srgbClr val="FFFFFF"/>
                </a:solidFill>
              </a:rPr>
              <a:t>The reinvestment requirement: two phases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14400"/>
            <a:ext cx="112471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595959"/>
                </a:solidFill>
              </a:rPr>
              <a:t>Catch-up to repay the technological deficit, then a permanently higher run-rate to match peers</a:t>
            </a:r>
          </a:p>
        </p:txBody>
      </p:sp>
      <p:graphicFrame>
        <p:nvGraphicFramePr>
          <p:cNvPr id="4" name="Chart 3"/>
          <p:cNvGraphicFramePr>
            <a:graphicFrameLocks noGrp="1"/>
          </p:cNvGraphicFramePr>
          <p:nvPr/>
        </p:nvGraphicFramePr>
        <p:xfrm>
          <a:off x="457200" y="1463040"/>
          <a:ext cx="6949440" cy="402336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7680960" y="1463040"/>
            <a:ext cx="4069080" cy="4023360"/>
          </a:xfrm>
          <a:prstGeom prst="rect">
            <a:avLst/>
          </a:prstGeom>
          <a:solidFill>
            <a:srgbClr val="F2F2F2"/>
          </a:solidFill>
          <a:ln w="15875">
            <a:solidFill>
              <a:srgbClr val="548235"/>
            </a:solidFill>
          </a:ln>
        </p:spPr>
        <p:txBody>
          <a:bodyPr wrap="square" lIns="137160" rIns="137160" tIns="109728">
            <a:spAutoFit/>
          </a:bodyPr>
          <a:lstStyle/>
          <a:p>
            <a:r>
              <a:rPr sz="1500" b="1">
                <a:solidFill>
                  <a:srgbClr val="548235"/>
                </a:solidFill>
              </a:rPr>
              <a:t>The numbers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202020"/>
                </a:solidFill>
              </a:rPr>
              <a:t>PHASE 1 — Catch-up (5 yrs):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202020"/>
                </a:solidFill>
              </a:rPr>
              <a:t>~$27M/yr ≈ 7.5% of sales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202020"/>
                </a:solidFill>
              </a:rPr>
              <a:t>= parity run-rate ($16-18M)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202020"/>
                </a:solidFill>
              </a:rPr>
              <a:t>+ deficit repayment (~$10M/yr,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202020"/>
                </a:solidFill>
              </a:rPr>
              <a:t>~$50M split between ADB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202020"/>
                </a:solidFill>
              </a:rPr>
              <a:t>industrialization and e-pump/TCU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202020"/>
                </a:solidFill>
              </a:rPr>
              <a:t>programs)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202020"/>
                </a:solidFill>
              </a:rPr>
              <a:t>Total: ~$135M over 5 years</a:t>
            </a:r>
          </a:p>
          <a:p>
            <a:pPr>
              <a:spcBef>
                <a:spcPts val="400"/>
              </a:spcBef>
            </a:pP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202020"/>
                </a:solidFill>
              </a:rPr>
              <a:t>PHASE 2 — Steady state: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202020"/>
                </a:solidFill>
              </a:rPr>
              <a:t>$16-18M/yr ≈ 4.5-5% of sales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202020"/>
                </a:solidFill>
              </a:rPr>
              <a:t>= 2.2x today's spend, forever</a:t>
            </a:r>
          </a:p>
          <a:p>
            <a:pPr>
              <a:spcBef>
                <a:spcPts val="400"/>
              </a:spcBef>
            </a:pP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202020"/>
                </a:solidFill>
              </a:rPr>
              <a:t>Plus one-off ADB line capex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202020"/>
                </a:solidFill>
              </a:rPr>
              <a:t>(~$30-50M, outside R&amp;D line)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5715000"/>
            <a:ext cx="1124712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>
                <a:solidFill>
                  <a:srgbClr val="595959"/>
                </a:solidFill>
              </a:rPr>
              <a:t>Allocation discipline, per domain: (1) brakes — ADB industrialization for the Japanese disc flip, systems/ADAS access via Brakes India, timed to regulation and platform renewals; (2) pumps — e-pump/TCU sockets on Isuzu/Fuso/Hino electrified programs, timed to program kick-offs happening NOW. Funding: the ~$22-24M/yr peer-margin prize covers the ~$27M/yr program almost fully. The Concentric lesson: focused niche engineering at 2.3% intensity earns 25% gross margins — spend must buy sockets, not just scale.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