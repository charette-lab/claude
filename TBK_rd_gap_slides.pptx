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Sheet1!$A$2:$A$12</c:f>
              <c:strCache>
                <c:ptCount val="11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Aisin</c:v>
                </c:pt>
                <c:pt idx="5">
                  <c:v>Hanon*</c:v>
                </c:pt>
                <c:pt idx="6">
                  <c:v>Mahle</c:v>
                </c:pt>
                <c:pt idx="7">
                  <c:v>Mikuni</c:v>
                </c:pt>
                <c:pt idx="8">
                  <c:v>Brembo</c:v>
                </c:pt>
                <c:pt idx="9">
                  <c:v>Knorr-Bremse</c:v>
                </c:pt>
                <c:pt idx="10">
                  <c:v>ZF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2.1</c:v>
                </c:pt>
                <c:pt idx="1">
                  <c:v>2.2</c:v>
                </c:pt>
                <c:pt idx="2">
                  <c:v>2.3</c:v>
                </c:pt>
                <c:pt idx="3">
                  <c:v>4.3</c:v>
                </c:pt>
                <c:pt idx="4">
                  <c:v>4.8</c:v>
                </c:pt>
                <c:pt idx="5">
                  <c:v>5.0</c:v>
                </c:pt>
                <c:pt idx="6">
                  <c:v>5.4</c:v>
                </c:pt>
                <c:pt idx="7">
                  <c:v>5.4</c:v>
                </c:pt>
                <c:pt idx="8">
                  <c:v>6.1</c:v>
                </c:pt>
                <c:pt idx="9">
                  <c:v>6.9</c:v>
                </c:pt>
                <c:pt idx="10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TBK gross profit (¥bn): actual FY3/2026 vs peer-margin scenarios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(¥bn)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MEDIAN</c:v>
                </c:pt>
                <c:pt idx="2">
                  <c:v>At peer
AVERAGE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4.4</c:v>
                </c:pt>
                <c:pt idx="2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/ engine components (¥bn)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MEDIAN</c:v>
                </c:pt>
                <c:pt idx="2">
                  <c:v>At peer
AVERAGE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6.0</c:v>
                </c:pt>
                <c:pt idx="2">
                  <c:v>6.1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(¥bn)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MEDIAN</c:v>
                </c:pt>
                <c:pt idx="2">
                  <c:v>At peer
AVERAGE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6.8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4-5.5%. TBK sits at 2.2%. *Concentric (AR2023, verified): expensed product development only 2.3% — yet 25% gross margin: niche dominance, not raw R&amp;D scale, drives pump profitability. The catch-up case rests on the larger peers and on winning specific e-pump sockets.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At peer gross margins, TBK's gross profit rises ~50%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(GM 12.5%) x comparable-peer margins — pump panel now includes Concentric's verified 25.2% (AR2023)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0350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1463040"/>
            <a:ext cx="4983480" cy="23317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 margin statistics (comparable set only)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BRAKES — avg 21.0% | median 23.4%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(Haldex 27.3%, Cummins 24.7%, SAF-Holland ~22%, Akebono 10.0%)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PUMPS — avg 17.0% | median 16.9%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(Concentric 25.2% verified AR2023, TPR 21.7%, Aisin 12.1%, Hanon 9.1%)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3931920"/>
            <a:ext cx="4983480" cy="23317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math (TBK FY3/2026, ¥M)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Sales ¥54,756; division split est. from FY3/25 (34.7% / 65.3%)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Brakes ~¥18,981 x 21.0% / 23.4% = ¥3,986 / ¥4,432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Pumps &amp; eng. comp. ~¥35,775 x 17.0% / 16.9% = ¥6,082 / ¥6,046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TOTAL: avg ¥10,068 (18.4%) | median ¥10,478 (19.1%)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vs actual ¥6,825 (12.5%) → UPLIFT +¥3.2-3.7bn = +48-54%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FY3/2026 marks real progress (GM 10.6% → 12.5%, OP +59%, North America exited, ¥1.1bn raised from Brakes India, capex up to ¥3.3bn) — but Concentric's verified 25.2% raises the pump bar: peer-parity margins would add ~¥3.2-3.7bn gross profit, comfortably funding the R&amp;D catch-up (~¥2.6bn/yr). Caveats: FY3/26 division split estimated (yuho due June 2026); peer set excludes nature-of-expense reporters and customers.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FY3/26 margin recovery (+¥1bn gross profit) plus peer-parity margin upside (~¥3.2-3.7bn) covers the program.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