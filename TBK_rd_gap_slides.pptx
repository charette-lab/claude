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Sheet1!$A$2:$A$12</c:f>
              <c:strCache>
                <c:ptCount val="11"/>
                <c:pt idx="0">
                  <c:v>TBK</c:v>
                </c:pt>
                <c:pt idx="1">
                  <c:v>SAF-Holland</c:v>
                </c:pt>
                <c:pt idx="2">
                  <c:v>Cummins</c:v>
                </c:pt>
                <c:pt idx="3">
                  <c:v>Aisin</c:v>
                </c:pt>
                <c:pt idx="4">
                  <c:v>Concentric*</c:v>
                </c:pt>
                <c:pt idx="5">
                  <c:v>Hanon*</c:v>
                </c:pt>
                <c:pt idx="6">
                  <c:v>Mahle</c:v>
                </c:pt>
                <c:pt idx="7">
                  <c:v>Mikuni</c:v>
                </c:pt>
                <c:pt idx="8">
                  <c:v>Brembo</c:v>
                </c:pt>
                <c:pt idx="9">
                  <c:v>Knorr-Bremse</c:v>
                </c:pt>
                <c:pt idx="10">
                  <c:v>ZF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2.2</c:v>
                </c:pt>
                <c:pt idx="1">
                  <c:v>2.1</c:v>
                </c:pt>
                <c:pt idx="2">
                  <c:v>4.3</c:v>
                </c:pt>
                <c:pt idx="3">
                  <c:v>4.8</c:v>
                </c:pt>
                <c:pt idx="4">
                  <c:v>5.0</c:v>
                </c:pt>
                <c:pt idx="5">
                  <c:v>5.0</c:v>
                </c:pt>
                <c:pt idx="6">
                  <c:v>5.4</c:v>
                </c:pt>
                <c:pt idx="7">
                  <c:v>5.4</c:v>
                </c:pt>
                <c:pt idx="8">
                  <c:v>6.1</c:v>
                </c:pt>
                <c:pt idx="9">
                  <c:v>6.9</c:v>
                </c:pt>
                <c:pt idx="10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FY25
actual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Sheet1!$A$2:$A$8</c:f>
              <c:strCache>
                <c:ptCount val="7"/>
                <c:pt idx="0">
                  <c:v>FY25
actual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Closing the R&amp;D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DCE8"/>
                </a:solidFill>
              </a:rPr>
              <a:t>TBK Co., Ltd. (7277.T) — market evolution, competitor innovation, and the reinvestment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C8"/>
                </a:solidFill>
              </a:rPr>
              <a:t>Based on peer-reviewed and verified industry research plus competitor filings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market has moved: drum brakes are a shrinking island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 from peer-reviewed literature, regulatory records, and industry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Drums: ~18% of EU demand (off-road)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Trailers still lag at ~15%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Domestic flip is when, not 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EBS/AEB/ADAS mandates favor disc actuation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Competitors kept innovating — in brakes and in pumps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Every relevant peer has repositioned its product line for discs, electronics, and electrification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Concentric/Pierburg: 400-800V e-coolant pump families; e-products 24% of Concentric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competitors spend on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¥1.2bn (~$8M)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Brake systems players spend 6-9% of sales; pump/thermal players cluster at 4-5.5%. TBK sits at 2.2% — trailer-parts intensity, while facing a systems transition. *Hanon shown mid-range of conflicting filings; Concentric per secondary source.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accumulated R&amp;D deficit: ~US$100M over a decade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dataset FY2016-2025; benchmark = blended peer floor for a brake + pump supplier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2.6% (FY22) → 2.2%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Compounding the problem: TBK's marginal return on invested capital has been negative on every horizon (-2% to -10%) — the deficit is in direction as well as amount. Capex also fell from $59M (FY16) to $16M (FY25).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reinvestment requirement: two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~$50M targeted at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industrialization + e-pumps)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(~$30-50M, outside R&amp;D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Allocation discipline is the condition: gate the catch-up to (1) air disc brake industrialization for the Japanese OEM transition and (2) electric water/oil pumps — the two niches where Mikuni/Yamada-scale budgets demonstrably win sockets. Systems/ADAS access via the Brakes India alliance, not in-house spend.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