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Trajectory: crosses the 6.5 Watchlist threshold at year 3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dPt>
            <c:idx val="3"/>
            <c:spPr>
              <a:solidFill>
                <a:srgbClr val="314359"/>
              </a:solidFill>
            </c:spPr>
          </c:dPt>
          <c:dPt>
            <c:idx val="4"/>
            <c:spPr>
              <a:solidFill>
                <a:srgbClr val="E2E5E9"/>
              </a:solidFill>
            </c:spPr>
          </c:dPt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18 months</c:v>
                </c:pt>
                <c:pt idx="2">
                  <c:v>3 years</c:v>
                </c:pt>
                <c:pt idx="3">
                  <c:v>5 years</c:v>
                </c:pt>
                <c:pt idx="4">
                  <c:v>Concentric
(the frontier)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5.38</c:v>
                </c:pt>
                <c:pt idx="1">
                  <c:v>5.9</c:v>
                </c:pt>
                <c:pt idx="2">
                  <c:v>6.6</c:v>
                </c:pt>
                <c:pt idx="3">
                  <c:v>7.0</c:v>
                </c:pt>
                <c:pt idx="4">
                  <c:v>6.98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Raising the moat: the score-per-yen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Conclusion: proven engineering, broken monetization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30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31   Sources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Appendix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32   TBK 10-year income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OWN firsts: the SAW drum brake system it pioneered (class-leading today); CV disc-brake work with Isuzu as early as 1990 (SAE 902200); retarders since the 1960s; 19.5" ADB exhibited;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engineering DNA is DEEPER than the patent count implies — it pioneered the SAW system, co-authored CV disc work with Isuzu in 1990, and has built retarders for six decades. The failure is CONVERSION, not capability: that DNA was never turned into protected IP, external validation, or market-priced revenue. This reframes the R&amp;D risk: the question is not whether TBK can engineer, but whether it will finally capitalize what it engineers.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Raising the moat: to Watchlist in 3 years — mostly for free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Levers ranked by weighted score gain per yen. ~80% of the uplift needs no money beyond the committed program — the rest costs ~¥2-5bn over 3 years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46304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three best levers — nearly free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1. CAPITAL ALLOCATION (+0.35): gated reinvestment, pruning, buybacks instead of RR=1.00 at negative ROIIC. At 1.5-2.2x earnings, each ¥1bn buyback retires ~10% of market cap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2. FOOTPRINT (+0.25): the ¥2-3bn restructuring the P&amp;L repays anyway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3. LEGIBILITY (+0.15, ~¥0.15bn/yr): patent existing work, publish at JSAE, disclose PPM data — quality sellable outside the keiretsu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Rides free — plus the one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Substitution + runway (+0.50): the committed ¥2.7bn/yr R&amp;D + ADB capex deliver these moat points free on top of their P&amp;L 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Ecosystem (+0.20): aftermarket annuity + TCU software, ~¥1-2bn / 3 yrs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DEFEND Hegemony (8.0): ADB is insurance against repeating UD, where TBK holds zero cells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Total incremental: ~¥2-5bn over 3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The compounding logic: allocation discipline (Ch8) makes every other chapter's evidence credible — capital that stops being destroyed validates the runway, the sockets, and the legibility story. Ceiling honesty: 7.8 (Compounder) is unreachable in this industry — nobody is there; Concentric's 6.98 is the practical frontier and the 5-year path reaches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Conclusion: TBK can build it — it just doesn't sell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The engineering is proven. What needs fixing is go-to-market, pricing, and the customer relationship — managerial problems, which ownership can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PROVEN: the engineering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Pioneered the SAW system — class-leading drum brake in stopping, energy and weight, TODAY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Co-authored CV disc-brake work with Isuzu in 1990 (SAE 902200) — before discs were mainstream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Retarders engineered for six decades; e-pumps and a thermal control unit in development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Zero findable recalls or scandals in 75 years supplying Japan's toughest customers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Owns its product designs (confirmed)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Small-batch disc brakes earn 68.7% contribution — when TBK prices, the product carries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4528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BROKEN: the monetization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PRICING: ~30% below market across the book; SAW — the best product — earns just 19.5% contribution; keiretsu customers pay 17% blended vs 30.5% from everyone else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GO-TO-MARKET: ~90% of sales through channels that set TBK's prices; aftermarket only ~10% of sales (Haldex: 42%); exports marginal; zero external proof points — 2-3 patents/yr, no awards, no published quality data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RELATIONSHIPS: Isuzu alone = 22% of sales; 75 years of price-downs accepted; the customer captures the value the engineering creates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1417320"/>
            <a:ext cx="3749039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FIX — managerial, not technical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Reprice what is already excellent: SAW to market over renewal cycles, aftermarket +10% now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Open channels TBK controls: aftermarket expansion, India/export via Brakes India at market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Make the engineering legible: patent it, publish it, certify it — sellable outside the keiretsu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Reset the relationship: price paired with the ADB/e-pump roadmap — supply security and future tech in exchange for honest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None of this requires inventing anything new — only capitalizing what 75 years of engineering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2130"/>
                </a:solidFill>
                <a:latin typeface="Arial"/>
              </a:rPr>
              <a:t>The investment logic in one line: technical risk is what ownership cannot fix — and TBK has little of it. Managerial risk is what engaged ownership exists to fix — and that is nearly all of TBK's problem. A company that can engineer market-leading products but cannot price, channel, or protect them is not a value trap; it is an unmanaged asset.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Appendix — TBK 10-year income statement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Fiscal years ending 31 March. Figures in millions (source currency, USD-converted dataset). Margins and EV multiples derived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3000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</a:tblGrid>
              <a:tr h="310896">
                <a:tc>
                  <a:txBody>
                    <a:bodyPr wrap="none" lIns="36000" rIns="36000" tIns="18000" bIns="180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Line item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FY2016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FY2017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FY2018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FY2019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FY2020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FY2021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FY2022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FY2023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FY2024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FY2025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431.5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463.7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483.9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472.3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456.1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357.3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44.7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54.7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57.3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54.5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47.2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47.9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32.4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41.4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38.0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Gross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Reported EBIT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-4.6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EBIT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-1.2%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EBITA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27.4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41.6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-8.1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EBITA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New Operating Income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25.6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24.8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21.7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New Op. Income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Enterprise Value (EV)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221.1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206.6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221.7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172.4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203.4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167.5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122.2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105.2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109.0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87.2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Market capitalisation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140.9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90.0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73.3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EV / Sales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0.56x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0.36x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0.43x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0.27x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0.27x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0.24x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EV / EBITA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27.2x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9.9x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61.7x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n/m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38.9x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0533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56A83"/>
                </a:solidFill>
                <a:latin typeface="Arial"/>
              </a:rPr>
              <a:t>Source: TBK consolidated dataset (FY2016-FY2025). Sales declined ~9% over the decade; gross margin compressed from 12.8% peak (FY2017) to a 8.2% trough (FY2023), recovering to ~10.6%. EV de-rated from ~221 to ~87 and market cap roughly halved — the market pricing the value leakage as permanent. EV/EBITA shown n/m in FY2023 (negative EBITA).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