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548235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7F1D1D"/>
              </a:solidFill>
            </c:spPr>
          </c:dPt>
          <c:dPt>
            <c:idx val="2"/>
            <c:spPr>
              <a:solidFill>
                <a:srgbClr val="7F1D1D"/>
              </a:solidFill>
            </c:spPr>
          </c:dPt>
          <c:dPt>
            <c:idx val="3"/>
            <c:spPr>
              <a:solidFill>
                <a:srgbClr val="7F1D1D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F4E78"/>
            </a:solidFill>
          </c:spPr>
          <c:dPt>
            <c:idx val="4"/>
            <c:spPr>
              <a:solidFill>
                <a:srgbClr val="7F1D1D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7F1D1D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548235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avg (6 scored)</c:v>
                </c:pt>
              </c:strCache>
            </c:strRef>
          </c:tx>
          <c:spPr>
            <a:ln w="28575">
              <a:solidFill>
                <a:srgbClr val="595959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7.17</c:v>
                </c:pt>
                <c:pt idx="1">
                  <c:v>5.92</c:v>
                </c:pt>
                <c:pt idx="2">
                  <c:v>6.58</c:v>
                </c:pt>
                <c:pt idx="3">
                  <c:v>2.67</c:v>
                </c:pt>
                <c:pt idx="4">
                  <c:v>4.75</c:v>
                </c:pt>
                <c:pt idx="5">
                  <c:v>4.17</c:v>
                </c:pt>
                <c:pt idx="6">
                  <c:v>6.75</c:v>
                </c:pt>
                <c:pt idx="7">
                  <c:v>3.75</c:v>
                </c:pt>
                <c:pt idx="8">
                  <c:v>5.08</c:v>
                </c:pt>
                <c:pt idx="9">
                  <c:v>4.5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stock, not the flow: competitors' capitalized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base in the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knowledge-intensive business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Product-level proof: same pumps, half 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Customer curve: Isuzu 25.8% &gt; MMTH 23.0% &gt; ITT 22.6% &gt; Kubota 17.0%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e-pump/TCU program targets exactly this ladder — the data proves the rungs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Inside TBK Japan: the keiretsu discount, quantified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Haldex lesson: aftermarket is the profit pool — and subscale OE discs lose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0" y="1463040"/>
            <a:ext cx="51663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Lesson 1: TBK's ~20-23% OE contribution is the industry condition — aftermarket is the cure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 OE truck/trailer: CII 22-32% every year 2009-19, EBIT NEGATIVE (-4 to -12%); Europe truck EBIT hit -32%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Aftermarket: CII 42-50% every year, EBIT +20-32% — it generated ALL of Haldex's profit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aftermarket (TBK Sales, 30.2% CM) is only ~10% of parent sales vs Haldex's 42% — the proven fastest route to group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3840480"/>
            <a:ext cx="51663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Lesson 2: the subscale OE disc warning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 disc brakes 2013-14: CII just 12.6% -&gt; 15.3%, EBIT -10.4% -&gt; -3.9% — the #3 player fighting Knorr/Meritor for OE disc sockets LOST MONEY on every unit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Caution: TBK's 68.7% D/BRAKE contribution is small-batch/replacement pricing, not series-OE economics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ADB strategy must be niche/aftermarket-priced and partnered (Brakes India) — Haldex's P&amp;L is what a frontal OE assault looks like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Haldex product detail confirms the pattern: niche-dominant and electronics-adjacent products priced well (air treatment 53.5%, suspension 46.0%, ABS 42.7%, brake adjusters 41.2% CII) while contested systems (EBS 31.7%, EBIT +1.6%) and commodity friction (22.8%) did not. Haldex's 25.5-28.5% gross margin = ~22-30% OE + aftermarket overlay — the same arithmetic TBK needs.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I: external quality &amp; service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Brembo: all 10 F1 teams; AMS brake-brand vote 11 of 13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every proxy the systems players lead — and TBK does not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E78"/>
                </a:solidFill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II: innovation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framework ranking: TBK scores 5.38 — 9th of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incl. TBK 5.38, Mikuni 5.00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Durable problem, fragile solution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moat profile: where it is strong, where it bleeds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Chapter scores (1-10) — TBK vs Concentric (best newly-scored) vs Mikuni vs average of the 6 newly-scored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Substitution 3.5 — both products in active displacement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criteria: TBK vs competitors, criterion by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Research quality &amp; methodology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How this material was produced, verified, and where its limits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3: single-source estimates and market research — always labeled in the underlying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Aggregator's 'TBK FY26 ¥138M profit' contradicted by the audited tanshin (-¥131M)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FY3/26 division split estimated from FY3/25 (yuho due June 2026); USD at ¥150/USD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Scenario pages state assumptions on-slide; peer-margin scenarios use comparable reporters only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User-provided datasets: TBK 10-year financials; Peers 10-year; Peers LTM (7 companies, consistent methodology)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