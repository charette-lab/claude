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52130"/>
                </a:solidFill>
                <a:latin typeface="Arial"/>
              </a:rPr>
              <a:t>R&amp;D intensity (% of sales)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R&amp;D % of sales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Sheet1!$A$2:$A$13</c:f>
              <c:strCache>
                <c:ptCount val="12"/>
                <c:pt idx="0">
                  <c:v>SAF-Holland</c:v>
                </c:pt>
                <c:pt idx="1">
                  <c:v>TBK</c:v>
                </c:pt>
                <c:pt idx="2">
                  <c:v>Concentric*</c:v>
                </c:pt>
                <c:pt idx="3">
                  <c:v>Cummins</c:v>
                </c:pt>
                <c:pt idx="4">
                  <c:v>Akebono</c:v>
                </c:pt>
                <c:pt idx="5">
                  <c:v>Aisin</c:v>
                </c:pt>
                <c:pt idx="6">
                  <c:v>Hanon*</c:v>
                </c:pt>
                <c:pt idx="7">
                  <c:v>Mahle</c:v>
                </c:pt>
                <c:pt idx="8">
                  <c:v>Mikuni</c:v>
                </c:pt>
                <c:pt idx="9">
                  <c:v>Brembo</c:v>
                </c:pt>
                <c:pt idx="10">
                  <c:v>Knorr-Bremse</c:v>
                </c:pt>
                <c:pt idx="11">
                  <c:v>ZF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1.7</c:v>
                </c:pt>
                <c:pt idx="1">
                  <c:v>2.2</c:v>
                </c:pt>
                <c:pt idx="2">
                  <c:v>2.3</c:v>
                </c:pt>
                <c:pt idx="3">
                  <c:v>4.1</c:v>
                </c:pt>
                <c:pt idx="4">
                  <c:v>4.3</c:v>
                </c:pt>
                <c:pt idx="5">
                  <c:v>4.8</c:v>
                </c:pt>
                <c:pt idx="6">
                  <c:v>5.0</c:v>
                </c:pt>
                <c:pt idx="7">
                  <c:v>5.4</c:v>
                </c:pt>
                <c:pt idx="8">
                  <c:v>5.9</c:v>
                </c:pt>
                <c:pt idx="9">
                  <c:v>6.1</c:v>
                </c:pt>
                <c:pt idx="10">
                  <c:v>6.8</c:v>
                </c:pt>
                <c:pt idx="11">
                  <c:v>8.6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52130"/>
                </a:solidFill>
                <a:latin typeface="Arial"/>
              </a:rPr>
              <a:t>Capitalized R&amp;D stock, size-class peers only, US$M (2025)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R&amp;D Capital Base ($M)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Sheet1!$A$2:$A$5</c:f>
              <c:strCache>
                <c:ptCount val="4"/>
                <c:pt idx="0">
                  <c:v>TBK
(12% of sales)</c:v>
                </c:pt>
                <c:pt idx="1">
                  <c:v>Akebono
(12%)</c:v>
                </c:pt>
                <c:pt idx="2">
                  <c:v>SAF-Holland
(7%)</c:v>
                </c:pt>
                <c:pt idx="3">
                  <c:v>Mikuni
(29%)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</c:v>
                </c:pt>
                <c:pt idx="1">
                  <c:v>123</c:v>
                </c:pt>
                <c:pt idx="2">
                  <c:v>131</c:v>
                </c:pt>
                <c:pt idx="3">
                  <c:v>194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52130"/>
                </a:solidFill>
                <a:latin typeface="Arial"/>
              </a:rPr>
              <a:t>Gross margin: TBK vs peers, by business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TBK gross margin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Sheet1!$A$2:$A$3</c:f>
              <c:strCache>
                <c:ptCount val="2"/>
                <c:pt idx="0">
                  <c:v>BRAKES
(TBK sales ~$127M)</c:v>
                </c:pt>
                <c:pt idx="1">
                  <c:v>PUMPS &amp; ENGINE COMP.
(TBK sales ~$238M)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12.5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average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Sheet1!$A$2:$A$3</c:f>
              <c:strCache>
                <c:ptCount val="2"/>
                <c:pt idx="0">
                  <c:v>BRAKES
(TBK sales ~$127M)</c:v>
                </c:pt>
                <c:pt idx="1">
                  <c:v>PUMPS &amp; ENGINE COMP.
(TBK sales ~$238M)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21.0</c:v>
                </c:pt>
                <c:pt idx="1">
                  <c:v>17.0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Sheet1!$A$2:$A$3</c:f>
              <c:strCache>
                <c:ptCount val="2"/>
                <c:pt idx="0">
                  <c:v>BRAKES
(TBK sales ~$127M)</c:v>
                </c:pt>
                <c:pt idx="1">
                  <c:v>PUMPS &amp; ENGINE COMP.
(TBK sales ~$238M)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23.4</c:v>
                </c:pt>
                <c:pt idx="1">
                  <c:v>16.9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52130"/>
                </a:solidFill>
                <a:latin typeface="Arial"/>
              </a:rPr>
              <a:t>TBK annual gross profit (US$M)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Brakes ($M)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Sheet1!$A$2:$A$4</c:f>
              <c:strCache>
                <c:ptCount val="3"/>
                <c:pt idx="0">
                  <c:v>Actual
FY3/2026</c:v>
                </c:pt>
                <c:pt idx="1">
                  <c:v>At peer
average</c:v>
                </c:pt>
                <c:pt idx="2">
                  <c:v>At peer
median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1">
                  <c:v>26.6</c:v>
                </c:pt>
                <c:pt idx="2">
                  <c:v>29.5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Pumps &amp; engine components ($M)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Sheet1!$A$2:$A$4</c:f>
              <c:strCache>
                <c:ptCount val="3"/>
                <c:pt idx="0">
                  <c:v>Actual
FY3/2026</c:v>
                </c:pt>
                <c:pt idx="1">
                  <c:v>At peer
average</c:v>
                </c:pt>
                <c:pt idx="2">
                  <c:v>At peer
median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1">
                  <c:v>40.5</c:v>
                </c:pt>
                <c:pt idx="2">
                  <c:v>40.3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Actual blended ($M)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Sheet1!$A$2:$A$4</c:f>
              <c:strCache>
                <c:ptCount val="3"/>
                <c:pt idx="0">
                  <c:v>Actual
FY3/2026</c:v>
                </c:pt>
                <c:pt idx="1">
                  <c:v>At peer
average</c:v>
                </c:pt>
                <c:pt idx="2">
                  <c:v>At peer
median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45.5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Contribution margin by product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TBKK marginal profit %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Sheet1!$A$2:$A$5</c:f>
              <c:strCache>
                <c:ptCount val="4"/>
                <c:pt idx="0">
                  <c:v>Water pumps</c:v>
                </c:pt>
                <c:pt idx="1">
                  <c:v>Oil pumps</c:v>
                </c:pt>
                <c:pt idx="2">
                  <c:v>GROUP TOTAL</c:v>
                </c:pt>
                <c:pt idx="3">
                  <c:v>Concentric value-added
(semi-var./electric/ALFDEX)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19.5</c:v>
                </c:pt>
                <c:pt idx="1">
                  <c:v>22.6</c:v>
                </c:pt>
                <c:pt idx="2">
                  <c:v>22.7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Concentric Contribution I %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Sheet1!$A$2:$A$5</c:f>
              <c:strCache>
                <c:ptCount val="4"/>
                <c:pt idx="0">
                  <c:v>Water pumps</c:v>
                </c:pt>
                <c:pt idx="1">
                  <c:v>Oil pumps</c:v>
                </c:pt>
                <c:pt idx="2">
                  <c:v>GROUP TOTAL</c:v>
                </c:pt>
                <c:pt idx="3">
                  <c:v>Concentric value-added
(semi-var./electric/ALFDEX)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38.2</c:v>
                </c:pt>
                <c:pt idx="1">
                  <c:v>42.9</c:v>
                </c:pt>
                <c:pt idx="2">
                  <c:v>44.5</c:v>
                </c:pt>
                <c:pt idx="3">
                  <c:v>56.0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52130"/>
                </a:solidFill>
                <a:latin typeface="Arial"/>
              </a:rPr>
              <a:t>Contribution by customer: keiretsu OEMs 17% blended vs non-keiretsu/aftermarket 30.5%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%</c:v>
                </c:pt>
              </c:strCache>
            </c:strRef>
          </c:tx>
          <c:spPr>
            <a:solidFill>
              <a:srgbClr val="6F8990"/>
            </a:solidFill>
          </c:spPr>
          <c:dPt>
            <c:idx val="0"/>
            <c:spPr>
              <a:solidFill>
                <a:srgbClr val="3C3937"/>
              </a:solidFill>
            </c:spPr>
          </c:dPt>
          <c:dPt>
            <c:idx val="1"/>
            <c:spPr>
              <a:solidFill>
                <a:srgbClr val="3C3937"/>
              </a:solidFill>
            </c:spPr>
          </c:dPt>
          <c:dPt>
            <c:idx val="2"/>
            <c:spPr>
              <a:solidFill>
                <a:srgbClr val="3C3937"/>
              </a:solidFill>
            </c:spPr>
          </c:dPt>
          <c:dPt>
            <c:idx val="3"/>
            <c:spPr>
              <a:solidFill>
                <a:srgbClr val="3C3937"/>
              </a:solidFill>
            </c:spPr>
          </c:dPt>
          <c:cat>
            <c:strRef>
              <c:f>Sheet1!$A$2:$A$12</c:f>
              <c:strCache>
                <c:ptCount val="11"/>
                <c:pt idx="0">
                  <c:v>UD Trucks</c:v>
                </c:pt>
                <c:pt idx="1">
                  <c:v>MFTBC</c:v>
                </c:pt>
                <c:pt idx="2">
                  <c:v>Isuzu</c:v>
                </c:pt>
                <c:pt idx="3">
                  <c:v>Hino</c:v>
                </c:pt>
                <c:pt idx="4">
                  <c:v>Kubota</c:v>
                </c:pt>
                <c:pt idx="5">
                  <c:v>Aftermarket
(TBK Sales)</c:v>
                </c:pt>
                <c:pt idx="6">
                  <c:v>Caterpillar</c:v>
                </c:pt>
                <c:pt idx="7">
                  <c:v>Komatsu-
Oyama</c:v>
                </c:pt>
                <c:pt idx="8">
                  <c:v>Toho</c:v>
                </c:pt>
                <c:pt idx="9">
                  <c:v>Hitachi</c:v>
                </c:pt>
                <c:pt idx="10">
                  <c:v>Cummins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8.1</c:v>
                </c:pt>
                <c:pt idx="1">
                  <c:v>15.6</c:v>
                </c:pt>
                <c:pt idx="2">
                  <c:v>16.8</c:v>
                </c:pt>
                <c:pt idx="3">
                  <c:v>21.0</c:v>
                </c:pt>
                <c:pt idx="4">
                  <c:v>22.3</c:v>
                </c:pt>
                <c:pt idx="5">
                  <c:v>30.2</c:v>
                </c:pt>
                <c:pt idx="6">
                  <c:v>30.5</c:v>
                </c:pt>
                <c:pt idx="7">
                  <c:v>32.6</c:v>
                </c:pt>
                <c:pt idx="8">
                  <c:v>43.5</c:v>
                </c:pt>
                <c:pt idx="9">
                  <c:v>44.8</c:v>
                </c:pt>
                <c:pt idx="10">
                  <c:v>79.8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52130"/>
                </a:solidFill>
                <a:latin typeface="Arial"/>
              </a:rPr>
              <a:t>Haldex segment economics (Sep YTD 2014): OE loses, aftermarket earns it all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II %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Sheet1!$A$2:$A$4</c:f>
              <c:strCache>
                <c:ptCount val="3"/>
                <c:pt idx="0">
                  <c:v>Truck OE</c:v>
                </c:pt>
                <c:pt idx="1">
                  <c:v>Trailer OE</c:v>
                </c:pt>
                <c:pt idx="2">
                  <c:v>Aftermarket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22.4</c:v>
                </c:pt>
                <c:pt idx="1">
                  <c:v>22.2</c:v>
                </c:pt>
                <c:pt idx="2">
                  <c:v>48.6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 %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Sheet1!$A$2:$A$4</c:f>
              <c:strCache>
                <c:ptCount val="3"/>
                <c:pt idx="0">
                  <c:v>Truck OE</c:v>
                </c:pt>
                <c:pt idx="1">
                  <c:v>Trailer OE</c:v>
                </c:pt>
                <c:pt idx="2">
                  <c:v>Aftermarket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-3.9</c:v>
                </c:pt>
                <c:pt idx="1">
                  <c:v>-9.9</c:v>
                </c:pt>
                <c:pt idx="2">
                  <c:v>31.6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Contribution margin by brake product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TBK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Sheet1!$A$2:$A$9</c:f>
              <c:strCache>
                <c:ptCount val="8"/>
                <c:pt idx="0">
                  <c:v>SAW drum
(flagship)</c:v>
                </c:pt>
                <c:pt idx="1">
                  <c:v>Foundation
drum (2L)</c:v>
                </c:pt>
                <c:pt idx="2">
                  <c:v>Friction /
linings</c:v>
                </c:pt>
                <c:pt idx="3">
                  <c:v>Brake
drum</c:v>
                </c:pt>
                <c:pt idx="4">
                  <c:v>Disc
brake</c:v>
                </c:pt>
                <c:pt idx="5">
                  <c:v>Brake adjusters
(ABA)</c:v>
                </c:pt>
                <c:pt idx="6">
                  <c:v>ABS / EBS
electronics</c:v>
                </c:pt>
                <c:pt idx="7">
                  <c:v>Aftermarket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19.5</c:v>
                </c:pt>
                <c:pt idx="1">
                  <c:v>15.8</c:v>
                </c:pt>
                <c:pt idx="2">
                  <c:v>25.1</c:v>
                </c:pt>
                <c:pt idx="3">
                  <c:v>22.9</c:v>
                </c:pt>
                <c:pt idx="4">
                  <c:v>68.7</c:v>
                </c:pt>
                <c:pt idx="7">
                  <c:v>30.2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Haldex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Sheet1!$A$2:$A$9</c:f>
              <c:strCache>
                <c:ptCount val="8"/>
                <c:pt idx="0">
                  <c:v>SAW drum
(flagship)</c:v>
                </c:pt>
                <c:pt idx="1">
                  <c:v>Foundation
drum (2L)</c:v>
                </c:pt>
                <c:pt idx="2">
                  <c:v>Friction /
linings</c:v>
                </c:pt>
                <c:pt idx="3">
                  <c:v>Brake
drum</c:v>
                </c:pt>
                <c:pt idx="4">
                  <c:v>Disc
brake</c:v>
                </c:pt>
                <c:pt idx="5">
                  <c:v>Brake adjusters
(ABA)</c:v>
                </c:pt>
                <c:pt idx="6">
                  <c:v>ABS / EBS
electronics</c:v>
                </c:pt>
                <c:pt idx="7">
                  <c:v>Aftermarket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2">
                  <c:v>23.2</c:v>
                </c:pt>
                <c:pt idx="4">
                  <c:v>14.0</c:v>
                </c:pt>
                <c:pt idx="5">
                  <c:v>41.4</c:v>
                </c:pt>
                <c:pt idx="6">
                  <c:v>43.4</c:v>
                </c:pt>
                <c:pt idx="7">
                  <c:v>48.2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52130"/>
                </a:solidFill>
                <a:latin typeface="Arial"/>
              </a:rPr>
              <a:t>SAW contribution: actual vs at-market-price scenarios (vs peer core products)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%</c:v>
                </c:pt>
              </c:strCache>
            </c:strRef>
          </c:tx>
          <c:spPr>
            <a:solidFill>
              <a:srgbClr val="152130"/>
            </a:solidFill>
          </c:spPr>
          <c:dPt>
            <c:idx val="0"/>
            <c:spPr>
              <a:solidFill>
                <a:srgbClr val="3C3937"/>
              </a:solidFill>
            </c:spPr>
          </c:dPt>
          <c:dPt>
            <c:idx val="1"/>
            <c:spPr>
              <a:solidFill>
                <a:srgbClr val="6F8990"/>
              </a:solidFill>
            </c:spPr>
          </c:dPt>
          <c:dPt>
            <c:idx val="2"/>
            <c:spPr>
              <a:solidFill>
                <a:srgbClr val="6F8990"/>
              </a:solidFill>
            </c:spPr>
          </c:dPt>
          <c:cat>
            <c:strRef>
              <c:f>Sheet1!$A$2:$A$6</c:f>
              <c:strCache>
                <c:ptCount val="5"/>
                <c:pt idx="0">
                  <c:v>SAW today
(keiretsu price)</c:v>
                </c:pt>
                <c:pt idx="1">
                  <c:v>SAW at market
(+30% price)</c:v>
                </c:pt>
                <c:pt idx="2">
                  <c:v>SAW at market
(price / 0.7)</c:v>
                </c:pt>
                <c:pt idx="3">
                  <c:v>Haldex ABA/ABS
avg (ref.)</c:v>
                </c:pt>
                <c:pt idx="4">
                  <c:v>Concentric conv.
pumps avg (ref.)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19.5</c:v>
                </c:pt>
                <c:pt idx="1">
                  <c:v>38.1</c:v>
                </c:pt>
                <c:pt idx="2">
                  <c:v>43.6</c:v>
                </c:pt>
                <c:pt idx="3">
                  <c:v>42.4</c:v>
                </c:pt>
                <c:pt idx="4">
                  <c:v>40.5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Contribution margin by pump product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TBK (Japan)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Sheet1!$A$2:$A$7</c:f>
              <c:strCache>
                <c:ptCount val="6"/>
                <c:pt idx="0">
                  <c:v>Water pumps</c:v>
                </c:pt>
                <c:pt idx="1">
                  <c:v>Oil pumps</c:v>
                </c:pt>
                <c:pt idx="2">
                  <c:v>Semi-variable
water pump</c:v>
                </c:pt>
                <c:pt idx="3">
                  <c:v>Electric
water pump</c:v>
                </c:pt>
                <c:pt idx="4">
                  <c:v>Electric
oil pump</c:v>
                </c:pt>
                <c:pt idx="5">
                  <c:v>Fuel / transm.
pumps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18.5</c:v>
                </c:pt>
                <c:pt idx="1">
                  <c:v>26.0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TBKK (Thailand)</c:v>
                </c:pt>
              </c:strCache>
            </c:strRef>
          </c:tx>
          <c:spPr>
            <a:solidFill>
              <a:srgbClr val="9A958E"/>
            </a:solidFill>
          </c:spPr>
          <c:cat>
            <c:strRef>
              <c:f>Sheet1!$A$2:$A$7</c:f>
              <c:strCache>
                <c:ptCount val="6"/>
                <c:pt idx="0">
                  <c:v>Water pumps</c:v>
                </c:pt>
                <c:pt idx="1">
                  <c:v>Oil pumps</c:v>
                </c:pt>
                <c:pt idx="2">
                  <c:v>Semi-variable
water pump</c:v>
                </c:pt>
                <c:pt idx="3">
                  <c:v>Electric
water pump</c:v>
                </c:pt>
                <c:pt idx="4">
                  <c:v>Electric
oil pump</c:v>
                </c:pt>
                <c:pt idx="5">
                  <c:v>Fuel / transm.
pumps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19.5</c:v>
                </c:pt>
                <c:pt idx="1">
                  <c:v>22.6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Concentric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Sheet1!$A$2:$A$7</c:f>
              <c:strCache>
                <c:ptCount val="6"/>
                <c:pt idx="0">
                  <c:v>Water pumps</c:v>
                </c:pt>
                <c:pt idx="1">
                  <c:v>Oil pumps</c:v>
                </c:pt>
                <c:pt idx="2">
                  <c:v>Semi-variable
water pump</c:v>
                </c:pt>
                <c:pt idx="3">
                  <c:v>Electric
water pump</c:v>
                </c:pt>
                <c:pt idx="4">
                  <c:v>Electric
oil pump</c:v>
                </c:pt>
                <c:pt idx="5">
                  <c:v>Fuel / transm.
pumps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38.2</c:v>
                </c:pt>
                <c:pt idx="1">
                  <c:v>42.9</c:v>
                </c:pt>
                <c:pt idx="2">
                  <c:v>54.1</c:v>
                </c:pt>
                <c:pt idx="3">
                  <c:v>54.8</c:v>
                </c:pt>
                <c:pt idx="4">
                  <c:v>40.5</c:v>
                </c:pt>
                <c:pt idx="5">
                  <c:v>55.6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Operating margin by phase: 2.7% -&gt; ~10% (phase 1) -&gt; 15% -&gt; 26.6% ceiling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%</c:v>
                </c:pt>
              </c:strCache>
            </c:strRef>
          </c:tx>
          <c:spPr>
            <a:solidFill>
              <a:srgbClr val="152130"/>
            </a:solidFill>
          </c:spPr>
          <c:dPt>
            <c:idx val="0"/>
            <c:spPr>
              <a:solidFill>
                <a:srgbClr val="3C3937"/>
              </a:solidFill>
            </c:spPr>
          </c:dPt>
          <c:dPt>
            <c:idx val="1"/>
            <c:spPr>
              <a:solidFill>
                <a:srgbClr val="6F8990"/>
              </a:solidFill>
            </c:spPr>
          </c:dPt>
          <c:dPt>
            <c:idx val="2"/>
            <c:spPr>
              <a:solidFill>
                <a:srgbClr val="314359"/>
              </a:solidFill>
            </c:spPr>
          </c:dPt>
          <c:dPt>
            <c:idx val="3"/>
            <c:spPr>
              <a:solidFill>
                <a:srgbClr val="556A83"/>
              </a:solidFill>
            </c:spPr>
          </c:dPt>
          <c:cat>
            <c:strRef>
              <c:f>Sheet1!$A$2:$A$5</c:f>
              <c:strCache>
                <c:ptCount val="4"/>
                <c:pt idx="0">
                  <c:v>Actual
FY3/26</c:v>
                </c:pt>
                <c:pt idx="1">
                  <c:v>PHASE 1 (realistic)
+9% reprice, ~450 heads</c:v>
                </c:pt>
                <c:pt idx="2">
                  <c:v>PHASE 2 (full realization)
+15%, 500 heads</c:v>
                </c:pt>
                <c:pt idx="3">
                  <c:v>FULL premises
(leakage meter)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10.6</c:v>
                </c:pt>
                <c:pt idx="2">
                  <c:v>15.0</c:v>
                </c:pt>
                <c:pt idx="3">
                  <c:v>26.6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52130"/>
                </a:solidFill>
                <a:latin typeface="Arial"/>
              </a:rPr>
              <a:t>OPEX as % of sales: TBK vs peers, by business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TBK (blended)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Sheet1!$A$2:$A$3</c:f>
              <c:strCache>
                <c:ptCount val="2"/>
                <c:pt idx="0">
                  <c:v>BRAKES panel</c:v>
                </c:pt>
                <c:pt idx="1">
                  <c:v>PUMPS panel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9.7</c:v>
                </c:pt>
                <c:pt idx="1">
                  <c:v>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average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Sheet1!$A$2:$A$3</c:f>
              <c:strCache>
                <c:ptCount val="2"/>
                <c:pt idx="0">
                  <c:v>BRAKES panel</c:v>
                </c:pt>
                <c:pt idx="1">
                  <c:v>PUMPS panel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13.8</c:v>
                </c:pt>
                <c:pt idx="1">
                  <c:v>10.4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Sheet1!$A$2:$A$3</c:f>
              <c:strCache>
                <c:ptCount val="2"/>
                <c:pt idx="0">
                  <c:v>BRAKES panel</c:v>
                </c:pt>
                <c:pt idx="1">
                  <c:v>PUMPS panel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13.6</c:v>
                </c:pt>
                <c:pt idx="1">
                  <c:v>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52130"/>
                </a:solidFill>
                <a:latin typeface="Arial"/>
              </a:rPr>
              <a:t>Actual R&amp;D vs peer-floor benchmark (US$M)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TBK actual R&amp;D ($M)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11.1</c:v>
                </c:pt>
                <c:pt idx="1">
                  <c:v>11.4</c:v>
                </c:pt>
                <c:pt idx="2">
                  <c:v>10.6</c:v>
                </c:pt>
                <c:pt idx="3">
                  <c:v>11.4</c:v>
                </c:pt>
                <c:pt idx="4">
                  <c:v>11.6</c:v>
                </c:pt>
                <c:pt idx="5">
                  <c:v>11.8</c:v>
                </c:pt>
                <c:pt idx="6">
                  <c:v>8.9</c:v>
                </c:pt>
                <c:pt idx="7">
                  <c:v>8.1</c:v>
                </c:pt>
                <c:pt idx="8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 4.5% of sales ($M)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19.4</c:v>
                </c:pt>
                <c:pt idx="1">
                  <c:v>20.9</c:v>
                </c:pt>
                <c:pt idx="2">
                  <c:v>21.8</c:v>
                </c:pt>
                <c:pt idx="3">
                  <c:v>21.3</c:v>
                </c:pt>
                <c:pt idx="4">
                  <c:v>18.7</c:v>
                </c:pt>
                <c:pt idx="5">
                  <c:v>20.5</c:v>
                </c:pt>
                <c:pt idx="6">
                  <c:v>17.8</c:v>
                </c:pt>
                <c:pt idx="7">
                  <c:v>17.7</c:v>
                </c:pt>
                <c:pt idx="8">
                  <c:v>16.1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52130"/>
                </a:solidFill>
                <a:latin typeface="Arial"/>
              </a:rPr>
              <a:t>R&amp;D spend plan (US$M per year)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Parity run-rate (~4.5-5% of sales)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Sheet1!$A$2:$A$8</c:f>
              <c:strCache>
                <c:ptCount val="7"/>
                <c:pt idx="0">
                  <c:v>FY26
actual est.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  <c:pt idx="4">
                  <c:v>FY30</c:v>
                </c:pt>
                <c:pt idx="5">
                  <c:v>FY31</c:v>
                </c:pt>
                <c:pt idx="6">
                  <c:v>Steady state
FY32+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7.8</c:v>
                </c:pt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Deficit repayment (catch-up)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Sheet1!$A$2:$A$8</c:f>
              <c:strCache>
                <c:ptCount val="7"/>
                <c:pt idx="0">
                  <c:v>FY26
actual est.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  <c:pt idx="4">
                  <c:v>FY30</c:v>
                </c:pt>
                <c:pt idx="5">
                  <c:v>FY31</c:v>
                </c:pt>
                <c:pt idx="6">
                  <c:v>Steady state
FY32+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Final weighted moat scores (TBK in red)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Moat score</c:v>
                </c:pt>
              </c:strCache>
            </c:strRef>
          </c:tx>
          <c:spPr>
            <a:solidFill>
              <a:srgbClr val="152130"/>
            </a:solidFill>
          </c:spPr>
          <c:dPt>
            <c:idx val="4"/>
            <c:spPr>
              <a:solidFill>
                <a:srgbClr val="3C3937"/>
              </a:solidFill>
            </c:spPr>
          </c:dPt>
          <c:cat>
            <c:strRef>
              <c:f>Sheet1!$A$2:$A$14</c:f>
              <c:strCache>
                <c:ptCount val="13"/>
                <c:pt idx="0">
                  <c:v>Akebono</c:v>
                </c:pt>
                <c:pt idx="1">
                  <c:v>Mikuni</c:v>
                </c:pt>
                <c:pt idx="2">
                  <c:v>ZF</c:v>
                </c:pt>
                <c:pt idx="3">
                  <c:v>Mahle</c:v>
                </c:pt>
                <c:pt idx="4">
                  <c:v>TBK</c:v>
                </c:pt>
                <c:pt idx="5">
                  <c:v>TPR</c:v>
                </c:pt>
                <c:pt idx="6">
                  <c:v>Hanon</c:v>
                </c:pt>
                <c:pt idx="7">
                  <c:v>Aisin</c:v>
                </c:pt>
                <c:pt idx="8">
                  <c:v>SAF-Holland</c:v>
                </c:pt>
                <c:pt idx="9">
                  <c:v>Cummins</c:v>
                </c:pt>
                <c:pt idx="10">
                  <c:v>Brembo</c:v>
                </c:pt>
                <c:pt idx="11">
                  <c:v>Concentric</c:v>
                </c:pt>
                <c:pt idx="12">
                  <c:v>Knorr-Bremse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4.95</c:v>
                </c:pt>
                <c:pt idx="1">
                  <c:v>5.0</c:v>
                </c:pt>
                <c:pt idx="2">
                  <c:v>5.25</c:v>
                </c:pt>
                <c:pt idx="3">
                  <c:v>5.35</c:v>
                </c:pt>
                <c:pt idx="4">
                  <c:v>5.38</c:v>
                </c:pt>
                <c:pt idx="5">
                  <c:v>5.45</c:v>
                </c:pt>
                <c:pt idx="6">
                  <c:v>5.88</c:v>
                </c:pt>
                <c:pt idx="7">
                  <c:v>6.25</c:v>
                </c:pt>
                <c:pt idx="8">
                  <c:v>6.59</c:v>
                </c:pt>
                <c:pt idx="9">
                  <c:v>6.73</c:v>
                </c:pt>
                <c:pt idx="10">
                  <c:v>6.73</c:v>
                </c:pt>
                <c:pt idx="11">
                  <c:v>6.98</c:v>
                </c:pt>
                <c:pt idx="12">
                  <c:v>7.55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TBK</c:v>
                </c:pt>
              </c:strCache>
            </c:strRef>
          </c:tx>
          <c:spPr>
            <a:ln w="28575">
              <a:solidFill>
                <a:srgbClr val="3C3937"/>
              </a:solidFill>
            </a:ln>
          </c:spPr>
          <c:cat>
            <c:strRef>
              <c:f>Sheet1!$A$2:$A$11</c:f>
              <c:strCache>
                <c:ptCount val="10"/>
                <c:pt idx="0">
                  <c:v>Criticality</c:v>
                </c:pt>
                <c:pt idx="1">
                  <c:v>Standard premium</c:v>
                </c:pt>
                <c:pt idx="2">
                  <c:v>Market hegemony</c:v>
                </c:pt>
                <c:pt idx="3">
                  <c:v>Ecosystem</c:v>
                </c:pt>
                <c:pt idx="4">
                  <c:v>Lifecycle cost adv.</c:v>
                </c:pt>
                <c:pt idx="5">
                  <c:v>Substitution resistance</c:v>
                </c:pt>
                <c:pt idx="6">
                  <c:v>Demand horizon</c:v>
                </c:pt>
                <c:pt idx="7">
                  <c:v>Capital allocation</c:v>
                </c:pt>
                <c:pt idx="8">
                  <c:v>Reinvestment runway</c:v>
                </c:pt>
                <c:pt idx="9">
                  <c:v>Reverse- Lindy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7.5</c:v>
                </c:pt>
                <c:pt idx="1">
                  <c:v>6.0</c:v>
                </c:pt>
                <c:pt idx="2">
                  <c:v>8.0</c:v>
                </c:pt>
                <c:pt idx="3">
                  <c:v>2.0</c:v>
                </c:pt>
                <c:pt idx="4">
                  <c:v>3.0</c:v>
                </c:pt>
                <c:pt idx="5">
                  <c:v>3.5</c:v>
                </c:pt>
                <c:pt idx="6">
                  <c:v>7.0</c:v>
                </c:pt>
                <c:pt idx="7">
                  <c:v>2.0</c:v>
                </c:pt>
                <c:pt idx="8">
                  <c:v>3.0</c:v>
                </c:pt>
                <c:pt idx="9">
                  <c:v>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Concentric</c:v>
                </c:pt>
              </c:strCache>
            </c:strRef>
          </c:tx>
          <c:spPr>
            <a:ln w="28575">
              <a:solidFill>
                <a:srgbClr val="6F8990"/>
              </a:solidFill>
            </a:ln>
          </c:spPr>
          <c:cat>
            <c:strRef>
              <c:f>Sheet1!$A$2:$A$11</c:f>
              <c:strCache>
                <c:ptCount val="10"/>
                <c:pt idx="0">
                  <c:v>Criticality</c:v>
                </c:pt>
                <c:pt idx="1">
                  <c:v>Standard premium</c:v>
                </c:pt>
                <c:pt idx="2">
                  <c:v>Market hegemony</c:v>
                </c:pt>
                <c:pt idx="3">
                  <c:v>Ecosystem</c:v>
                </c:pt>
                <c:pt idx="4">
                  <c:v>Lifecycle cost adv.</c:v>
                </c:pt>
                <c:pt idx="5">
                  <c:v>Substitution resistance</c:v>
                </c:pt>
                <c:pt idx="6">
                  <c:v>Demand horizon</c:v>
                </c:pt>
                <c:pt idx="7">
                  <c:v>Capital allocation</c:v>
                </c:pt>
                <c:pt idx="8">
                  <c:v>Reinvestment runway</c:v>
                </c:pt>
                <c:pt idx="9">
                  <c:v>Reverse- Lindy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7.0</c:v>
                </c:pt>
                <c:pt idx="1">
                  <c:v>6.0</c:v>
                </c:pt>
                <c:pt idx="2">
                  <c:v>7.5</c:v>
                </c:pt>
                <c:pt idx="3">
                  <c:v>2.5</c:v>
                </c:pt>
                <c:pt idx="4">
                  <c:v>7.0</c:v>
                </c:pt>
                <c:pt idx="5">
                  <c:v>5.0</c:v>
                </c:pt>
                <c:pt idx="6">
                  <c:v>7.5</c:v>
                </c:pt>
                <c:pt idx="7">
                  <c:v>7.5</c:v>
                </c:pt>
                <c:pt idx="8">
                  <c:v>7.0</c:v>
                </c:pt>
                <c:pt idx="9">
                  <c:v>5.5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average (5 peers)</c:v>
                </c:pt>
              </c:strCache>
            </c:strRef>
          </c:tx>
          <c:spPr>
            <a:ln w="28575">
              <a:solidFill>
                <a:srgbClr val="556A83"/>
              </a:solidFill>
            </a:ln>
          </c:spPr>
          <c:cat>
            <c:strRef>
              <c:f>Sheet1!$A$2:$A$11</c:f>
              <c:strCache>
                <c:ptCount val="10"/>
                <c:pt idx="0">
                  <c:v>Criticality</c:v>
                </c:pt>
                <c:pt idx="1">
                  <c:v>Standard premium</c:v>
                </c:pt>
                <c:pt idx="2">
                  <c:v>Market hegemony</c:v>
                </c:pt>
                <c:pt idx="3">
                  <c:v>Ecosystem</c:v>
                </c:pt>
                <c:pt idx="4">
                  <c:v>Lifecycle cost adv.</c:v>
                </c:pt>
                <c:pt idx="5">
                  <c:v>Substitution resistance</c:v>
                </c:pt>
                <c:pt idx="6">
                  <c:v>Demand horizon</c:v>
                </c:pt>
                <c:pt idx="7">
                  <c:v>Capital allocation</c:v>
                </c:pt>
                <c:pt idx="8">
                  <c:v>Reinvestment runway</c:v>
                </c:pt>
                <c:pt idx="9">
                  <c:v>Reverse- Lindy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7.1</c:v>
                </c:pt>
                <c:pt idx="1">
                  <c:v>5.9</c:v>
                </c:pt>
                <c:pt idx="2">
                  <c:v>6.3</c:v>
                </c:pt>
                <c:pt idx="3">
                  <c:v>2.8</c:v>
                </c:pt>
                <c:pt idx="4">
                  <c:v>5.1</c:v>
                </c:pt>
                <c:pt idx="5">
                  <c:v>4.3</c:v>
                </c:pt>
                <c:pt idx="6">
                  <c:v>6.7</c:v>
                </c:pt>
                <c:pt idx="7">
                  <c:v>4.1</c:v>
                </c:pt>
                <c:pt idx="8">
                  <c:v>5.5</c:v>
                </c:pt>
                <c:pt idx="9">
                  <c:v>4.6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52130"/>
                </a:solidFill>
                <a:latin typeface="Arial"/>
              </a:rPr>
              <a:t>Phase 1 — Structural durability (Ch1-5)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TBK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Sheet1!$A$2:$A$6</c:f>
              <c:strCache>
                <c:ptCount val="5"/>
                <c:pt idx="0">
                  <c:v>Criticality</c:v>
                </c:pt>
                <c:pt idx="1">
                  <c:v>Standard</c:v>
                </c:pt>
                <c:pt idx="2">
                  <c:v>Hegemony</c:v>
                </c:pt>
                <c:pt idx="3">
                  <c:v>Ecosystem</c:v>
                </c:pt>
                <c:pt idx="4">
                  <c:v>Lifecycle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6.0</c:v>
                </c:pt>
                <c:pt idx="2">
                  <c:v>8.0</c:v>
                </c:pt>
                <c:pt idx="3">
                  <c:v>2.0</c:v>
                </c:pt>
                <c:pt idx="4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Mikuni</c:v>
                </c:pt>
              </c:strCache>
            </c:strRef>
          </c:tx>
          <c:spPr>
            <a:solidFill>
              <a:srgbClr val="64615E"/>
            </a:solidFill>
          </c:spPr>
          <c:cat>
            <c:strRef>
              <c:f>Sheet1!$A$2:$A$6</c:f>
              <c:strCache>
                <c:ptCount val="5"/>
                <c:pt idx="0">
                  <c:v>Criticality</c:v>
                </c:pt>
                <c:pt idx="1">
                  <c:v>Standard</c:v>
                </c:pt>
                <c:pt idx="2">
                  <c:v>Hegemony</c:v>
                </c:pt>
                <c:pt idx="3">
                  <c:v>Ecosystem</c:v>
                </c:pt>
                <c:pt idx="4">
                  <c:v>Lifecycle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7.0</c:v>
                </c:pt>
                <c:pt idx="1">
                  <c:v>5.0</c:v>
                </c:pt>
                <c:pt idx="2">
                  <c:v>4.0</c:v>
                </c:pt>
                <c:pt idx="3">
                  <c:v>2.0</c:v>
                </c:pt>
                <c:pt idx="4">
                  <c:v>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Concentric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Sheet1!$A$2:$A$6</c:f>
              <c:strCache>
                <c:ptCount val="5"/>
                <c:pt idx="0">
                  <c:v>Criticality</c:v>
                </c:pt>
                <c:pt idx="1">
                  <c:v>Standard</c:v>
                </c:pt>
                <c:pt idx="2">
                  <c:v>Hegemony</c:v>
                </c:pt>
                <c:pt idx="3">
                  <c:v>Ecosystem</c:v>
                </c:pt>
                <c:pt idx="4">
                  <c:v>Lifecycle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7.0</c:v>
                </c:pt>
                <c:pt idx="1">
                  <c:v>6.0</c:v>
                </c:pt>
                <c:pt idx="2">
                  <c:v>7.5</c:v>
                </c:pt>
                <c:pt idx="3">
                  <c:v>2.5</c:v>
                </c:pt>
                <c:pt idx="4">
                  <c:v>7.0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Aisin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Sheet1!$A$2:$A$6</c:f>
              <c:strCache>
                <c:ptCount val="5"/>
                <c:pt idx="0">
                  <c:v>Criticality</c:v>
                </c:pt>
                <c:pt idx="1">
                  <c:v>Standard</c:v>
                </c:pt>
                <c:pt idx="2">
                  <c:v>Hegemony</c:v>
                </c:pt>
                <c:pt idx="3">
                  <c:v>Ecosystem</c:v>
                </c:pt>
                <c:pt idx="4">
                  <c:v>Lifecycle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7.0</c:v>
                </c:pt>
                <c:pt idx="1">
                  <c:v>7.0</c:v>
                </c:pt>
                <c:pt idx="2">
                  <c:v>6.0</c:v>
                </c:pt>
                <c:pt idx="3">
                  <c:v>5.0</c:v>
                </c:pt>
                <c:pt idx="4">
                  <c:v>5.0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TPR</c:v>
                </c:pt>
              </c:strCache>
            </c:strRef>
          </c:tx>
          <c:spPr>
            <a:solidFill>
              <a:srgbClr val="E2E5E9"/>
            </a:solidFill>
          </c:spPr>
          <c:cat>
            <c:strRef>
              <c:f>Sheet1!$A$2:$A$6</c:f>
              <c:strCache>
                <c:ptCount val="5"/>
                <c:pt idx="0">
                  <c:v>Criticality</c:v>
                </c:pt>
                <c:pt idx="1">
                  <c:v>Standard</c:v>
                </c:pt>
                <c:pt idx="2">
                  <c:v>Hegemony</c:v>
                </c:pt>
                <c:pt idx="3">
                  <c:v>Ecosystem</c:v>
                </c:pt>
                <c:pt idx="4">
                  <c:v>Lifecycle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7.5</c:v>
                </c:pt>
                <c:pt idx="1">
                  <c:v>6.0</c:v>
                </c:pt>
                <c:pt idx="2">
                  <c:v>7.5</c:v>
                </c:pt>
                <c:pt idx="3">
                  <c:v>2.0</c:v>
                </c:pt>
                <c:pt idx="4">
                  <c:v>6.0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Hanon</c:v>
                </c:pt>
              </c:strCache>
            </c:strRef>
          </c:tx>
          <c:spPr>
            <a:solidFill>
              <a:srgbClr val="334E57"/>
            </a:solidFill>
          </c:spPr>
          <c:cat>
            <c:strRef>
              <c:f>Sheet1!$A$2:$A$6</c:f>
              <c:strCache>
                <c:ptCount val="5"/>
                <c:pt idx="0">
                  <c:v>Criticality</c:v>
                </c:pt>
                <c:pt idx="1">
                  <c:v>Standard</c:v>
                </c:pt>
                <c:pt idx="2">
                  <c:v>Hegemony</c:v>
                </c:pt>
                <c:pt idx="3">
                  <c:v>Ecosystem</c:v>
                </c:pt>
                <c:pt idx="4">
                  <c:v>Lifecycle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7.0</c:v>
                </c:pt>
                <c:pt idx="1">
                  <c:v>5.5</c:v>
                </c:pt>
                <c:pt idx="2">
                  <c:v>6.5</c:v>
                </c:pt>
                <c:pt idx="3">
                  <c:v>2.5</c:v>
                </c:pt>
                <c:pt idx="4">
                  <c:v>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>
                  <a:solidFill>
                    <a:srgbClr val="556A8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52130"/>
                </a:solidFill>
                <a:latin typeface="Arial"/>
              </a:rPr>
              <a:t>Phases 2-3 — Endurance &amp; compounding engine (Ch6-10)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TBK</c:v>
                </c:pt>
              </c:strCache>
            </c:strRef>
          </c:tx>
          <c:spPr>
            <a:solidFill>
              <a:srgbClr val="3C3937"/>
            </a:solidFill>
          </c:spPr>
          <c:cat>
            <c:strRef>
              <c:f>Sheet1!$A$2:$A$6</c:f>
              <c:strCache>
                <c:ptCount val="5"/>
                <c:pt idx="0">
                  <c:v>Substitution</c:v>
                </c:pt>
                <c:pt idx="1">
                  <c:v>Demand</c:v>
                </c:pt>
                <c:pt idx="2">
                  <c:v>Capital alloc.</c:v>
                </c:pt>
                <c:pt idx="3">
                  <c:v>Runway</c:v>
                </c:pt>
                <c:pt idx="4">
                  <c:v>Rev-Lindy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3.5</c:v>
                </c:pt>
                <c:pt idx="1">
                  <c:v>7.0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Mikuni</c:v>
                </c:pt>
              </c:strCache>
            </c:strRef>
          </c:tx>
          <c:spPr>
            <a:solidFill>
              <a:srgbClr val="64615E"/>
            </a:solidFill>
          </c:spPr>
          <c:cat>
            <c:strRef>
              <c:f>Sheet1!$A$2:$A$6</c:f>
              <c:strCache>
                <c:ptCount val="5"/>
                <c:pt idx="0">
                  <c:v>Substitution</c:v>
                </c:pt>
                <c:pt idx="1">
                  <c:v>Demand</c:v>
                </c:pt>
                <c:pt idx="2">
                  <c:v>Capital alloc.</c:v>
                </c:pt>
                <c:pt idx="3">
                  <c:v>Runway</c:v>
                </c:pt>
                <c:pt idx="4">
                  <c:v>Rev-Lindy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3.0</c:v>
                </c:pt>
                <c:pt idx="1">
                  <c:v>7.0</c:v>
                </c:pt>
                <c:pt idx="2">
                  <c:v>2.5</c:v>
                </c:pt>
                <c:pt idx="3">
                  <c:v>5.5</c:v>
                </c:pt>
                <c:pt idx="4">
                  <c:v>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Concentric</c:v>
                </c:pt>
              </c:strCache>
            </c:strRef>
          </c:tx>
          <c:spPr>
            <a:solidFill>
              <a:srgbClr val="6F8990"/>
            </a:solidFill>
          </c:spPr>
          <c:cat>
            <c:strRef>
              <c:f>Sheet1!$A$2:$A$6</c:f>
              <c:strCache>
                <c:ptCount val="5"/>
                <c:pt idx="0">
                  <c:v>Substitution</c:v>
                </c:pt>
                <c:pt idx="1">
                  <c:v>Demand</c:v>
                </c:pt>
                <c:pt idx="2">
                  <c:v>Capital alloc.</c:v>
                </c:pt>
                <c:pt idx="3">
                  <c:v>Runway</c:v>
                </c:pt>
                <c:pt idx="4">
                  <c:v>Rev-Lindy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5.0</c:v>
                </c:pt>
                <c:pt idx="1">
                  <c:v>7.5</c:v>
                </c:pt>
                <c:pt idx="2">
                  <c:v>7.5</c:v>
                </c:pt>
                <c:pt idx="3">
                  <c:v>7.0</c:v>
                </c:pt>
                <c:pt idx="4">
                  <c:v>5.5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Aisin</c:v>
                </c:pt>
              </c:strCache>
            </c:strRef>
          </c:tx>
          <c:spPr>
            <a:solidFill>
              <a:srgbClr val="152130"/>
            </a:solidFill>
          </c:spPr>
          <c:cat>
            <c:strRef>
              <c:f>Sheet1!$A$2:$A$6</c:f>
              <c:strCache>
                <c:ptCount val="5"/>
                <c:pt idx="0">
                  <c:v>Substitution</c:v>
                </c:pt>
                <c:pt idx="1">
                  <c:v>Demand</c:v>
                </c:pt>
                <c:pt idx="2">
                  <c:v>Capital alloc.</c:v>
                </c:pt>
                <c:pt idx="3">
                  <c:v>Runway</c:v>
                </c:pt>
                <c:pt idx="4">
                  <c:v>Rev-Lindy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4.0</c:v>
                </c:pt>
                <c:pt idx="1">
                  <c:v>7.0</c:v>
                </c:pt>
                <c:pt idx="2">
                  <c:v>4.5</c:v>
                </c:pt>
                <c:pt idx="3">
                  <c:v>6.0</c:v>
                </c:pt>
                <c:pt idx="4">
                  <c:v>4.5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TPR</c:v>
                </c:pt>
              </c:strCache>
            </c:strRef>
          </c:tx>
          <c:spPr>
            <a:solidFill>
              <a:srgbClr val="E2E5E9"/>
            </a:solidFill>
          </c:spPr>
          <c:cat>
            <c:strRef>
              <c:f>Sheet1!$A$2:$A$6</c:f>
              <c:strCache>
                <c:ptCount val="5"/>
                <c:pt idx="0">
                  <c:v>Substitution</c:v>
                </c:pt>
                <c:pt idx="1">
                  <c:v>Demand</c:v>
                </c:pt>
                <c:pt idx="2">
                  <c:v>Capital alloc.</c:v>
                </c:pt>
                <c:pt idx="3">
                  <c:v>Runway</c:v>
                </c:pt>
                <c:pt idx="4">
                  <c:v>Rev-Lindy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2.5</c:v>
                </c:pt>
                <c:pt idx="1">
                  <c:v>4.0</c:v>
                </c:pt>
                <c:pt idx="2">
                  <c:v>4.0</c:v>
                </c:pt>
                <c:pt idx="3">
                  <c:v>4.0</c:v>
                </c:pt>
                <c:pt idx="4">
                  <c:v>3.5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Hanon</c:v>
                </c:pt>
              </c:strCache>
            </c:strRef>
          </c:tx>
          <c:spPr>
            <a:solidFill>
              <a:srgbClr val="334E57"/>
            </a:solidFill>
          </c:spPr>
          <c:cat>
            <c:strRef>
              <c:f>Sheet1!$A$2:$A$6</c:f>
              <c:strCache>
                <c:ptCount val="5"/>
                <c:pt idx="0">
                  <c:v>Substitution</c:v>
                </c:pt>
                <c:pt idx="1">
                  <c:v>Demand</c:v>
                </c:pt>
                <c:pt idx="2">
                  <c:v>Capital alloc.</c:v>
                </c:pt>
                <c:pt idx="3">
                  <c:v>Runway</c:v>
                </c:pt>
                <c:pt idx="4">
                  <c:v>Rev-Lindy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7.0</c:v>
                </c:pt>
                <c:pt idx="1">
                  <c:v>8.0</c:v>
                </c:pt>
                <c:pt idx="2">
                  <c:v>2.0</c:v>
                </c:pt>
                <c:pt idx="3">
                  <c:v>5.0</c:v>
                </c:pt>
                <c:pt idx="4">
                  <c:v>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>
                  <a:solidFill>
                    <a:srgbClr val="556A8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52130"/>
                </a:solidFill>
                <a:latin typeface="Arial"/>
              </a:rPr>
              <a:t>Trajectory: crosses the 6.5 Watchlist threshold at year 3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Moat score</c:v>
                </c:pt>
              </c:strCache>
            </c:strRef>
          </c:tx>
          <c:spPr>
            <a:solidFill>
              <a:srgbClr val="152130"/>
            </a:solidFill>
          </c:spPr>
          <c:dPt>
            <c:idx val="0"/>
            <c:spPr>
              <a:solidFill>
                <a:srgbClr val="3C3937"/>
              </a:solidFill>
            </c:spPr>
          </c:dPt>
          <c:dPt>
            <c:idx val="1"/>
            <c:spPr>
              <a:solidFill>
                <a:srgbClr val="6F8990"/>
              </a:solidFill>
            </c:spPr>
          </c:dPt>
          <c:dPt>
            <c:idx val="2"/>
            <c:spPr>
              <a:solidFill>
                <a:srgbClr val="6F8990"/>
              </a:solidFill>
            </c:spPr>
          </c:dPt>
          <c:dPt>
            <c:idx val="3"/>
            <c:spPr>
              <a:solidFill>
                <a:srgbClr val="314359"/>
              </a:solidFill>
            </c:spPr>
          </c:dPt>
          <c:dPt>
            <c:idx val="4"/>
            <c:spPr>
              <a:solidFill>
                <a:srgbClr val="E2E5E9"/>
              </a:solidFill>
            </c:spPr>
          </c:dPt>
          <c:cat>
            <c:strRef>
              <c:f>Sheet1!$A$2:$A$6</c:f>
              <c:strCache>
                <c:ptCount val="5"/>
                <c:pt idx="0">
                  <c:v>Today</c:v>
                </c:pt>
                <c:pt idx="1">
                  <c:v>18 months</c:v>
                </c:pt>
                <c:pt idx="2">
                  <c:v>3 years</c:v>
                </c:pt>
                <c:pt idx="3">
                  <c:v>5 years</c:v>
                </c:pt>
                <c:pt idx="4">
                  <c:v>Concentric
(the frontier)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5.38</c:v>
                </c:pt>
                <c:pt idx="1">
                  <c:v>5.9</c:v>
                </c:pt>
                <c:pt idx="2">
                  <c:v>6.6</c:v>
                </c:pt>
                <c:pt idx="3">
                  <c:v>7.0</c:v>
                </c:pt>
                <c:pt idx="4">
                  <c:v>6.98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pic>
        <p:nvPicPr>
          <p:cNvPr id="3" name="Picture 2" descr="athanase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"/>
            <a:ext cx="2377440" cy="491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FFFFFF"/>
                </a:solidFill>
                <a:latin typeface="Times New Roman"/>
              </a:rPr>
              <a:t>Closing the R&amp;D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5E9"/>
                </a:solidFill>
                <a:latin typeface="Arial"/>
              </a:rPr>
              <a:t>TBK Co., Ltd. (7277.T) — brakes and pumps: market evolution, competitor innovation, and the reinvestment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A83"/>
                </a:solidFill>
                <a:latin typeface="Arial"/>
              </a:rPr>
              <a:t>Based on peer-reviewed and adversarially verified research, competitor filings, TBK's audited FY3/2026 results, and company-internal product economics (TBK, Concentric AR2023 + MR pack, Haldex)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Contents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152130"/>
                </a:solidFill>
                <a:latin typeface="Arial"/>
              </a:rPr>
              <a:t>The market has moved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 3   Brakes: drum brakes are a shrinking island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 4   Pumps: electrification grows the category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 5   Same customers — two different purchase decisions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52130"/>
                </a:solidFill>
                <a:latin typeface="Arial"/>
              </a:rPr>
              <a:t>Competitor innovation &amp; R&amp;D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 6   Competitors kept innovating — brakes and pumps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 7   What competitors spend on R&amp;D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 8   Capitalized R&amp;D: the knowledge stock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52130"/>
                </a:solidFill>
                <a:latin typeface="Arial"/>
              </a:rPr>
              <a:t>The margin case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 9   Why TBK's gross margin is structurally too low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10   The margin gap by business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11   The prize: ~$22-24M more gross profit per year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52130"/>
                </a:solidFill>
                <a:latin typeface="Arial"/>
              </a:rPr>
              <a:t>Inside the products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12   Product-level proof: TBKK vs Concentric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13   Inside TBK Japan: the keiretsu discount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14   The Haldex lesson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15   Brake segment: TBK vs Haldex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16   The SAW case: flagship priced below market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17   Pump segment: TBK vs Concentric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18   The normalized TBK (pro-forma, phased)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52130"/>
                </a:solidFill>
                <a:latin typeface="Arial"/>
              </a:rPr>
              <a:t>Costs, capital &amp; the plan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19   OPEX: factory costs hide in COGS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20   The accumulated R&amp;D deficit (~$100M)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21   The reinvestment requirement: two phases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22   The first 180 days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52130"/>
                </a:solidFill>
                <a:latin typeface="Arial"/>
              </a:rPr>
              <a:t>Product &amp; moat evaluation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23   Product evaluation I: quality &amp; service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24   Product evaluation II: innovation output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25   Moat framework ranking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26   TBK's moat profile: strengths &amp; weaknesses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27   Moat criteria: TBK vs competitors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28   Raising the moat: the score-per-yen plan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52130"/>
                </a:solidFill>
                <a:latin typeface="Arial"/>
              </a:rPr>
              <a:t>Method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29   Research quality &amp; methodology notes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556A83"/>
                </a:solidFill>
                <a:latin typeface="Arial"/>
              </a:rPr>
              <a:t>30  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Brakes: drum brakes are a shrinking island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Verified findings from peer-reviewed literature, regulatory records, and industry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657600" cy="28346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Europe — converted ~2000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1996 Actros: first heavy truck with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all-axle EBS disc brakes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~70% disc/EBS take rate by 2000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Near-universal on-highway since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Drums: ~18% of EU demand (off-road)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17320"/>
            <a:ext cx="3657600" cy="28346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North America — tipped 2023-24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FMVSS 121 (2009): −30% stopping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distance, drum-compatible by design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Tractors: &lt;5% disc (2011) → ~25%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(2018) → ~50%+ (2023-24)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Trailers still lag at ~15%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17320"/>
            <a:ext cx="3611880" cy="283464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Japan — the last drum market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Drums still majority on MD/HD trucks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UD Quon all-disc since 2017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New Giga tractor: all-wheel discs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Isuzu export heavies all-disc (MY25)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Domestic flip is when, not 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557784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Why discs won (peer-reviewed)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Fade resistance under thermal load (SAE 902206, 1990; physics in Day et al. 1984)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~30% shorter stops vs standard drums (NHTSA simulator, 108 drivers)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10-20% braking advantage, 12-80% lifecycle savings in demanding duty (Ampadu 2023)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EBS/AEB/ADAS mandates favor disc actuation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34840"/>
            <a:ext cx="553212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Electrification re-shuffles the deck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Regen braking cuts friction wear 64-95% (multiple peer-reviewed studies)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Friction aftermarket growth ~2% CAGR with EV headwind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EU brake-dust limits for heavy vehicles expected ~2030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Value shifts: wear parts → corrosion/NVH/low-dust + retarders &amp; blending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52130"/>
                </a:solidFill>
                <a:latin typeface="Times New Roman"/>
              </a:rPr>
              <a:t>Pumps: electrification grows the category — and reallocates it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Verified findings: peer-reviewed thermal studies, regulatory texts, and adversarial company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657600" cy="28346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Diesel era — refined commodity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Pumps = only ~1-2% of fuel energy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E-coolant pump on 13L truck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saves just 0.71-0.94% (TU Graz 2021)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Variable pumps: ~1-1.5% verified vs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3-6% in industry marketing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Small lever → slow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17320"/>
            <a:ext cx="3657600" cy="283464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Regulation — Japan pushed least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US GEM: codified credits for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electric pumps (0.5-1 g/ton-mi)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EU VECTO: pump tech classes;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62.5% of fleet still fixed-displ.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Japan: NO accessory-level signal —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protected short-term, atrophied long-term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17320"/>
            <a:ext cx="3611880" cy="283464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ZEV trucks — content multiplies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BEV: 2-4 coolant loops vs 1 pump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(battery &lt;40°C, motor ~85°C)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FCEV: 40-45% of fuel energy 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via coolant; 1.5-2x heat exchanger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HV e-pump ≈ 4-8x unit value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→ content/vehicle ~8-30x diesel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557784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The adversarial record on ICE pumps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Rheinmetall sold Pierburg (€2bn rev) for €350M ≈ 0.18x sales, after ~€550M impairments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Dayco carved out OE engine components; SHW cites Asian entrants + price-downs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Hanon forced to unwind flattering R&amp;D capitalization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EC antitrust (M.8102): pump niches at 90-100% concentration — sockets are sticky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34840"/>
            <a:ext cx="553212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Japan: slow melt, early sockets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TBK's own filing: EV shift in buses/small-medium trucks may cut pump demand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BEV truck volumes tiny today (Dutro Z EV: ~400 units yr 1) — diesel persists past 2030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BUT: Mikuni already produces e-oil pumps for a domestic small BEV truck (2022)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Sockets are awarded years before volume (Pierburg order book runs 2028-35)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Same customers — two different purchase decisions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Isuzu, Fuso, Hino, Komatsu buy both product lines, but through different people, cycles, and triggers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577840" cy="365760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BRAKES — safety &amp; chassis domain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Decision owners: chassis/safety engineering + homologation, OEM-wide platform decisions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Trigger: regulation (stopping distance, EBS/AEB, brake dust) and platform renewals — spec flips are abrupt and fleet-wide (Europe converted in ~5 yrs)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Cycle: long platform homologation; switching mid-cycle is rare → incumbent until the flip, then winner-takes-platform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Revenue model: aftermarket-heavy (wear parts annuity) — but discs + regen shrink friction events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TBK sales motion: defend drum platforms while qualifying ADB for the domestic disc flip; access EBS/systems layer via Brakes India alliance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532120" cy="365760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PUMPS — powertrain &amp; thermal domain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Decision owners: engine/e-powertrain and thermal-architecture teams, decided at program kick-off per powertrain program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Trigger: efficiency/cost in ICE era (weak in Japan — no regulatory credit); now EV thermal architecture awards 2-4 sockets at once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Cycle: sockets fixed years before volume (orders running 2028-35 signed now); concentrated niches — share lost is rarely regained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Revenue model: OE-heavy, little aftermarket (pumps last engine life) — value is in content growth per vehicle, not wear parts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TBK sales motion: convert dominant mechanical-pump incumbency into e-pump/TCU sockets on Isuzu/Fuso/Hino EV &amp; FC programs before Mikuni/Yamada lock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2130"/>
                </a:solidFill>
                <a:latin typeface="Arial"/>
              </a:rPr>
              <a:t>Implication: one customer list, two sales motions and two R&amp;D programs. Brake timing is regulatory/platform-driven (defend + be ready for the flip); pump timing is program-driven and running NOW (sockets being awarded while diesel volume still pays the bills). TBK must be present in both rooms at the same OEMs — chassis engineering for ADB, thermal/e-powertrain teams for e-pumps — which argues for ring-fenced teams and budgets per domain, not one shared engineering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Competitors kept innovating — in brakes and in pumps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Every relevant peer has repositioned its product line for discs, electronics, and electrification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577840" cy="51206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BRAKES — from castings to systems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Knorr-Bremse/Bendix: ADB standard on Peterbilt/Kenworth steer axles (2013); ~20M discs in field; Global Scalable Brake Control platform; driverless-truck braking (ATLAS-L4)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ZF/Wabco: EBS + ADAS integration; $7bn acquisition built the #2 systems house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Brembo: Sensify brake-by-wire; 6.1% of sales into R&amp;D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Akebono: electro-mechanical brakes (EMB) + copper-free friction — spending up despite losses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SAF-Holland/Haldex: trailer ADB + EBS at low cost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Consolidation priced the lesson: Haldex sold at HALF Knorr-Bremse's blocked 2017 offer after staying sub-scale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532120" cy="512064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PUMPS — mechanical → electric thermal management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Aisin: record ¥250bn R&amp;D plan; e-water/oil pumps + coolant valves inside the eAxle strategy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Mahle: thermal-management modules; €1.2bn BEV module order (2024) — largest in company history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Hanon: BEV heat pumps, CO2 refrigerant, e-coolant pumps (~4-6% of sales)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Mikuni (3x TBK's size): e-oil pump ALREADY in production for a Japanese small BEV truck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Yamada: e-water pumps shipping in Honda EVs/FCEVs (2024)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Concentric: e-products 20% of 2023 sales (AR2023), 25% gross margin on focused niches; Pierburg: 400-800V e-coolant pump families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The pattern: every pump peer redirected R&amp;D to electric pumps &amp; BEV thermal — the exact adjacency open to TBK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What competitors spend on R&amp;D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Latest fiscal year, group level (no peer discloses brake-only or pump-only R&amp;D); USD indicative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949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463040"/>
            <a:ext cx="4069080" cy="402336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Absolute spend (≈USD)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ZF €3.6bn (~$3.9bn)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Aisin ¥237bn (~$1.6bn)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Cummins $1.46bn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Mahle €607M (~$655M)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Knorr-Bremse €544M (~$590M)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Hanon ~$360-440M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Brembo ~$250M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SAF-Holland €39M (~$42M)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Mikuni ¥5.5bn (~$37M)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Concentric MSEK 95 (~$9M)*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TBK ¥1.2bn (~$8M)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Brake systems players spend 6-9%; pump/thermal players 4-5.5%; Akebono 4.3% (EMB ramp); TBK 2.2%. *Concentric's 2.3% is NOT a counter-example: it is the lean steady state of a firm whose knowledge stock is already BUILT — decades of niche IP, IFRS-capitalized development, plus the $147M EMP acquisition (purchased R&amp;D stock), with e-products already 20% of sales. TBK's 4.7% is transition spend to cross the discontinuity Concentric crossed years ago. The real variable is not the %, it is ROIIC: Concentric deploys into protected electrified niches at high incremental returns; TBK spreads 2.2% defending dying drum/mechanical platforms at NEGATIVE ROIIC — starving its future to defend a shrinking past. *Hanon mid-range of conflicting filings.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The stock, not the flow: competitors' capitalized R&amp;D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R&amp;D Capital Base = cumulative R&amp;D capitalized and amortized on a consistent basis (peer dataset, 2025, USD) — the knowledge asset each company has built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6751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463040"/>
            <a:ext cx="434340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damning comparison is the direct one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Mikuni — a domestic peer in similar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adjacencies — holds $194M of knowledge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stock: 4.5x TBK at only ~2x the revenue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Even distressed Akebono holds 3x TBK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The deficit is real against SIMILARLY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SCALED competitors, not just giants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(Knorr $2.6bn / Cummins $5.6bn = context)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703320"/>
            <a:ext cx="434340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Knowledge intensity (RDCB / sales)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Knorr-Bremse 29% | Mikuni 29%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Cummins 17%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TBK 12% | Akebono 12%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SAF-Holland 7%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The systems winners run structurally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knowledge-intensive business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Why it matters: the R&amp;D gap is cumulative, not annual — and it holds on the size-adjusted measures (intensity, same-size peers), not just the headline billions. A decade of under-spending leaves TBK rebuilding a depleted asset while competitors amortize accumulated know-how into every bid (brake control software, ADB iterations, e-pump motor/inverter design). This is why the catch-up phase must run YEARS at elevated spend — one good budget year cannot rebuild a stock — and why partnering (Brakes India) to borrow an existing knowledge base is rational.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The case that TBK's gross margin is structurally too low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TBK FY3/2026: 12.5% gross margin, 2.7% operating margin — four independent lines of evidence say this is a fixable defect, not the nature of the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577840" cy="21488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1. Peers prove the products can carry more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Every comparable brake peer except Akebono earns 22-27% (Haldex 27.3%, Cummins 24.7%, SAF-Holland ~22%)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Pump peers: Concentric 25.2% (verified AR2023), TPR 21.7% — the high-share niche players, i.e. exactly TBK's structural position in Japanese truck pumps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Same product categories, same customers' industry — 5-15 points more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532120" cy="214884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2. TBK earns LESS than its own customers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Isuzu gross margin ~19%, Hino ~17% vs TBK 12.5%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Healthy specialist suppliers out-margin their OEMs (Knorr-Bremse 13% EBIT vs truck OEMs' mid-single digits)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Inverted economics = pricing power sits with the customer: keiretsu concentration (Isuzu alone ¥12bn = 22% of sales) and annual price-downs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Critically: the SAME commodity products fetch ~2x from non-keiretsu buyers and 30%+ more at market — the pricing gap exists BEFORE any content upgrade; systems/aftermarket content is the second, later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5577840" cy="21488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3. The COGS line carries an underloaded footprint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PP&amp;E at 39% of sales — 3x Concentric's ~12%; depreciation 5.3% of sales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China: depreciation 12.8% of segment sales, losses both years; Japan segment margin just 1.6%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&gt;¥2.2bn impairments + restructuring losses in 2 years = the cost of underutilized plants crystallizing (booked below the operating line, so the true factory burden is even larger than the margin gap shows)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703320"/>
            <a:ext cx="5532120" cy="214884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4. The repair has already started — and works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FY3/2026: gross margin 10.6% → 12.5% in one year (cost of sales cut ¥0.7bn on flat sales); North America exited; ¥712M Japan impairment = footprint action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Concentric's playbook validates the destination: focused niches, 25% gross margin, opex GROWING into the e-transition at 18.4% average operating margin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Nothing about brakes or pumps caps TBK at 12.5% — peers with the same products price and load their factories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447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2130"/>
                </a:solidFill>
                <a:latin typeface="Arial"/>
              </a:rPr>
              <a:t>Conclusion: at peer margins TBK's existing sales generate $22-24M more gross profit per year (next pages) — enough to fund the entire R&amp;D catch-up. The margin is the constraint, and it is self-inflicted: underloaded factories in COGS, commodity mix, and customer-held pricing power — all addressable.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TBK underperforms peer gross margins in BOTH businesses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TBK audited FY3/2026 (blended 12.5%) vs comparable peers per panel  |  all figures USD at ¥150/USD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6751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463040"/>
            <a:ext cx="434340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Brake peers (comparable basis)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Haldex 27.3% | Cummins 24.7%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SAF-Holland ~22% | Akebono 10.0%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TBK trails every brake peer except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Akebono — by 9-11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703320"/>
            <a:ext cx="434340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Pump peers (comparable basis)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Concentric 25.2% (verified AR2023)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TPR 21.7% | Aisin 12.1% | Hanon 9.1%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TBK trails the panel average by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~4.5 points — and the pure-play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CV pump comp by ~13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TBK does not disclose gross profit per division, so its blended 12.5% is shown against both panels. Even on the most charitable reading, TBK is below peer average in the other business. Robustness: on the accounting-HARMONIZED peer dataset the same gap shows at EBITA level — Western peers 8-13% vs TBK ~3% averaged over a decade — so the conclusion does not depend on gross-margin treatment.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52130"/>
                </a:solidFill>
                <a:latin typeface="Times New Roman"/>
              </a:rPr>
              <a:t>The margin gap is worth ~$22-24M more gross profit per year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TBK FY3/2026 sales ($365M) at peer margins  |  USD at ¥150/USD  |  division split estimated from FY3/2025 (35% / 65%)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2179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0" y="1463040"/>
            <a:ext cx="4800600" cy="182880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annual prize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2130"/>
                </a:solidFill>
                <a:latin typeface="Arial"/>
              </a:rPr>
              <a:t>+$21.6M/yr at peer AVERAGE margins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2130"/>
                </a:solidFill>
                <a:latin typeface="Arial"/>
              </a:rPr>
              <a:t>+$24.4M/yr at peer MEDIAN margins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2130"/>
                </a:solidFill>
                <a:latin typeface="Arial"/>
              </a:rPr>
              <a:t>≈ +50% on today's $45.5M gross profit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2130"/>
                </a:solidFill>
                <a:latin typeface="Arial"/>
              </a:rPr>
              <a:t>Split roughly half brakes, half pumps (~$11-14M each)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429000"/>
            <a:ext cx="4800600" cy="237744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What it funds — sequencing, not circularity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2130"/>
                </a:solidFill>
                <a:latin typeface="Arial"/>
              </a:rPr>
              <a:t>The IMMEDIATE funding lever is the asset base, not theoretical pricing: &gt;¥2.2bn of impairments/restructuring in 2 yrs, a loss-making China segment, PP&amp;E at 39% of sales — footprint consolidation and utilization free cash NOW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2130"/>
                </a:solidFill>
                <a:latin typeface="Arial"/>
              </a:rPr>
              <a:t>Repricing the existing book (non-keiretsu already pay ~2x) adds the second leg — still no new products needed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2130"/>
                </a:solidFill>
                <a:latin typeface="Arial"/>
              </a:rPr>
              <a:t>→ together they fund the ~$27M/yr R&amp;D, which closes the CONTENT gap later. FY3/26 proved it: +~$7M/yr before any new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Method: brakes ~$127M sales x peer avg 21.0% / median 23.4%; pumps &amp; engine components ~$238M x 17.0% / 16.9%; vs actual blended 12.5%. Margin levers per the benchmark: aftermarket/branded content, niche pricing power (Concentric/TPR model), price-down discipline, and mix shift to disc brakes and e-pumps.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Product-level proof: same pumps, half the contribution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Internal data both sides: TBKK (Thailand) profit by items Apr-Sep 2025 vs Concentric Group MR Pack Dec-2021 YTD. Contribution = sales minus variable costs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4008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463040"/>
            <a:ext cx="461772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Inside TBKK's own book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Pockets of real pricing power: Isuzu brake VD00 (HR) 64.1%, brake 700P 41.7%, gears 30.6%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Bleeding lines: GKN case-set/diff -30.2% (negative contribution), Suzuki -1.2%, ISZ W/P ES 1.7%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Customer curve: Isuzu 25.8% &gt; MMTH 23.0% &gt; ITT 22.6% &gt; Kubota 17.0%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840480"/>
            <a:ext cx="461772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Concentric's ladder = TBK's roadmap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Conventional pump 38-43% -&gt; semi-variable 54% -&gt; electric 55% -&gt; system (ALFDEX) 56%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Each evolution step = roughly +15 points of contribution on the SAME base product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TBK's e-pump/TCU program targets exactly this ladder — the data proves the rungs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This is the micro-mechanism behind every macro gap in this deck: gross margin, EBITA, and ROIC differences all begin at contribution per part number. Caveats: TBKK = Thai subsidiary (~26% of group sales); periods/currencies differ — ratios comparable, absolutes not; Concentric 2021 was a strong year. First actions are free: prune negative-contribution lines (GKN case-set), reprice near-zero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Inside TBK Japan: the keiretsu discount, quantified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TBK parent FY2025 H1 profitability by customer and product (series delivery, K JPY) — contribution margin after direct material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03504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463040"/>
            <a:ext cx="498348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Product truths (Japan H1 FY2025)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DISC BRAKE: 68.7% contribution — TBK's HIGHEST-margin product (tiny ¥8.3M volume): the disc transition is margin-accretive, not just defensive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Precision niches price well: S/camshaft 52.7%, kits 55.5%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Negative lines: O/brake -4.9%, B/housing -8.7% (material &gt; sales)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Retarder only 10.4% — the electrification-winner product is underpriced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ECWP (electric W/P): -245.7% at pre-scale volume — the first rung of Concentric's ladder has an entry toll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840480"/>
            <a:ext cx="498348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Share map &amp; pipeline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Share map: TBK holds Isuzu + Fuso cells across brake sizes and pump segments; mixed at Hino; ZERO UD cells (the all-disc, Knorr-supplied OEM) — the disc flip's cost, mapped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New-business pipeline: ¥8M (FY21) → ¥700M/yr (FY25) incl. ELF EV precharge box, e-W/Pump for Denso AC, Cummins/Komatsu wins — real momentum, but ~2.5% of parent sales: must steepen 10x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Read with the previous page: Japan series contribution is 19.6% (vs TBKK 22.7%, Concentric 44.5%) — the gap is group-wide. The two cheapest margin levers need no R&amp;D: mix toward non-keiretsu/aftermarket/export customers who already pay ~2x, and price the differentiated products (disc, retarder) for what the data says they are worth.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The Haldex lesson: the profit pool is the aftermarket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Haldex internal analysis (Dec 2019 file): segment P&amp;L Sep YTD 2014 + 2009-2019 history, MSEK — the only Western peer with internal segment economics in this study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58521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417320"/>
            <a:ext cx="5166360" cy="1481328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1. Aftermarket is the profit pool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OE truck/trailer: CII 22-32% every year 2009-19, EBIT NEGATIVE (Europe truck -27%); aftermarket CII 42-50%, EBIT +27-37% — ALL of Haldex's profit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TBK's aftermarket (30.2% CM) is ~10% of parent sales vs Haldex's 42% — the proven fastest route to group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990088"/>
            <a:ext cx="5166360" cy="1481328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2. The pruning playbook (executed at Haldex)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Core products earned 40-56% CII / 15-32% EBIT (air treatment 55.8%/31.6%, suspension 47.1%/20.9%, ABA 41.4%/19.7%) while two bleeders dragged: ModulAir -70.4% EBIT, disc brake -6.3%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Verified: excluding the two bleeders, May-2014 EBIT margin = 11.2% vs 8.8% reported — pruning took Haldex over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562856"/>
            <a:ext cx="5166360" cy="1481328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3. The subscale OE disc warning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Haldex disc brakes: CII 12-15%, EBIT -13.6% -&gt; -6.3% — the #3 player fighting Knorr/Meritor LOST money per unit (supplier price rises, stalled plant transfer)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TBK's 68.7% D/BRAKE is small-batch pricing, not series-OE economics — go niche/aftermarket/partnered (Brakes India), never frontal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447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52130"/>
                </a:solidFill>
                <a:latin typeface="Arial"/>
              </a:rPr>
              <a:t>Applied to TBK (Japan H1 FY2025 data): pruning the sub-10% non-strategic lines (O/brake, A/brake, B/housing, G/case, gear &amp; processed components = 6.5% of sales) lifts series contribution 19.6% -&gt; 20.9% immediately — and the EBIT gain is larger once attached capacity costs go. TBK's high-margin cohort (¥3.0bn of lines at &gt;=20% CM) already runs at 27.3%: a portfolio focused at the level of its better products + a grown aftermarket is the Haldex &gt;10% playbook, re-run.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Brake segment: TBK vs Haldex — product-level contribution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TBK Japan H1 FY2025 (CM after direct material) vs Haldex May-2014 YTD (CII). Concentric makes no brakes. Periods differ — structure, not cycle, is the message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7665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463040"/>
            <a:ext cx="425196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Where the gap lives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On overlapping products, near-parity: friction/linings 25.1% vs 23.2%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Haldex's premium came from CONTENT TBK doesn't make: brake adjusters 41.4%, ABS 43.4%, air treatment 55.8% — mechatronic niches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…and the AFTERMARKET annuity: 48.2% CII vs TBK Sales 30.2%, on 4x the sales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840480"/>
            <a:ext cx="425196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The disc paradox, resolved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TBK disc 68.7% = small-batch/replacement pricing on ¥8.3M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Haldex disc 14.0% (EBIT -6.3%) = series-OE pricing fighting Knorr at scale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Both are true: discs pay in niches and aftermarket, bleed in frontal OE — TBK's ADB entry must choose the first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Gross-profit read: TBK's brake book (2L/brake 15.8%, A/brake 7.6%, O/brake -4.9%, drum 22.9%, lining 25.1%) clusters at 16-25% contribution; Haldex's brake-adjacent book ran 23-56% because every point of extra margin came from mechatronics and aftermarket, not from better drum pricing. The brake gap is a PRODUCT-CONTENT gap, not a cost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The SAW case: TBK's best product, sold ~30% below market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SAW = TBK's flagship drum brake — class-leading stopping time, energy efficiency and weight (per management). ¥4.31bn = 36% of parent H1 series sales, at just 19.5% contribution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4008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463040"/>
            <a:ext cx="461772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triangulation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At market price, SAW earns 38-44% contribution — exactly the level of Haldex's core products (ABA 41.4%, ABS 43.4%) and Concentric's conventional pumps (38-43%)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The keiretsu discount fully explains the flagship's gap: a world-leading product, peer-level economics, captured by the customer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Price flows straight to contribution: no cost change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840480"/>
            <a:ext cx="461772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What it is worth — and how to get it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SAW repriced to market: +¥2.6-3.7bn contribution PER YEAR; parent series CM 19.6% -&gt; 27-30% from this one product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Realistically gradual at home (keiretsu contracts) — so arbitrage it: SELL SAW AT MARKET PRICE where market prices rule: exports, aftermarket, and India via Brakes India, where drum demand persists at scale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Class-leading tech + below-market price = the export business case writes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Note: 'leading drum brake in stopping time, energy save and weight' and the ~30% below-market pricing are management/first-hand information, not externally verified — consistent, however, with the customer-gradient data (non-keiretsu customers pay ~2x) and with TBK's zero-recall record. If the ~30% discount applies beyond SAW (management indicates Japanese customers broadly), the parent-wide repricing prize is correspondingly larger.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52130"/>
                </a:solidFill>
                <a:latin typeface="Times New Roman"/>
              </a:rPr>
              <a:t>Pump segment: TBK vs Concentric — product-level contribution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TBK Japan H1 FY2025 + TBKK Thailand vs Concentric Dec-2021 YTD CB I. Haldex has no pumps — its hydraulics division IS Concentric (spun off 2011)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7665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463040"/>
            <a:ext cx="425196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2x gap on identical products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Same conventional water pump: TBK 18.5-19.5% vs Concentric 38.2% — DOUBLE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Same oil pump: 22.6-26.0% vs 42.9%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Consistent in two TBK countries → not a factory or FX artifact: it is price and customer mix (keiretsu price-downs vs Concentric's Cummins/CAT niche pricing)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840480"/>
            <a:ext cx="425196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The ladder TBK hasn't climbed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Concentric's evolved variants: semi-variable 54.1%, electric W/P 54.8%, fuel/transmission 55.6% — each rung ≈ +15pts on the same base product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TBK's first rung is bought but not yet scaled: ECWP at -245.7% contribution on ¥2.6M pre-scale volume (off-chart)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NB: Concentric = the former Haldex hydraulics division — proof the climb is doable from CV-supplier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Gross-profit read: if TBK's pump book (W/P + O/P = ¥4.9bn of H1 parent sales) earned Concentric's conventional-pump margins, contribution would rise ~¥0.9-1.0bn per HALF-YEAR on those two lines alone — before any ladder-climbing. The pump gap is a PRICING-POWER gap on identical hardware; the brake gap (previous page) is a content gap. Different cures: pricing/mix vs product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52130"/>
                </a:solidFill>
                <a:latin typeface="Times New Roman"/>
              </a:rPr>
              <a:t>The normalized TBK: right prices, right factories, real R&amp;D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Pro-forma on audited FY3/2026 — pricing corrected (SAW only), factory structure fixed, competitive R&amp;D loaded. Deficit repayment kept separate, per scope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3093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1463040"/>
            <a:ext cx="470916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PHASE 1 — the realistic target: ~10% OPM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Sales 59,342 | GP 13,211 (22.3%) | R&amp;D 2,789 at 4.7% | OP 6,263 (10.6%) | Net 4,398 = ¥138 EPS (~2.2x mkt cap)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Captures only ~1/3 of the stated pricing gap + ~45% of excess heads — via pruning, renewal-cycle repricing, aftermarket/non-keiretsu mix, first consolidations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Funds the entire R&amp;D program (incl. deficit memo) in ~18-24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840480"/>
            <a:ext cx="470916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Why not more, at first — operator calibration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Concentric peaked at ~22% OPM — on best-in-class FULL price realization, a discipline built over years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Haldex could have reached ~30% by shedding Europe for the US — portfolio focus is the second lever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Above ~10% in phase 1 is difficult: keiretsu contracts reprice at renewal, factories close on multi-year clocks. Phase 2 (15%) = Concentric-grade realization + grown aftermarket. FULL premises (26.6%) = leakage meter, not a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447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52130"/>
                </a:solidFill>
                <a:latin typeface="Arial"/>
              </a:rPr>
              <a:t>Nothing here requires new products or customers — existing book, honest prices, loaded factories, peer-level R&amp;D (4.7%) absorbed in every phase. MEMO (separate financing): R&amp;D deficit ~¥1.5bn/yr x5, ADB capex ¥4.5-7.5bn, restructuring cash ~¥2-3bn. Premises are management/first-hand information; phasing reflects operator experience at Concentric and Haldex.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Why TBK looks lean on OPEX: its factory costs hide in COGS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OPEX here = gross margin − operating margin (SG&amp;A + R&amp;D). Under JGAAP, factory overhead, depreciation and idle capacity sit in COST OF SALES  |  USD at ¥150/USD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6751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463040"/>
            <a:ext cx="434340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lean look is an artifact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TBK's 9.7% covers only SG&amp;A + its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thin ~2.2% R&amp;D — the future-building costs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it has starved. The factory burden is in COGS: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PP&amp;E 39% of sales vs Concentric ~12% (3x)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Depreciation 5.3% of sales; China: 12.8% of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segment sales + losses both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703320"/>
            <a:ext cx="4343400" cy="210312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Restructuring bypasses BOTH metrics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Impairments ¥459M + ¥712M and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restructuring losses ¥775M + ¥297M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(&gt;¥2.2bn in 2 years) booked as JGAAP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extraordinary items — below operating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profit, invisible to GM and OPEX alike.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That IS the underutilized-footprint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Two-front program, mapped to the P&amp;L: (1) footprint/utilization repair attacks COGS — the $22-24M/yr gross-margin prize (North America exit and the ¥712M Japan impairment show it has started); (2) R&amp;D catch-up deliberately GROWS opex toward peer levels (peers spend 10-14% incl. 4%+ R&amp;D and earn 2.5x TBK's operating margin — Concentric grew opex 10.3%→11.7% funding its e-pump transition at 18.4% avg OPM). Cut above the line, invest below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TBK's accumulated R&amp;D deficit: ~US$100M over a decade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TBK dataset FY2016-2025; benchmark = blended peer floor for a brake + pump supplier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949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463040"/>
            <a:ext cx="4069080" cy="402336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The deficit, quantified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Cumulative sales FY16-25: $4.26bn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Cumulative R&amp;D: $93.5M (2.2%)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Gap vs 4.0% benchmark: ~$77M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Gap vs 4.5% benchmark: ~$98M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Gap vs 5.0% benchmark: ~$120M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Central estimate: ~US$100M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And intensity is FALLING: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52130"/>
                </a:solidFill>
                <a:latin typeface="Arial"/>
              </a:rPr>
              <a:t>2.6% (FY22) → 2.2% (FY25)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A83"/>
                </a:solidFill>
                <a:latin typeface="Arial"/>
              </a:rPr>
              <a:t>Compounding the problem: TBK's marginal return on invested capital has been negative on every horizon (-2% to -10%) — the deficit is in direction as well as amount. Capex fell to $16M by FY25, though FY3/26 shows a turn: capex back up to ¥3.3bn and ¥1.1bn equity raised from Brakes India.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The reinvestment requirement: two phases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Catch-up to repay the technological deficit, then a permanently higher run-rate to match peers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949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463040"/>
            <a:ext cx="4069080" cy="402336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The numbers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PHASE 1 — Catch-up (5 yrs):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~$27M/yr ≈ 7.5% of sales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= parity run-rate ($16-18M)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+ deficit repayment (~$10M/yr,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~$50M split between ADB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industrialization and e-pump/TCU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programs)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Total: ~$135M over 5 years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PHASE 2 — Steady state: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$16-18M/yr ≈ 4.5-5% of sales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= 2.2x today's spend, forever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Plus one-off ADB line capex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(~$30-50M, outside R&amp;D 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6A83"/>
                </a:solidFill>
                <a:latin typeface="Arial"/>
              </a:rPr>
              <a:t>Allocation discipline, per domain: (1) brakes — ADB industrialization for the Japanese disc flip, systems/ADAS access via Brakes India, timed to regulation and platform renewals; (2) pumps — e-pump/TCU sockets on Isuzu/Fuso/Hino electrified programs, timed to program kick-offs happening NOW. Funding: the phase-1 pro-forma uplift (+¥4.8bn / ~$32M operating profit vs actual) more than covers the ~$27M/yr program. The Concentric lesson: focused niche engineering at 2.3% intensity earns 25% gross margins — spend must buy sockets, not just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The first 180 days: making the 10% path irreversible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Four workstreams, one owner each, weekly CEO steering — scoreboard is the OP run-rate bridge ¥1.5bn -&gt; ¥6.3bn (10.6%) by month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416052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Days 0-30: mandate &amp; truth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Board locks 10% OPM @ month 18; 4 owners named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Product/customer P&amp;L packs monthly, group-wide — single source of truth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Quote freeze below 20% CM floor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Keiretsu contract map + SAW evidence pack (performance + 30% gap)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Stop-loss list drafted (~¥2bn sales: GKN, Suzuki, O/brake, B/housing...)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Compel internal quality evidence: OEM scorecards, warranty rates, PPM data from Isuzu/Fuso/Hino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Pipeline audit: e-pumps in A/B sample testing; ADB homologation timeline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R&amp;D program leads named; Brakes India roadmap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1417320"/>
            <a:ext cx="2743200" cy="416052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Days 31-60: decisions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Exit / &gt;=15% reprice notices for the stop-loss list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Footprint blueprint: China fix-or-exit; Japan consolidation study; voluntary program designed (450 heads tranche 1, ¥2-3bn cash)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Aftermarket prices +10% NOW (~¥240M/yr; 30.2% CM proves headroom)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SAW renegotiation opened with Isuzu/Fuso — price paired with ADB/e-pump roadmap giveback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R&amp;D rebased to ¥2.7-2.8bn gated; 30-40 engineers hiring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3056" y="1417320"/>
            <a:ext cx="2743200" cy="416052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Days 61-90: execution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First reprice letters out; first exits done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Voluntary retirement launched; China decision announced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ADB pilot-line case to board (¥4.5-7.5bn phased, Brakes India co-invest)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E-pump: 2 development sockets converted to committed programs (ELF EV precharge; Denso AC ECWP)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KPI cockpit live: CM by product/customer, price capture, heads, OP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5984" y="1417320"/>
            <a:ext cx="2715768" cy="416052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Days 91-180: lock-in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&gt;=2 of top-5 keiretsu contracts repriced (+6-9% realized); ONE demonstrated walk-away — the credibility event; sole-source cells first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200-250 heads out by day 180 (450 by month 12); first consolidation announced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R&amp;D full run-rate; first e-pump/TCU + SAW patents filed; JSAE paper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India pilot: SAW-class drums at MARKET price via Brakes India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Day-180 gate: OP run-rate &gt;= ¥3.5bn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52130"/>
                </a:solidFill>
                <a:latin typeface="Arial"/>
              </a:rPr>
              <a:t>Trajectory: ¥1.5bn (day 0) -&gt; &gt;=¥3.5bn/~6% (day 180: aftermarket pricing, pruning, first heads) -&gt; ~¥5bn/~8% (month 12: heads complete, China resolved, first renewals) -&gt; ¥6.3bn/10.6% (month 18: second renewal wave + consolidation, full R&amp;D absorbed). Self-funding from ~month 6; bridge via Brakes India proceeds, net-cash balance sheet, pruned-asset disposals. The discipline: four workstreams only — TBK's negative-ROIIC history shows the failure mode is spreading effort.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Product evaluation I: external quality &amp; service evidence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Evidence hierarchy: NHTSA recalls (supplier named by law) &gt; OEM-granted awards &gt; independent surveys &gt; patents &gt; self-claims. Japan's MLIT does not name suppliers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577840" cy="228600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validated leaders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Knorr-Bremse/Bendix: PACCAR supplier-performance award 6 consecutive yrs; 3 plants on PACCAR's &lt;=10 defects-per-million list; ETM 'Best Brand - Brakes' (German fleet/driver vote) 19 YEARS RUNNING; ~85% of NA air-disc wheel ends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Meritor/Cummins: Daimler 'Masters of Quality' + 2020 global quality award ('1.3M axles/brakes at low defect rate'); DTNA EXTENDED its ADB contract — revealed preference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Brembo: all 10 F1 teams; AMS brake-brand vote 11 of 13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532120" cy="228600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The adverse records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Bendix: 2019 ADB22X caliper recall (fire risk); 2024-25 EC-80 ECU recall, 442k units (software fix) — scale produces both install base and recalls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Haldex: lost a WILLFUL patent-infringement verdict to Bendix (copied its ADB); two modest component recalls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Akebono: the only Japanese supplier with documented adverse events — 2015 GM recall of its brake products + 2019-21 inspection-data falsification (no recall, governance black mark)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557784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TBK: externally invisible — in BOTH directions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No OEM award findable, no survey presence, no service network beyond Japan/Thailand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BUT also: no recall, no scandal, no misconduct report in Japanese-language search — a meaningful null in a scandal-rich industry (cf. Akebono)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75 years inside Isuzu/Fuso/Hino = quality is probably fine; 'probably fine, unproven' is the ceiling the evidence supports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Dataset moat scores align: Knorr 7.55 top, Akebono 4.95 bottom — TBK was unscored: literally unmeasurable from outside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840480"/>
            <a:ext cx="553212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TCO &amp; service: only proxies exist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Brand-level TCO data is NOT public (fleets don't publish; IMR studies paywalled) — standing must be inferred: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Install base: Bendix 20M+ ADBs in field | Contract renewals: Meritor-DTNA extension | Networks: Knorr's pan-EMEA certified workshop network vs TBK's Japan+Thailand footprint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On every proxy the systems players lead — and TBK does not appear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2130"/>
                </a:solidFill>
                <a:latin typeface="Arial"/>
              </a:rPr>
              <a:t>Strategic point: TBK's quality reputation is held entirely inside the keiretsu — like its market share, it cannot be sold to new customers. Making quality externally legible (awards, certifications, published data) is a cheap, necessary complement to the R&amp;D program.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Product evaluation II: innovation output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Patents, documented product firsts, and technical-society awards — the externally visible output of R&amp;D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577840" cy="228600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patent gap (independent registries)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Knorr-Bremse: ~2,900 patent families / 10,900+ patents (~7,500 in the truck division)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Aisin: ~680 JP applications/yr; Clarivate Top-100 Global Innovator 7 consecutive years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Akebono: ~321 US-registered patents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Mikuni: e-oil-pump fault-detection patents — its BEV-truck win is engineering-backed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TBK: 2-3 patent GRANTS PER YEAR — two to three orders of magnitude below the leaders.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Independently confirms the capitalized-R&amp;D finding ($43M vs $2.6-5.6bn) from a different data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532120" cy="228600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Documented product firsts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Knorr: EBS 1989; series air disc brake 1992; Actros/Scania volume 1996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Bendix ADB22X: 2005, now ~85% of NA air-disc wheel ends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UD Quon 2017: first all-disc Japanese heavy truck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Mikuni 2022: e-oil pump in production for a domestic small BEV truck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Akebono FY2023: JSME Technology Award — world-first electric parking brake unit for medium/light trucks (innovating through distress)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52130"/>
                </a:solidFill>
                <a:latin typeface="Arial"/>
              </a:rPr>
              <a:t>TBK: retarders since the 1960s; 19.5" ADB exhibited (year unconfirmed: 2019 vs 2022 sources conflict); e-pumps/TCU in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92840" cy="173736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pattern — and TBK's fix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Innovation output tracks the moat and margin rankings almost perfectly: the companies with validated quality (Knorr, Cummins) also hold the patent fortresses and the product firsts; the distressed (Akebono) still out-publish TBK; even the similarly-sized peer (Mikuni) protects its e-pump work with patents.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TBK's innovation is DOCUMENTED BUT EXTERNALLY UNVALIDATED: the product facts are verifiable (retarders since the 1960s, e-pumps and a TCU in development, an ADB prototype) — their competitiveness is not externally evidenced, and 'no recalls in 75 years' is absence-of-negatives, not proof of excellence. Either way the commercial conclusion holds: unvalidated innovation cannot win sockets outside the keiretsu.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Fix costs little — and ownership can compel the evidence: demand the OEM supplier scorecards, warranty-claim rates and PPM defect data from Isuzu/Fuso/Hino (they exist internally); audit the pipeline — how many e-pumps are in A/B samples with OEMs, what is the ADB homologation timeline. Then patent, publish, validate externally.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Moat framework ranking: TBK scores 5.38 — 9th of 13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Unified Niche Compounder Methodology v3.2: 10 weighted criteria, domain-blended internal/external evidence. Thresholds: &gt;7.8 Compounder, 6.5-7.8 Watchlist, &lt;6.5 Pass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67512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463040"/>
            <a:ext cx="4343400" cy="219456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Bands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Compounder Target (&gt;7.8): NONE —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no company in this industry qualifies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Watchlist (6.5-7.8): Knorr 7.55,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Concentric 6.98, Brembo/Cummins 6.73,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SAF-Holland 6.59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Pass (&lt;6.5): everyone else —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incl. TBK 5.38, Mikuni 5.00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794760"/>
            <a:ext cx="434340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TBK's decomposition is unique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The strongest STATIC moat of the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unscored set (Criticality 7.5 +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Hegemony 8.0 = 2.33 of its 5.38)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…drained by the worst COMPOUNDING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engine in the whole group (Capital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allocation 2.0 + Runway 3.0 = just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0.50 of a possible 2.00)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2130"/>
                </a:solidFill>
                <a:latin typeface="Arial"/>
              </a:rPr>
              <a:t>Durable problem, fragile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TBK's moat profile: where it is strong, where it bleeds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Chapter scores (1-10) — TBK vs Concentric (best newly scored) vs the average of the five newly scored peers (TBK excluded from the average)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371600"/>
          <a:ext cx="64008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0" y="1417320"/>
            <a:ext cx="4709160" cy="228600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TBK's STRONG points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Market hegemony 8.0 — top domestic share in entry-proof niches (best score in the set on this criterion)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Criticality 7.5 — life-support product: &lt;1% of truck cost protecting 100% of value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Demand horizon 7.0 — stopping &amp; cooling heavy trucks is permanent; content GROWS with electrification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840480"/>
            <a:ext cx="4709160" cy="228600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TBK's WEAK points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Capital allocation 2.0 — ROIIC negative at every horizon with 100% reinvestment (worst in the group)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Ecosystem 2.0 — standalone hardware, no installed-base annuity (vs Knorr's EBS/TruckServices)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Lifecycle cost 3.0 — no cost edge: underloaded plants in COGS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Reinvestment runway 3.0 — runway exists but unproven; $43M knowledge stock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52130"/>
                </a:solidFill>
                <a:latin typeface="Arial"/>
              </a:rPr>
              <a:t>Substitution 3.5 — both products in active displacement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Moat criteria: TBK vs competitors, criterion by criterion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Newly-scored companies (chapter detail unavailable for the 5 pre-scored names). TBK in red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417320"/>
          <a:ext cx="566928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72200" y="1417320"/>
          <a:ext cx="5669280" cy="4297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Read: in Phase 1 (left) TBK leads or matches on Criticality and Hegemony and collapses on Ecosystem/Lifecycle cost. In Phases 2-3 (right) TBK is last or near-last on every engine criterion — while Concentric (green) leads precisely there. Closing the gap to Concentric is execution (allocation, substitution positioning), not moat-building: the moat already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52130"/>
                </a:solidFill>
                <a:latin typeface="Times New Roman"/>
              </a:rPr>
              <a:t>Raising the moat: to Watchlist in 3 years — mostly for free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Levers ranked by weighted score gain per yen. ~80% of the uplift needs no money beyond the committed program — the rest costs ~¥2-5bn over 3 years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58521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463040"/>
            <a:ext cx="525780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The three best levers — nearly free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1. CAPITAL ALLOCATION (+0.35): gated reinvestment, pruning, and buybacks instead of 100% reinvestment at negative ROIIC. At 1.5-2.2x phase-1 earnings, each ¥1bn buyback retires ~10% of the market cap — the market is selling TBK's own moat points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2. FOOTPRINT (+0.25): the ¥2-3bn restructuring the P&amp;L repays anyway — moat points as a byproduct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3. LEGIBILITY (+0.15 for ~¥0.15bn/yr): patent the work already done (20-30/yr), publish at JSAE, disclose PPM/warranty data — makes quality sellable outside the keiretsu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25780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Rides free on the committed program — and the one defense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Substitution + runway (+0.50 combined): the ¥2.7bn/yr R&amp;D program and ADB capex are already committed for P&amp;L reasons — their moat contribution (socket wins, riding the disc/e-pump shift) comes free on top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Ecosystem (+0.20): aftermarket annuity + TCU software layer, ~¥1-2bn over 3 yrs — the achievable version of Knorr's installed base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52130"/>
                </a:solidFill>
                <a:latin typeface="Arial"/>
              </a:rPr>
              <a:t>DEFEND Hegemony (8.0): the ADB program is insurance against repeating UD — where TBK holds zero cells. Total incremental: ~¥2-5bn / 3 yrs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52130"/>
                </a:solidFill>
                <a:latin typeface="Arial"/>
              </a:rPr>
              <a:t>The compounding logic: allocation discipline (Ch8) makes every other chapter's evidence credible — capital that stops being destroyed validates the runway, the sockets, and the legibility story. Ceiling honesty: 7.8 (Compounder) is unreachable in this industry — nobody is there; Concentric's 6.98 is the practical frontier and the 5-year path reaches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Research quality &amp; methodology notes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6A83"/>
                </a:solidFill>
                <a:latin typeface="Arial"/>
              </a:rPr>
              <a:t>How this material was produced, verified, and where its limits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577840" cy="23774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Method &amp; confidence tiers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Two deep-research studies (brake market; pump market): 5 parallel search angles each, claims extracted as falsifiable statements, then ADVERSARIAL VERIFICATION — 3 independent voters per claim set, actively attempting refutation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Tier 1: peer-reviewed papers, primary regulation, audited filings (TBK tanshin, Concentric AR2023, SEC)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Tier 2: government data and multi-source-verified company/industry figures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Tier 3: single-source estimates and market research — always labeled in the underlying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532120" cy="2377440"/>
          </a:xfrm>
          <a:prstGeom prst="rect">
            <a:avLst/>
          </a:prstGeom>
          <a:solidFill>
            <a:srgbClr val="F6F7F9"/>
          </a:solidFill>
          <a:ln w="15875">
            <a:solidFill>
              <a:srgbClr val="3C3937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3C3937"/>
                </a:solidFill>
                <a:latin typeface="Arial"/>
              </a:rPr>
              <a:t>Corrections made by verification (transparency)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TBK's famous '~70% share' belongs to its WATER PUMPS, not brakes (brakes: 'top share', unaudited)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Euro 7 heavy-duty brake-dust limits apply ~2030, not 2028/29 (those are exhaust dates)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Concentric R&amp;D = 2.3% of sales per AR2023 — the circulating '~5%' was wrong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'85-90% of Asia on drums' could not be corroborated — stated as 'majority' only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A claimed TBK-Mikuni alliance is erroneous (conflation with Mikuni-Suzuki)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Aggregator's 'TBK FY26 ¥138M profit' contradicted by the audited tanshin (-¥131M)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TBK ADB exhibit year unresolved (2019 vs 2022 sources conflict); Concentric MR pack period 2112 = Dec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577840" cy="23774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Known limitations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Full-text retrieval was blocked in the research environment: paywalled SAE/journal numbers rest on abstracts; flagged where unverified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No peer discloses brake-only or pump-only R&amp;D, gross profit, or segment margins — group figures used; ratios are the valid comparison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Accounting: the consistent-basis peer dataset (margins, EBITA, R&amp;D, ROIC for the 7 companies) is HARMONIZED to the same treatment — cross-GAAP caveats apply only to raw-filing figures for non-dataset peers; nature-of-expense 'gross margins' (Knorr/Brembo ~50%) remain excluded. The margin gap also shows at EBITA level (peers 8-13% vs Japanese cohort ~3-3.5% for a decade) — treatment-independent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TBK FY3/26 division split estimated from FY3/25 (yuho due June 2026); USD at ¥150/USD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5532120" cy="2377440"/>
          </a:xfrm>
          <a:prstGeom prst="rect">
            <a:avLst/>
          </a:prstGeom>
          <a:solidFill>
            <a:srgbClr val="F6F7F9"/>
          </a:solidFill>
          <a:ln w="15875">
            <a:solidFill>
              <a:srgbClr val="6F899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6F8990"/>
                </a:solidFill>
                <a:latin typeface="Arial"/>
              </a:rPr>
              <a:t>Data hierarchy &amp; framework constructs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Where sources conflict, the audited primary document wins (e.g., TBK tanshin over aggregators)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Company-internal documents (TBK/TBKK product P&amp;Ls, Concentric MR pack, Haldex packs) and management statements (~30% below-market pricing, ~1,000 excess heads) are first-hand but NOT externally verified — labeled wherever used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Consistent-basis peer metrics (margins, R&amp;D, ROIC) come from the user-provided 10-year/LTM peer dataset — same methodology across all 7 companies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ROIIC (ROICm) = return on incremental invested capital over the stated horizon; RR = reinvestment rate; R&amp;D Capital Base = cumulative R&amp;D capitalized/amortized per the dataset framework — a modeling construct, not a balance-sheet line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52130"/>
                </a:solidFill>
                <a:latin typeface="Arial"/>
              </a:rPr>
              <a:t>Scenario pages state assumptions on-slide; peer-margin scenarios use comparable reporters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152130"/>
                </a:solidFill>
                <a:latin typeface="Times New Roman"/>
              </a:rPr>
              <a:t>Sources</a:t>
            </a:r>
          </a:p>
        </p:txBody>
      </p:sp>
      <p:pic>
        <p:nvPicPr>
          <p:cNvPr id="3" name="Picture 2" descr="athanas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92608"/>
            <a:ext cx="1325880" cy="273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50392"/>
            <a:ext cx="11274552" cy="18288"/>
          </a:xfrm>
          <a:prstGeom prst="rect">
            <a:avLst/>
          </a:prstGeom>
          <a:solidFill>
            <a:srgbClr val="E2E5E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577840" cy="26060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Primary &amp; audited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TBK Co., Ltd. — Consolidated Financial Results FY ended 31 Mar 2026 (tanshin, 14 May 2026); securities-report risk factors (有価証券報告書 via kitaishihon/irbank)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Concentric AB — Annual Report 2023 (income statement, balance sheet, 5-year key figures)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User-provided datasets: TBK 10-year financials; Peers 10-year; Peers LTM (7 companies, consistent methodology); moat methodology v3.2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Internal management documents: TBK Japan profitability by product/customer + share map + acquired projects (H1 FY2025); TBKK Thailand profit by items (Apr-Sep 2025); Concentric Group MR Pack (Dec 2021); Haldex analysis file (2019) and May-2014 MR pack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SEC filings: Cummins 10-K/10-Q/8-K (FY2024-25); WABCO &amp; Meritor merger 8-Ks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Company releases: Knorr-Bremse FY2023-25; ZF AR2024-25; SAF-Holland AR2024; Mahle AR2024-25; Haldex year-end 2021; Rheinmetall FY2025 + AEQUITA divestment (3 Jun 2026); Circle BidCo/A.P. Møller offer documents (2024); Brakes India-TBK alliance (Dec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532120" cy="26060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Peer-reviewed &amp; academic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Göhring &amp; von Glasner, SAE 902206 (1990); Kajiyama et al. (Isuzu/TBK), SAE 902200 (1990); Day, Harding &amp; Newcomb, Proc IMechE (1984); Hoover et al., SAE 2005-01-3614; Subel &amp; Kienhöfer, Proc IMechE D (2020)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Ampadu, Alrejjal &amp; Ksaibati, JSDTL 8(1) 2023 — disc vs drum cost-effectiveness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Granitz et al., SN Applied Sciences (2021) — e-coolant pump, 13L HD diesel; Bitsis &amp; Miwa, SAE 2018-01-0980; Cummins SuperTruck 2, SAE 2019-01-0247; MIT S.M. thesis (2012) — HD parasitic losses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Zhang et al., J. Hazardous Materials 465 (2024); Hagino, Atmosphere 15:75 (2024, JARI); Environmental Pollution (2023) — regen braking &amp; brake wear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Energies 16:4024 (2023), 19:1748 (2026); Sustainability 15:3132 (2023); Energies 16:168 (2023) — BEV/FCEV truck &amp; bus thermal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5577840" cy="26060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Regulatory &amp; legal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NHTSA: FMVSS 121 final rule 74 FR 37122 (2009) + Regulatory Impact Analysis; DOT HS 811 367 (2010, NADS simulator); ESV 07-0242 (2007); heavy-vehicle AEB NPRM (2023)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UNECE Regulation No. 13 (braking, Type-II fade tests)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EU: Reg 2019/1242 &amp; 2024/1610 (HDV CO2); Reg 2024/1257 (Euro 7); Reg 2017/2400 Annex IX (VECTO auxiliaries) + JRC112015; EPA Phase 2 (40 CFR 1037.520 accessory credits) &amp; Phase 3 (2024)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EC merger decisions: M.8102 Valeo/FTE (2017, 90-100% concentration, Raicam remedy); Knorr-Bremse/Haldex Phase II (IP-17-2126, 2017)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Japan: MY2025 HDV fuel-economy standards (via ICCT/TransportPolicy); METI supplier-transition studies (2023, 2025); FMCSA Crash Cost Methodology (2025); AAA Foundation (2017)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977639"/>
            <a:ext cx="5532120" cy="2606040"/>
          </a:xfrm>
          <a:prstGeom prst="rect">
            <a:avLst/>
          </a:prstGeom>
          <a:solidFill>
            <a:srgbClr val="F6F7F9"/>
          </a:solidFill>
          <a:ln w="15875">
            <a:solidFill>
              <a:srgbClr val="152130"/>
            </a:solidFill>
          </a:ln>
        </p:spPr>
        <p:txBody>
          <a:bodyPr wrap="square" lIns="137160" rIns="137160" tIns="109728">
            <a:spAutoFit/>
          </a:bodyPr>
          <a:lstStyle/>
          <a:p>
            <a:r>
              <a:rPr sz="1450" b="1">
                <a:solidFill>
                  <a:srgbClr val="152130"/>
                </a:solidFill>
                <a:latin typeface="Arial"/>
              </a:rPr>
              <a:t>Industry &amp; financial data (verified, labeled where single-source)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Adoption data: Haldex ADB history; Bendix/Knorr production milestones; FleetOwner, TruckingInfo, Fleet Maintenance, Transport Topics, Fleet Equipment; NACFE confidence reports; NAS 25542; DOE SuperTruck (OSTI)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Deal records: Knorr-Bremse-Bendix (2002); ZF-Wabco $7bn (2020); Cummins-Meritor $3.7bn (2022); SAF-Holland-Haldex (2022); Concentric take-private SEK 230 (2024); Pierburg-AEQUITA €350M (2026)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Japanese filings via irbank, kitaishihon, buffett-code, kabutan, MarkLines (incl. TBK JSAE 2022 exhibit; Mikuni 2022 BEV-truck e-oil pump disclosure; Yamada e-water pump adoptions)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52130"/>
                </a:solidFill>
                <a:latin typeface="Arial"/>
              </a:rPr>
              <a:t>Aggregators for computed ratios: macrotrends, stockanalysis, Simply Wall St — cross-checked against filings; market research (MarketsandMarkets, GVR, IDTechEx) used directionally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5105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A8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