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Capitalized R&amp;D stock, size-class peers only,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Sheet1!$A$2:$A$5</c:f>
              <c:strCache>
                <c:ptCount val="4"/>
                <c:pt idx="0">
                  <c:v>TBK
(12% of sales)</c:v>
                </c:pt>
                <c:pt idx="1">
                  <c:v>Akebono
(12%)</c:v>
                </c:pt>
                <c:pt idx="2">
                  <c:v>SAF-Holland
(7%)</c:v>
                </c:pt>
                <c:pt idx="3">
                  <c:v>Mikuni
(29%)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6F899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3C3937"/>
              </a:solidFill>
            </c:spPr>
          </c:dPt>
          <c:dPt>
            <c:idx val="2"/>
            <c:spPr>
              <a:solidFill>
                <a:srgbClr val="3C3937"/>
              </a:solidFill>
            </c:spPr>
          </c:dPt>
          <c:dPt>
            <c:idx val="3"/>
            <c:spPr>
              <a:solidFill>
                <a:srgbClr val="3C3937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9A958E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314359"/>
              </a:solidFill>
            </c:spPr>
          </c:dPt>
          <c:dPt>
            <c:idx val="3"/>
            <c:spPr>
              <a:solidFill>
                <a:srgbClr val="556A83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4"/>
            <c:spPr>
              <a:solidFill>
                <a:srgbClr val="3C3937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3C3937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6F8990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56A83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Trajectory: crosses the 6.5 Watchlist threshold at year 3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dPt>
            <c:idx val="3"/>
            <c:spPr>
              <a:solidFill>
                <a:srgbClr val="314359"/>
              </a:solidFill>
            </c:spPr>
          </c:dPt>
          <c:dPt>
            <c:idx val="4"/>
            <c:spPr>
              <a:solidFill>
                <a:srgbClr val="E2E5E9"/>
              </a:solidFill>
            </c:spPr>
          </c:dPt>
          <c:cat>
            <c:strRef>
              <c:f>Sheet1!$A$2:$A$6</c:f>
              <c:strCache>
                <c:ptCount val="5"/>
                <c:pt idx="0">
                  <c:v>Today</c:v>
                </c:pt>
                <c:pt idx="1">
                  <c:v>18 months</c:v>
                </c:pt>
                <c:pt idx="2">
                  <c:v>3 years</c:v>
                </c:pt>
                <c:pt idx="3">
                  <c:v>5 years</c:v>
                </c:pt>
                <c:pt idx="4">
                  <c:v>Concentric
(the frontier)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5.38</c:v>
                </c:pt>
                <c:pt idx="1">
                  <c:v>5.9</c:v>
                </c:pt>
                <c:pt idx="2">
                  <c:v>6.6</c:v>
                </c:pt>
                <c:pt idx="3">
                  <c:v>7.0</c:v>
                </c:pt>
                <c:pt idx="4">
                  <c:v>6.98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pic>
        <p:nvPicPr>
          <p:cNvPr id="3" name="Picture 2" descr="athanas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2377440" cy="491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FFFFFF"/>
                </a:solidFill>
                <a:latin typeface="Times New Roman"/>
              </a:rPr>
              <a:t>Closing the R&amp;D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5E9"/>
                </a:solidFill>
                <a:latin typeface="Arial"/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Contents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market has moved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3   Brakes: drum brakes are a shrinking island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4   Pumps: electrification grows the category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5   Same customers — two different purchase decisions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Competitor innovation &amp;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6   Competitors kept innovating — brakes and pumps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7   What competitors spend on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8   Capitalized R&amp;D: the knowledge stock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margin case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9   Why TBK's gross margin is structurally too low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10   The margin gap by business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11   The prize: ~$22-24M more gross profit per year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Inside the products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12   Product-level proof: TBKK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13   Inside TBK Japan: the keiretsu discount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14   The Haldex lesson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15   Brake segment: TBK vs Haldex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16   The SAW case: flagship priced below market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17   Pump segment: TBK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18   The normalized TBK (pro-forma, phased)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Costs, capital &amp; the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19   OPEX: factory costs hide in COGS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20   The accumulated R&amp;D deficit (~$100M)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21   The reinvestment requirement: two phases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22   The first 180 days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Product &amp; moat evaluation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23   Product evaluation I: quality &amp; service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24   Product evaluation II: innovation output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25   Moat framework ranking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26   TBK's moat profile: strengths &amp; weaknesses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27   Moat criteria: TBK vs competitors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28   Raising the moat: the score-per-yen plan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Method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29   Research quality &amp; methodology notes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30   Sources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Brakes: drum brakes are a shrinking island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 from peer-reviewed literature, regulatory records, and industry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Drums: ~18% of EU demand (off-road)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Trailers still lag at ~15%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Domestic flip is when, not 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EBS/AEB/ADAS mandates favor disc actuation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Value shifts: wear parts → corrosion/NVH/low-dust + retarders &amp; blending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Pumps: electrification grows the category — and reallocates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findings: peer-reviewed thermal studies, regulatory texts, and adversarial company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Small lever → slow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protected short-term, atrophied long-term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→ content/vehicle ~8-30x diesel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EC antitrust (M.8102): pump niches at 90-100% concentration — sockets are sticky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Sockets are awarded years before volume (Pierburg order book runs 2028-35)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Same customers — two different purchase decisions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Isuzu, Fuso, Hino, Komatsu buy both product lines, but through different people, cycles, and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Competitors kept innovating — in brakes and in pumps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Every relevant peer has repositioned its product line for discs, electronics, and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pattern: every pump peer redirected R&amp;D to electric pumps &amp; BEV thermal — the exact adjacency open to TBK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What competitors spend on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¥1.2bn (~$8M)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Brake systems players spend 6-9%; pump/thermal players 4-5.5%; Akebono 4.3% (EMB ramp); TBK 2.2%. *Concentric's 2.3% is NOT a counter-example: it is the lean steady state of a firm whose knowledge stock is already BUILT — decades of niche IP, IFRS-capitalized development, plus the $147M EMP acquisition (purchased R&amp;D stock), with e-products already 20% of sales. TBK's 4.7% is transition spend to cross the discontinuity Concentric crossed years ago. The real variable is not the %, it is ROIIC: Concentric deploys into protected electrified niches at high incremental returns; TBK spreads 2.2% defending dying drum/mechanical platforms at NEGATIVE ROIIC — starving its future to defend a shrinking past. *Hanon mid-range of conflicting filings.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stock, not the flow: competitors' capitalized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damning comparison is the direct one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— a domestic peer in similar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adjacencies — holds $194M of knowledge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stock: 4.5x TBK at only ~2x the revenue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Even distressed Akebono holds 3x TBK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deficit is real against SIMILARLY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SCALED competitors, not just giants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(Knorr $2.6bn / Cummins $5.6bn =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knowledge-intensive business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Why it matters: the R&amp;D gap is cumulative, not annual — and it holds on the size-adjusted measures (intensity, same-size peers), not just the headline billions. A decade of under-spending leaves TBK rebuilding a depleted asset while competitors amortize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case that TBK's gross margin is structurally too low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Same product categories, same customers' industry — 5-15 points more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Inverted economics = pricing power sits with the customer: keiretsu concentration (Isuzu alone ¥12bn = 22% of sales) and annual price-downs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Critically: the SAME commodity products fetch ~2x from non-keiretsu buyers and 30%+ more at market — the pricing gap exists BEFORE any content upgrade; systems/aftermarket content is the second, later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 underperforms peer gross margins in BOTH businesses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Akebono — by 9-11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CV pump comp by ~13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does not disclose gross profit per division, so its blended 12.5% is shown against both panels. Even on the most charitable reading, TBK is below peer average in the other business. Robustness: on the accounting-HARMONIZED peer dataset the same gap shows at EBITA level — Western peers 8-13% vs TBK ~3% averaged over a decade — so the conclusion does not depend on gross-margin treatment.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margin gap is worth ~$22-24M more gross profit per year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Split roughly half brakes, half pumps (~$11-14M each)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funds — sequencing, not circularity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The IMMEDIATE funding lever is the asset base, not theoretical pricing: &gt;¥2.2bn of impairments/restructuring in 2 yrs, a loss-making China segment, PP&amp;E at 39% of sales — footprint consolidation and utilization free cash NOW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Repricing the existing book (non-keiretsu already pay ~2x) adds the second leg — still no new products needed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→ together they fund the ~$27M/yr R&amp;D, which closes the CONTENT gap later. FY3/26 proved it: +~$7M/yr before any new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Product-level proof: same pumps, half the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Customer curve: Isuzu 25.8% &gt; MMTH 23.0% &gt; ITT 22.6% &gt; Kubota 17.0%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e-pump/TCU program targets exactly this ladder — the data proves the rungs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Inside TBK Japan: the keiretsu discount, quantified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Haldex lesson: the profit pool is the aftermarket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 segment: TBK vs Haldex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…and the AFTERMARKET annuity: 48.2% CII vs TBK Sales 30.2%, on 4x the sales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SAW case: TBK's best product, sold ~30% below 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Price flows straight to contribution: no cost change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Class-leading tech + below-market price = the export business case writes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 segment: TBK vs Concentric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normalized TBK: right prices, right factories, real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Funds the entire R&amp;D program (incl. deficit memo) in ~18-24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Why TBK looks lean on OPEX: its factory costs hide in COGS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segment sales + losses both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That IS the underutilized-footprint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accumulated R&amp;D deficit: ~US$100M over a decade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dataset FY2016-2025; benchmark = blended peer floor for a brake + pump supplier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2.6% (FY22) → 2.2% (FY25)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reinvestment requirement: two phases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(~$30-50M, outside R&amp;D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first 180 days: making the 10% path irreversible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Four workstreams, one owner each, weekly CEO steering — scoreboard is the OP run-rate bridge ¥1.5bn -&gt; ¥6.3bn (10.6%) by month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0-30: mandate &amp;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Board locks 10% OPM @ month 18; 4 owners named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Product/customer P&amp;L packs monthly, group-wide — single source of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Quote freeze below 20% CM floor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Keiretsu contract map + SAW evidence pack (performance + 30% gap)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Stop-loss list drafted (~¥2bn sales: GKN, Suzuki, O/brake, B/housing...)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Compel internal quality evidence: OEM scorecards, warranty rates, PPM data from Isuzu/Fuso/Hino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Pipeline audit: e-pumps in A/B sample testing; ADB homologation timeline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program leads named; Brakes India roadmap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31-60: decisions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Exit / &gt;=15% reprice notices for the stop-loss list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Footprint blueprint: China fix-or-exit; Japan consolidation study; voluntary program designed (450 heads tranche 1, ¥2-3bn cash)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Aftermarket prices +10% NOW (~¥240M/yr; 30.2% CM proves headroom)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SAW renegotiation opened with Isuzu/Fuso — price paired with ADB/e-pump roadmap giveback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rebased to ¥2.7-2.8bn gated; 30-40 engineers hiring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3056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61-90: execution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First reprice letters out; first exits done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Voluntary retirement launched; China decision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ADB pilot-line case to board (¥4.5-7.5bn phased, Brakes India co-invest)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E-pump: 2 development sockets converted to committed programs (ELF EV precharge; Denso AC ECWP)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KPI cockpit live: CM by product/customer, price capture, heads, OP 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2715768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Days 91-180: lock-in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&gt;=2 of top-5 keiretsu contracts repriced (+6-9% realized); ONE demonstrated walk-away — the credibility event; sole-source cells first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200-250 heads out by day 180 (450 by month 12); first consolidation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full run-rate; first e-pump/TCU + SAW patents filed; JSAE paper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India pilot: SAW-class drums at MARKET price via Brakes India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Day-180 gate: OP run-rate &gt;= ¥3.5bn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Trajectory: ¥1.5bn (day 0) -&gt; &gt;=¥3.5bn/~6% (day 180: aftermarket pricing, pruning, first heads) -&gt; ~¥5bn/~8% (month 12: heads complete, China resolved, first renewals) -&gt; ¥6.3bn/10.6% (month 18: second renewal wave + consolidation, full R&amp;D absorbed). Self-funding from ~month 6; bridge via Brakes India proceeds, net-cash balance sheet, pruned-asset disposals. The discipline: four workstreams only — TBK's negative-ROIIC history shows the failure mode is spreading effort.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I: external quality &amp; service evidence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Brembo: all 10 F1 teams; AMS brake-brand vote 11 of 13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every proxy the systems players lead — and TBK does not appear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2130"/>
                </a:solidFill>
                <a:latin typeface="Arial"/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II: innovation output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OWN firsts: the SAW drum brake system it pioneered (class-leading today); CV disc-brake work with Isuzu as early as 1990 (SAE 902200); retarders since the 1960s; 19.5" ADB exhibited; e-pumps/TCU in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engineering DNA is DEEPER than the patent count implies — it pioneered the SAW system, co-authored CV disc work with Isuzu in 1990, and has built retarders for six decades. The failure is CONVERSION, not capability: that DNA was never turned into protected IP, external validation, or market-priced revenue. This reframes the R&amp;D risk: the question is not whether TBK can engineer, but whether it will finally capitalize what it engineers.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Fix costs little — and ownership can compel the evidence: demand the OEM supplier scorecards, warranty-claim rates and PPM defect data from Isuzu/Fuso/Hino (they exist internally); audit the pipeline — how many e-pumps are in A/B samples with OEMs, what is the ADB homologation timeline. Then patent, publish, validate externally.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framework ranking: TBK scores 5.38 — 9th of 13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incl. TBK 5.38, Mikuni 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Durable problem, fragile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moat profile: where it is strong, where it bleeds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Substitution 3.5 — both products in active displacement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criteria: TBK vs competitors, criterion by criterion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Raising the moat: to Watchlist in 3 years — mostly for free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Levers ranked by weighted score gain per yen. ~80% of the uplift needs no money beyond the committed program — the rest costs ~¥2-5bn over 3 years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1463040"/>
            <a:ext cx="52578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three best levers — nearly free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1. CAPITAL ALLOCATION (+0.35): gated reinvestment, pruning, buybacks instead of RR=1.00 at negative ROIIC. At 1.5-2.2x earnings, each ¥1bn buyback retires ~10% of market cap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2. FOOTPRINT (+0.25): the ¥2-3bn restructuring the P&amp;L repays anyway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3. LEGIBILITY (+0.15, ~¥0.15bn/yr): patent existing work, publish at JSAE, disclose PPM data — quality sellable outside the keiretsu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2578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Rides free — plus the one defense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Substitution + runway (+0.50): the committed ¥2.7bn/yr R&amp;D + ADB capex deliver these moat points free on top of their P&amp;L case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Ecosystem (+0.20): aftermarket annuity + TCU software, ~¥1-2bn / 3 yrs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DEFEND Hegemony (8.0): ADB is insurance against repeating UD, where TBK holds zero cells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Total incremental: ~¥2-5bn over 3 years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The compounding logic: allocation discipline (Ch8) makes every other chapter's evidence credible — capital that stops being destroyed validates the runway, the sockets, and the legibility story. Ceiling honesty: 7.8 (Compounder) is unreachable in this industry — nobody is there; Concentric's 6.98 is the practical frontier and the 5-year path reaches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Research quality &amp; methodology notes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How this material was produced, verified, and where its limits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3: single-source estimates and market research — always labeled in the underlying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Accounting: the consistent-basis peer dataset (margins, EBITA, R&amp;D, ROIC for the 7 companies) is HARMONIZED to the same treatment — cross-GAAP caveats apply only to raw-filing figures for non-dataset peers; nature-of-expense 'gross margins' (Knorr/Brembo ~50%) remain excluded. The margin gap also shows at EBITA level (peers 8-13% vs Japanese cohort ~3-3.5% for a decade) — treatment-independent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FY3/26 division split estimated from FY3/25 (yuho due June 2026); USD at ¥150/USD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Scenario pages state assumptions on-slide; peer-margin scenarios use comparable reporters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Sources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