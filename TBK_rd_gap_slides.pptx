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548235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core products
(ABA/ABS/air, ref.)</c:v>
                </c:pt>
                <c:pt idx="4">
                  <c:v>Concentric conv.
pumps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43.0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Operating profit bridge: ¥1.5bn (2.7%) -&gt; ¥4.1bn (7.1%)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profit bridge (¥M)</c:v>
                </c:pt>
              </c:strCache>
            </c:strRef>
          </c:tx>
          <c:spPr>
            <a:solidFill>
              <a:srgbClr val="1F4E78"/>
            </a:solidFill>
          </c:spPr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548235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dPt>
            <c:idx val="4"/>
            <c:spPr>
              <a:solidFill>
                <a:srgbClr val="2E592E"/>
              </a:solidFill>
            </c:spPr>
          </c:dPt>
          <c:cat>
            <c:strRef>
              <c:f>Sheet1!$A$2:$A$6</c:f>
              <c:strCache>
                <c:ptCount val="5"/>
                <c:pt idx="0">
                  <c:v>Actual
FY3/26 OP</c:v>
                </c:pt>
                <c:pt idx="1">
                  <c:v>+ SAW repriced
to market</c:v>
                </c:pt>
                <c:pt idx="2">
                  <c:v>+ Factory
structure</c:v>
                </c:pt>
                <c:pt idx="3">
                  <c:v>- Competitive
R&amp;D (4.7%)</c:v>
                </c:pt>
                <c:pt idx="4">
                  <c:v>Pro-forma
OP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1496</c:v>
                </c:pt>
                <c:pt idx="1">
                  <c:v>2585</c:v>
                </c:pt>
                <c:pt idx="2">
                  <c:v>1500</c:v>
                </c:pt>
                <c:pt idx="3">
                  <c:v>-1525</c:v>
                </c:pt>
                <c:pt idx="4">
                  <c:v>4056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C06C2C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 segment: TBK vs Haldex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…and the AFTERMARKET annuity: 48.2% CII vs TBK Sales 30.2%, on 4x the sales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SAW case: TBK's best product, sold ~30% below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At market price, SAW earns 38-44% contribution — EXACTLY the level of Haldex's core products (41-44%)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Price flows straight to contribution: no cost change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Class-leading tech + below-market price = the export business case writes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normalized TBK: right prices, right factories, real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normalized P&amp;L (¥M)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Sales 57,341 (+SAW reprice)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Gross profit 10,910 = 19.0% (vs 12.5%)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R&amp;D 2,695 = 4.7% of sales (peer level, vs ~2.2%)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Operating profit 4,056 = 7.1% (vs 2.7%)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Net attributable ~2,853 = ¥90 EPS (vs -¥4.4)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~3.4x earnings at current market cap (~¥9.6bn)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Deliberately conservative — and coherent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Only SAW repriced; broader keiretsu book, aftermarket growth, e-pump/ADB revenue all EXCLUDED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Factory gain ¥1.5bn vs FY3/26's proven ¥0.7bn cut + &gt;¥1bn/yr extraordinary charges normalizing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Coherence: pro-forma OPM 7.1% = brake-peer average 7.2%; GM 19.0% inside the 15-22% peer band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MEMO (separate financing item): R&amp;D deficit repayment ~¥1.5bn/yr x 5 yrs; ADB capex ¥4.5-7.5bn one-off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Read: nothing in this statement requires new products or new customers — it is TBK's existing book at honest prices, loaded factories, and peer-level R&amp;D. The competitive R&amp;D (¥2.7bn/yr) is fully absorbed and the company still earns peer-average margins. The deficit repayment and ADB line are financing/balance-sheet items — they determine how fast TBK gets here, not whether the destination exists.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 segment: TBK vs Concentric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