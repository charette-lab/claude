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Case for Activist Investing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C89B3C"/>
                </a:solidFill>
                <a:latin typeface="Calibri"/>
              </a:rPr>
              <a:t>Why Endowments &amp; Pension Funds Should Allocate to the Activist Asset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1">
                <a:solidFill>
                  <a:srgbClr val="F4F1EA"/>
                </a:solidFill>
                <a:latin typeface="Calibri"/>
              </a:rPr>
              <a:t>An Institutional Investment Memorandum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5A636E"/>
                </a:solidFill>
                <a:latin typeface="Calibri"/>
              </a:rPr>
              <a:t>Prepared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EXECUTIVE SUMMARY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A Durable, Institutional-Grade Asset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Activism — taking meaningful equity stakes and working to change how companies are governed, capitalized, and run — offers asset owners a rare combination of equity-like returns, differentiated alpha, and a natural fit with fiduciary stewardship.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Return &amp; alpha</a:t>
            </a:r>
            <a:r>
              <a:rPr sz="1600">
                <a:solidFill>
                  <a:srgbClr val="222A33"/>
                </a:solidFill>
                <a:latin typeface="Calibri"/>
              </a:rPr>
              <a:t> — an idiosyncratic, catalyst-driven source of excess return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Horizon &amp; duty</a:t>
            </a:r>
            <a:r>
              <a:rPr sz="1600">
                <a:solidFill>
                  <a:srgbClr val="222A33"/>
                </a:solidFill>
                <a:latin typeface="Calibri"/>
              </a:rPr>
              <a:t> — matched to long liabilities; stewardship made consequential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Diversification</a:t>
            </a:r>
            <a:r>
              <a:rPr sz="1600">
                <a:solidFill>
                  <a:srgbClr val="222A33"/>
                </a:solidFill>
                <a:latin typeface="Calibri"/>
              </a:rPr>
              <a:t> — event-driven returns that lift total-portfolio Sharpe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Governance synergy</a:t>
            </a:r>
            <a:r>
              <a:rPr sz="1600">
                <a:solidFill>
                  <a:srgbClr val="222A33"/>
                </a:solidFill>
                <a:latin typeface="Calibri"/>
              </a:rPr>
              <a:t> — applied ESG that improves the broader portfolio's beta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Disciplined sizing</a:t>
            </a:r>
            <a:r>
              <a:rPr sz="1600">
                <a:solidFill>
                  <a:srgbClr val="222A33"/>
                </a:solidFill>
                <a:latin typeface="Calibri"/>
              </a:rPr>
              <a:t> — a measured 3%–8% allocation within the equity sleeve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1 · THE PROPOSITION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The Return &amp; Alpha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Catalyst, not absorption</a:t>
            </a:r>
            <a:r>
              <a:rPr sz="1600">
                <a:solidFill>
                  <a:srgbClr val="222A33"/>
                </a:solidFill>
                <a:latin typeface="Calibri"/>
              </a:rPr>
              <a:t> — activists change the outcome at undervalued, correctable companies rather than passively absorbing underperformance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~7% announcement return</a:t>
            </a:r>
            <a:r>
              <a:rPr sz="1600">
                <a:solidFill>
                  <a:srgbClr val="222A33"/>
                </a:solidFill>
                <a:latin typeface="Calibri"/>
              </a:rPr>
              <a:t> — with no reversal over the following year; success or partial success in ~two-thirds of campaigns (Brav et al., 2008)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~10.2% around the 13D</a:t>
            </a:r>
            <a:r>
              <a:rPr sz="1600">
                <a:solidFill>
                  <a:srgbClr val="222A33"/>
                </a:solidFill>
                <a:latin typeface="Calibri"/>
              </a:rPr>
              <a:t> — plus a further ~11.4% over the next year for hedge-fund activists (Klein &amp; Zur, 2009)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Idiosyncratic alpha</a:t>
            </a:r>
            <a:r>
              <a:rPr sz="1600">
                <a:solidFill>
                  <a:srgbClr val="222A33"/>
                </a:solidFill>
                <a:latin typeface="Calibri"/>
              </a:rPr>
              <a:t> — returns tied to a specific change at a specific firm — scarce and valuable in a beta-dominated portfolio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▪  Skill-dependent, hard to arbitrage</a:t>
            </a:r>
            <a:r>
              <a:rPr sz="1600">
                <a:solidFill>
                  <a:srgbClr val="222A33"/>
                </a:solidFill>
                <a:latin typeface="Calibri"/>
              </a:rPr>
              <a:t> — concentrated capital and public positioning keep the strategy from being commoditized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2 · FIT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Aligned With Horizon &amp; Fiduciary Duty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Patient capital wins</a:t>
            </a:r>
            <a:r>
              <a:rPr sz="1700">
                <a:solidFill>
                  <a:srgbClr val="222A33"/>
                </a:solidFill>
                <a:latin typeface="Calibri"/>
              </a:rPr>
              <a:t> — board seats, strategic reviews and turnarounds play out over years — perpetual endowments and long-dated pensions can hold through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Stewardship is the duty</a:t>
            </a:r>
            <a:r>
              <a:rPr sz="1700">
                <a:solidFill>
                  <a:srgbClr val="222A33"/>
                </a:solidFill>
                <a:latin typeface="Calibri"/>
              </a:rPr>
              <a:t> — engaged ownership expresses fiduciary obligation (UK Stewardship Code; UN PRI) rather than conflicting with it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Mission alignment</a:t>
            </a:r>
            <a:r>
              <a:rPr sz="1700">
                <a:solidFill>
                  <a:srgbClr val="222A33"/>
                </a:solidFill>
                <a:latin typeface="Calibri"/>
              </a:rPr>
              <a:t> — demanding accountability and good governance reflects institutional values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Engagement as risk management</a:t>
            </a:r>
            <a:r>
              <a:rPr sz="1700">
                <a:solidFill>
                  <a:srgbClr val="222A33"/>
                </a:solidFill>
                <a:latin typeface="Calibri"/>
              </a:rPr>
              <a:t> — turns hidden governance risk in the book into a remediable, return-generating exposure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3 · PORTFOLIO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Diversification &amp; the Total-Portfolio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A distinct return engine</a:t>
            </a:r>
            <a:r>
              <a:rPr sz="1700">
                <a:solidFill>
                  <a:srgbClr val="222A33"/>
                </a:solidFill>
                <a:latin typeface="Calibri"/>
              </a:rPr>
              <a:t> — alpha driven by proxy contests, spin-offs and capital returns — largely independent of rates, growth and inflation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Diversifies the equity book</a:t>
            </a:r>
            <a:r>
              <a:rPr sz="1700">
                <a:solidFill>
                  <a:srgbClr val="222A33"/>
                </a:solidFill>
                <a:latin typeface="Calibri"/>
              </a:rPr>
              <a:t> — small/mid-cap value and special situations, underweight in most institutional portfolios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Counter-cyclical dry powder</a:t>
            </a:r>
            <a:r>
              <a:rPr sz="1700">
                <a:solidFill>
                  <a:srgbClr val="222A33"/>
                </a:solidFill>
                <a:latin typeface="Calibri"/>
              </a:rPr>
              <a:t> — dislocations create the next targets; locked-up capital deploys into weakness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PE-style upside, public-market terms</a:t>
            </a:r>
            <a:r>
              <a:rPr sz="1700">
                <a:solidFill>
                  <a:srgbClr val="222A33"/>
                </a:solidFill>
                <a:latin typeface="Calibri"/>
              </a:rPr>
              <a:t> — operational engagement with daily pricing, transparency, lower fees and better liquidity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4 · STEWARDSHIP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Governance &amp; the ESG Synergy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Activism is applied governance</a:t>
            </a:r>
            <a:r>
              <a:rPr sz="1700">
                <a:solidFill>
                  <a:srgbClr val="222A33"/>
                </a:solidFill>
                <a:latin typeface="Calibri"/>
              </a:rPr>
              <a:t> — board independence, pay-for-performance and capital discipline are the 'G' of ESG put into practice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Constructive &amp; ESG-oriented activism</a:t>
            </a:r>
            <a:r>
              <a:rPr sz="1700">
                <a:solidFill>
                  <a:srgbClr val="222A33"/>
                </a:solidFill>
                <a:latin typeface="Calibri"/>
              </a:rPr>
              <a:t> — express return and stewardship goals through one allocation, disciplined by a value thesis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Positive externality</a:t>
            </a:r>
            <a:r>
              <a:rPr sz="1700">
                <a:solidFill>
                  <a:srgbClr val="222A33"/>
                </a:solidFill>
                <a:latin typeface="Calibri"/>
              </a:rPr>
              <a:t> — governance precedents improve the quality of the beta the whole portfolio owns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▪  Defensible to stakeholders</a:t>
            </a:r>
            <a:r>
              <a:rPr sz="1700">
                <a:solidFill>
                  <a:srgbClr val="222A33"/>
                </a:solidFill>
                <a:latin typeface="Calibri"/>
              </a:rPr>
              <a:t> — "we own companies and make them better-run and more valuable" is an easy story to tell beneficiaries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5 · EXECUTION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Risks, Selection &amp;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C89B3C"/>
                </a:solidFill>
                <a:latin typeface="Calibri"/>
              </a:rPr>
              <a:t>KEY RISKS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Concentration &amp; single-name volatility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Headline and litigation exposure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Liquidity during campaigns / lock-ups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Wide manager dispersion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Crowding and capacity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C89B3C"/>
                </a:solidFill>
                <a:latin typeface="Calibri"/>
              </a:rPr>
              <a:t>IMPLEMENTATION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Size prudently: 3%–8% of the equity sleeve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Diversify across managers &amp; campaign styles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Match liquidity terms to the liability profile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Govern explicitly at board level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Benchmark over multi-year, event-driven horizons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F4F1EA"/>
                </a:solidFill>
                <a:latin typeface="Calibri"/>
              </a:rPr>
              <a:t>Activism is uniquely matched to institutional strengths: a long horizon that rewards patience, a fiduciary duty expressed through engaged ownership, and an idiosyncratic, diversifying return stream.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i="0">
                <a:solidFill>
                  <a:srgbClr val="F4F1EA"/>
                </a:solidFill>
                <a:latin typeface="Calibri"/>
              </a:rPr>
              <a:t>The risks — concentration, headline exposure and manager dispersion — are real but manageable within a deliberate framework. A measured allocation is a prudent, mission-aligned investment in better-run companies and a stronger total portfolio.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89B3C"/>
                </a:solidFill>
                <a:latin typeface="Calibri"/>
              </a:rPr>
              <a:t>APPENDIX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89B3C"/>
                </a:solidFill>
                <a:latin typeface="Calibri"/>
              </a:rPr>
              <a:t>1.  </a:t>
            </a:r>
            <a:r>
              <a:rPr sz="1400">
                <a:solidFill>
                  <a:srgbClr val="222A33"/>
                </a:solidFill>
                <a:latin typeface="Calibri"/>
              </a:rPr>
              <a:t>Brav, A., Jiang, W., Partnoy, F., &amp; Thomas, R. (2008). Hedge Fund Activism, Corporate Governance, and Firm Performance. The Journal of Finance, 63(4), 1729–1775.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89B3C"/>
                </a:solidFill>
                <a:latin typeface="Calibri"/>
              </a:rPr>
              <a:t>2.  </a:t>
            </a:r>
            <a:r>
              <a:rPr sz="1400">
                <a:solidFill>
                  <a:srgbClr val="222A33"/>
                </a:solidFill>
                <a:latin typeface="Calibri"/>
              </a:rPr>
              <a:t>Klein, A., &amp; Zur, E. (2009). Entrepreneurial Shareholder Activism: Hedge Funds and Other Private Investors. The Journal of Finance, 64(1), 187–229.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89B3C"/>
                </a:solidFill>
                <a:latin typeface="Calibri"/>
              </a:rPr>
              <a:t>3.  </a:t>
            </a:r>
            <a:r>
              <a:rPr sz="1400">
                <a:solidFill>
                  <a:srgbClr val="222A33"/>
                </a:solidFill>
                <a:latin typeface="Calibri"/>
              </a:rPr>
              <a:t>Bebchuk, L. A., Brav, A., &amp; Jiang, W. (2015). The Long-Term Effects of Hedge Fund Activism. Columbia Law Review, 115(5), 1085–1156.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89B3C"/>
                </a:solidFill>
                <a:latin typeface="Calibri"/>
              </a:rPr>
              <a:t>4.  </a:t>
            </a:r>
            <a:r>
              <a:rPr sz="1400">
                <a:solidFill>
                  <a:srgbClr val="222A33"/>
                </a:solidFill>
                <a:latin typeface="Calibri"/>
              </a:rPr>
              <a:t>Brav, A., Jiang, W., &amp; Kim, H. (2015). The Real Effects of Hedge Fund Activism: Productivity, Asset Allocation, and Labor Outcomes. The Review of Financial Studies, 28(10), 2723–2769.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89B3C"/>
                </a:solidFill>
                <a:latin typeface="Calibri"/>
              </a:rPr>
              <a:t>5.  </a:t>
            </a:r>
            <a:r>
              <a:rPr sz="1400">
                <a:solidFill>
                  <a:srgbClr val="222A33"/>
                </a:solidFill>
                <a:latin typeface="Calibri"/>
              </a:rPr>
              <a:t>Financial Reporting Council (2020). The UK Stewardship Code 2020; Principles for Responsible Investment (PRI).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