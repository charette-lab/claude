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343" r:id="rId34"/>
    <p:sldId id="260" r:id="rId6"/>
    <p:sldId id="263" r:id="rId7"/>
    <p:sldId id="267" r:id="rId8"/>
    <p:sldId id="284" r:id="rId9"/>
    <p:sldId id="271" r:id="rId10"/>
    <p:sldId id="341" r:id="rId11"/>
    <p:sldId id="342" r:id="rId12"/>
    <p:sldId id="278" r:id="rId13"/>
    <p:sldId id="339" r:id="rId14"/>
    <p:sldId id="279" r:id="rId15"/>
    <p:sldId id="340" r:id="rId16"/>
    <p:sldId id="285" r:id="rId17"/>
    <p:sldId id="282" r:id="rId18"/>
    <p:sldId id="327" r:id="rId20"/>
    <p:sldId id="330" r:id="rId21"/>
    <p:sldId id="326" r:id="rId22"/>
    <p:sldId id="325" r:id="rId23"/>
    <p:sldId id="329" r:id="rId24"/>
    <p:sldId id="321" r:id="rId26"/>
    <p:sldId id="344" r:id="rId25"/>
    <p:sldId id="345" r:id="rId19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3" dt="2026-06-09T15:02:11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23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addSld modSld">
      <pc:chgData name="Stefan Charette" userId="0db9b4c6-585a-4616-ab53-47ba82066cad" providerId="ADAL" clId="{42E455C0-5321-4BA4-9654-3C8921CE5DA4}" dt="2026-06-09T15:02:11.765" v="341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add">
        <pc:chgData name="Stefan Charette" userId="0db9b4c6-585a-4616-ab53-47ba82066cad" providerId="ADAL" clId="{42E455C0-5321-4BA4-9654-3C8921CE5DA4}" dt="2026-06-09T15:02:11.765" v="341"/>
        <pc:sldMkLst>
          <pc:docMk/>
          <pc:sldMk cId="0" sldId="330"/>
        </pc:sldMkLst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UK Investment Trust Proposal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The inefficiency Athanase harvests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mid-caps are more often mispriced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Why this opportunity isn’t arbitraged away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Athanase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Why Athanase is best built to capture it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Operators and investors in one team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We buy hidden cores, not broken companies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ownership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III  ·  Your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A complement to global equities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Built for down markets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18   </a:t>
            </a:r>
            <a:r>
              <a:rPr sz="800">
                <a:solidFill>
                  <a:srgbClr val="314359"/>
                </a:solidFill>
                <a:latin typeface="Arial"/>
              </a:rPr>
              <a:t>Lower downside risk compounds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19   </a:t>
            </a:r>
            <a:r>
              <a:rPr sz="800">
                <a:solidFill>
                  <a:srgbClr val="314359"/>
                </a:solidFill>
                <a:latin typeface="Arial"/>
              </a:rPr>
              <a:t>What it does to your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20   </a:t>
            </a:r>
            <a:r>
              <a:rPr sz="800">
                <a:solidFill>
                  <a:srgbClr val="314359"/>
                </a:solidFill>
                <a:latin typeface="Arial"/>
              </a:rPr>
              <a:t>What a blend does to the whole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Appendix  · 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21   </a:t>
            </a:r>
            <a:r>
              <a:rPr sz="800">
                <a:solidFill>
                  <a:srgbClr val="314359"/>
                </a:solidFill>
                <a:latin typeface="Arial"/>
              </a:rPr>
              <a:t>Independently validated: 20 years, net of fees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22   </a:t>
            </a:r>
            <a:r>
              <a:rPr sz="800">
                <a:solidFill>
                  <a:srgbClr val="314359"/>
                </a:solidFill>
                <a:latin typeface="Arial"/>
              </a:rPr>
              <a:t>Indicative term sheet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23   </a:t>
            </a:r>
            <a:r>
              <a:rPr sz="800">
                <a:solidFill>
                  <a:srgbClr val="314359"/>
                </a:solidFill>
                <a:latin typeface="Arial"/>
              </a:rPr>
              <a:t>Indicative term sheet (cont.)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p.3).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10×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this opportunity isn’t arbitraged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is hard, uncomfortable and off-mandate for most investors — so the crowd stays away and the inefficiency is never competed out. Four barriers keep the lane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Fear keeps the crowd on the sidelines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Most investors avoid a company while it is underperforming and wait for the turn — buying back only once results visibly improve, and the price with them. We do the opposite: we buy at the point of maximum doubt and create the improvement ourselves.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skill bar is genuinely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It takes three things at once — operating credibility, deep investment experience, and the psychological strength to convince a board and fellow shareholders you are right. Few managers have all three, so few can even attempt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Career risk — and the wrong mandate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Voicing a public or private view on what a company must do carries real career risk; the typical, risk-averse equity manager would rather stay quiet. And most funds have no mandate to engage at all — they simply vote with their feet and sell.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They misread the discount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crowd assumes a cheap, troubled company is even worse than it looks — and is often right. We play a different game: we buy good businesses hidden inside a poorly-run structure — quality at a discount, not a value trap.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Each barrier filters out the typical manager; together they keep the opportunity uncrowded — and clearing all four at once is exactly what our combination of operating and investing experience is built to 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invest only after securing agreement on board engagement with the other shareholders.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/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18×*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6748272"/>
            <a:ext cx="59436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20">
                <a:solidFill>
                  <a:srgbClr val="556A83"/>
                </a:solidFill>
                <a:latin typeface="Arial"/>
              </a:rPr>
              <a:t>*18× = cumulative growth of capital since inception (2006) — not an annual or average figure.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 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WHY THE EARNINGS LOOK LIKE ZERO  (ILLUSTRATIVE)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Reported earnings near zero — so the market prices the whole company as broken. We buy it, fix or exit the pivot, and the core’s high-ROIIC earnings surface: value we underwrite at zero.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7884" y="3218688"/>
            <a:ext cx="14630" cy="2377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77356" y="3456432"/>
            <a:ext cx="2075688" cy="1463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0040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45728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63640" y="2670048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Company X</a:t>
            </a:r>
          </a:p>
          <a:p>
            <a:pPr algn="ctr"/>
            <a:r>
              <a:rPr sz="850" b="0">
                <a:solidFill>
                  <a:srgbClr val="C9D2DD"/>
                </a:solidFill>
                <a:latin typeface="Arial"/>
              </a:rPr>
              <a:t>central overhead  −10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0096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Core business    +30</a:t>
            </a:r>
          </a:p>
          <a:p>
            <a:pPr algn="ctr"/>
            <a:r>
              <a:rPr sz="830" b="0">
                <a:solidFill>
                  <a:srgbClr val="C9D2DD"/>
                </a:solidFill>
                <a:latin typeface="Arial"/>
              </a:rPr>
              <a:t>high ROIIC · strong prospects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15783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 w="12700">
            <a:solidFill>
              <a:srgbClr val="556A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Mgmt’s pivot    −20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poor returns · weak prospects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425696"/>
            <a:ext cx="1828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556A83"/>
                </a:solidFill>
                <a:latin typeface="Arial"/>
              </a:rPr>
              <a:t>=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4718304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≈ 0 reported operating result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so the market prices the whole company as broken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 dirty="0">
                <a:solidFill>
                  <a:srgbClr val="314359"/>
                </a:solidFill>
                <a:latin typeface="Times New Roman"/>
              </a:rPr>
              <a:t>Built for down markets — where the record is made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shows most when the market falls: a small positive return in the average down month, and outperformance in four of the last five stress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3145614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3162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526182"/>
            <a:ext cx="28529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 THE AVERAGE MONTH OF A DOWN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52876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+0.2%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755136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Athanase — a small gain in the average month of a down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340352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556A83"/>
                </a:solidFill>
                <a:latin typeface="Times New Roman"/>
              </a:rPr>
              <a:t>−1.7%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5042611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MSCI World IMI — the market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152" y="2292096"/>
            <a:ext cx="5413383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OUTPERFORMANCE IN STRESS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7152" y="2877312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845" y="2999232"/>
            <a:ext cx="384330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53960" y="2877312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152" y="3413760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845" y="3535680"/>
            <a:ext cx="1380096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9725" y="3413760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+7.9%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152" y="3950208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845" y="4072128"/>
            <a:ext cx="2061409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1038" y="3950208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+11.8%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152" y="4486656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81845" y="4608576"/>
            <a:ext cx="296982" cy="29260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66612" y="4486656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556A83"/>
                </a:solidFill>
                <a:latin typeface="Arial"/>
              </a:rPr>
              <a:t>−1.7%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152" y="5023104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845" y="5145024"/>
            <a:ext cx="3511383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1013" y="5023104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7152" y="5618073"/>
            <a:ext cx="5413383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The risk system forces diversification of business exposures and screens out weak competitive positions and untrustworthy management — which pays in demanding markets.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6242304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30" y="6242304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market falls, the discipline pays — outperformance in four of the last five stress years, and a gain in the average down month.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847027"/>
            <a:ext cx="9217382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Down-year figure: average monthly return across all months of the years in which the MSCI World IMI finished down. Annual figures: AIP net return − MSCI IMI. Source: Athanase, April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(p.18),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86000"/>
            <a:ext cx="2816422" cy="7315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59152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58775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314359"/>
                </a:solidFill>
                <a:latin typeface="Times New Roman"/>
              </a:rPr>
              <a:t>6.1% return   ·   11.5% downside risk</a:t>
            </a:r>
            <a:r>
              <a:rPr sz="1200">
                <a:solidFill>
                  <a:srgbClr val="314359"/>
                </a:solidFill>
                <a:latin typeface="Arial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090672"/>
            <a:ext cx="2816422" cy="7315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163824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10% SLEEVE      ·      90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39242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314359"/>
                </a:solidFill>
                <a:latin typeface="Times New Roman"/>
              </a:rPr>
              <a:t>7.3% return   ·   11.1% downside risk</a:t>
            </a:r>
            <a:r>
              <a:rPr sz="1200">
                <a:solidFill>
                  <a:srgbClr val="314359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beats equities alone, and the benefit builds toward the ~60% minimum-risk point. A 10% sleeve lifts return ~1.2 pts with less downside; doubling to 20% roughly doubles the return pickup (~+2.4 pts) and cuts risk further — still far from any concentration limit.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a mathematical risk-reduction tool, not a risky bet. A ~10% sleeve adds ~1.2 pts of return and ~0.4 pts less downside risk; a ~20% sleeve roughly doubles both.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Athanase (AIP) and MSCI World IMI monthly net returns (SEK), 233 months 2006–2025 (ex-2014 H2 fund-transition gap), monthly-rebalanced blends; downside volatility = annualised downside deviation below zero. Minimum-risk point is in-sample, shown for shape, not advice. Past performance is not indicative of future results.</a:t>
            </a:r>
          </a:p>
        </p:txBody>
      </p:sp>
      <p:sp>
        <p:nvSpPr>
          <p:cNvPr id="24" name="Rectangle 14"/>
          <p:cNvSpPr/>
          <p:nvPr/>
        </p:nvSpPr>
        <p:spPr>
          <a:xfrm>
            <a:off x="6510690" y="3895344"/>
            <a:ext cx="2816422" cy="7315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15"/>
          <p:cNvSpPr txBox="1"/>
          <p:nvPr/>
        </p:nvSpPr>
        <p:spPr>
          <a:xfrm>
            <a:off x="6671629" y="3968496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20% SLEEVE      ·      80 / 20</a:t>
            </a:r>
          </a:p>
        </p:txBody>
      </p:sp>
      <p:sp>
        <p:nvSpPr>
          <p:cNvPr id="26" name="TextBox 16"/>
          <p:cNvSpPr txBox="1"/>
          <p:nvPr/>
        </p:nvSpPr>
        <p:spPr>
          <a:xfrm>
            <a:off x="6671629" y="4197096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314359"/>
                </a:solidFill>
                <a:latin typeface="Times New Roman"/>
              </a:rPr>
              <a:t>8.5% return   ·   10.8% downside risk</a:t>
            </a:r>
            <a:r>
              <a:rPr sz="1200">
                <a:solidFill>
                  <a:srgbClr val="314359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Proposed Terms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Indicative term sheet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Indicative and non-binding, for discussion only — subject to contract and final documentation.  (1 of 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2064" y="2139696"/>
          <a:ext cx="8796527" cy="2377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/>
                <a:gridCol w="6464807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Structure &amp; domicile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UK investment trust (plc), approved under s.1158 CTA 2010 [domicile TBC].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Listing &amp; market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Premium listing, London Stock Exchange Main Market; sterling.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Size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Minimum £1bn raised at IPO.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Investment objective &amp; policy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Long-term capital growth, investing substantially all assets in Athanase Industrial Partners Fund II (“AIPII”) via a dedicated, tax-efficient zero-fee share class [structure TBC]. AIPII invests globally in mid-sized companies with scope for operational improvement through engaged ownership.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Investment restrictions &amp; limits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The trust invests solely in AIPII.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AIFM, investment manager &amp; key persons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AIPII's manager is Athanase Industrial Partner Ltd (Cayman Islands). Key man: Stefan Charette. On a key-man departure, the trust may redeem its AIPII holding and reinvest the proceeds.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Operating costs (not a fee on assets)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Manager reimbursed a capped operating-cost budget; no ad valorem management fee on AUM. The cost base falls as a share of NAV as the trust grows.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Manager incentive — conversion share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AIP subscribes for a special share with no economic rights that converts into economic rights only once NAV per share reaches 2.5× its initial value.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Discount control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The trust buys back shares when they trade more than 10% below NAV, measured on a 10-day VWAP.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Launch costs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Borne by the trust, partially offset by AIP's subscription for the initial shares.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Proposed Terms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Indicative term sheet (continued)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Gearing, governance, operations and service providers.  (2 of 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2064" y="2139696"/>
          <a:ext cx="8796527" cy="28529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/>
                <a:gridCol w="6464807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Gearing / borrowing policy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No structural gearing for return. Short-term financing for operating-cost or working-capital shortfalls only, capped at 10% of NAV.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Dividend &amp; distribution policy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Managed for long-term total return; no regular dividend expected. Distributions limited to the minimum required to maintain s.1158 status.  [for confirmation]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NAV calculation &amp; valuation policy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Based on AIPII's NAV as struck by its administrator, MUFG.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Continuation vote / life of the company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Continues until shareholders vote to discontinue; on discontinuation, AIP's special share converts automatically.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Board composition &amp; corporate governance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At least four independent non-executive directors plus one AIP management representative; UK Corporate Governance / AIC Code.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Conflicts of interest &amp; related-party dealing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All exposure is held through AIPII to minimise conflicts; residual matters governed by a formal conflicts-of-interest framework.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Depositary, administrator &amp; registrar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To be confirmed.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Auditor &amp; corporate broker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To be confirmed.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Lock-up &amp; orderly-market arrangements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To be confirmed.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ISA / SIPP eligibility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To be confirmed (expected eligible).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Reporting &amp; financial calendar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To be confirmed.</a:t>
                      </a:r>
                    </a:p>
                  </a:txBody>
                  <a:tcPr marL="64008" marR="82296" marT="32004" marB="32004" anchor="t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314359"/>
                          </a:solidFill>
                          <a:latin typeface="Arial"/>
                        </a:rPr>
                        <a:t>Ticker, ISIN &amp; SEDOL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 b="0">
                          <a:solidFill>
                            <a:srgbClr val="0E1620"/>
                          </a:solidFill>
                          <a:latin typeface="Arial"/>
                        </a:rPr>
                        <a:t>To be confirmed.</a:t>
                      </a:r>
                    </a:p>
                  </a:txBody>
                  <a:tcPr marL="64008" marR="82296" marT="32004" marB="32004" anchor="t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2064" y="6455664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50">
                <a:solidFill>
                  <a:srgbClr val="8A939F"/>
                </a:solidFill>
                <a:latin typeface="Arial"/>
              </a:rPr>
              <a:t>Indicative and non-binding, for discussion only — subject to contract, satisfactory due diligence, regulatory approval and final documentation. Not an offer or invitation to invest. [TBC = to be confirmed.]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4505</Words>
  <Application>Microsoft Office PowerPoint</Application>
  <PresentationFormat>Custom</PresentationFormat>
  <Paragraphs>433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UK Investment Trust Proposal</dc:title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2026-06-09T15:02:21Z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