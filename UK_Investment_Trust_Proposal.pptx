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256" r:id="rId5"/>
    <p:sldId id="343" r:id="rId34"/>
    <p:sldId id="260" r:id="rId6"/>
    <p:sldId id="263" r:id="rId7"/>
    <p:sldId id="267" r:id="rId8"/>
    <p:sldId id="284" r:id="rId9"/>
    <p:sldId id="271" r:id="rId10"/>
    <p:sldId id="341" r:id="rId11"/>
    <p:sldId id="342" r:id="rId12"/>
    <p:sldId id="278" r:id="rId13"/>
    <p:sldId id="339" r:id="rId14"/>
    <p:sldId id="279" r:id="rId15"/>
    <p:sldId id="340" r:id="rId16"/>
    <p:sldId id="285" r:id="rId17"/>
    <p:sldId id="282" r:id="rId18"/>
    <p:sldId id="327" r:id="rId20"/>
    <p:sldId id="330" r:id="rId21"/>
    <p:sldId id="326" r:id="rId22"/>
    <p:sldId id="325" r:id="rId23"/>
    <p:sldId id="329" r:id="rId24"/>
    <p:sldId id="321" r:id="rId26"/>
    <p:sldId id="344" r:id="rId25"/>
    <p:sldId id="345" r:id="rId19"/>
    <p:sldId id="346" r:id="rId35"/>
    <p:sldId id="347" r:id="rId36"/>
    <p:sldId id="348" r:id="rId37"/>
  </p:sldIdLst>
  <p:sldSz cx="9753600" cy="7315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CFD312-D45A-4B19-8463-6466AF1AAD16}" v="3" dt="2026-06-09T15:02:11.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80" y="4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23.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2.xml"/><Relationship Id="rId26" Type="http://schemas.openxmlformats.org/officeDocument/2006/relationships/slide" Target="slides/slide21.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 Id="rId34" Type="http://schemas.openxmlformats.org/officeDocument/2006/relationships/slide" Target="slides/slide2.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fan Charette" userId="0db9b4c6-585a-4616-ab53-47ba82066cad" providerId="ADAL" clId="{42E455C0-5321-4BA4-9654-3C8921CE5DA4}"/>
    <pc:docChg chg="custSel addSld modSld">
      <pc:chgData name="Stefan Charette" userId="0db9b4c6-585a-4616-ab53-47ba82066cad" providerId="ADAL" clId="{42E455C0-5321-4BA4-9654-3C8921CE5DA4}" dt="2026-06-09T15:02:11.765" v="341"/>
      <pc:docMkLst>
        <pc:docMk/>
      </pc:docMkLst>
      <pc:sldChg chg="delSp modSp mod">
        <pc:chgData name="Stefan Charette" userId="0db9b4c6-585a-4616-ab53-47ba82066cad" providerId="ADAL" clId="{42E455C0-5321-4BA4-9654-3C8921CE5DA4}" dt="2026-06-09T10:30:30.470" v="340" actId="478"/>
        <pc:sldMkLst>
          <pc:docMk/>
          <pc:sldMk cId="0" sldId="256"/>
        </pc:sldMkLst>
        <pc:spChg chg="mod">
          <ac:chgData name="Stefan Charette" userId="0db9b4c6-585a-4616-ab53-47ba82066cad" providerId="ADAL" clId="{42E455C0-5321-4BA4-9654-3C8921CE5DA4}" dt="2026-06-09T10:30:25.904" v="339" actId="20577"/>
          <ac:spMkLst>
            <pc:docMk/>
            <pc:sldMk cId="0" sldId="256"/>
            <ac:spMk id="5" creationId="{00000000-0000-0000-0000-000000000000}"/>
          </ac:spMkLst>
        </pc:spChg>
        <pc:spChg chg="del">
          <ac:chgData name="Stefan Charette" userId="0db9b4c6-585a-4616-ab53-47ba82066cad" providerId="ADAL" clId="{42E455C0-5321-4BA4-9654-3C8921CE5DA4}" dt="2026-06-09T10:30:30.470" v="340" actId="478"/>
          <ac:spMkLst>
            <pc:docMk/>
            <pc:sldMk cId="0" sldId="256"/>
            <ac:spMk id="6" creationId="{00000000-0000-0000-0000-000000000000}"/>
          </ac:spMkLst>
        </pc:spChg>
      </pc:sldChg>
      <pc:sldChg chg="modSp mod">
        <pc:chgData name="Stefan Charette" userId="0db9b4c6-585a-4616-ab53-47ba82066cad" providerId="ADAL" clId="{42E455C0-5321-4BA4-9654-3C8921CE5DA4}" dt="2026-06-09T08:13:12.051" v="23" actId="20577"/>
        <pc:sldMkLst>
          <pc:docMk/>
          <pc:sldMk cId="0" sldId="268"/>
        </pc:sldMkLst>
        <pc:spChg chg="mod">
          <ac:chgData name="Stefan Charette" userId="0db9b4c6-585a-4616-ab53-47ba82066cad" providerId="ADAL" clId="{42E455C0-5321-4BA4-9654-3C8921CE5DA4}" dt="2026-06-09T08:13:12.051" v="23" actId="20577"/>
          <ac:spMkLst>
            <pc:docMk/>
            <pc:sldMk cId="0" sldId="268"/>
            <ac:spMk id="8" creationId="{00000000-0000-0000-0000-000000000000}"/>
          </ac:spMkLst>
        </pc:spChg>
      </pc:sldChg>
      <pc:sldChg chg="modSp mod">
        <pc:chgData name="Stefan Charette" userId="0db9b4c6-585a-4616-ab53-47ba82066cad" providerId="ADAL" clId="{42E455C0-5321-4BA4-9654-3C8921CE5DA4}" dt="2026-06-09T08:13:34.859" v="41" actId="20577"/>
        <pc:sldMkLst>
          <pc:docMk/>
          <pc:sldMk cId="0" sldId="269"/>
        </pc:sldMkLst>
        <pc:spChg chg="mod">
          <ac:chgData name="Stefan Charette" userId="0db9b4c6-585a-4616-ab53-47ba82066cad" providerId="ADAL" clId="{42E455C0-5321-4BA4-9654-3C8921CE5DA4}" dt="2026-06-09T08:13:34.859" v="41" actId="20577"/>
          <ac:spMkLst>
            <pc:docMk/>
            <pc:sldMk cId="0" sldId="269"/>
            <ac:spMk id="8" creationId="{00000000-0000-0000-0000-000000000000}"/>
          </ac:spMkLst>
        </pc:spChg>
      </pc:sldChg>
      <pc:sldChg chg="add">
        <pc:chgData name="Stefan Charette" userId="0db9b4c6-585a-4616-ab53-47ba82066cad" providerId="ADAL" clId="{42E455C0-5321-4BA4-9654-3C8921CE5DA4}" dt="2026-06-09T15:02:11.765" v="341"/>
        <pc:sldMkLst>
          <pc:docMk/>
          <pc:sldMk cId="0" sldId="330"/>
        </pc:sldMkLst>
      </pc:sldChg>
      <pc:sldChg chg="modSp mod">
        <pc:chgData name="Stefan Charette" userId="0db9b4c6-585a-4616-ab53-47ba82066cad" providerId="ADAL" clId="{42E455C0-5321-4BA4-9654-3C8921CE5DA4}" dt="2026-06-09T10:29:33.258" v="301" actId="20577"/>
        <pc:sldMkLst>
          <pc:docMk/>
          <pc:sldMk cId="0" sldId="339"/>
        </pc:sldMkLst>
        <pc:spChg chg="mod">
          <ac:chgData name="Stefan Charette" userId="0db9b4c6-585a-4616-ab53-47ba82066cad" providerId="ADAL" clId="{42E455C0-5321-4BA4-9654-3C8921CE5DA4}" dt="2026-06-09T10:29:33.258" v="301" actId="20577"/>
          <ac:spMkLst>
            <pc:docMk/>
            <pc:sldMk cId="0" sldId="339"/>
            <ac:spMk id="20" creationId="{00000000-0000-0000-0000-000000000000}"/>
          </ac:spMkLst>
        </pc:spChg>
        <pc:spChg chg="mod">
          <ac:chgData name="Stefan Charette" userId="0db9b4c6-585a-4616-ab53-47ba82066cad" providerId="ADAL" clId="{42E455C0-5321-4BA4-9654-3C8921CE5DA4}" dt="2026-06-09T10:29:20.676" v="300" actId="20577"/>
          <ac:spMkLst>
            <pc:docMk/>
            <pc:sldMk cId="0" sldId="339"/>
            <ac:spMk id="2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880">
                <a:solidFill>
                  <a:srgbClr val="556A83"/>
                </a:solidFill>
              </a:rPr>
              <a:t>Figure 1.  “Probability decay”: strategy efficiency over a CEO cycle (%)</a:t>
            </a:r>
          </a:p>
        </c:rich>
      </c:tx>
      <c:overlay val="0"/>
    </c:title>
    <c:autoTitleDeleted val="0"/>
    <c:plotArea>
      <c:layout/>
      <c:lineChart>
        <c:grouping val="standard"/>
        <c:varyColors val="0"/>
        <c:ser>
          <c:idx val="0"/>
          <c:order val="0"/>
          <c:tx>
            <c:strRef>
              <c:f>Sheet1!$B$1</c:f>
              <c:strCache>
                <c:ptCount val="1"/>
                <c:pt idx="0">
                  <c:v>Strategy efficiency</c:v>
                </c:pt>
              </c:strCache>
            </c:strRef>
          </c:tx>
          <c:spPr>
            <a:ln w="31750">
              <a:solidFill>
                <a:srgbClr val="152130"/>
              </a:solidFill>
            </a:ln>
          </c:spPr>
          <c:cat>
            <c:strRef>
              <c:f>Sheet1!$A$2:$A$9</c:f>
              <c:strCache>
                <c:ptCount val="8"/>
                <c:pt idx="0">
                  <c:v>Yr 1</c:v>
                </c:pt>
                <c:pt idx="1">
                  <c:v>Yr 2</c:v>
                </c:pt>
                <c:pt idx="2">
                  <c:v>Yr 3</c:v>
                </c:pt>
                <c:pt idx="3">
                  <c:v>Yr 4</c:v>
                </c:pt>
                <c:pt idx="4">
                  <c:v>Yr 5</c:v>
                </c:pt>
                <c:pt idx="5">
                  <c:v>Yr 6</c:v>
                </c:pt>
                <c:pt idx="6">
                  <c:v>Yr 7</c:v>
                </c:pt>
                <c:pt idx="7">
                  <c:v>Yr 8</c:v>
                </c:pt>
              </c:strCache>
            </c:strRef>
          </c:cat>
          <c:val>
            <c:numRef>
              <c:f>Sheet1!$B$2:$B$9</c:f>
              <c:numCache>
                <c:formatCode>General</c:formatCode>
                <c:ptCount val="8"/>
                <c:pt idx="0">
                  <c:v>80</c:v>
                </c:pt>
                <c:pt idx="1">
                  <c:v>76</c:v>
                </c:pt>
                <c:pt idx="2">
                  <c:v>71</c:v>
                </c:pt>
                <c:pt idx="3">
                  <c:v>65</c:v>
                </c:pt>
                <c:pt idx="4">
                  <c:v>60</c:v>
                </c:pt>
                <c:pt idx="5">
                  <c:v>55</c:v>
                </c:pt>
                <c:pt idx="6">
                  <c:v>52</c:v>
                </c:pt>
                <c:pt idx="7">
                  <c:v>50</c:v>
                </c:pt>
              </c:numCache>
            </c:numRef>
          </c:val>
          <c:smooth val="1"/>
          <c:extLst>
            <c:ext xmlns:c16="http://schemas.microsoft.com/office/drawing/2014/chart" uri="{C3380CC4-5D6E-409C-BE32-E72D297353CC}">
              <c16:uniqueId val="{00000000-8121-44FE-B2F6-B09CBC8BB4F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720"/>
            </a:pPr>
            <a:endParaRPr lang="sv-SE"/>
          </a:p>
        </c:txPr>
        <c:crossAx val="2140495176"/>
        <c:crosses val="autoZero"/>
        <c:auto val="1"/>
        <c:lblAlgn val="ctr"/>
        <c:lblOffset val="100"/>
        <c:noMultiLvlLbl val="0"/>
      </c:catAx>
      <c:valAx>
        <c:axId val="2140495176"/>
        <c:scaling>
          <c:orientation val="minMax"/>
          <c:max val="100"/>
          <c:min val="0"/>
        </c:scaling>
        <c:delete val="0"/>
        <c:axPos val="l"/>
        <c:numFmt formatCode="General" sourceLinked="1"/>
        <c:majorTickMark val="out"/>
        <c:minorTickMark val="none"/>
        <c:tickLblPos val="nextTo"/>
        <c:txPr>
          <a:bodyPr/>
          <a:lstStyle/>
          <a:p>
            <a:pPr>
              <a:defRPr sz="720"/>
            </a:pPr>
            <a:endParaRPr lang="sv-SE"/>
          </a:p>
        </c:txPr>
        <c:crossAx val="2118791784"/>
        <c:crosses val="autoZero"/>
        <c:crossBetween val="between"/>
      </c:valAx>
    </c:plotArea>
    <c:plotVisOnly val="1"/>
    <c:dispBlanksAs val="gap"/>
    <c:showDLblsOverMax val="0"/>
  </c:chart>
  <c:txPr>
    <a:bodyPr/>
    <a:lstStyle/>
    <a:p>
      <a:pPr>
        <a:defRPr sz="144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880">
                <a:solidFill>
                  <a:srgbClr val="556A83"/>
                </a:solidFill>
              </a:rPr>
              <a:t>Figure 6.  Growth of a 100 sleeve through a market cycle (indexed)</a:t>
            </a:r>
          </a:p>
        </c:rich>
      </c:tx>
      <c:overlay val="0"/>
    </c:title>
    <c:autoTitleDeleted val="0"/>
    <c:plotArea>
      <c:layout/>
      <c:lineChart>
        <c:grouping val="standard"/>
        <c:varyColors val="0"/>
        <c:ser>
          <c:idx val="0"/>
          <c:order val="0"/>
          <c:tx>
            <c:strRef>
              <c:f>Sheet1!$B$1</c:f>
              <c:strCache>
                <c:ptCount val="1"/>
                <c:pt idx="0">
                  <c:v>Athanase (18%)</c:v>
                </c:pt>
              </c:strCache>
            </c:strRef>
          </c:tx>
          <c:spPr>
            <a:ln w="38100">
              <a:solidFill>
                <a:srgbClr val="152130"/>
              </a:solidFill>
            </a:ln>
          </c:spPr>
          <c:marker>
            <c:symbol val="none"/>
          </c:marker>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Sheet1!$B$2:$B$12</c:f>
              <c:numCache>
                <c:formatCode>General</c:formatCode>
                <c:ptCount val="11"/>
                <c:pt idx="0">
                  <c:v>100</c:v>
                </c:pt>
                <c:pt idx="1">
                  <c:v>118</c:v>
                </c:pt>
                <c:pt idx="2">
                  <c:v>140</c:v>
                </c:pt>
                <c:pt idx="3">
                  <c:v>166</c:v>
                </c:pt>
                <c:pt idx="4">
                  <c:v>197</c:v>
                </c:pt>
                <c:pt idx="5">
                  <c:v>233</c:v>
                </c:pt>
                <c:pt idx="6">
                  <c:v>236</c:v>
                </c:pt>
                <c:pt idx="7">
                  <c:v>296</c:v>
                </c:pt>
                <c:pt idx="8">
                  <c:v>366</c:v>
                </c:pt>
                <c:pt idx="9">
                  <c:v>442</c:v>
                </c:pt>
                <c:pt idx="10">
                  <c:v>523</c:v>
                </c:pt>
              </c:numCache>
            </c:numRef>
          </c:val>
          <c:smooth val="1"/>
          <c:extLst>
            <c:ext xmlns:c16="http://schemas.microsoft.com/office/drawing/2014/chart" uri="{C3380CC4-5D6E-409C-BE32-E72D297353CC}">
              <c16:uniqueId val="{00000000-096E-4765-9E38-E47A72446DD8}"/>
            </c:ext>
          </c:extLst>
        </c:ser>
        <c:ser>
          <c:idx val="1"/>
          <c:order val="1"/>
          <c:tx>
            <c:strRef>
              <c:f>Sheet1!$C$1</c:f>
              <c:strCache>
                <c:ptCount val="1"/>
                <c:pt idx="0">
                  <c:v>Other activist (10.5%)</c:v>
                </c:pt>
              </c:strCache>
            </c:strRef>
          </c:tx>
          <c:spPr>
            <a:ln w="25400">
              <a:solidFill>
                <a:srgbClr val="556A83"/>
              </a:solidFill>
            </a:ln>
          </c:spPr>
          <c:marker>
            <c:symbol val="none"/>
          </c:marker>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Sheet1!$C$2:$C$12</c:f>
              <c:numCache>
                <c:formatCode>General</c:formatCode>
                <c:ptCount val="11"/>
                <c:pt idx="0">
                  <c:v>100</c:v>
                </c:pt>
                <c:pt idx="1">
                  <c:v>111</c:v>
                </c:pt>
                <c:pt idx="2">
                  <c:v>123</c:v>
                </c:pt>
                <c:pt idx="3">
                  <c:v>137</c:v>
                </c:pt>
                <c:pt idx="4">
                  <c:v>152</c:v>
                </c:pt>
                <c:pt idx="5">
                  <c:v>168</c:v>
                </c:pt>
                <c:pt idx="6">
                  <c:v>150</c:v>
                </c:pt>
                <c:pt idx="7">
                  <c:v>182</c:v>
                </c:pt>
                <c:pt idx="8">
                  <c:v>214</c:v>
                </c:pt>
                <c:pt idx="9">
                  <c:v>244</c:v>
                </c:pt>
                <c:pt idx="10">
                  <c:v>271</c:v>
                </c:pt>
              </c:numCache>
            </c:numRef>
          </c:val>
          <c:smooth val="1"/>
          <c:extLst>
            <c:ext xmlns:c16="http://schemas.microsoft.com/office/drawing/2014/chart" uri="{C3380CC4-5D6E-409C-BE32-E72D297353CC}">
              <c16:uniqueId val="{00000001-096E-4765-9E38-E47A72446DD8}"/>
            </c:ext>
          </c:extLst>
        </c:ser>
        <c:ser>
          <c:idx val="2"/>
          <c:order val="2"/>
          <c:tx>
            <c:strRef>
              <c:f>Sheet1!$D$1</c:f>
              <c:strCache>
                <c:ptCount val="1"/>
                <c:pt idx="0">
                  <c:v>Long-only global (7.6%)</c:v>
                </c:pt>
              </c:strCache>
            </c:strRef>
          </c:tx>
          <c:spPr>
            <a:ln w="25400">
              <a:solidFill>
                <a:srgbClr val="E2E5E9"/>
              </a:solidFill>
              <a:prstDash val="sysDash"/>
            </a:ln>
          </c:spPr>
          <c:marker>
            <c:symbol val="none"/>
          </c:marker>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Sheet1!$D$2:$D$12</c:f>
              <c:numCache>
                <c:formatCode>General</c:formatCode>
                <c:ptCount val="11"/>
                <c:pt idx="0">
                  <c:v>100</c:v>
                </c:pt>
                <c:pt idx="1">
                  <c:v>108</c:v>
                </c:pt>
                <c:pt idx="2">
                  <c:v>117</c:v>
                </c:pt>
                <c:pt idx="3">
                  <c:v>126</c:v>
                </c:pt>
                <c:pt idx="4">
                  <c:v>136</c:v>
                </c:pt>
                <c:pt idx="5">
                  <c:v>147</c:v>
                </c:pt>
                <c:pt idx="6">
                  <c:v>119</c:v>
                </c:pt>
                <c:pt idx="7">
                  <c:v>142</c:v>
                </c:pt>
                <c:pt idx="8">
                  <c:v>168</c:v>
                </c:pt>
                <c:pt idx="9">
                  <c:v>190</c:v>
                </c:pt>
                <c:pt idx="10">
                  <c:v>208</c:v>
                </c:pt>
              </c:numCache>
            </c:numRef>
          </c:val>
          <c:smooth val="1"/>
          <c:extLst>
            <c:ext xmlns:c16="http://schemas.microsoft.com/office/drawing/2014/chart" uri="{C3380CC4-5D6E-409C-BE32-E72D297353CC}">
              <c16:uniqueId val="{00000002-096E-4765-9E38-E47A72446DD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720"/>
            </a:pPr>
            <a:endParaRPr lang="sv-SE"/>
          </a:p>
        </c:txPr>
        <c:crossAx val="2140495176"/>
        <c:crosses val="autoZero"/>
        <c:auto val="1"/>
        <c:lblAlgn val="ctr"/>
        <c:lblOffset val="100"/>
        <c:noMultiLvlLbl val="0"/>
      </c:catAx>
      <c:valAx>
        <c:axId val="2140495176"/>
        <c:scaling>
          <c:orientation val="minMax"/>
          <c:max val="600"/>
          <c:min val="0"/>
        </c:scaling>
        <c:delete val="0"/>
        <c:axPos val="l"/>
        <c:numFmt formatCode="General" sourceLinked="1"/>
        <c:majorTickMark val="out"/>
        <c:minorTickMark val="none"/>
        <c:tickLblPos val="nextTo"/>
        <c:txPr>
          <a:bodyPr/>
          <a:lstStyle/>
          <a:p>
            <a:pPr>
              <a:defRPr sz="720"/>
            </a:pPr>
            <a:endParaRPr lang="sv-SE"/>
          </a:p>
        </c:txPr>
        <c:crossAx val="2118791784"/>
        <c:crosses val="autoZero"/>
        <c:crossBetween val="between"/>
      </c:valAx>
    </c:plotArea>
    <c:legend>
      <c:legendPos val="b"/>
      <c:overlay val="0"/>
      <c:txPr>
        <a:bodyPr/>
        <a:lstStyle/>
        <a:p>
          <a:pPr>
            <a:defRPr sz="800"/>
          </a:pPr>
          <a:endParaRPr lang="sv-SE"/>
        </a:p>
      </c:txPr>
    </c:legend>
    <c:plotVisOnly val="1"/>
    <c:dispBlanksAs val="gap"/>
    <c:showDLblsOverMax val="0"/>
  </c:chart>
  <c:txPr>
    <a:bodyPr/>
    <a:lstStyle/>
    <a:p>
      <a:pPr>
        <a:defRPr sz="144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97395-2D59-4227-B53D-BB43A6595B5E}" type="datetimeFigureOut">
              <a:rPr lang="en-GB" smtClean="0"/>
              <a:t>09/06/2026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C4698-2B99-4D89-860A-947FB2745133}" type="slidenum">
              <a:rPr lang="en-GB" smtClean="0"/>
              <a:t>‹#›</a:t>
            </a:fld>
            <a:endParaRPr lang="en-GB"/>
          </a:p>
        </p:txBody>
      </p:sp>
    </p:spTree>
    <p:extLst>
      <p:ext uri="{BB962C8B-B14F-4D97-AF65-F5344CB8AC3E}">
        <p14:creationId xmlns:p14="http://schemas.microsoft.com/office/powerpoint/2010/main" val="1559085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8C4698-2B99-4D89-860A-947FB2745133}" type="slidenum">
              <a:rPr lang="en-GB" smtClean="0"/>
              <a:t>1</a:t>
            </a:fld>
            <a:endParaRPr lang="en-GB"/>
          </a:p>
        </p:txBody>
      </p:sp>
    </p:spTree>
    <p:extLst>
      <p:ext uri="{BB962C8B-B14F-4D97-AF65-F5344CB8AC3E}">
        <p14:creationId xmlns:p14="http://schemas.microsoft.com/office/powerpoint/2010/main" val="3018759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white.png"/>
          <p:cNvPicPr>
            <a:picLocks noChangeAspect="1"/>
          </p:cNvPicPr>
          <p:nvPr/>
        </p:nvPicPr>
        <p:blipFill>
          <a:blip r:embed="rId3"/>
          <a:stretch>
            <a:fillRect/>
          </a:stretch>
        </p:blipFill>
        <p:spPr>
          <a:xfrm>
            <a:off x="438922" y="536448"/>
            <a:ext cx="1768098" cy="380399"/>
          </a:xfrm>
          <a:prstGeom prst="rect">
            <a:avLst/>
          </a:prstGeom>
        </p:spPr>
      </p:pic>
      <p:sp>
        <p:nvSpPr>
          <p:cNvPr id="4" name="Rectangle 3"/>
          <p:cNvSpPr/>
          <p:nvPr/>
        </p:nvSpPr>
        <p:spPr>
          <a:xfrm>
            <a:off x="0" y="4389120"/>
            <a:ext cx="365769" cy="29802"/>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22" y="4632960"/>
            <a:ext cx="8632151" cy="947182"/>
          </a:xfrm>
          <a:prstGeom prst="rect">
            <a:avLst/>
          </a:prstGeom>
          <a:noFill/>
        </p:spPr>
        <p:txBody>
          <a:bodyPr wrap="square" lIns="0" tIns="0" rIns="0" bIns="0" anchor="t">
            <a:spAutoFit/>
          </a:bodyPr>
          <a:lstStyle/>
          <a:p>
            <a:pPr algn="l">
              <a:lnSpc>
                <a:spcPct val="110000"/>
              </a:lnSpc>
              <a:spcAft>
                <a:spcPts val="600"/>
              </a:spcAft>
            </a:pPr>
            <a:r>
              <a:rPr lang="en-GB" sz="3360" spc="-126" dirty="0">
                <a:solidFill>
                  <a:srgbClr val="FFFFFF"/>
                </a:solidFill>
                <a:latin typeface="Times New Roman"/>
              </a:rPr>
              <a:t>UK Investment Trust Proposal</a:t>
            </a:r>
          </a:p>
          <a:p>
            <a:pPr algn="l">
              <a:lnSpc>
                <a:spcPct val="110000"/>
              </a:lnSpc>
              <a:spcAft>
                <a:spcPts val="0"/>
              </a:spcAft>
            </a:pPr>
            <a:r>
              <a:rPr lang="en-GB" sz="1920" b="0" i="1" spc="-72" dirty="0">
                <a:solidFill>
                  <a:srgbClr val="E2E5E9"/>
                </a:solidFill>
                <a:latin typeface="Times New Roman"/>
              </a:rPr>
              <a:t>June 2026</a:t>
            </a:r>
            <a:endParaRPr sz="1920" b="0" i="1" spc="-72" dirty="0">
              <a:solidFill>
                <a:srgbClr val="E2E5E9"/>
              </a:solidFill>
              <a:latin typeface="Times New Roman"/>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Overview</a:t>
            </a:r>
          </a:p>
        </p:txBody>
      </p:sp>
      <p:sp>
        <p:nvSpPr>
          <p:cNvPr id="5" name="Rectangle 4"/>
          <p:cNvSpPr/>
          <p:nvPr/>
        </p:nvSpPr>
        <p:spPr>
          <a:xfrm>
            <a:off x="0" y="604723"/>
            <a:ext cx="9753600" cy="10241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Table of contents</a:t>
            </a:r>
          </a:p>
        </p:txBody>
      </p:sp>
      <p:sp>
        <p:nvSpPr>
          <p:cNvPr id="7" name="TextBox 6"/>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a:t>
            </a:r>
          </a:p>
        </p:txBody>
      </p:sp>
      <p:sp>
        <p:nvSpPr>
          <p:cNvPr id="8" name="TextBox 7"/>
          <p:cNvSpPr txBox="1"/>
          <p:nvPr/>
        </p:nvSpPr>
        <p:spPr>
          <a:xfrm>
            <a:off x="512076" y="1589836"/>
            <a:ext cx="4279499" cy="390144"/>
          </a:xfrm>
          <a:prstGeom prst="rect">
            <a:avLst/>
          </a:prstGeom>
          <a:noFill/>
        </p:spPr>
        <p:txBody>
          <a:bodyPr wrap="square" lIns="0" tIns="0" rIns="0" bIns="0" anchor="t">
            <a:spAutoFit/>
          </a:bodyPr>
          <a:lstStyle/>
          <a:p>
            <a:pPr algn="l">
              <a:lnSpc>
                <a:spcPct val="110000"/>
              </a:lnSpc>
              <a:spcAft>
                <a:spcPts val="0"/>
              </a:spcAft>
            </a:pPr>
            <a:r>
              <a:rPr sz="1120" b="1" i="0">
                <a:solidFill>
                  <a:srgbClr val="314359"/>
                </a:solidFill>
                <a:latin typeface="Times New Roman"/>
              </a:rPr>
              <a:t>Part I  ·  The opportunity</a:t>
            </a:r>
          </a:p>
        </p:txBody>
      </p:sp>
      <p:sp>
        <p:nvSpPr>
          <p:cNvPr id="9" name="TextBox 8"/>
          <p:cNvSpPr txBox="1"/>
          <p:nvPr/>
        </p:nvSpPr>
        <p:spPr>
          <a:xfrm>
            <a:off x="512076" y="1960473"/>
            <a:ext cx="4279499" cy="5462016"/>
          </a:xfrm>
          <a:prstGeom prst="rect">
            <a:avLst/>
          </a:prstGeom>
          <a:noFill/>
        </p:spPr>
        <p:txBody>
          <a:bodyPr wrap="square" lIns="0" tIns="0" rIns="0" bIns="0" anchor="t">
            <a:spAutoFit/>
          </a:bodyPr>
          <a:lstStyle/>
          <a:p>
            <a:pPr>
              <a:lnSpc>
                <a:spcPct val="102000"/>
              </a:lnSpc>
              <a:spcAft>
                <a:spcPts val="300"/>
              </a:spcAft>
            </a:pPr>
            <a:r>
              <a:rPr sz="800" b="1">
                <a:solidFill>
                  <a:srgbClr val="314359"/>
                </a:solidFill>
                <a:latin typeface="Arial"/>
              </a:rPr>
              <a:t>3   </a:t>
            </a:r>
            <a:r>
              <a:rPr sz="800">
                <a:solidFill>
                  <a:srgbClr val="314359"/>
                </a:solidFill>
                <a:latin typeface="Arial"/>
              </a:rPr>
              <a:t>Passive has become a concentrated bet</a:t>
            </a:r>
          </a:p>
          <a:p>
            <a:pPr>
              <a:lnSpc>
                <a:spcPct val="102000"/>
              </a:lnSpc>
              <a:spcAft>
                <a:spcPts val="300"/>
              </a:spcAft>
            </a:pPr>
            <a:r>
              <a:rPr sz="800" b="1">
                <a:solidFill>
                  <a:srgbClr val="314359"/>
                </a:solidFill>
                <a:latin typeface="Arial"/>
              </a:rPr>
              <a:t>4   </a:t>
            </a:r>
            <a:r>
              <a:rPr sz="800">
                <a:solidFill>
                  <a:srgbClr val="314359"/>
                </a:solidFill>
                <a:latin typeface="Arial"/>
              </a:rPr>
              <a:t>From passive risk to active opportunity</a:t>
            </a:r>
          </a:p>
          <a:p>
            <a:pPr>
              <a:lnSpc>
                <a:spcPct val="102000"/>
              </a:lnSpc>
              <a:spcAft>
                <a:spcPts val="300"/>
              </a:spcAft>
            </a:pPr>
            <a:r>
              <a:rPr sz="800" b="1">
                <a:solidFill>
                  <a:srgbClr val="314359"/>
                </a:solidFill>
                <a:latin typeface="Arial"/>
              </a:rPr>
              <a:t>5   </a:t>
            </a:r>
            <a:r>
              <a:rPr sz="800">
                <a:solidFill>
                  <a:srgbClr val="314359"/>
                </a:solidFill>
                <a:latin typeface="Arial"/>
              </a:rPr>
              <a:t>What AI changes — and what it can’t</a:t>
            </a:r>
          </a:p>
          <a:p>
            <a:pPr>
              <a:lnSpc>
                <a:spcPct val="102000"/>
              </a:lnSpc>
              <a:spcAft>
                <a:spcPts val="300"/>
              </a:spcAft>
            </a:pPr>
            <a:r>
              <a:rPr sz="800" b="1">
                <a:solidFill>
                  <a:srgbClr val="314359"/>
                </a:solidFill>
                <a:latin typeface="Arial"/>
              </a:rPr>
              <a:t>6   </a:t>
            </a:r>
            <a:r>
              <a:rPr sz="800">
                <a:solidFill>
                  <a:srgbClr val="314359"/>
                </a:solidFill>
                <a:latin typeface="Arial"/>
              </a:rPr>
              <a:t>The inefficiency Athanase harvests</a:t>
            </a:r>
          </a:p>
          <a:p>
            <a:pPr>
              <a:lnSpc>
                <a:spcPct val="102000"/>
              </a:lnSpc>
              <a:spcAft>
                <a:spcPts val="300"/>
              </a:spcAft>
            </a:pPr>
            <a:r>
              <a:rPr sz="800" b="1">
                <a:solidFill>
                  <a:srgbClr val="314359"/>
                </a:solidFill>
                <a:latin typeface="Arial"/>
              </a:rPr>
              <a:t>7   </a:t>
            </a:r>
            <a:r>
              <a:rPr sz="800">
                <a:solidFill>
                  <a:srgbClr val="314359"/>
                </a:solidFill>
                <a:latin typeface="Arial"/>
              </a:rPr>
              <a:t>Why mid-market is the sweet spot</a:t>
            </a:r>
          </a:p>
          <a:p>
            <a:pPr>
              <a:lnSpc>
                <a:spcPct val="102000"/>
              </a:lnSpc>
              <a:spcAft>
                <a:spcPts val="300"/>
              </a:spcAft>
            </a:pPr>
            <a:r>
              <a:rPr sz="800" b="1">
                <a:solidFill>
                  <a:srgbClr val="314359"/>
                </a:solidFill>
                <a:latin typeface="Arial"/>
              </a:rPr>
              <a:t>8   </a:t>
            </a:r>
            <a:r>
              <a:rPr sz="800">
                <a:solidFill>
                  <a:srgbClr val="314359"/>
                </a:solidFill>
                <a:latin typeface="Arial"/>
              </a:rPr>
              <a:t>Why mid-caps are more often mispriced</a:t>
            </a:r>
          </a:p>
          <a:p>
            <a:pPr>
              <a:lnSpc>
                <a:spcPct val="102000"/>
              </a:lnSpc>
              <a:spcAft>
                <a:spcPts val="300"/>
              </a:spcAft>
            </a:pPr>
            <a:r>
              <a:rPr sz="800" b="1">
                <a:solidFill>
                  <a:srgbClr val="314359"/>
                </a:solidFill>
                <a:latin typeface="Arial"/>
              </a:rPr>
              <a:t>9   </a:t>
            </a:r>
            <a:r>
              <a:rPr sz="800">
                <a:solidFill>
                  <a:srgbClr val="314359"/>
                </a:solidFill>
                <a:latin typeface="Arial"/>
              </a:rPr>
              <a:t>Why this opportunity isn’t arbitraged away</a:t>
            </a:r>
          </a:p>
          <a:p>
            <a:pPr>
              <a:lnSpc>
                <a:spcPct val="102000"/>
              </a:lnSpc>
              <a:spcAft>
                <a:spcPts val="300"/>
              </a:spcAft>
            </a:pPr>
            <a:r>
              <a:rPr sz="800" b="1">
                <a:solidFill>
                  <a:srgbClr val="314359"/>
                </a:solidFill>
                <a:latin typeface="Arial"/>
              </a:rPr>
              <a:t/>
            </a:r>
            <a:r>
              <a:rPr sz="800">
                <a:solidFill>
                  <a:srgbClr val="314359"/>
                </a:solidFill>
                <a:latin typeface="Arial"/>
              </a:rPr>
              <a:t/>
            </a:r>
          </a:p>
          <a:p>
            <a:pPr algn="l">
              <a:lnSpc>
                <a:spcPct val="110000"/>
              </a:lnSpc>
              <a:spcAft>
                <a:spcPts val="0"/>
              </a:spcAft>
            </a:pPr>
            <a:r>
              <a:rPr sz="1120" b="1" i="0">
                <a:solidFill>
                  <a:srgbClr val="314359"/>
                </a:solidFill>
                <a:latin typeface="Times New Roman"/>
              </a:rPr>
              <a:t>Part II  ·  Why Athanase</a:t>
            </a:r>
          </a:p>
          <a:p>
            <a:pPr>
              <a:lnSpc>
                <a:spcPct val="102000"/>
              </a:lnSpc>
              <a:spcAft>
                <a:spcPts val="300"/>
              </a:spcAft>
            </a:pPr>
            <a:r>
              <a:rPr sz="800" b="1">
                <a:solidFill>
                  <a:srgbClr val="314359"/>
                </a:solidFill>
                <a:latin typeface="Arial"/>
              </a:rPr>
              <a:t>10   </a:t>
            </a:r>
            <a:r>
              <a:rPr sz="800">
                <a:solidFill>
                  <a:srgbClr val="314359"/>
                </a:solidFill>
                <a:latin typeface="Arial"/>
              </a:rPr>
              <a:t>Athanase at a glance</a:t>
            </a:r>
          </a:p>
          <a:p>
            <a:pPr>
              <a:lnSpc>
                <a:spcPct val="102000"/>
              </a:lnSpc>
              <a:spcAft>
                <a:spcPts val="300"/>
              </a:spcAft>
            </a:pPr>
            <a:r>
              <a:rPr sz="800" b="1">
                <a:solidFill>
                  <a:srgbClr val="314359"/>
                </a:solidFill>
                <a:latin typeface="Arial"/>
              </a:rPr>
              <a:t>11   </a:t>
            </a:r>
            <a:r>
              <a:rPr sz="800">
                <a:solidFill>
                  <a:srgbClr val="314359"/>
                </a:solidFill>
                <a:latin typeface="Arial"/>
              </a:rPr>
              <a:t>Why Athanase is best built to capture it</a:t>
            </a:r>
          </a:p>
          <a:p>
            <a:pPr>
              <a:lnSpc>
                <a:spcPct val="102000"/>
              </a:lnSpc>
              <a:spcAft>
                <a:spcPts val="300"/>
              </a:spcAft>
            </a:pPr>
            <a:r>
              <a:rPr sz="800" b="1">
                <a:solidFill>
                  <a:srgbClr val="314359"/>
                </a:solidFill>
                <a:latin typeface="Arial"/>
              </a:rPr>
              <a:t>12   </a:t>
            </a:r>
            <a:r>
              <a:rPr sz="800">
                <a:solidFill>
                  <a:srgbClr val="314359"/>
                </a:solidFill>
                <a:latin typeface="Arial"/>
              </a:rPr>
              <a:t>Operators and investors in one team</a:t>
            </a:r>
          </a:p>
          <a:p>
            <a:pPr>
              <a:lnSpc>
                <a:spcPct val="102000"/>
              </a:lnSpc>
              <a:spcAft>
                <a:spcPts val="300"/>
              </a:spcAft>
            </a:pPr>
            <a:r>
              <a:rPr sz="800" b="1">
                <a:solidFill>
                  <a:srgbClr val="314359"/>
                </a:solidFill>
                <a:latin typeface="Arial"/>
              </a:rPr>
              <a:t>13   </a:t>
            </a:r>
            <a:r>
              <a:rPr sz="800">
                <a:solidFill>
                  <a:srgbClr val="314359"/>
                </a:solidFill>
                <a:latin typeface="Arial"/>
              </a:rPr>
              <a:t>The people behind the track record</a:t>
            </a:r>
          </a:p>
          <a:p>
            <a:pPr>
              <a:lnSpc>
                <a:spcPct val="102000"/>
              </a:lnSpc>
              <a:spcAft>
                <a:spcPts val="300"/>
              </a:spcAft>
            </a:pPr>
            <a:r>
              <a:rPr sz="800" b="1">
                <a:solidFill>
                  <a:srgbClr val="314359"/>
                </a:solidFill>
                <a:latin typeface="Arial"/>
              </a:rPr>
              <a:t>14   </a:t>
            </a:r>
            <a:r>
              <a:rPr sz="800">
                <a:solidFill>
                  <a:srgbClr val="314359"/>
                </a:solidFill>
                <a:latin typeface="Arial"/>
              </a:rPr>
              <a:t>We buy hidden cores, not broken companies</a:t>
            </a:r>
          </a:p>
          <a:p>
            <a:pPr>
              <a:lnSpc>
                <a:spcPct val="102000"/>
              </a:lnSpc>
              <a:spcAft>
                <a:spcPts val="300"/>
              </a:spcAft>
            </a:pPr>
            <a:r>
              <a:rPr sz="800" b="1">
                <a:solidFill>
                  <a:srgbClr val="314359"/>
                </a:solidFill>
                <a:latin typeface="Arial"/>
              </a:rPr>
              <a:t>15   </a:t>
            </a:r>
            <a:r>
              <a:rPr sz="800">
                <a:solidFill>
                  <a:srgbClr val="314359"/>
                </a:solidFill>
                <a:latin typeface="Arial"/>
              </a:rPr>
              <a:t>The ownership playbook</a:t>
            </a:r>
          </a:p>
        </p:txBody>
      </p:sp>
      <p:sp>
        <p:nvSpPr>
          <p:cNvPr id="10" name="TextBox 9"/>
          <p:cNvSpPr txBox="1"/>
          <p:nvPr/>
        </p:nvSpPr>
        <p:spPr>
          <a:xfrm>
            <a:off x="5157345" y="1589836"/>
            <a:ext cx="4279499" cy="390144"/>
          </a:xfrm>
          <a:prstGeom prst="rect">
            <a:avLst/>
          </a:prstGeom>
          <a:noFill/>
        </p:spPr>
        <p:txBody>
          <a:bodyPr wrap="square" lIns="0" tIns="0" rIns="0" bIns="0" anchor="t">
            <a:spAutoFit/>
          </a:bodyPr>
          <a:lstStyle/>
          <a:p>
            <a:pPr algn="l">
              <a:lnSpc>
                <a:spcPct val="110000"/>
              </a:lnSpc>
              <a:spcAft>
                <a:spcPts val="0"/>
              </a:spcAft>
            </a:pPr>
            <a:r>
              <a:rPr sz="1120" b="1" i="0">
                <a:solidFill>
                  <a:srgbClr val="314359"/>
                </a:solidFill>
                <a:latin typeface="Times New Roman"/>
              </a:rPr>
              <a:t>Part III  ·  Your portfolio</a:t>
            </a:r>
          </a:p>
        </p:txBody>
      </p:sp>
      <p:sp>
        <p:nvSpPr>
          <p:cNvPr id="11" name="TextBox 10"/>
          <p:cNvSpPr txBox="1"/>
          <p:nvPr/>
        </p:nvSpPr>
        <p:spPr>
          <a:xfrm>
            <a:off x="5157345" y="1960473"/>
            <a:ext cx="4279499" cy="5462016"/>
          </a:xfrm>
          <a:prstGeom prst="rect">
            <a:avLst/>
          </a:prstGeom>
          <a:noFill/>
        </p:spPr>
        <p:txBody>
          <a:bodyPr wrap="square" lIns="0" tIns="0" rIns="0" bIns="0" anchor="t">
            <a:spAutoFit/>
          </a:bodyPr>
          <a:lstStyle/>
          <a:p>
            <a:pPr>
              <a:lnSpc>
                <a:spcPct val="102000"/>
              </a:lnSpc>
              <a:spcAft>
                <a:spcPts val="300"/>
              </a:spcAft>
            </a:pPr>
            <a:r>
              <a:rPr sz="800" b="1">
                <a:solidFill>
                  <a:srgbClr val="314359"/>
                </a:solidFill>
                <a:latin typeface="Arial"/>
              </a:rPr>
              <a:t>16   </a:t>
            </a:r>
            <a:r>
              <a:rPr sz="800">
                <a:solidFill>
                  <a:srgbClr val="314359"/>
                </a:solidFill>
                <a:latin typeface="Arial"/>
              </a:rPr>
              <a:t>A complement to global equities</a:t>
            </a:r>
          </a:p>
          <a:p>
            <a:pPr>
              <a:lnSpc>
                <a:spcPct val="102000"/>
              </a:lnSpc>
              <a:spcAft>
                <a:spcPts val="300"/>
              </a:spcAft>
            </a:pPr>
            <a:r>
              <a:rPr sz="800" b="1">
                <a:solidFill>
                  <a:srgbClr val="314359"/>
                </a:solidFill>
                <a:latin typeface="Arial"/>
              </a:rPr>
              <a:t>17   </a:t>
            </a:r>
            <a:r>
              <a:rPr sz="800">
                <a:solidFill>
                  <a:srgbClr val="314359"/>
                </a:solidFill>
                <a:latin typeface="Arial"/>
              </a:rPr>
              <a:t>Built for down markets</a:t>
            </a:r>
          </a:p>
          <a:p>
            <a:pPr>
              <a:lnSpc>
                <a:spcPct val="102000"/>
              </a:lnSpc>
              <a:spcAft>
                <a:spcPts val="300"/>
              </a:spcAft>
            </a:pPr>
            <a:r>
              <a:rPr sz="800" b="1">
                <a:solidFill>
                  <a:srgbClr val="314359"/>
                </a:solidFill>
                <a:latin typeface="Arial"/>
              </a:rPr>
              <a:t>18   </a:t>
            </a:r>
            <a:r>
              <a:rPr sz="800">
                <a:solidFill>
                  <a:srgbClr val="314359"/>
                </a:solidFill>
                <a:latin typeface="Arial"/>
              </a:rPr>
              <a:t>Lower downside risk compounds</a:t>
            </a:r>
          </a:p>
          <a:p>
            <a:pPr>
              <a:lnSpc>
                <a:spcPct val="102000"/>
              </a:lnSpc>
              <a:spcAft>
                <a:spcPts val="300"/>
              </a:spcAft>
            </a:pPr>
            <a:r>
              <a:rPr sz="800" b="1">
                <a:solidFill>
                  <a:srgbClr val="314359"/>
                </a:solidFill>
                <a:latin typeface="Arial"/>
              </a:rPr>
              <a:t>19   </a:t>
            </a:r>
            <a:r>
              <a:rPr sz="800">
                <a:solidFill>
                  <a:srgbClr val="314359"/>
                </a:solidFill>
                <a:latin typeface="Arial"/>
              </a:rPr>
              <a:t>What it does to your portfolio</a:t>
            </a:r>
          </a:p>
          <a:p>
            <a:pPr>
              <a:lnSpc>
                <a:spcPct val="102000"/>
              </a:lnSpc>
              <a:spcAft>
                <a:spcPts val="300"/>
              </a:spcAft>
            </a:pPr>
            <a:r>
              <a:rPr sz="800" b="1">
                <a:solidFill>
                  <a:srgbClr val="314359"/>
                </a:solidFill>
                <a:latin typeface="Arial"/>
              </a:rPr>
              <a:t>20   </a:t>
            </a:r>
            <a:r>
              <a:rPr sz="800">
                <a:solidFill>
                  <a:srgbClr val="314359"/>
                </a:solidFill>
                <a:latin typeface="Arial"/>
              </a:rPr>
              <a:t>What a blend does to the whole portfolio</a:t>
            </a:r>
          </a:p>
          <a:p>
            <a:pPr>
              <a:lnSpc>
                <a:spcPct val="102000"/>
              </a:lnSpc>
              <a:spcAft>
                <a:spcPts val="300"/>
              </a:spcAft>
            </a:pPr>
            <a:r>
              <a:rPr sz="800" b="1">
                <a:solidFill>
                  <a:srgbClr val="314359"/>
                </a:solidFill>
                <a:latin typeface="Arial"/>
              </a:rPr>
              <a:t/>
            </a:r>
            <a:r>
              <a:rPr sz="800">
                <a:solidFill>
                  <a:srgbClr val="314359"/>
                </a:solidFill>
                <a:latin typeface="Arial"/>
              </a:rPr>
              <a:t/>
            </a:r>
          </a:p>
          <a:p>
            <a:pPr algn="l">
              <a:lnSpc>
                <a:spcPct val="110000"/>
              </a:lnSpc>
              <a:spcAft>
                <a:spcPts val="0"/>
              </a:spcAft>
            </a:pPr>
            <a:r>
              <a:rPr sz="1120" b="1" i="0">
                <a:solidFill>
                  <a:srgbClr val="314359"/>
                </a:solidFill>
                <a:latin typeface="Times New Roman"/>
              </a:rPr>
              <a:t>Appendix  ·  Track record</a:t>
            </a:r>
          </a:p>
          <a:p>
            <a:pPr>
              <a:lnSpc>
                <a:spcPct val="102000"/>
              </a:lnSpc>
              <a:spcAft>
                <a:spcPts val="300"/>
              </a:spcAft>
            </a:pPr>
            <a:r>
              <a:rPr sz="800" b="1">
                <a:solidFill>
                  <a:srgbClr val="314359"/>
                </a:solidFill>
                <a:latin typeface="Arial"/>
              </a:rPr>
              <a:t>21   </a:t>
            </a:r>
            <a:r>
              <a:rPr sz="800">
                <a:solidFill>
                  <a:srgbClr val="314359"/>
                </a:solidFill>
                <a:latin typeface="Arial"/>
              </a:rPr>
              <a:t>Independently validated: 20 years, net of fees</a:t>
            </a:r>
          </a:p>
          <a:p>
            <a:pPr>
              <a:lnSpc>
                <a:spcPct val="102000"/>
              </a:lnSpc>
              <a:spcAft>
                <a:spcPts val="300"/>
              </a:spcAft>
            </a:pPr>
            <a:r>
              <a:rPr sz="800" b="1">
                <a:solidFill>
                  <a:srgbClr val="314359"/>
                </a:solidFill>
                <a:latin typeface="Arial"/>
              </a:rPr>
              <a:t>22   </a:t>
            </a:r>
            <a:r>
              <a:rPr sz="800">
                <a:solidFill>
                  <a:srgbClr val="314359"/>
                </a:solidFill>
                <a:latin typeface="Arial"/>
              </a:rPr>
              <a:t>Indicative term sheet</a:t>
            </a:r>
          </a:p>
          <a:p>
            <a:pPr>
              <a:lnSpc>
                <a:spcPct val="102000"/>
              </a:lnSpc>
              <a:spcAft>
                <a:spcPts val="300"/>
              </a:spcAft>
            </a:pPr>
            <a:r>
              <a:rPr sz="800" b="1">
                <a:solidFill>
                  <a:srgbClr val="314359"/>
                </a:solidFill>
                <a:latin typeface="Arial"/>
              </a:rPr>
              <a:t>23   </a:t>
            </a:r>
            <a:r>
              <a:rPr sz="800">
                <a:solidFill>
                  <a:srgbClr val="314359"/>
                </a:solidFill>
                <a:latin typeface="Arial"/>
              </a:rPr>
              <a:t>Indicative term sheet (cont.)</a:t>
            </a:r>
          </a:p>
          <a:p>
            <a:pPr>
              <a:lnSpc>
                <a:spcPct val="102000"/>
              </a:lnSpc>
              <a:spcAft>
                <a:spcPts val="300"/>
              </a:spcAft>
            </a:pPr>
            <a:r>
              <a:rPr sz="800" b="1">
                <a:solidFill>
                  <a:srgbClr val="314359"/>
                </a:solidFill>
                <a:latin typeface="Arial"/>
              </a:rPr>
              <a:t>24   </a:t>
            </a:r>
            <a:r>
              <a:rPr sz="800">
                <a:solidFill>
                  <a:srgbClr val="314359"/>
                </a:solidFill>
                <a:latin typeface="Arial"/>
              </a:rPr>
              <a:t>How the share buyback works</a:t>
            </a:r>
          </a:p>
          <a:p>
            <a:pPr>
              <a:lnSpc>
                <a:spcPct val="102000"/>
              </a:lnSpc>
              <a:spcAft>
                <a:spcPts val="300"/>
              </a:spcAft>
            </a:pPr>
            <a:r>
              <a:rPr sz="800" b="1">
                <a:solidFill>
                  <a:srgbClr val="314359"/>
                </a:solidFill>
                <a:latin typeface="Arial"/>
              </a:rPr>
              <a:t>25   </a:t>
            </a:r>
            <a:r>
              <a:rPr sz="800">
                <a:solidFill>
                  <a:srgbClr val="314359"/>
                </a:solidFill>
                <a:latin typeface="Arial"/>
              </a:rPr>
              <a:t>Why parts of the market may be overvalued</a:t>
            </a:r>
          </a:p>
          <a:p>
            <a:pPr>
              <a:lnSpc>
                <a:spcPct val="102000"/>
              </a:lnSpc>
              <a:spcAft>
                <a:spcPts val="300"/>
              </a:spcAft>
            </a:pPr>
            <a:r>
              <a:rPr sz="800" b="1">
                <a:solidFill>
                  <a:srgbClr val="314359"/>
                </a:solidFill>
                <a:latin typeface="Arial"/>
              </a:rPr>
              <a:t>26   </a:t>
            </a:r>
            <a:r>
              <a:rPr sz="800">
                <a:solidFill>
                  <a:srgbClr val="314359"/>
                </a:solidFill>
                <a:latin typeface="Arial"/>
              </a:rPr>
              <a:t>Sources &amp;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Market Context</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Passive has become a concentrated bet</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 cap-weighted index puts the most money into the stocks that have already risen the most — concentration and factor risk dressed as diversification.</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3</a:t>
            </a:r>
          </a:p>
        </p:txBody>
      </p:sp>
      <p:sp>
        <p:nvSpPr>
          <p:cNvPr id="9" name="Rectangle 8"/>
          <p:cNvSpPr/>
          <p:nvPr/>
        </p:nvSpPr>
        <p:spPr>
          <a:xfrm>
            <a:off x="548653" y="2292096"/>
            <a:ext cx="2852999"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53" y="2292096"/>
            <a:ext cx="2852999" cy="58521"/>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53" y="2506675"/>
            <a:ext cx="2852999" cy="1170432"/>
          </a:xfrm>
          <a:prstGeom prst="rect">
            <a:avLst/>
          </a:prstGeom>
          <a:noFill/>
        </p:spPr>
        <p:txBody>
          <a:bodyPr wrap="square" lIns="0" tIns="0" rIns="0" bIns="0" anchor="t">
            <a:spAutoFit/>
          </a:bodyPr>
          <a:lstStyle/>
          <a:p>
            <a:pPr algn="ctr">
              <a:lnSpc>
                <a:spcPct val="110000"/>
              </a:lnSpc>
              <a:spcAft>
                <a:spcPts val="300"/>
              </a:spcAft>
            </a:pPr>
            <a:r>
              <a:rPr sz="2400" b="0" i="0" spc="-90">
                <a:solidFill>
                  <a:srgbClr val="314359"/>
                </a:solidFill>
                <a:latin typeface="Times New Roman"/>
              </a:rPr>
              <a:t>~38%</a:t>
            </a:r>
          </a:p>
          <a:p>
            <a:pPr algn="ctr">
              <a:lnSpc>
                <a:spcPct val="110000"/>
              </a:lnSpc>
              <a:spcAft>
                <a:spcPts val="0"/>
              </a:spcAft>
            </a:pPr>
            <a:r>
              <a:rPr sz="919" b="0" i="0">
                <a:solidFill>
                  <a:srgbClr val="556A83"/>
                </a:solidFill>
                <a:latin typeface="Arial"/>
              </a:rPr>
              <a:t>of the S&amp;P 500 in its</a:t>
            </a:r>
          </a:p>
          <a:p>
            <a:pPr algn="ctr">
              <a:lnSpc>
                <a:spcPct val="110000"/>
              </a:lnSpc>
              <a:spcAft>
                <a:spcPts val="0"/>
              </a:spcAft>
            </a:pPr>
            <a:r>
              <a:rPr sz="919" b="0" i="0">
                <a:solidFill>
                  <a:srgbClr val="556A83"/>
                </a:solidFill>
                <a:latin typeface="Arial"/>
              </a:rPr>
              <a:t>10 largest stocks*</a:t>
            </a:r>
          </a:p>
        </p:txBody>
      </p:sp>
      <p:sp>
        <p:nvSpPr>
          <p:cNvPr id="12" name="Rectangle 11"/>
          <p:cNvSpPr/>
          <p:nvPr/>
        </p:nvSpPr>
        <p:spPr>
          <a:xfrm>
            <a:off x="3547960" y="2292096"/>
            <a:ext cx="2852999"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47960" y="2292096"/>
            <a:ext cx="2852999" cy="58521"/>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47960" y="2506675"/>
            <a:ext cx="2852999" cy="1170432"/>
          </a:xfrm>
          <a:prstGeom prst="rect">
            <a:avLst/>
          </a:prstGeom>
          <a:noFill/>
        </p:spPr>
        <p:txBody>
          <a:bodyPr wrap="square" lIns="0" tIns="0" rIns="0" bIns="0" anchor="t">
            <a:spAutoFit/>
          </a:bodyPr>
          <a:lstStyle/>
          <a:p>
            <a:pPr algn="ctr">
              <a:lnSpc>
                <a:spcPct val="110000"/>
              </a:lnSpc>
              <a:spcAft>
                <a:spcPts val="300"/>
              </a:spcAft>
            </a:pPr>
            <a:r>
              <a:rPr sz="2400" b="0" i="0" spc="-90">
                <a:solidFill>
                  <a:srgbClr val="314359"/>
                </a:solidFill>
                <a:latin typeface="Times New Roman"/>
              </a:rPr>
              <a:t>~33%</a:t>
            </a:r>
          </a:p>
          <a:p>
            <a:pPr algn="ctr">
              <a:lnSpc>
                <a:spcPct val="110000"/>
              </a:lnSpc>
              <a:spcAft>
                <a:spcPts val="0"/>
              </a:spcAft>
            </a:pPr>
            <a:r>
              <a:rPr sz="919" b="0" i="0">
                <a:solidFill>
                  <a:srgbClr val="556A83"/>
                </a:solidFill>
                <a:latin typeface="Arial"/>
              </a:rPr>
              <a:t>in the “Magnificent</a:t>
            </a:r>
          </a:p>
          <a:p>
            <a:pPr algn="ctr">
              <a:lnSpc>
                <a:spcPct val="110000"/>
              </a:lnSpc>
              <a:spcAft>
                <a:spcPts val="0"/>
              </a:spcAft>
            </a:pPr>
            <a:r>
              <a:rPr sz="919" b="0" i="0">
                <a:solidFill>
                  <a:srgbClr val="556A83"/>
                </a:solidFill>
                <a:latin typeface="Arial"/>
              </a:rPr>
              <a:t>Seven” alone*</a:t>
            </a:r>
          </a:p>
        </p:txBody>
      </p:sp>
      <p:sp>
        <p:nvSpPr>
          <p:cNvPr id="15" name="Rectangle 14"/>
          <p:cNvSpPr/>
          <p:nvPr/>
        </p:nvSpPr>
        <p:spPr>
          <a:xfrm>
            <a:off x="6547267" y="2292096"/>
            <a:ext cx="2852999"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547267" y="2292096"/>
            <a:ext cx="2852999" cy="58521"/>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47267" y="2506675"/>
            <a:ext cx="2852999" cy="1170432"/>
          </a:xfrm>
          <a:prstGeom prst="rect">
            <a:avLst/>
          </a:prstGeom>
          <a:noFill/>
        </p:spPr>
        <p:txBody>
          <a:bodyPr wrap="square" lIns="0" tIns="0" rIns="0" bIns="0" anchor="t">
            <a:spAutoFit/>
          </a:bodyPr>
          <a:lstStyle/>
          <a:p>
            <a:pPr algn="ctr">
              <a:lnSpc>
                <a:spcPct val="110000"/>
              </a:lnSpc>
              <a:spcAft>
                <a:spcPts val="300"/>
              </a:spcAft>
            </a:pPr>
            <a:r>
              <a:rPr sz="2400" b="0" i="0" spc="-90">
                <a:solidFill>
                  <a:srgbClr val="314359"/>
                </a:solidFill>
                <a:latin typeface="Times New Roman"/>
              </a:rPr>
              <a:t>~50 yrs</a:t>
            </a:r>
          </a:p>
          <a:p>
            <a:pPr algn="ctr">
              <a:lnSpc>
                <a:spcPct val="110000"/>
              </a:lnSpc>
              <a:spcAft>
                <a:spcPts val="0"/>
              </a:spcAft>
            </a:pPr>
            <a:r>
              <a:rPr sz="919" b="0" i="0">
                <a:solidFill>
                  <a:srgbClr val="556A83"/>
                </a:solidFill>
                <a:latin typeface="Arial"/>
              </a:rPr>
              <a:t>since US equity was</a:t>
            </a:r>
          </a:p>
          <a:p>
            <a:pPr algn="ctr">
              <a:lnSpc>
                <a:spcPct val="110000"/>
              </a:lnSpc>
              <a:spcAft>
                <a:spcPts val="0"/>
              </a:spcAft>
            </a:pPr>
            <a:r>
              <a:rPr sz="919" b="0" i="0">
                <a:solidFill>
                  <a:srgbClr val="556A83"/>
                </a:solidFill>
                <a:latin typeface="Arial"/>
              </a:rPr>
              <a:t>this concentrated*</a:t>
            </a:r>
          </a:p>
        </p:txBody>
      </p:sp>
      <p:sp>
        <p:nvSpPr>
          <p:cNvPr id="18" name="TextBox 17"/>
          <p:cNvSpPr txBox="1"/>
          <p:nvPr/>
        </p:nvSpPr>
        <p:spPr>
          <a:xfrm>
            <a:off x="548653" y="3969715"/>
            <a:ext cx="8705305" cy="4584192"/>
          </a:xfrm>
          <a:prstGeom prst="rect">
            <a:avLst/>
          </a:prstGeom>
          <a:noFill/>
        </p:spPr>
        <p:txBody>
          <a:bodyPr wrap="square" lIns="0" tIns="0" rIns="0" bIns="0" anchor="t">
            <a:spAutoFit/>
          </a:bodyPr>
          <a:lstStyle/>
          <a:p>
            <a:pPr marL="163580" indent="-163580">
              <a:lnSpc>
                <a:spcPct val="112000"/>
              </a:lnSpc>
              <a:spcAft>
                <a:spcPts val="1200"/>
              </a:spcAft>
            </a:pPr>
            <a:r>
              <a:rPr sz="1120" b="1">
                <a:solidFill>
                  <a:srgbClr val="314359"/>
                </a:solidFill>
                <a:latin typeface="Arial"/>
              </a:rPr>
              <a:t>›  Cap-weighting buys high by design.</a:t>
            </a:r>
            <a:r>
              <a:rPr sz="1120">
                <a:solidFill>
                  <a:srgbClr val="0E1620"/>
                </a:solidFill>
                <a:latin typeface="Arial"/>
              </a:rPr>
              <a:t>  The more a stock rises, the more of it you must own — the opposite of buy-low discipline.</a:t>
            </a:r>
          </a:p>
          <a:p>
            <a:pPr marL="163580" indent="-163580">
              <a:lnSpc>
                <a:spcPct val="112000"/>
              </a:lnSpc>
              <a:spcAft>
                <a:spcPts val="1200"/>
              </a:spcAft>
            </a:pPr>
            <a:r>
              <a:rPr sz="1120" b="1">
                <a:solidFill>
                  <a:srgbClr val="314359"/>
                </a:solidFill>
                <a:latin typeface="Arial"/>
              </a:rPr>
              <a:t>›  A concentrated factor bet.</a:t>
            </a:r>
            <a:r>
              <a:rPr sz="1120">
                <a:solidFill>
                  <a:srgbClr val="0E1620"/>
                </a:solidFill>
                <a:latin typeface="Arial"/>
              </a:rPr>
              <a:t>  The “diversified” index is now a leveraged position in large-cap growth, momentum and a single theme (AI) — not diversification.</a:t>
            </a:r>
          </a:p>
          <a:p>
            <a:pPr marL="163580" indent="-163580">
              <a:lnSpc>
                <a:spcPct val="112000"/>
              </a:lnSpc>
              <a:spcAft>
                <a:spcPts val="1200"/>
              </a:spcAft>
            </a:pPr>
            <a:r>
              <a:rPr sz="1120" b="1">
                <a:solidFill>
                  <a:srgbClr val="314359"/>
                </a:solidFill>
                <a:latin typeface="Arial"/>
              </a:rPr>
              <a:t>›  Breadth is fragile.</a:t>
            </a:r>
            <a:r>
              <a:rPr sz="1120">
                <a:solidFill>
                  <a:srgbClr val="0E1620"/>
                </a:solidFill>
                <a:latin typeface="Arial"/>
              </a:rPr>
              <a:t>  A stumble in a handful of mega-caps now moves the entire index; the rest of the market has been left behind.</a:t>
            </a:r>
          </a:p>
        </p:txBody>
      </p:sp>
      <p:sp>
        <p:nvSpPr>
          <p:cNvPr id="19" name="TextBox 18"/>
          <p:cNvSpPr txBox="1"/>
          <p:nvPr/>
        </p:nvSpPr>
        <p:spPr>
          <a:xfrm>
            <a:off x="438922" y="6944563"/>
            <a:ext cx="5852306" cy="351129"/>
          </a:xfrm>
          <a:prstGeom prst="rect">
            <a:avLst/>
          </a:prstGeom>
          <a:noFill/>
        </p:spPr>
        <p:txBody>
          <a:bodyPr wrap="square" lIns="0" tIns="0" rIns="0" bIns="0" anchor="t">
            <a:spAutoFit/>
          </a:bodyPr>
          <a:lstStyle/>
          <a:p>
            <a:pPr algn="l">
              <a:lnSpc>
                <a:spcPct val="105000"/>
              </a:lnSpc>
              <a:spcAft>
                <a:spcPts val="0"/>
              </a:spcAft>
            </a:pPr>
            <a:r>
              <a:rPr sz="600" b="0" i="0">
                <a:solidFill>
                  <a:srgbClr val="556A83"/>
                </a:solidFill>
                <a:latin typeface="Arial"/>
              </a:rPr>
              <a:t>*Illustrative, recent data (2024–25); source: S&amp;P Dow Jones Indices. Index concentration and factor tilts change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Market Context</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From passive risk to active opportunity</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An expensive, concentrated, passive-dominated market is exactly the environment active management is built for — and as analysis itself commoditises, the most durable edge is ownership, not stock-picking.</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4</a:t>
            </a:r>
          </a:p>
        </p:txBody>
      </p:sp>
      <p:sp>
        <p:nvSpPr>
          <p:cNvPr id="9" name="Rectangle 8"/>
          <p:cNvSpPr/>
          <p:nvPr/>
        </p:nvSpPr>
        <p:spPr>
          <a:xfrm>
            <a:off x="438922"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22"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1 · The setup</a:t>
            </a:r>
          </a:p>
        </p:txBody>
      </p:sp>
      <p:sp>
        <p:nvSpPr>
          <p:cNvPr id="11" name="Rectangle 10"/>
          <p:cNvSpPr/>
          <p:nvPr/>
        </p:nvSpPr>
        <p:spPr>
          <a:xfrm>
            <a:off x="438922"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9861"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Expensive equities, record index concentration, and price-insensitive passive flows that inflate the most crowded names.</a:t>
            </a:r>
          </a:p>
        </p:txBody>
      </p:sp>
      <p:sp>
        <p:nvSpPr>
          <p:cNvPr id="13" name="Rectangle 12"/>
          <p:cNvSpPr/>
          <p:nvPr/>
        </p:nvSpPr>
        <p:spPr>
          <a:xfrm>
            <a:off x="3474806"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806"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2 · Why active now</a:t>
            </a:r>
          </a:p>
        </p:txBody>
      </p:sp>
      <p:sp>
        <p:nvSpPr>
          <p:cNvPr id="15" name="Rectangle 14"/>
          <p:cNvSpPr/>
          <p:nvPr/>
        </p:nvSpPr>
        <p:spPr>
          <a:xfrm>
            <a:off x="3474806"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35745"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Wider mispricing and dispersion; valuation discipline is rewarded again. The “active underperforms” critique is cyclical — and weakest in exactly this market.</a:t>
            </a:r>
          </a:p>
        </p:txBody>
      </p:sp>
      <p:sp>
        <p:nvSpPr>
          <p:cNvPr id="17" name="Rectangle 16"/>
          <p:cNvSpPr/>
          <p:nvPr/>
        </p:nvSpPr>
        <p:spPr>
          <a:xfrm>
            <a:off x="6510690"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0690"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3 · A better kind of active</a:t>
            </a:r>
          </a:p>
        </p:txBody>
      </p:sp>
      <p:sp>
        <p:nvSpPr>
          <p:cNvPr id="19" name="Rectangle 18"/>
          <p:cNvSpPr/>
          <p:nvPr/>
        </p:nvSpPr>
        <p:spPr>
          <a:xfrm>
            <a:off x="6510690"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1629"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Other genuine edges exist — quant and specialist alpha — but they compete on analysing the same public data, which is what commoditises fastest. The most durable edge is ownership: buying mispriced businesses and changing the outcome.</a:t>
            </a:r>
          </a:p>
        </p:txBody>
      </p:sp>
      <p:sp>
        <p:nvSpPr>
          <p:cNvPr id="21" name="TextBox 20"/>
          <p:cNvSpPr txBox="1"/>
          <p:nvPr/>
        </p:nvSpPr>
        <p:spPr>
          <a:xfrm>
            <a:off x="3145614" y="3511296"/>
            <a:ext cx="329192" cy="585216"/>
          </a:xfrm>
          <a:prstGeom prst="rect">
            <a:avLst/>
          </a:prstGeom>
          <a:noFill/>
        </p:spPr>
        <p:txBody>
          <a:bodyPr wrap="square" lIns="0" tIns="0" rIns="0" bIns="0" anchor="ctr">
            <a:spAutoFit/>
          </a:bodyPr>
          <a:lstStyle/>
          <a:p>
            <a:pPr algn="ctr">
              <a:lnSpc>
                <a:spcPct val="110000"/>
              </a:lnSpc>
              <a:spcAft>
                <a:spcPts val="0"/>
              </a:spcAft>
            </a:pPr>
            <a:r>
              <a:rPr sz="2080" b="1" i="0">
                <a:solidFill>
                  <a:srgbClr val="556A83"/>
                </a:solidFill>
                <a:latin typeface="Arial"/>
              </a:rPr>
              <a:t>→</a:t>
            </a:r>
          </a:p>
        </p:txBody>
      </p:sp>
      <p:sp>
        <p:nvSpPr>
          <p:cNvPr id="22" name="TextBox 21"/>
          <p:cNvSpPr txBox="1"/>
          <p:nvPr/>
        </p:nvSpPr>
        <p:spPr>
          <a:xfrm>
            <a:off x="6181498" y="3511296"/>
            <a:ext cx="329192" cy="585216"/>
          </a:xfrm>
          <a:prstGeom prst="rect">
            <a:avLst/>
          </a:prstGeom>
          <a:noFill/>
        </p:spPr>
        <p:txBody>
          <a:bodyPr wrap="square" lIns="0" tIns="0" rIns="0" bIns="0" anchor="ctr">
            <a:spAutoFit/>
          </a:bodyPr>
          <a:lstStyle/>
          <a:p>
            <a:pPr algn="ctr">
              <a:lnSpc>
                <a:spcPct val="110000"/>
              </a:lnSpc>
              <a:spcAft>
                <a:spcPts val="0"/>
              </a:spcAft>
            </a:pPr>
            <a:r>
              <a:rPr sz="2080" b="1" i="0">
                <a:solidFill>
                  <a:srgbClr val="556A83"/>
                </a:solidFill>
                <a:latin typeface="Arial"/>
              </a:rPr>
              <a:t>→</a:t>
            </a:r>
          </a:p>
        </p:txBody>
      </p:sp>
      <p:sp>
        <p:nvSpPr>
          <p:cNvPr id="23" name="Rectangle 22"/>
          <p:cNvSpPr/>
          <p:nvPr/>
        </p:nvSpPr>
        <p:spPr>
          <a:xfrm>
            <a:off x="438922" y="6164275"/>
            <a:ext cx="8873559" cy="604723"/>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5230" y="6164275"/>
            <a:ext cx="8558998" cy="604723"/>
          </a:xfrm>
          <a:prstGeom prst="rect">
            <a:avLst/>
          </a:prstGeom>
          <a:noFill/>
        </p:spPr>
        <p:txBody>
          <a:bodyPr wrap="square" lIns="0" tIns="0" rIns="0" bIns="0" anchor="ctr">
            <a:spAutoFit/>
          </a:bodyPr>
          <a:lstStyle/>
          <a:p>
            <a:pPr algn="l">
              <a:lnSpc>
                <a:spcPct val="110000"/>
              </a:lnSpc>
              <a:spcAft>
                <a:spcPts val="0"/>
              </a:spcAft>
            </a:pPr>
            <a:r>
              <a:rPr sz="1040" b="0" i="1">
                <a:solidFill>
                  <a:srgbClr val="FFFFFF"/>
                </a:solidFill>
                <a:latin typeface="Arial"/>
              </a:rPr>
              <a:t>When the index is the crowded, expensive, fragile trade, the answer is not to pick stocks and hope — it is to own undervalued businesses and make them better. That is engaged ownership.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The Proposition</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Table 1</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What AI changes — and what it can’t</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As machine analysis becomes ubiquitous, information-based edges are competed away faster. Engaged ownership creates the change rather than reads it — the least commoditised style.</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5</a:t>
            </a:r>
          </a:p>
        </p:txBody>
      </p:sp>
      <p:sp>
        <p:nvSpPr>
          <p:cNvPr id="10" name="Rectangle 9"/>
          <p:cNvSpPr/>
          <p:nvPr/>
        </p:nvSpPr>
        <p:spPr>
          <a:xfrm>
            <a:off x="438922" y="2292096"/>
            <a:ext cx="2011730" cy="390144"/>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38" y="2292096"/>
            <a:ext cx="1821530" cy="390144"/>
          </a:xfrm>
          <a:prstGeom prst="rect">
            <a:avLst/>
          </a:prstGeom>
          <a:noFill/>
        </p:spPr>
        <p:txBody>
          <a:bodyPr wrap="square" lIns="0" tIns="0" rIns="0" bIns="0" anchor="ctr">
            <a:spAutoFit/>
          </a:bodyPr>
          <a:lstStyle/>
          <a:p>
            <a:pPr algn="l">
              <a:lnSpc>
                <a:spcPct val="108000"/>
              </a:lnSpc>
              <a:spcAft>
                <a:spcPts val="0"/>
              </a:spcAft>
            </a:pPr>
            <a:r>
              <a:rPr sz="919" b="1" i="0">
                <a:solidFill>
                  <a:srgbClr val="FFFFFF"/>
                </a:solidFill>
                <a:latin typeface="Arial"/>
              </a:rPr>
              <a:t>Investment style</a:t>
            </a:r>
          </a:p>
        </p:txBody>
      </p:sp>
      <p:sp>
        <p:nvSpPr>
          <p:cNvPr id="12" name="Rectangle 11"/>
          <p:cNvSpPr/>
          <p:nvPr/>
        </p:nvSpPr>
        <p:spPr>
          <a:xfrm>
            <a:off x="2450653" y="2292096"/>
            <a:ext cx="3767422" cy="390144"/>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53068" y="2292096"/>
            <a:ext cx="3577222" cy="390144"/>
          </a:xfrm>
          <a:prstGeom prst="rect">
            <a:avLst/>
          </a:prstGeom>
          <a:noFill/>
        </p:spPr>
        <p:txBody>
          <a:bodyPr wrap="square" lIns="0" tIns="0" rIns="0" bIns="0" anchor="ctr">
            <a:spAutoFit/>
          </a:bodyPr>
          <a:lstStyle/>
          <a:p>
            <a:pPr algn="l">
              <a:lnSpc>
                <a:spcPct val="108000"/>
              </a:lnSpc>
              <a:spcAft>
                <a:spcPts val="0"/>
              </a:spcAft>
            </a:pPr>
            <a:r>
              <a:rPr sz="919" b="1" i="0">
                <a:solidFill>
                  <a:srgbClr val="FFFFFF"/>
                </a:solidFill>
                <a:latin typeface="Arial"/>
              </a:rPr>
              <a:t>How AI changes it</a:t>
            </a:r>
          </a:p>
        </p:txBody>
      </p:sp>
      <p:sp>
        <p:nvSpPr>
          <p:cNvPr id="14" name="Rectangle 13"/>
          <p:cNvSpPr/>
          <p:nvPr/>
        </p:nvSpPr>
        <p:spPr>
          <a:xfrm>
            <a:off x="6218075" y="2292096"/>
            <a:ext cx="3072460" cy="390144"/>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20490" y="2292096"/>
            <a:ext cx="2882260" cy="390144"/>
          </a:xfrm>
          <a:prstGeom prst="rect">
            <a:avLst/>
          </a:prstGeom>
          <a:noFill/>
        </p:spPr>
        <p:txBody>
          <a:bodyPr wrap="square" lIns="0" tIns="0" rIns="0" bIns="0" anchor="ctr">
            <a:spAutoFit/>
          </a:bodyPr>
          <a:lstStyle/>
          <a:p>
            <a:pPr algn="l">
              <a:lnSpc>
                <a:spcPct val="108000"/>
              </a:lnSpc>
              <a:spcAft>
                <a:spcPts val="0"/>
              </a:spcAft>
            </a:pPr>
            <a:r>
              <a:rPr sz="919" b="1" i="0">
                <a:solidFill>
                  <a:srgbClr val="FFFFFF"/>
                </a:solidFill>
                <a:latin typeface="Arial"/>
              </a:rPr>
              <a:t>Effect on the edge</a:t>
            </a:r>
          </a:p>
        </p:txBody>
      </p:sp>
      <p:sp>
        <p:nvSpPr>
          <p:cNvPr id="16" name="Rectangle 15"/>
          <p:cNvSpPr/>
          <p:nvPr/>
        </p:nvSpPr>
        <p:spPr>
          <a:xfrm>
            <a:off x="438922" y="2682240"/>
            <a:ext cx="2011730"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1338" y="2682240"/>
            <a:ext cx="1821530" cy="760780"/>
          </a:xfrm>
          <a:prstGeom prst="rect">
            <a:avLst/>
          </a:prstGeom>
          <a:noFill/>
        </p:spPr>
        <p:txBody>
          <a:bodyPr wrap="square" lIns="0" tIns="0" rIns="0" bIns="0" anchor="ctr">
            <a:spAutoFit/>
          </a:bodyPr>
          <a:lstStyle/>
          <a:p>
            <a:pPr algn="l">
              <a:lnSpc>
                <a:spcPct val="108000"/>
              </a:lnSpc>
              <a:spcAft>
                <a:spcPts val="0"/>
              </a:spcAft>
            </a:pPr>
            <a:r>
              <a:rPr sz="880" b="1" i="0">
                <a:solidFill>
                  <a:srgbClr val="314359"/>
                </a:solidFill>
                <a:latin typeface="Arial"/>
              </a:rPr>
              <a:t>Quantitative / factor</a:t>
            </a:r>
          </a:p>
        </p:txBody>
      </p:sp>
      <p:sp>
        <p:nvSpPr>
          <p:cNvPr id="18" name="Rectangle 17"/>
          <p:cNvSpPr/>
          <p:nvPr/>
        </p:nvSpPr>
        <p:spPr>
          <a:xfrm>
            <a:off x="2450653" y="2682240"/>
            <a:ext cx="3767422"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53068" y="2682240"/>
            <a:ext cx="3577222" cy="760780"/>
          </a:xfrm>
          <a:prstGeom prst="rect">
            <a:avLst/>
          </a:prstGeom>
          <a:noFill/>
        </p:spPr>
        <p:txBody>
          <a:bodyPr wrap="square" lIns="0" tIns="0" rIns="0" bIns="0" anchor="ctr">
            <a:spAutoFit/>
          </a:bodyPr>
          <a:lstStyle/>
          <a:p>
            <a:pPr algn="l">
              <a:lnSpc>
                <a:spcPct val="108000"/>
              </a:lnSpc>
              <a:spcAft>
                <a:spcPts val="0"/>
              </a:spcAft>
            </a:pPr>
            <a:r>
              <a:rPr sz="840" b="0" i="0">
                <a:solidFill>
                  <a:srgbClr val="0E1620"/>
                </a:solidFill>
                <a:latin typeface="Arial"/>
              </a:rPr>
              <a:t>Known signals are replicated and arbitraged at machine speed.</a:t>
            </a:r>
          </a:p>
        </p:txBody>
      </p:sp>
      <p:sp>
        <p:nvSpPr>
          <p:cNvPr id="20" name="Rectangle 19"/>
          <p:cNvSpPr/>
          <p:nvPr/>
        </p:nvSpPr>
        <p:spPr>
          <a:xfrm>
            <a:off x="6218075" y="2682240"/>
            <a:ext cx="3072460"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20490" y="2682240"/>
            <a:ext cx="2882260" cy="760780"/>
          </a:xfrm>
          <a:prstGeom prst="rect">
            <a:avLst/>
          </a:prstGeom>
          <a:noFill/>
        </p:spPr>
        <p:txBody>
          <a:bodyPr wrap="square" lIns="0" tIns="0" rIns="0" bIns="0" anchor="ctr">
            <a:spAutoFit/>
          </a:bodyPr>
          <a:lstStyle/>
          <a:p>
            <a:pPr algn="l">
              <a:lnSpc>
                <a:spcPct val="108000"/>
              </a:lnSpc>
              <a:spcAft>
                <a:spcPts val="0"/>
              </a:spcAft>
            </a:pPr>
            <a:r>
              <a:rPr sz="840" b="1" i="0">
                <a:solidFill>
                  <a:srgbClr val="314359"/>
                </a:solidFill>
                <a:latin typeface="Arial"/>
              </a:rPr>
              <a:t>More crowded — published factors already fade ~58% post-publication (McLean &amp; Pontiff, 2016).</a:t>
            </a:r>
          </a:p>
        </p:txBody>
      </p:sp>
      <p:sp>
        <p:nvSpPr>
          <p:cNvPr id="22" name="Rectangle 21"/>
          <p:cNvSpPr/>
          <p:nvPr/>
        </p:nvSpPr>
        <p:spPr>
          <a:xfrm>
            <a:off x="438922" y="3443020"/>
            <a:ext cx="2011730" cy="81930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1338" y="3443020"/>
            <a:ext cx="1821530" cy="819302"/>
          </a:xfrm>
          <a:prstGeom prst="rect">
            <a:avLst/>
          </a:prstGeom>
          <a:noFill/>
        </p:spPr>
        <p:txBody>
          <a:bodyPr wrap="square" lIns="0" tIns="0" rIns="0" bIns="0" anchor="ctr">
            <a:spAutoFit/>
          </a:bodyPr>
          <a:lstStyle/>
          <a:p>
            <a:pPr algn="l">
              <a:lnSpc>
                <a:spcPct val="108000"/>
              </a:lnSpc>
              <a:spcAft>
                <a:spcPts val="0"/>
              </a:spcAft>
            </a:pPr>
            <a:r>
              <a:rPr sz="880" b="1" i="0">
                <a:solidFill>
                  <a:srgbClr val="314359"/>
                </a:solidFill>
                <a:latin typeface="Arial"/>
              </a:rPr>
              <a:t>Growth &amp; value (fundamental)</a:t>
            </a:r>
          </a:p>
        </p:txBody>
      </p:sp>
      <p:sp>
        <p:nvSpPr>
          <p:cNvPr id="24" name="Rectangle 23"/>
          <p:cNvSpPr/>
          <p:nvPr/>
        </p:nvSpPr>
        <p:spPr>
          <a:xfrm>
            <a:off x="2450653" y="3443020"/>
            <a:ext cx="3767422" cy="81930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53068" y="3443020"/>
            <a:ext cx="3577222" cy="819302"/>
          </a:xfrm>
          <a:prstGeom prst="rect">
            <a:avLst/>
          </a:prstGeom>
          <a:noFill/>
        </p:spPr>
        <p:txBody>
          <a:bodyPr wrap="square" lIns="0" tIns="0" rIns="0" bIns="0" anchor="ctr">
            <a:spAutoFit/>
          </a:bodyPr>
          <a:lstStyle/>
          <a:p>
            <a:pPr algn="l">
              <a:lnSpc>
                <a:spcPct val="108000"/>
              </a:lnSpc>
              <a:spcAft>
                <a:spcPts val="0"/>
              </a:spcAft>
            </a:pPr>
            <a:r>
              <a:rPr sz="840" b="0" i="0">
                <a:solidFill>
                  <a:srgbClr val="0E1620"/>
                </a:solidFill>
                <a:latin typeface="Arial"/>
              </a:rPr>
              <a:t>LLMs already match or beat analysts at predicting the direction of earnings (Kim, Muhn &amp; Nikolaev, 2024).</a:t>
            </a:r>
          </a:p>
        </p:txBody>
      </p:sp>
      <p:sp>
        <p:nvSpPr>
          <p:cNvPr id="26" name="Rectangle 25"/>
          <p:cNvSpPr/>
          <p:nvPr/>
        </p:nvSpPr>
        <p:spPr>
          <a:xfrm>
            <a:off x="6218075" y="3443020"/>
            <a:ext cx="3072460" cy="81930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20490" y="3443020"/>
            <a:ext cx="2882260" cy="819302"/>
          </a:xfrm>
          <a:prstGeom prst="rect">
            <a:avLst/>
          </a:prstGeom>
          <a:noFill/>
        </p:spPr>
        <p:txBody>
          <a:bodyPr wrap="square" lIns="0" tIns="0" rIns="0" bIns="0" anchor="ctr">
            <a:spAutoFit/>
          </a:bodyPr>
          <a:lstStyle/>
          <a:p>
            <a:pPr algn="l">
              <a:lnSpc>
                <a:spcPct val="108000"/>
              </a:lnSpc>
              <a:spcAft>
                <a:spcPts val="0"/>
              </a:spcAft>
            </a:pPr>
            <a:r>
              <a:rPr sz="840" b="1" i="0">
                <a:solidFill>
                  <a:srgbClr val="314359"/>
                </a:solidFill>
                <a:latin typeface="Arial"/>
              </a:rPr>
              <a:t>The analytical edge commoditises; the crowd grows and the edge thins.</a:t>
            </a:r>
          </a:p>
        </p:txBody>
      </p:sp>
      <p:sp>
        <p:nvSpPr>
          <p:cNvPr id="28" name="Rectangle 27"/>
          <p:cNvSpPr/>
          <p:nvPr/>
        </p:nvSpPr>
        <p:spPr>
          <a:xfrm>
            <a:off x="438922" y="4262323"/>
            <a:ext cx="2011730" cy="643737"/>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1338" y="4262323"/>
            <a:ext cx="1821530" cy="643737"/>
          </a:xfrm>
          <a:prstGeom prst="rect">
            <a:avLst/>
          </a:prstGeom>
          <a:noFill/>
        </p:spPr>
        <p:txBody>
          <a:bodyPr wrap="square" lIns="0" tIns="0" rIns="0" bIns="0" anchor="ctr">
            <a:spAutoFit/>
          </a:bodyPr>
          <a:lstStyle/>
          <a:p>
            <a:pPr algn="l">
              <a:lnSpc>
                <a:spcPct val="108000"/>
              </a:lnSpc>
              <a:spcAft>
                <a:spcPts val="0"/>
              </a:spcAft>
            </a:pPr>
            <a:r>
              <a:rPr sz="880" b="1" i="0">
                <a:solidFill>
                  <a:srgbClr val="314359"/>
                </a:solidFill>
                <a:latin typeface="Arial"/>
              </a:rPr>
              <a:t>Passive / index</a:t>
            </a:r>
          </a:p>
        </p:txBody>
      </p:sp>
      <p:sp>
        <p:nvSpPr>
          <p:cNvPr id="30" name="Rectangle 29"/>
          <p:cNvSpPr/>
          <p:nvPr/>
        </p:nvSpPr>
        <p:spPr>
          <a:xfrm>
            <a:off x="2450653" y="4262323"/>
            <a:ext cx="3767422" cy="643737"/>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53068" y="4262323"/>
            <a:ext cx="3577222" cy="643737"/>
          </a:xfrm>
          <a:prstGeom prst="rect">
            <a:avLst/>
          </a:prstGeom>
          <a:noFill/>
        </p:spPr>
        <p:txBody>
          <a:bodyPr wrap="square" lIns="0" tIns="0" rIns="0" bIns="0" anchor="ctr">
            <a:spAutoFit/>
          </a:bodyPr>
          <a:lstStyle/>
          <a:p>
            <a:pPr algn="l">
              <a:lnSpc>
                <a:spcPct val="108000"/>
              </a:lnSpc>
              <a:spcAft>
                <a:spcPts val="0"/>
              </a:spcAft>
            </a:pPr>
            <a:r>
              <a:rPr sz="840" b="0" i="0">
                <a:solidFill>
                  <a:srgbClr val="0E1620"/>
                </a:solidFill>
                <a:latin typeface="Arial"/>
              </a:rPr>
              <a:t>Method unchanged — but more capital chases a shrinking pool of active alpha.</a:t>
            </a:r>
          </a:p>
        </p:txBody>
      </p:sp>
      <p:sp>
        <p:nvSpPr>
          <p:cNvPr id="32" name="Rectangle 31"/>
          <p:cNvSpPr/>
          <p:nvPr/>
        </p:nvSpPr>
        <p:spPr>
          <a:xfrm>
            <a:off x="6218075" y="4262323"/>
            <a:ext cx="3072460" cy="643737"/>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20490" y="4262323"/>
            <a:ext cx="2882260" cy="643737"/>
          </a:xfrm>
          <a:prstGeom prst="rect">
            <a:avLst/>
          </a:prstGeom>
          <a:noFill/>
        </p:spPr>
        <p:txBody>
          <a:bodyPr wrap="square" lIns="0" tIns="0" rIns="0" bIns="0" anchor="ctr">
            <a:spAutoFit/>
          </a:bodyPr>
          <a:lstStyle/>
          <a:p>
            <a:pPr algn="l">
              <a:lnSpc>
                <a:spcPct val="108000"/>
              </a:lnSpc>
              <a:spcAft>
                <a:spcPts val="0"/>
              </a:spcAft>
            </a:pPr>
            <a:r>
              <a:rPr sz="840" b="1" i="0">
                <a:solidFill>
                  <a:srgbClr val="314359"/>
                </a:solidFill>
                <a:latin typeface="Arial"/>
              </a:rPr>
              <a:t>Concentration and reflexivity risk rise (see p.3).</a:t>
            </a:r>
          </a:p>
        </p:txBody>
      </p:sp>
      <p:sp>
        <p:nvSpPr>
          <p:cNvPr id="34" name="Rectangle 33"/>
          <p:cNvSpPr/>
          <p:nvPr/>
        </p:nvSpPr>
        <p:spPr>
          <a:xfrm>
            <a:off x="438922" y="4906060"/>
            <a:ext cx="2011730" cy="1033881"/>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1338" y="4906060"/>
            <a:ext cx="1821530" cy="1033881"/>
          </a:xfrm>
          <a:prstGeom prst="rect">
            <a:avLst/>
          </a:prstGeom>
          <a:noFill/>
        </p:spPr>
        <p:txBody>
          <a:bodyPr wrap="square" lIns="0" tIns="0" rIns="0" bIns="0" anchor="ctr">
            <a:spAutoFit/>
          </a:bodyPr>
          <a:lstStyle/>
          <a:p>
            <a:pPr algn="l">
              <a:lnSpc>
                <a:spcPct val="108000"/>
              </a:lnSpc>
              <a:spcAft>
                <a:spcPts val="0"/>
              </a:spcAft>
            </a:pPr>
            <a:r>
              <a:rPr sz="880" b="1" i="0">
                <a:solidFill>
                  <a:srgbClr val="FFFFFF"/>
                </a:solidFill>
                <a:latin typeface="Arial"/>
              </a:rPr>
              <a:t>Engaged ownership</a:t>
            </a:r>
          </a:p>
        </p:txBody>
      </p:sp>
      <p:sp>
        <p:nvSpPr>
          <p:cNvPr id="36" name="Rectangle 35"/>
          <p:cNvSpPr/>
          <p:nvPr/>
        </p:nvSpPr>
        <p:spPr>
          <a:xfrm>
            <a:off x="2450653" y="4906060"/>
            <a:ext cx="3767422" cy="1033881"/>
          </a:xfrm>
          <a:prstGeom prst="rect">
            <a:avLst/>
          </a:prstGeom>
          <a:solidFill>
            <a:srgbClr val="E2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53068" y="4906060"/>
            <a:ext cx="3577222" cy="1033881"/>
          </a:xfrm>
          <a:prstGeom prst="rect">
            <a:avLst/>
          </a:prstGeom>
          <a:noFill/>
        </p:spPr>
        <p:txBody>
          <a:bodyPr wrap="square" lIns="0" tIns="0" rIns="0" bIns="0" anchor="ctr">
            <a:spAutoFit/>
          </a:bodyPr>
          <a:lstStyle/>
          <a:p>
            <a:pPr algn="l">
              <a:lnSpc>
                <a:spcPct val="108000"/>
              </a:lnSpc>
              <a:spcAft>
                <a:spcPts val="0"/>
              </a:spcAft>
            </a:pPr>
            <a:r>
              <a:rPr sz="840" b="0" i="0">
                <a:solidFill>
                  <a:srgbClr val="0E1620"/>
                </a:solidFill>
                <a:latin typeface="Arial"/>
              </a:rPr>
              <a:t>Alpha comes from changing the earnings trajectory from a board seat — not from reading public data faster. AI augments our sourcing and diligence; it can’t replicate access, influence or execution.</a:t>
            </a:r>
          </a:p>
        </p:txBody>
      </p:sp>
      <p:sp>
        <p:nvSpPr>
          <p:cNvPr id="38" name="Rectangle 37"/>
          <p:cNvSpPr/>
          <p:nvPr/>
        </p:nvSpPr>
        <p:spPr>
          <a:xfrm>
            <a:off x="6218075" y="4906060"/>
            <a:ext cx="3072460" cy="1033881"/>
          </a:xfrm>
          <a:prstGeom prst="rect">
            <a:avLst/>
          </a:prstGeom>
          <a:solidFill>
            <a:srgbClr val="E2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20490" y="4906060"/>
            <a:ext cx="2882260" cy="1033881"/>
          </a:xfrm>
          <a:prstGeom prst="rect">
            <a:avLst/>
          </a:prstGeom>
          <a:noFill/>
        </p:spPr>
        <p:txBody>
          <a:bodyPr wrap="square" lIns="0" tIns="0" rIns="0" bIns="0" anchor="ctr">
            <a:spAutoFit/>
          </a:bodyPr>
          <a:lstStyle/>
          <a:p>
            <a:pPr algn="l">
              <a:lnSpc>
                <a:spcPct val="108000"/>
              </a:lnSpc>
              <a:spcAft>
                <a:spcPts val="0"/>
              </a:spcAft>
            </a:pPr>
            <a:r>
              <a:rPr sz="840" b="1" i="0">
                <a:solidFill>
                  <a:srgbClr val="314359"/>
                </a:solidFill>
                <a:latin typeface="Arial"/>
              </a:rPr>
              <a:t>Least commoditised — the edge is created, not discovered.</a:t>
            </a:r>
          </a:p>
        </p:txBody>
      </p:sp>
      <p:sp>
        <p:nvSpPr>
          <p:cNvPr id="40" name="Rectangle 39"/>
          <p:cNvSpPr/>
          <p:nvPr/>
        </p:nvSpPr>
        <p:spPr>
          <a:xfrm>
            <a:off x="438922" y="6076492"/>
            <a:ext cx="8851613" cy="53644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5230" y="6076492"/>
            <a:ext cx="8558998" cy="536448"/>
          </a:xfrm>
          <a:prstGeom prst="rect">
            <a:avLst/>
          </a:prstGeom>
          <a:noFill/>
        </p:spPr>
        <p:txBody>
          <a:bodyPr wrap="square" lIns="0" tIns="0" rIns="0" bIns="0" anchor="ctr">
            <a:spAutoFit/>
          </a:bodyPr>
          <a:lstStyle/>
          <a:p>
            <a:pPr algn="l">
              <a:lnSpc>
                <a:spcPct val="110000"/>
              </a:lnSpc>
              <a:spcAft>
                <a:spcPts val="0"/>
              </a:spcAft>
            </a:pPr>
            <a:r>
              <a:rPr sz="1000" b="0" i="1">
                <a:solidFill>
                  <a:srgbClr val="FFFFFF"/>
                </a:solidFill>
                <a:latin typeface="Arial"/>
              </a:rPr>
              <a:t>When everyone can analyse, analysis stops being an edge. The durable edge is the one AI can’t run — changing the company itself.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Market Opportunity</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Figure 1</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The inefficiency Athanase harvests</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Corporate decay is structural — it continuously recreates low-risk, high-return entry points.</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6</a:t>
            </a:r>
          </a:p>
        </p:txBody>
      </p:sp>
      <p:sp>
        <p:nvSpPr>
          <p:cNvPr id="10" name="TextBox 9"/>
          <p:cNvSpPr txBox="1"/>
          <p:nvPr/>
        </p:nvSpPr>
        <p:spPr>
          <a:xfrm>
            <a:off x="512076" y="2292096"/>
            <a:ext cx="4608691" cy="4584192"/>
          </a:xfrm>
          <a:prstGeom prst="rect">
            <a:avLst/>
          </a:prstGeom>
          <a:noFill/>
        </p:spPr>
        <p:txBody>
          <a:bodyPr wrap="square" lIns="0" tIns="0" rIns="0" bIns="0" anchor="t">
            <a:spAutoFit/>
          </a:bodyPr>
          <a:lstStyle/>
          <a:p>
            <a:pPr marL="157738" indent="-157738">
              <a:lnSpc>
                <a:spcPct val="112000"/>
              </a:lnSpc>
              <a:spcAft>
                <a:spcPts val="1400"/>
              </a:spcAft>
            </a:pPr>
            <a:r>
              <a:rPr sz="1080" b="1">
                <a:solidFill>
                  <a:srgbClr val="314359"/>
                </a:solidFill>
                <a:latin typeface="Arial"/>
              </a:rPr>
              <a:t>›  Duration mismatch.</a:t>
            </a:r>
            <a:r>
              <a:rPr sz="1080">
                <a:solidFill>
                  <a:srgbClr val="0E1620"/>
                </a:solidFill>
                <a:latin typeface="Arial"/>
              </a:rPr>
              <a:t>  CEOs run 7–8 year defensive cycles while moats erode at hyper-speed; an 80%-correct strategy decays to ~50% efficient.</a:t>
            </a:r>
          </a:p>
          <a:p>
            <a:pPr marL="157738" indent="-157738">
              <a:lnSpc>
                <a:spcPct val="112000"/>
              </a:lnSpc>
              <a:spcAft>
                <a:spcPts val="1400"/>
              </a:spcAft>
            </a:pPr>
            <a:r>
              <a:rPr sz="1080" b="1">
                <a:solidFill>
                  <a:srgbClr val="314359"/>
                </a:solidFill>
                <a:latin typeface="Arial"/>
              </a:rPr>
              <a:t>›  The prestige trap.</a:t>
            </a:r>
            <a:r>
              <a:rPr sz="1080">
                <a:solidFill>
                  <a:srgbClr val="0E1620"/>
                </a:solidFill>
                <a:latin typeface="Arial"/>
              </a:rPr>
              <a:t>  Empire-building and the sunk-cost fallacy lead management to double down on unprofitable ventures.</a:t>
            </a:r>
          </a:p>
          <a:p>
            <a:pPr marL="157738" indent="-157738">
              <a:lnSpc>
                <a:spcPct val="112000"/>
              </a:lnSpc>
              <a:spcAft>
                <a:spcPts val="1400"/>
              </a:spcAft>
            </a:pPr>
            <a:r>
              <a:rPr sz="1080" b="1">
                <a:solidFill>
                  <a:srgbClr val="314359"/>
                </a:solidFill>
                <a:latin typeface="Arial"/>
              </a:rPr>
              <a:t>›  Shareholder exhaustion.</a:t>
            </a:r>
            <a:r>
              <a:rPr sz="1080">
                <a:solidFill>
                  <a:srgbClr val="0E1620"/>
                </a:solidFill>
                <a:latin typeface="Arial"/>
              </a:rPr>
              <a:t>  As patience runs out, price hits a long-term low and liquidity dries up — Athanase becomes the “buyer of last resort” at a discount.</a:t>
            </a:r>
          </a:p>
          <a:p>
            <a:pPr marL="157738" indent="-157738">
              <a:lnSpc>
                <a:spcPct val="112000"/>
              </a:lnSpc>
              <a:spcAft>
                <a:spcPts val="1400"/>
              </a:spcAft>
            </a:pPr>
            <a:r>
              <a:rPr sz="1080" b="1">
                <a:solidFill>
                  <a:srgbClr val="314359"/>
                </a:solidFill>
                <a:latin typeface="Arial"/>
              </a:rPr>
              <a:t>›  Low competition.</a:t>
            </a:r>
            <a:r>
              <a:rPr sz="1080">
                <a:solidFill>
                  <a:srgbClr val="0E1620"/>
                </a:solidFill>
                <a:latin typeface="Arial"/>
              </a:rPr>
              <a:t>  Passive buys the most expensive names; active managers wait for proof; PE needs 10× the capital — leaving these bargains open.</a:t>
            </a:r>
          </a:p>
        </p:txBody>
      </p:sp>
      <p:graphicFrame>
        <p:nvGraphicFramePr>
          <p:cNvPr id="11" name="Chart 10"/>
          <p:cNvGraphicFramePr>
            <a:graphicFrameLocks noGrp="1"/>
          </p:cNvGraphicFramePr>
          <p:nvPr/>
        </p:nvGraphicFramePr>
        <p:xfrm>
          <a:off x="5230498" y="2487168"/>
          <a:ext cx="4169768" cy="351129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230498" y="6047232"/>
            <a:ext cx="4169768" cy="390144"/>
          </a:xfrm>
          <a:prstGeom prst="rect">
            <a:avLst/>
          </a:prstGeom>
          <a:noFill/>
        </p:spPr>
        <p:txBody>
          <a:bodyPr wrap="square" lIns="0" tIns="0" rIns="0" bIns="0" anchor="t">
            <a:spAutoFit/>
          </a:bodyPr>
          <a:lstStyle/>
          <a:p>
            <a:pPr algn="l">
              <a:lnSpc>
                <a:spcPct val="110000"/>
              </a:lnSpc>
              <a:spcAft>
                <a:spcPts val="0"/>
              </a:spcAft>
            </a:pPr>
            <a:r>
              <a:rPr sz="800" b="0" i="1">
                <a:solidFill>
                  <a:srgbClr val="556A83"/>
                </a:solidFill>
                <a:latin typeface="Arial"/>
              </a:rPr>
              <a:t>Even an excellent team’s edge erodes as the external environment shifts.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The Opportunity</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Table 2</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Why mid-market is the sweet spot</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Big enough to run well, small enough to change — and to grow. The engaged-ownership opportunity is richest in the middle.</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7</a:t>
            </a:r>
          </a:p>
        </p:txBody>
      </p:sp>
      <p:sp>
        <p:nvSpPr>
          <p:cNvPr id="10" name="Rectangle 9"/>
          <p:cNvSpPr/>
          <p:nvPr/>
        </p:nvSpPr>
        <p:spPr>
          <a:xfrm>
            <a:off x="402346" y="2292096"/>
            <a:ext cx="1828845" cy="3901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0130" y="2292096"/>
            <a:ext cx="1682538" cy="390144"/>
          </a:xfrm>
          <a:prstGeom prst="rect">
            <a:avLst/>
          </a:prstGeom>
          <a:noFill/>
        </p:spPr>
        <p:txBody>
          <a:bodyPr wrap="square" lIns="0" tIns="0" rIns="0" bIns="0" anchor="ctr">
            <a:spAutoFit/>
          </a:bodyPr>
          <a:lstStyle/>
          <a:p>
            <a:pPr algn="l">
              <a:lnSpc>
                <a:spcPct val="105000"/>
              </a:lnSpc>
              <a:spcAft>
                <a:spcPts val="0"/>
              </a:spcAft>
            </a:pPr>
            <a:endParaRPr/>
          </a:p>
        </p:txBody>
      </p:sp>
      <p:sp>
        <p:nvSpPr>
          <p:cNvPr id="12" name="Rectangle 11"/>
          <p:cNvSpPr/>
          <p:nvPr/>
        </p:nvSpPr>
        <p:spPr>
          <a:xfrm>
            <a:off x="2231191" y="2292096"/>
            <a:ext cx="2377499" cy="390144"/>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8976" y="2292096"/>
            <a:ext cx="2231191" cy="390144"/>
          </a:xfrm>
          <a:prstGeom prst="rect">
            <a:avLst/>
          </a:prstGeom>
          <a:noFill/>
        </p:spPr>
        <p:txBody>
          <a:bodyPr wrap="square" lIns="0" tIns="0" rIns="0" bIns="0" anchor="ctr">
            <a:spAutoFit/>
          </a:bodyPr>
          <a:lstStyle/>
          <a:p>
            <a:pPr algn="l">
              <a:lnSpc>
                <a:spcPct val="105000"/>
              </a:lnSpc>
              <a:spcAft>
                <a:spcPts val="0"/>
              </a:spcAft>
            </a:pPr>
            <a:r>
              <a:rPr sz="960" b="1" i="0">
                <a:solidFill>
                  <a:srgbClr val="FFFFFF"/>
                </a:solidFill>
                <a:latin typeface="Arial"/>
              </a:rPr>
              <a:t>Small-cap</a:t>
            </a:r>
          </a:p>
        </p:txBody>
      </p:sp>
      <p:sp>
        <p:nvSpPr>
          <p:cNvPr id="14" name="Rectangle 13"/>
          <p:cNvSpPr/>
          <p:nvPr/>
        </p:nvSpPr>
        <p:spPr>
          <a:xfrm>
            <a:off x="4608691" y="2292096"/>
            <a:ext cx="2560384" cy="390144"/>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96475" y="2292096"/>
            <a:ext cx="2414076" cy="390144"/>
          </a:xfrm>
          <a:prstGeom prst="rect">
            <a:avLst/>
          </a:prstGeom>
          <a:noFill/>
        </p:spPr>
        <p:txBody>
          <a:bodyPr wrap="square" lIns="0" tIns="0" rIns="0" bIns="0" anchor="ctr">
            <a:spAutoFit/>
          </a:bodyPr>
          <a:lstStyle/>
          <a:p>
            <a:pPr algn="l">
              <a:lnSpc>
                <a:spcPct val="105000"/>
              </a:lnSpc>
              <a:spcAft>
                <a:spcPts val="0"/>
              </a:spcAft>
            </a:pPr>
            <a:r>
              <a:rPr sz="960" b="1" i="0">
                <a:solidFill>
                  <a:srgbClr val="FFFFFF"/>
                </a:solidFill>
                <a:latin typeface="Arial"/>
              </a:rPr>
              <a:t>Mid-market</a:t>
            </a:r>
          </a:p>
        </p:txBody>
      </p:sp>
      <p:sp>
        <p:nvSpPr>
          <p:cNvPr id="16" name="Rectangle 15"/>
          <p:cNvSpPr/>
          <p:nvPr/>
        </p:nvSpPr>
        <p:spPr>
          <a:xfrm>
            <a:off x="7169075" y="2292096"/>
            <a:ext cx="2121461" cy="390144"/>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56859" y="2292096"/>
            <a:ext cx="1975153" cy="390144"/>
          </a:xfrm>
          <a:prstGeom prst="rect">
            <a:avLst/>
          </a:prstGeom>
          <a:noFill/>
        </p:spPr>
        <p:txBody>
          <a:bodyPr wrap="square" lIns="0" tIns="0" rIns="0" bIns="0" anchor="ctr">
            <a:spAutoFit/>
          </a:bodyPr>
          <a:lstStyle/>
          <a:p>
            <a:pPr algn="l">
              <a:lnSpc>
                <a:spcPct val="105000"/>
              </a:lnSpc>
              <a:spcAft>
                <a:spcPts val="0"/>
              </a:spcAft>
            </a:pPr>
            <a:r>
              <a:rPr sz="960" b="1" i="0">
                <a:solidFill>
                  <a:srgbClr val="FFFFFF"/>
                </a:solidFill>
                <a:latin typeface="Arial"/>
              </a:rPr>
              <a:t>Large-cap</a:t>
            </a:r>
          </a:p>
        </p:txBody>
      </p:sp>
      <p:sp>
        <p:nvSpPr>
          <p:cNvPr id="18" name="Rectangle 17"/>
          <p:cNvSpPr/>
          <p:nvPr/>
        </p:nvSpPr>
        <p:spPr>
          <a:xfrm>
            <a:off x="402346" y="2682240"/>
            <a:ext cx="1828845"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0130" y="2682240"/>
            <a:ext cx="1682538"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Organisational depth</a:t>
            </a:r>
          </a:p>
        </p:txBody>
      </p:sp>
      <p:sp>
        <p:nvSpPr>
          <p:cNvPr id="20" name="Rectangle 19"/>
          <p:cNvSpPr/>
          <p:nvPr/>
        </p:nvSpPr>
        <p:spPr>
          <a:xfrm>
            <a:off x="2231191" y="2682240"/>
            <a:ext cx="2377499"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18976" y="2682240"/>
            <a:ext cx="2231191"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Often too thin to support a capable team</a:t>
            </a:r>
          </a:p>
        </p:txBody>
      </p:sp>
      <p:sp>
        <p:nvSpPr>
          <p:cNvPr id="22" name="Rectangle 21"/>
          <p:cNvSpPr/>
          <p:nvPr/>
        </p:nvSpPr>
        <p:spPr>
          <a:xfrm>
            <a:off x="4608691" y="2682240"/>
            <a:ext cx="2560384"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96475" y="2682240"/>
            <a:ext cx="2414076"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Enough structure for a real management team and processes</a:t>
            </a:r>
          </a:p>
        </p:txBody>
      </p:sp>
      <p:sp>
        <p:nvSpPr>
          <p:cNvPr id="24" name="Rectangle 23"/>
          <p:cNvSpPr/>
          <p:nvPr/>
        </p:nvSpPr>
        <p:spPr>
          <a:xfrm>
            <a:off x="7169075" y="2682240"/>
            <a:ext cx="2121461"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56859" y="2682240"/>
            <a:ext cx="1975153"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Deep, but layered and slow</a:t>
            </a:r>
          </a:p>
        </p:txBody>
      </p:sp>
      <p:sp>
        <p:nvSpPr>
          <p:cNvPr id="26" name="Rectangle 25"/>
          <p:cNvSpPr/>
          <p:nvPr/>
        </p:nvSpPr>
        <p:spPr>
          <a:xfrm>
            <a:off x="402346" y="3443020"/>
            <a:ext cx="1828845"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0130" y="3443020"/>
            <a:ext cx="1682538"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Growth runway</a:t>
            </a:r>
          </a:p>
        </p:txBody>
      </p:sp>
      <p:sp>
        <p:nvSpPr>
          <p:cNvPr id="28" name="Rectangle 27"/>
          <p:cNvSpPr/>
          <p:nvPr/>
        </p:nvSpPr>
        <p:spPr>
          <a:xfrm>
            <a:off x="2231191" y="3443020"/>
            <a:ext cx="2377499"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318976" y="3443020"/>
            <a:ext cx="2231191"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Long, but fragile and under-resourced</a:t>
            </a:r>
          </a:p>
        </p:txBody>
      </p:sp>
      <p:sp>
        <p:nvSpPr>
          <p:cNvPr id="30" name="Rectangle 29"/>
          <p:cNvSpPr/>
          <p:nvPr/>
        </p:nvSpPr>
        <p:spPr>
          <a:xfrm>
            <a:off x="4608691" y="3443020"/>
            <a:ext cx="2560384" cy="760780"/>
          </a:xfrm>
          <a:prstGeom prst="rect">
            <a:avLst/>
          </a:prstGeom>
          <a:solidFill>
            <a:srgbClr val="E2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96475" y="3443020"/>
            <a:ext cx="2414076"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Still long — small enough to compound for years</a:t>
            </a:r>
          </a:p>
        </p:txBody>
      </p:sp>
      <p:sp>
        <p:nvSpPr>
          <p:cNvPr id="32" name="Rectangle 31"/>
          <p:cNvSpPr/>
          <p:nvPr/>
        </p:nvSpPr>
        <p:spPr>
          <a:xfrm>
            <a:off x="7169075" y="3443020"/>
            <a:ext cx="2121461"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56859" y="3443020"/>
            <a:ext cx="1975153"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Largely played out; growth is incremental</a:t>
            </a:r>
          </a:p>
        </p:txBody>
      </p:sp>
      <p:sp>
        <p:nvSpPr>
          <p:cNvPr id="34" name="Rectangle 33"/>
          <p:cNvSpPr/>
          <p:nvPr/>
        </p:nvSpPr>
        <p:spPr>
          <a:xfrm>
            <a:off x="402346" y="4203801"/>
            <a:ext cx="1828845"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0130" y="4203801"/>
            <a:ext cx="1682538"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Speed of change</a:t>
            </a:r>
          </a:p>
        </p:txBody>
      </p:sp>
      <p:sp>
        <p:nvSpPr>
          <p:cNvPr id="36" name="Rectangle 35"/>
          <p:cNvSpPr/>
          <p:nvPr/>
        </p:nvSpPr>
        <p:spPr>
          <a:xfrm>
            <a:off x="2231191" y="4203801"/>
            <a:ext cx="2377499"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318976" y="4203801"/>
            <a:ext cx="2231191"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Fast, but limited resources to execute</a:t>
            </a:r>
          </a:p>
        </p:txBody>
      </p:sp>
      <p:sp>
        <p:nvSpPr>
          <p:cNvPr id="38" name="Rectangle 37"/>
          <p:cNvSpPr/>
          <p:nvPr/>
        </p:nvSpPr>
        <p:spPr>
          <a:xfrm>
            <a:off x="4608691" y="4203801"/>
            <a:ext cx="2560384"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96475" y="4203801"/>
            <a:ext cx="2414076"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Operational change lands within ~1.5 years</a:t>
            </a:r>
          </a:p>
        </p:txBody>
      </p:sp>
      <p:sp>
        <p:nvSpPr>
          <p:cNvPr id="40" name="Rectangle 39"/>
          <p:cNvSpPr/>
          <p:nvPr/>
        </p:nvSpPr>
        <p:spPr>
          <a:xfrm>
            <a:off x="7169075" y="4203801"/>
            <a:ext cx="2121461" cy="760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56859" y="4203801"/>
            <a:ext cx="1975153"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Years to turn; entrenched complexity</a:t>
            </a:r>
          </a:p>
        </p:txBody>
      </p:sp>
      <p:sp>
        <p:nvSpPr>
          <p:cNvPr id="42" name="Rectangle 41"/>
          <p:cNvSpPr/>
          <p:nvPr/>
        </p:nvSpPr>
        <p:spPr>
          <a:xfrm>
            <a:off x="402346" y="4964582"/>
            <a:ext cx="1828845"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0130" y="4964582"/>
            <a:ext cx="1682538"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Owner influence</a:t>
            </a:r>
          </a:p>
        </p:txBody>
      </p:sp>
      <p:sp>
        <p:nvSpPr>
          <p:cNvPr id="44" name="Rectangle 43"/>
          <p:cNvSpPr/>
          <p:nvPr/>
        </p:nvSpPr>
        <p:spPr>
          <a:xfrm>
            <a:off x="2231191" y="4964582"/>
            <a:ext cx="2377499"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18976" y="4964582"/>
            <a:ext cx="2231191"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High, but little to work with</a:t>
            </a:r>
          </a:p>
        </p:txBody>
      </p:sp>
      <p:sp>
        <p:nvSpPr>
          <p:cNvPr id="46" name="Rectangle 45"/>
          <p:cNvSpPr/>
          <p:nvPr/>
        </p:nvSpPr>
        <p:spPr>
          <a:xfrm>
            <a:off x="4608691" y="4964582"/>
            <a:ext cx="2560384" cy="760780"/>
          </a:xfrm>
          <a:prstGeom prst="rect">
            <a:avLst/>
          </a:prstGeom>
          <a:solidFill>
            <a:srgbClr val="E2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96475" y="4964582"/>
            <a:ext cx="2414076" cy="760780"/>
          </a:xfrm>
          <a:prstGeom prst="rect">
            <a:avLst/>
          </a:prstGeom>
          <a:noFill/>
        </p:spPr>
        <p:txBody>
          <a:bodyPr wrap="square" lIns="0" tIns="0" rIns="0" bIns="0" anchor="ctr">
            <a:spAutoFit/>
          </a:bodyPr>
          <a:lstStyle/>
          <a:p>
            <a:pPr algn="l">
              <a:lnSpc>
                <a:spcPct val="105000"/>
              </a:lnSpc>
              <a:spcAft>
                <a:spcPts val="0"/>
              </a:spcAft>
            </a:pPr>
            <a:r>
              <a:rPr sz="880" b="1" i="0">
                <a:solidFill>
                  <a:srgbClr val="314359"/>
                </a:solidFill>
                <a:latin typeface="Arial"/>
              </a:rPr>
              <a:t>A board seat genuinely moves the outcome</a:t>
            </a:r>
          </a:p>
        </p:txBody>
      </p:sp>
      <p:sp>
        <p:nvSpPr>
          <p:cNvPr id="48" name="Rectangle 47"/>
          <p:cNvSpPr/>
          <p:nvPr/>
        </p:nvSpPr>
        <p:spPr>
          <a:xfrm>
            <a:off x="7169075" y="4964582"/>
            <a:ext cx="2121461" cy="7607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56859" y="4964582"/>
            <a:ext cx="1975153" cy="760780"/>
          </a:xfrm>
          <a:prstGeom prst="rect">
            <a:avLst/>
          </a:prstGeom>
          <a:noFill/>
        </p:spPr>
        <p:txBody>
          <a:bodyPr wrap="square" lIns="0" tIns="0" rIns="0" bIns="0" anchor="ctr">
            <a:spAutoFit/>
          </a:bodyPr>
          <a:lstStyle/>
          <a:p>
            <a:pPr algn="l">
              <a:lnSpc>
                <a:spcPct val="105000"/>
              </a:lnSpc>
              <a:spcAft>
                <a:spcPts val="0"/>
              </a:spcAft>
            </a:pPr>
            <a:r>
              <a:rPr sz="880" b="0" i="0">
                <a:solidFill>
                  <a:srgbClr val="556A83"/>
                </a:solidFill>
                <a:latin typeface="Arial"/>
              </a:rPr>
              <a:t>Diluted; one owner rarely shifts the agenda</a:t>
            </a:r>
          </a:p>
        </p:txBody>
      </p:sp>
      <p:sp>
        <p:nvSpPr>
          <p:cNvPr id="50" name="TextBox 49"/>
          <p:cNvSpPr txBox="1"/>
          <p:nvPr/>
        </p:nvSpPr>
        <p:spPr>
          <a:xfrm>
            <a:off x="402346" y="5861913"/>
            <a:ext cx="8924767" cy="409651"/>
          </a:xfrm>
          <a:prstGeom prst="rect">
            <a:avLst/>
          </a:prstGeom>
          <a:noFill/>
        </p:spPr>
        <p:txBody>
          <a:bodyPr wrap="square" lIns="0" tIns="0" rIns="0" bIns="0" anchor="t">
            <a:spAutoFit/>
          </a:bodyPr>
          <a:lstStyle/>
          <a:p>
            <a:pPr algn="l">
              <a:lnSpc>
                <a:spcPct val="110000"/>
              </a:lnSpc>
              <a:spcAft>
                <a:spcPts val="0"/>
              </a:spcAft>
            </a:pPr>
            <a:r>
              <a:rPr sz="1040" b="0" i="1">
                <a:solidFill>
                  <a:srgbClr val="314359"/>
                </a:solidFill>
                <a:latin typeface="Arial"/>
              </a:rPr>
              <a:t>Mid-market companies are run well enough to be worth owning, yet small enough that an engaged owner can still change — and grow — them.</a:t>
            </a:r>
          </a:p>
        </p:txBody>
      </p:sp>
      <p:sp>
        <p:nvSpPr>
          <p:cNvPr id="51" name="TextBox 50"/>
          <p:cNvSpPr txBox="1"/>
          <p:nvPr/>
        </p:nvSpPr>
        <p:spPr>
          <a:xfrm>
            <a:off x="402346" y="6369100"/>
            <a:ext cx="8924767" cy="585216"/>
          </a:xfrm>
          <a:prstGeom prst="rect">
            <a:avLst/>
          </a:prstGeom>
          <a:noFill/>
        </p:spPr>
        <p:txBody>
          <a:bodyPr wrap="square" lIns="0" tIns="0" rIns="0" bIns="0" anchor="t">
            <a:spAutoFit/>
          </a:bodyPr>
          <a:lstStyle/>
          <a:p>
            <a:pPr algn="l">
              <a:lnSpc>
                <a:spcPct val="116000"/>
              </a:lnSpc>
              <a:spcAft>
                <a:spcPts val="0"/>
              </a:spcAft>
            </a:pPr>
            <a:r>
              <a:rPr sz="760" b="0" i="0">
                <a:solidFill>
                  <a:srgbClr val="556A83"/>
                </a:solidFill>
                <a:latin typeface="Arial"/>
              </a:rPr>
              <a:t>And the opportunity set is deep and global: ~50,000 listed companies worldwide (World Federation of Exchanges, 2024); the investable MSCI ACWI IMI spans ~8,800 large-, mid- and small-cap names across 23 developed and 24 emerging markets — about 1,600 of them mid-caps (MSCI, 2024). Our €50m–€3bn target band, in markets with a stable legal system, is a large subset.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The Opportunity</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Why mid-caps are more often mispriced</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The companies that are easiest to improve are also the most likely to be mispriced — three structural features of the mid-market leave more value on the table.</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8</a:t>
            </a:r>
          </a:p>
        </p:txBody>
      </p:sp>
      <p:sp>
        <p:nvSpPr>
          <p:cNvPr id="9" name="Rectangle 8"/>
          <p:cNvSpPr/>
          <p:nvPr/>
        </p:nvSpPr>
        <p:spPr>
          <a:xfrm>
            <a:off x="438922"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22"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1 · Thin analyst coverage</a:t>
            </a:r>
          </a:p>
        </p:txBody>
      </p:sp>
      <p:sp>
        <p:nvSpPr>
          <p:cNvPr id="11" name="Rectangle 10"/>
          <p:cNvSpPr/>
          <p:nvPr/>
        </p:nvSpPr>
        <p:spPr>
          <a:xfrm>
            <a:off x="438922"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9861"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Far fewer sell-side analysts follow a mid-cap than a mega-cap, and many have little or no coverage at all. Less information reaches the market, so price discovery is slower and the gap between price and intrinsic value persists for longer.</a:t>
            </a:r>
          </a:p>
        </p:txBody>
      </p:sp>
      <p:sp>
        <p:nvSpPr>
          <p:cNvPr id="13" name="Rectangle 12"/>
          <p:cNvSpPr/>
          <p:nvPr/>
        </p:nvSpPr>
        <p:spPr>
          <a:xfrm>
            <a:off x="3474806"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806"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2 · Fewer sophisticated investors</a:t>
            </a:r>
          </a:p>
        </p:txBody>
      </p:sp>
      <p:sp>
        <p:nvSpPr>
          <p:cNvPr id="15" name="Rectangle 14"/>
          <p:cNvSpPr/>
          <p:nvPr/>
        </p:nvSpPr>
        <p:spPr>
          <a:xfrm>
            <a:off x="3474806"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35745"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The segment is too small to move the needle for the largest institutions, so it is under-owned by the most resourced investors. Pricing is set at the margin by less-informed holders — leaving more frequent, and larger, mispricings.</a:t>
            </a:r>
          </a:p>
        </p:txBody>
      </p:sp>
      <p:sp>
        <p:nvSpPr>
          <p:cNvPr id="17" name="Rectangle 16"/>
          <p:cNvSpPr/>
          <p:nvPr/>
        </p:nvSpPr>
        <p:spPr>
          <a:xfrm>
            <a:off x="6510690" y="2292096"/>
            <a:ext cx="2706691" cy="507187"/>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0690" y="2292096"/>
            <a:ext cx="2706691" cy="507187"/>
          </a:xfrm>
          <a:prstGeom prst="rect">
            <a:avLst/>
          </a:prstGeom>
          <a:noFill/>
        </p:spPr>
        <p:txBody>
          <a:bodyPr wrap="square" lIns="0" tIns="0" rIns="0" bIns="0" anchor="ctr">
            <a:spAutoFit/>
          </a:bodyPr>
          <a:lstStyle/>
          <a:p>
            <a:pPr algn="ctr">
              <a:lnSpc>
                <a:spcPct val="110000"/>
              </a:lnSpc>
              <a:spcAft>
                <a:spcPts val="0"/>
              </a:spcAft>
            </a:pPr>
            <a:r>
              <a:rPr sz="1080" b="1" i="0">
                <a:solidFill>
                  <a:srgbClr val="FFFFFF"/>
                </a:solidFill>
                <a:latin typeface="Times New Roman"/>
              </a:rPr>
              <a:t>3 · Higher earnings volatility</a:t>
            </a:r>
          </a:p>
        </p:txBody>
      </p:sp>
      <p:sp>
        <p:nvSpPr>
          <p:cNvPr id="19" name="Rectangle 18"/>
          <p:cNvSpPr/>
          <p:nvPr/>
        </p:nvSpPr>
        <p:spPr>
          <a:xfrm>
            <a:off x="6510690" y="2799283"/>
            <a:ext cx="2706691" cy="26334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1629" y="2994355"/>
            <a:ext cx="2384814" cy="2340864"/>
          </a:xfrm>
          <a:prstGeom prst="rect">
            <a:avLst/>
          </a:prstGeom>
          <a:noFill/>
        </p:spPr>
        <p:txBody>
          <a:bodyPr wrap="square" lIns="0" tIns="0" rIns="0" bIns="0" anchor="t">
            <a:spAutoFit/>
          </a:bodyPr>
          <a:lstStyle/>
          <a:p>
            <a:pPr algn="l">
              <a:lnSpc>
                <a:spcPct val="120000"/>
              </a:lnSpc>
              <a:spcAft>
                <a:spcPts val="0"/>
              </a:spcAft>
            </a:pPr>
            <a:r>
              <a:rPr sz="1040" b="0" i="0">
                <a:solidFill>
                  <a:srgbClr val="0E1620"/>
                </a:solidFill>
                <a:latin typeface="Arial"/>
              </a:rPr>
              <a:t>Mid-caps’ earnings swing more than large caps’ — they are less diversified and earlier in their growth. The market over-extrapolates each swing, over-punishing a soft quarter and widening the discount to an otherwise durable core.</a:t>
            </a:r>
          </a:p>
        </p:txBody>
      </p:sp>
      <p:sp>
        <p:nvSpPr>
          <p:cNvPr id="23" name="Rectangle 22"/>
          <p:cNvSpPr/>
          <p:nvPr/>
        </p:nvSpPr>
        <p:spPr>
          <a:xfrm>
            <a:off x="438922" y="6164275"/>
            <a:ext cx="8873559" cy="604723"/>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5230" y="6164275"/>
            <a:ext cx="8558998" cy="604723"/>
          </a:xfrm>
          <a:prstGeom prst="rect">
            <a:avLst/>
          </a:prstGeom>
          <a:noFill/>
        </p:spPr>
        <p:txBody>
          <a:bodyPr wrap="square" lIns="0" tIns="0" rIns="0" bIns="0" anchor="ctr">
            <a:spAutoFit/>
          </a:bodyPr>
          <a:lstStyle/>
          <a:p>
            <a:pPr algn="l">
              <a:lnSpc>
                <a:spcPct val="110000"/>
              </a:lnSpc>
              <a:spcAft>
                <a:spcPts val="0"/>
              </a:spcAft>
            </a:pPr>
            <a:r>
              <a:rPr sz="1040" b="0" i="1">
                <a:solidFill>
                  <a:srgbClr val="FFFFFF"/>
                </a:solidFill>
                <a:latin typeface="Arial"/>
              </a:rPr>
              <a:t>Less coverage, fewer expert owners and lumpier earnings mean mid-caps are mispriced more often and by more — a deeper opportunity set of low-risk entry points for a disciplined engaged owner.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Barriers to Entry</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Why this opportunity isn’t arbitraged away</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Engaged ownership is hard, uncomfortable and off-mandate for most investors — so the crowd stays away and the inefficiency is never competed out. Four barriers keep the lane open.</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9</a:t>
            </a:r>
          </a:p>
        </p:txBody>
      </p:sp>
      <p:sp>
        <p:nvSpPr>
          <p:cNvPr id="9" name="Rectangle 8"/>
          <p:cNvSpPr/>
          <p:nvPr/>
        </p:nvSpPr>
        <p:spPr>
          <a:xfrm>
            <a:off x="438922" y="2292096"/>
            <a:ext cx="4330706" cy="18921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22" y="2292096"/>
            <a:ext cx="51207" cy="189219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9122" y="2418892"/>
            <a:ext cx="4023460" cy="390144"/>
          </a:xfrm>
          <a:prstGeom prst="rect">
            <a:avLst/>
          </a:prstGeom>
          <a:noFill/>
        </p:spPr>
        <p:txBody>
          <a:bodyPr wrap="square" lIns="0" tIns="0" rIns="0" bIns="0" anchor="t">
            <a:spAutoFit/>
          </a:bodyPr>
          <a:lstStyle/>
          <a:p>
            <a:pPr algn="l">
              <a:lnSpc>
                <a:spcPct val="110000"/>
              </a:lnSpc>
              <a:spcAft>
                <a:spcPts val="0"/>
              </a:spcAft>
            </a:pPr>
            <a:r>
              <a:rPr sz="1080" b="1" i="0">
                <a:solidFill>
                  <a:srgbClr val="152130"/>
                </a:solidFill>
                <a:latin typeface="Times New Roman"/>
              </a:rPr>
              <a:t>Fear keeps the crowd on the sidelines</a:t>
            </a:r>
          </a:p>
        </p:txBody>
      </p:sp>
      <p:sp>
        <p:nvSpPr>
          <p:cNvPr id="12" name="TextBox 11"/>
          <p:cNvSpPr txBox="1"/>
          <p:nvPr/>
        </p:nvSpPr>
        <p:spPr>
          <a:xfrm>
            <a:off x="629122" y="2828544"/>
            <a:ext cx="3994199" cy="1267968"/>
          </a:xfrm>
          <a:prstGeom prst="rect">
            <a:avLst/>
          </a:prstGeom>
          <a:noFill/>
        </p:spPr>
        <p:txBody>
          <a:bodyPr wrap="square" lIns="0" tIns="0" rIns="0" bIns="0" anchor="t">
            <a:spAutoFit/>
          </a:bodyPr>
          <a:lstStyle/>
          <a:p>
            <a:pPr algn="l">
              <a:lnSpc>
                <a:spcPct val="113000"/>
              </a:lnSpc>
              <a:spcAft>
                <a:spcPts val="0"/>
              </a:spcAft>
            </a:pPr>
            <a:r>
              <a:rPr sz="880" b="0" i="0">
                <a:solidFill>
                  <a:srgbClr val="0E1620"/>
                </a:solidFill>
                <a:latin typeface="Arial"/>
              </a:rPr>
              <a:t>Most investors avoid a company while it is underperforming and wait for the turn — buying back only once results visibly improve, and the price with them. We do the opposite: we buy at the point of maximum doubt and create the improvement ourselves.</a:t>
            </a:r>
          </a:p>
        </p:txBody>
      </p:sp>
      <p:sp>
        <p:nvSpPr>
          <p:cNvPr id="13" name="Rectangle 12"/>
          <p:cNvSpPr/>
          <p:nvPr/>
        </p:nvSpPr>
        <p:spPr>
          <a:xfrm>
            <a:off x="4981775" y="2292096"/>
            <a:ext cx="4330706" cy="18921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981775" y="2292096"/>
            <a:ext cx="51207" cy="189219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71975" y="2418892"/>
            <a:ext cx="4023460" cy="390144"/>
          </a:xfrm>
          <a:prstGeom prst="rect">
            <a:avLst/>
          </a:prstGeom>
          <a:noFill/>
        </p:spPr>
        <p:txBody>
          <a:bodyPr wrap="square" lIns="0" tIns="0" rIns="0" bIns="0" anchor="t">
            <a:spAutoFit/>
          </a:bodyPr>
          <a:lstStyle/>
          <a:p>
            <a:pPr algn="l">
              <a:lnSpc>
                <a:spcPct val="110000"/>
              </a:lnSpc>
              <a:spcAft>
                <a:spcPts val="0"/>
              </a:spcAft>
            </a:pPr>
            <a:r>
              <a:rPr sz="1080" b="1" i="0">
                <a:solidFill>
                  <a:srgbClr val="152130"/>
                </a:solidFill>
                <a:latin typeface="Times New Roman"/>
              </a:rPr>
              <a:t>The skill bar is genuinely high</a:t>
            </a:r>
          </a:p>
        </p:txBody>
      </p:sp>
      <p:sp>
        <p:nvSpPr>
          <p:cNvPr id="16" name="TextBox 15"/>
          <p:cNvSpPr txBox="1"/>
          <p:nvPr/>
        </p:nvSpPr>
        <p:spPr>
          <a:xfrm>
            <a:off x="5171975" y="2828544"/>
            <a:ext cx="3994199" cy="1267968"/>
          </a:xfrm>
          <a:prstGeom prst="rect">
            <a:avLst/>
          </a:prstGeom>
          <a:noFill/>
        </p:spPr>
        <p:txBody>
          <a:bodyPr wrap="square" lIns="0" tIns="0" rIns="0" bIns="0" anchor="t">
            <a:spAutoFit/>
          </a:bodyPr>
          <a:lstStyle/>
          <a:p>
            <a:pPr algn="l">
              <a:lnSpc>
                <a:spcPct val="113000"/>
              </a:lnSpc>
              <a:spcAft>
                <a:spcPts val="0"/>
              </a:spcAft>
            </a:pPr>
            <a:r>
              <a:rPr sz="880" b="0" i="0">
                <a:solidFill>
                  <a:srgbClr val="0E1620"/>
                </a:solidFill>
                <a:latin typeface="Arial"/>
              </a:rPr>
              <a:t>It takes three things at once — operating credibility, deep investment experience, and the psychological strength to convince a board and fellow shareholders you are right. Few managers have all three, so few can even attempt it.</a:t>
            </a:r>
          </a:p>
        </p:txBody>
      </p:sp>
      <p:sp>
        <p:nvSpPr>
          <p:cNvPr id="17" name="Rectangle 16"/>
          <p:cNvSpPr/>
          <p:nvPr/>
        </p:nvSpPr>
        <p:spPr>
          <a:xfrm>
            <a:off x="438922" y="4340352"/>
            <a:ext cx="4330706" cy="18921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8922" y="4340352"/>
            <a:ext cx="51207" cy="189219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9122" y="4467148"/>
            <a:ext cx="4023460" cy="390144"/>
          </a:xfrm>
          <a:prstGeom prst="rect">
            <a:avLst/>
          </a:prstGeom>
          <a:noFill/>
        </p:spPr>
        <p:txBody>
          <a:bodyPr wrap="square" lIns="0" tIns="0" rIns="0" bIns="0" anchor="t">
            <a:spAutoFit/>
          </a:bodyPr>
          <a:lstStyle/>
          <a:p>
            <a:pPr algn="l">
              <a:lnSpc>
                <a:spcPct val="110000"/>
              </a:lnSpc>
              <a:spcAft>
                <a:spcPts val="0"/>
              </a:spcAft>
            </a:pPr>
            <a:r>
              <a:rPr sz="1080" b="1" i="0">
                <a:solidFill>
                  <a:srgbClr val="152130"/>
                </a:solidFill>
                <a:latin typeface="Times New Roman"/>
              </a:rPr>
              <a:t>Career risk — and the wrong mandate</a:t>
            </a:r>
          </a:p>
        </p:txBody>
      </p:sp>
      <p:sp>
        <p:nvSpPr>
          <p:cNvPr id="20" name="TextBox 19"/>
          <p:cNvSpPr txBox="1"/>
          <p:nvPr/>
        </p:nvSpPr>
        <p:spPr>
          <a:xfrm>
            <a:off x="629122" y="4876800"/>
            <a:ext cx="3994199" cy="1267968"/>
          </a:xfrm>
          <a:prstGeom prst="rect">
            <a:avLst/>
          </a:prstGeom>
          <a:noFill/>
        </p:spPr>
        <p:txBody>
          <a:bodyPr wrap="square" lIns="0" tIns="0" rIns="0" bIns="0" anchor="t">
            <a:spAutoFit/>
          </a:bodyPr>
          <a:lstStyle/>
          <a:p>
            <a:pPr algn="l">
              <a:lnSpc>
                <a:spcPct val="113000"/>
              </a:lnSpc>
              <a:spcAft>
                <a:spcPts val="0"/>
              </a:spcAft>
            </a:pPr>
            <a:r>
              <a:rPr sz="880" b="0" i="0">
                <a:solidFill>
                  <a:srgbClr val="0E1620"/>
                </a:solidFill>
                <a:latin typeface="Arial"/>
              </a:rPr>
              <a:t>Voicing a public or private view on what a company must do carries real career risk; the typical, risk-averse equity manager would rather stay quiet. And most funds have no mandate to engage at all — they simply vote with their feet and sell.</a:t>
            </a:r>
          </a:p>
        </p:txBody>
      </p:sp>
      <p:sp>
        <p:nvSpPr>
          <p:cNvPr id="21" name="Rectangle 20"/>
          <p:cNvSpPr/>
          <p:nvPr/>
        </p:nvSpPr>
        <p:spPr>
          <a:xfrm>
            <a:off x="4981775" y="4340352"/>
            <a:ext cx="4330706" cy="18921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981775" y="4340352"/>
            <a:ext cx="51207" cy="189219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71975" y="4467148"/>
            <a:ext cx="4023460" cy="390144"/>
          </a:xfrm>
          <a:prstGeom prst="rect">
            <a:avLst/>
          </a:prstGeom>
          <a:noFill/>
        </p:spPr>
        <p:txBody>
          <a:bodyPr wrap="square" lIns="0" tIns="0" rIns="0" bIns="0" anchor="t">
            <a:spAutoFit/>
          </a:bodyPr>
          <a:lstStyle/>
          <a:p>
            <a:pPr algn="l">
              <a:lnSpc>
                <a:spcPct val="110000"/>
              </a:lnSpc>
              <a:spcAft>
                <a:spcPts val="0"/>
              </a:spcAft>
            </a:pPr>
            <a:r>
              <a:rPr sz="1080" b="1" i="0">
                <a:solidFill>
                  <a:srgbClr val="152130"/>
                </a:solidFill>
                <a:latin typeface="Times New Roman"/>
              </a:rPr>
              <a:t>They misread the discount</a:t>
            </a:r>
          </a:p>
        </p:txBody>
      </p:sp>
      <p:sp>
        <p:nvSpPr>
          <p:cNvPr id="24" name="TextBox 23"/>
          <p:cNvSpPr txBox="1"/>
          <p:nvPr/>
        </p:nvSpPr>
        <p:spPr>
          <a:xfrm>
            <a:off x="5171975" y="4876800"/>
            <a:ext cx="3994199" cy="1267968"/>
          </a:xfrm>
          <a:prstGeom prst="rect">
            <a:avLst/>
          </a:prstGeom>
          <a:noFill/>
        </p:spPr>
        <p:txBody>
          <a:bodyPr wrap="square" lIns="0" tIns="0" rIns="0" bIns="0" anchor="t">
            <a:spAutoFit/>
          </a:bodyPr>
          <a:lstStyle/>
          <a:p>
            <a:pPr algn="l">
              <a:lnSpc>
                <a:spcPct val="113000"/>
              </a:lnSpc>
              <a:spcAft>
                <a:spcPts val="0"/>
              </a:spcAft>
            </a:pPr>
            <a:r>
              <a:rPr sz="880" b="0" i="0">
                <a:solidFill>
                  <a:srgbClr val="0E1620"/>
                </a:solidFill>
                <a:latin typeface="Arial"/>
              </a:rPr>
              <a:t>The crowd assumes a cheap, troubled company is even worse than it looks — and is often right. We play a different game: we buy good businesses hidden inside a poorly-run structure — quality at a discount, not a value trap.</a:t>
            </a:r>
          </a:p>
        </p:txBody>
      </p:sp>
      <p:sp>
        <p:nvSpPr>
          <p:cNvPr id="25" name="Rectangle 24"/>
          <p:cNvSpPr/>
          <p:nvPr/>
        </p:nvSpPr>
        <p:spPr>
          <a:xfrm>
            <a:off x="438922" y="6388608"/>
            <a:ext cx="8895505" cy="48768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5230" y="6388608"/>
            <a:ext cx="8632151" cy="487680"/>
          </a:xfrm>
          <a:prstGeom prst="rect">
            <a:avLst/>
          </a:prstGeom>
          <a:noFill/>
        </p:spPr>
        <p:txBody>
          <a:bodyPr wrap="square" lIns="0" tIns="0" rIns="0" bIns="0" anchor="ctr">
            <a:spAutoFit/>
          </a:bodyPr>
          <a:lstStyle/>
          <a:p>
            <a:pPr algn="l">
              <a:lnSpc>
                <a:spcPct val="110000"/>
              </a:lnSpc>
              <a:spcAft>
                <a:spcPts val="0"/>
              </a:spcAft>
            </a:pPr>
            <a:r>
              <a:rPr sz="960" b="0" i="1">
                <a:solidFill>
                  <a:srgbClr val="FFFFFF"/>
                </a:solidFill>
                <a:latin typeface="Arial"/>
              </a:rPr>
              <a:t>Each barrier filters out the typical manager; together they keep the opportunity uncrowded — and clearing all four at once is exactly what our combination of operating and investing experience is built to 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Overview</a:t>
            </a:r>
          </a:p>
        </p:txBody>
      </p:sp>
      <p:sp>
        <p:nvSpPr>
          <p:cNvPr id="5" name="Rectangle 4"/>
          <p:cNvSpPr/>
          <p:nvPr/>
        </p:nvSpPr>
        <p:spPr>
          <a:xfrm>
            <a:off x="0" y="604723"/>
            <a:ext cx="9753600" cy="10241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Athanase at a glance</a:t>
            </a:r>
          </a:p>
        </p:txBody>
      </p:sp>
      <p:sp>
        <p:nvSpPr>
          <p:cNvPr id="7" name="TextBox 6"/>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10</a:t>
            </a:r>
          </a:p>
        </p:txBody>
      </p:sp>
      <p:sp>
        <p:nvSpPr>
          <p:cNvPr id="8" name="Rectangle 7"/>
          <p:cNvSpPr/>
          <p:nvPr/>
        </p:nvSpPr>
        <p:spPr>
          <a:xfrm>
            <a:off x="548653" y="1901952"/>
            <a:ext cx="2158037" cy="180441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53" y="2175052"/>
            <a:ext cx="2158037" cy="1365504"/>
          </a:xfrm>
          <a:prstGeom prst="rect">
            <a:avLst/>
          </a:prstGeom>
          <a:noFill/>
        </p:spPr>
        <p:txBody>
          <a:bodyPr wrap="square" lIns="0" tIns="0" rIns="0" bIns="0" anchor="t">
            <a:spAutoFit/>
          </a:bodyPr>
          <a:lstStyle/>
          <a:p>
            <a:pPr algn="ctr">
              <a:lnSpc>
                <a:spcPct val="110000"/>
              </a:lnSpc>
              <a:spcAft>
                <a:spcPts val="400"/>
              </a:spcAft>
            </a:pPr>
            <a:r>
              <a:rPr sz="3200" b="0" i="0" spc="-120">
                <a:solidFill>
                  <a:srgbClr val="314359"/>
                </a:solidFill>
                <a:latin typeface="Times New Roman"/>
              </a:rPr>
              <a:t>38</a:t>
            </a:r>
          </a:p>
          <a:p>
            <a:pPr algn="ctr">
              <a:lnSpc>
                <a:spcPct val="110000"/>
              </a:lnSpc>
              <a:spcAft>
                <a:spcPts val="0"/>
              </a:spcAft>
            </a:pPr>
            <a:r>
              <a:rPr sz="960" b="0" i="0">
                <a:solidFill>
                  <a:srgbClr val="556A83"/>
                </a:solidFill>
                <a:latin typeface="Arial"/>
              </a:rPr>
              <a:t>investments as</a:t>
            </a:r>
          </a:p>
          <a:p>
            <a:pPr algn="ctr">
              <a:lnSpc>
                <a:spcPct val="110000"/>
              </a:lnSpc>
              <a:spcAft>
                <a:spcPts val="0"/>
              </a:spcAft>
            </a:pPr>
            <a:r>
              <a:rPr sz="960" b="0" i="0">
                <a:solidFill>
                  <a:srgbClr val="556A83"/>
                </a:solidFill>
                <a:latin typeface="Arial"/>
              </a:rPr>
              <a:t>engaged owners</a:t>
            </a:r>
          </a:p>
        </p:txBody>
      </p:sp>
      <p:sp>
        <p:nvSpPr>
          <p:cNvPr id="10" name="Rectangle 9"/>
          <p:cNvSpPr/>
          <p:nvPr/>
        </p:nvSpPr>
        <p:spPr>
          <a:xfrm>
            <a:off x="2838368" y="1901952"/>
            <a:ext cx="2158037" cy="180441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8368" y="2175052"/>
            <a:ext cx="2158037" cy="1365504"/>
          </a:xfrm>
          <a:prstGeom prst="rect">
            <a:avLst/>
          </a:prstGeom>
          <a:noFill/>
        </p:spPr>
        <p:txBody>
          <a:bodyPr wrap="square" lIns="0" tIns="0" rIns="0" bIns="0" anchor="t">
            <a:spAutoFit/>
          </a:bodyPr>
          <a:lstStyle/>
          <a:p>
            <a:pPr algn="ctr">
              <a:lnSpc>
                <a:spcPct val="110000"/>
              </a:lnSpc>
              <a:spcAft>
                <a:spcPts val="400"/>
              </a:spcAft>
            </a:pPr>
            <a:r>
              <a:rPr sz="3200" b="0" i="0" spc="-120">
                <a:solidFill>
                  <a:srgbClr val="314359"/>
                </a:solidFill>
                <a:latin typeface="Times New Roman"/>
              </a:rPr>
              <a:t>19%</a:t>
            </a:r>
          </a:p>
          <a:p>
            <a:pPr algn="ctr">
              <a:lnSpc>
                <a:spcPct val="110000"/>
              </a:lnSpc>
              <a:spcAft>
                <a:spcPts val="0"/>
              </a:spcAft>
            </a:pPr>
            <a:r>
              <a:rPr sz="960" b="0" i="0">
                <a:solidFill>
                  <a:srgbClr val="556A83"/>
                </a:solidFill>
                <a:latin typeface="Arial"/>
              </a:rPr>
              <a:t>avg annualised NET,</a:t>
            </a:r>
          </a:p>
          <a:p>
            <a:pPr algn="ctr">
              <a:lnSpc>
                <a:spcPct val="110000"/>
              </a:lnSpc>
              <a:spcAft>
                <a:spcPts val="0"/>
              </a:spcAft>
            </a:pPr>
            <a:r>
              <a:rPr sz="960" b="0" i="0">
                <a:solidFill>
                  <a:srgbClr val="556A83"/>
                </a:solidFill>
                <a:latin typeface="Arial"/>
              </a:rPr>
              <a:t>any entry month*</a:t>
            </a:r>
          </a:p>
        </p:txBody>
      </p:sp>
      <p:sp>
        <p:nvSpPr>
          <p:cNvPr id="12" name="Rectangle 11"/>
          <p:cNvSpPr/>
          <p:nvPr/>
        </p:nvSpPr>
        <p:spPr>
          <a:xfrm>
            <a:off x="5128083" y="1901952"/>
            <a:ext cx="2158037" cy="180441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28083" y="2175052"/>
            <a:ext cx="2158037" cy="1365504"/>
          </a:xfrm>
          <a:prstGeom prst="rect">
            <a:avLst/>
          </a:prstGeom>
          <a:noFill/>
        </p:spPr>
        <p:txBody>
          <a:bodyPr wrap="square" lIns="0" tIns="0" rIns="0" bIns="0" anchor="t">
            <a:spAutoFit/>
          </a:bodyPr>
          <a:lstStyle/>
          <a:p>
            <a:pPr algn="ctr">
              <a:lnSpc>
                <a:spcPct val="110000"/>
              </a:lnSpc>
              <a:spcAft>
                <a:spcPts val="400"/>
              </a:spcAft>
            </a:pPr>
            <a:r>
              <a:rPr sz="3200" b="0" i="0" spc="-120">
                <a:solidFill>
                  <a:srgbClr val="314359"/>
                </a:solidFill>
                <a:latin typeface="Times New Roman"/>
              </a:rPr>
              <a:t>7%</a:t>
            </a:r>
          </a:p>
          <a:p>
            <a:pPr algn="ctr">
              <a:lnSpc>
                <a:spcPct val="110000"/>
              </a:lnSpc>
              <a:spcAft>
                <a:spcPts val="0"/>
              </a:spcAft>
            </a:pPr>
            <a:r>
              <a:rPr sz="960" b="0" i="0">
                <a:solidFill>
                  <a:srgbClr val="556A83"/>
                </a:solidFill>
                <a:latin typeface="Arial"/>
              </a:rPr>
              <a:t>worst-ever entry,</a:t>
            </a:r>
          </a:p>
          <a:p>
            <a:pPr algn="ctr">
              <a:lnSpc>
                <a:spcPct val="110000"/>
              </a:lnSpc>
              <a:spcAft>
                <a:spcPts val="0"/>
              </a:spcAft>
            </a:pPr>
            <a:r>
              <a:rPr sz="960" b="0" i="0">
                <a:solidFill>
                  <a:srgbClr val="556A83"/>
                </a:solidFill>
                <a:latin typeface="Arial"/>
              </a:rPr>
              <a:t>still positive*</a:t>
            </a:r>
          </a:p>
        </p:txBody>
      </p:sp>
      <p:sp>
        <p:nvSpPr>
          <p:cNvPr id="14" name="Rectangle 13"/>
          <p:cNvSpPr/>
          <p:nvPr/>
        </p:nvSpPr>
        <p:spPr>
          <a:xfrm>
            <a:off x="7417798" y="1901952"/>
            <a:ext cx="2158037" cy="180441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17798" y="2175052"/>
            <a:ext cx="2158037" cy="1365504"/>
          </a:xfrm>
          <a:prstGeom prst="rect">
            <a:avLst/>
          </a:prstGeom>
          <a:noFill/>
        </p:spPr>
        <p:txBody>
          <a:bodyPr wrap="square" lIns="0" tIns="0" rIns="0" bIns="0" anchor="t">
            <a:spAutoFit/>
          </a:bodyPr>
          <a:lstStyle/>
          <a:p>
            <a:pPr algn="ctr">
              <a:lnSpc>
                <a:spcPct val="110000"/>
              </a:lnSpc>
              <a:spcAft>
                <a:spcPts val="400"/>
              </a:spcAft>
            </a:pPr>
            <a:r>
              <a:rPr sz="3200" b="0" i="0" spc="-120">
                <a:solidFill>
                  <a:srgbClr val="314359"/>
                </a:solidFill>
                <a:latin typeface="Times New Roman"/>
              </a:rPr>
              <a:t>18×</a:t>
            </a:r>
          </a:p>
          <a:p>
            <a:pPr algn="ctr">
              <a:lnSpc>
                <a:spcPct val="110000"/>
              </a:lnSpc>
              <a:spcAft>
                <a:spcPts val="0"/>
              </a:spcAft>
            </a:pPr>
            <a:r>
              <a:rPr sz="960" b="0" i="0">
                <a:solidFill>
                  <a:srgbClr val="556A83"/>
                </a:solidFill>
                <a:latin typeface="Arial"/>
              </a:rPr>
              <a:t>growth of capital</a:t>
            </a:r>
          </a:p>
          <a:p>
            <a:pPr algn="ctr">
              <a:lnSpc>
                <a:spcPct val="110000"/>
              </a:lnSpc>
              <a:spcAft>
                <a:spcPts val="0"/>
              </a:spcAft>
            </a:pPr>
            <a:r>
              <a:rPr sz="960" b="0" i="0">
                <a:solidFill>
                  <a:srgbClr val="556A83"/>
                </a:solidFill>
                <a:latin typeface="Arial"/>
              </a:rPr>
              <a:t>since 2006</a:t>
            </a:r>
          </a:p>
        </p:txBody>
      </p:sp>
      <p:sp>
        <p:nvSpPr>
          <p:cNvPr id="16" name="TextBox 15"/>
          <p:cNvSpPr txBox="1"/>
          <p:nvPr/>
        </p:nvSpPr>
        <p:spPr>
          <a:xfrm>
            <a:off x="548653" y="3998976"/>
            <a:ext cx="8705305" cy="4584192"/>
          </a:xfrm>
          <a:prstGeom prst="rect">
            <a:avLst/>
          </a:prstGeom>
          <a:noFill/>
        </p:spPr>
        <p:txBody>
          <a:bodyPr wrap="square" lIns="0" tIns="0" rIns="0" bIns="0" anchor="t">
            <a:spAutoFit/>
          </a:bodyPr>
          <a:lstStyle/>
          <a:p>
            <a:pPr marL="175264" indent="-175264">
              <a:lnSpc>
                <a:spcPct val="112000"/>
              </a:lnSpc>
              <a:spcAft>
                <a:spcPts val="1000"/>
              </a:spcAft>
            </a:pPr>
            <a:r>
              <a:rPr sz="1200" b="1">
                <a:solidFill>
                  <a:srgbClr val="314359"/>
                </a:solidFill>
                <a:latin typeface="Arial"/>
              </a:rPr>
              <a:t>›  ~19% average annualised return*</a:t>
            </a:r>
            <a:r>
              <a:rPr sz="1200">
                <a:solidFill>
                  <a:srgbClr val="0E1620"/>
                </a:solidFill>
                <a:latin typeface="Arial"/>
              </a:rPr>
              <a:t>  whatever month you invested and held to today — entry timing has barely mattered.</a:t>
            </a:r>
          </a:p>
          <a:p>
            <a:pPr marL="175264" indent="-175264">
              <a:lnSpc>
                <a:spcPct val="112000"/>
              </a:lnSpc>
              <a:spcAft>
                <a:spcPts val="1000"/>
              </a:spcAft>
            </a:pPr>
            <a:r>
              <a:rPr sz="1200" b="1">
                <a:solidFill>
                  <a:srgbClr val="314359"/>
                </a:solidFill>
                <a:latin typeface="Arial"/>
              </a:rPr>
              <a:t>›  ~7% in the single worst entry month</a:t>
            </a:r>
            <a:r>
              <a:rPr sz="1200">
                <a:solidFill>
                  <a:srgbClr val="0E1620"/>
                </a:solidFill>
                <a:latin typeface="Arial"/>
              </a:rPr>
              <a:t>  even the unluckiest possible entry still compounded at a mid-single-digit net return — no investor lost over the holding period.</a:t>
            </a:r>
          </a:p>
          <a:p>
            <a:pPr marL="175264" indent="-175264">
              <a:lnSpc>
                <a:spcPct val="112000"/>
              </a:lnSpc>
              <a:spcAft>
                <a:spcPts val="1000"/>
              </a:spcAft>
            </a:pPr>
            <a:r>
              <a:rPr sz="1200" b="1">
                <a:solidFill>
                  <a:srgbClr val="314359"/>
                </a:solidFill>
                <a:latin typeface="Arial"/>
              </a:rPr>
              <a:t>›  16.3% time-weighted NET since 2006</a:t>
            </a:r>
            <a:r>
              <a:rPr sz="1200">
                <a:solidFill>
                  <a:srgbClr val="0E1620"/>
                </a:solidFill>
                <a:latin typeface="Arial"/>
              </a:rPr>
              <a:t>  vs MSCI IMI 6.2% — net of all fees.</a:t>
            </a:r>
          </a:p>
        </p:txBody>
      </p:sp>
      <p:sp>
        <p:nvSpPr>
          <p:cNvPr id="17" name="TextBox 16"/>
          <p:cNvSpPr txBox="1"/>
          <p:nvPr/>
        </p:nvSpPr>
        <p:spPr>
          <a:xfrm>
            <a:off x="548653" y="6583680"/>
            <a:ext cx="8632151" cy="390144"/>
          </a:xfrm>
          <a:prstGeom prst="rect">
            <a:avLst/>
          </a:prstGeom>
          <a:noFill/>
        </p:spPr>
        <p:txBody>
          <a:bodyPr wrap="square" lIns="0" tIns="0" rIns="0" bIns="0" anchor="t">
            <a:spAutoFit/>
          </a:bodyPr>
          <a:lstStyle/>
          <a:p>
            <a:pPr algn="l">
              <a:lnSpc>
                <a:spcPct val="110000"/>
              </a:lnSpc>
              <a:spcAft>
                <a:spcPts val="0"/>
              </a:spcAft>
            </a:pPr>
            <a:r>
              <a:rPr sz="720" b="0" i="0">
                <a:solidFill>
                  <a:srgbClr val="556A83"/>
                </a:solidFill>
                <a:latin typeface="Arial"/>
              </a:rPr>
              <a:t>*Average of the annualised NET return earned investing in each individual month and holding to the end (107 entry months, AIPFII). Time-weighted figure annualised over actual invested time. Past performance is not indicative of future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Why Athanase</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Why Athanase is the firm best built to capture this inefficiency</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Harvesting this mispricing takes four capabilities at once — find the hidden core, win real control, fix it from the boardroom, and prove it repeats. Few managers have one; we have built all four.</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11</a:t>
            </a:r>
          </a:p>
        </p:txBody>
      </p:sp>
      <p:sp>
        <p:nvSpPr>
          <p:cNvPr id="9" name="Rectangle 8"/>
          <p:cNvSpPr/>
          <p:nvPr/>
        </p:nvSpPr>
        <p:spPr>
          <a:xfrm>
            <a:off x="453553" y="2292096"/>
            <a:ext cx="4286814"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0599" y="2292096"/>
            <a:ext cx="4067352" cy="448665"/>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Times New Roman"/>
              </a:rPr>
              <a:t>1 · We find what others miss</a:t>
            </a:r>
          </a:p>
        </p:txBody>
      </p:sp>
      <p:sp>
        <p:nvSpPr>
          <p:cNvPr id="11" name="Rectangle 10"/>
          <p:cNvSpPr/>
          <p:nvPr/>
        </p:nvSpPr>
        <p:spPr>
          <a:xfrm>
            <a:off x="453553" y="2740761"/>
            <a:ext cx="4286814" cy="169712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30" y="2857804"/>
            <a:ext cx="4023460" cy="1502054"/>
          </a:xfrm>
          <a:prstGeom prst="rect">
            <a:avLst/>
          </a:prstGeom>
          <a:noFill/>
        </p:spPr>
        <p:txBody>
          <a:bodyPr wrap="square" lIns="0" tIns="0" rIns="0" bIns="0" anchor="t">
            <a:spAutoFit/>
          </a:bodyPr>
          <a:lstStyle/>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A proprietary universe</a:t>
            </a:r>
            <a:r>
              <a:rPr sz="720">
                <a:solidFill>
                  <a:srgbClr val="0E1620"/>
                </a:solidFill>
                <a:latin typeface="Arial"/>
              </a:rPr>
              <a:t> — ~60,000 companies restated to economic reality, separating the profitable core from the value-destroying pivot.</a:t>
            </a:r>
          </a:p>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Moat- and CEO-scored</a:t>
            </a:r>
            <a:r>
              <a:rPr sz="720">
                <a:solidFill>
                  <a:srgbClr val="0E1620"/>
                </a:solidFill>
                <a:latin typeface="Arial"/>
              </a:rPr>
              <a:t> — ~20,000 names ranked; about 1 in 1,000 screened is ever bought.</a:t>
            </a:r>
          </a:p>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Hidden cores, not broken companies</a:t>
            </a:r>
            <a:r>
              <a:rPr sz="720">
                <a:solidFill>
                  <a:srgbClr val="0E1620"/>
                </a:solidFill>
                <a:latin typeface="Arial"/>
              </a:rPr>
              <a:t> — market leaders attractive even if we change nothing — no adverse selection.</a:t>
            </a:r>
          </a:p>
        </p:txBody>
      </p:sp>
      <p:sp>
        <p:nvSpPr>
          <p:cNvPr id="13" name="Rectangle 12"/>
          <p:cNvSpPr/>
          <p:nvPr/>
        </p:nvSpPr>
        <p:spPr>
          <a:xfrm>
            <a:off x="4872045" y="2292096"/>
            <a:ext cx="4286814"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89091" y="2292096"/>
            <a:ext cx="4067352" cy="448665"/>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Times New Roman"/>
              </a:rPr>
              <a:t>2 · We can actually change it</a:t>
            </a:r>
          </a:p>
        </p:txBody>
      </p:sp>
      <p:sp>
        <p:nvSpPr>
          <p:cNvPr id="15" name="Rectangle 14"/>
          <p:cNvSpPr/>
          <p:nvPr/>
        </p:nvSpPr>
        <p:spPr>
          <a:xfrm>
            <a:off x="4872045" y="2740761"/>
            <a:ext cx="4286814" cy="169712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03721" y="2857804"/>
            <a:ext cx="4023460" cy="1502054"/>
          </a:xfrm>
          <a:prstGeom prst="rect">
            <a:avLst/>
          </a:prstGeom>
          <a:noFill/>
        </p:spPr>
        <p:txBody>
          <a:bodyPr wrap="square" lIns="0" tIns="0" rIns="0" bIns="0" anchor="t">
            <a:spAutoFit/>
          </a:bodyPr>
          <a:lstStyle/>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An operator’s edge, not an analyst’s</a:t>
            </a:r>
            <a:r>
              <a:rPr sz="720">
                <a:solidFill>
                  <a:srgbClr val="0E1620"/>
                </a:solidFill>
                <a:latin typeface="Arial"/>
              </a:rPr>
              <a:t> — one integrated team for 20 years; 30+ public board seats; former CEOs and CIOs.</a:t>
            </a:r>
          </a:p>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Control from the boardroom</a:t>
            </a:r>
            <a:r>
              <a:rPr sz="720">
                <a:solidFill>
                  <a:srgbClr val="0E1620"/>
                </a:solidFill>
                <a:latin typeface="Arial"/>
              </a:rPr>
              <a:t> — the experience to fix capital allocation, M&amp;A and focus — not merely to advise.</a:t>
            </a:r>
          </a:p>
          <a:p>
            <a:pPr marL="118875" indent="-118875">
              <a:lnSpc>
                <a:spcPct val="108000"/>
              </a:lnSpc>
              <a:spcAft>
                <a:spcPts val="400"/>
              </a:spcAft>
            </a:pPr>
            <a:r>
              <a:rPr sz="720" b="1">
                <a:solidFill>
                  <a:srgbClr val="556A83"/>
                </a:solidFill>
                <a:latin typeface="Arial"/>
              </a:rPr>
              <a:t>›  </a:t>
            </a:r>
            <a:r>
              <a:rPr sz="720" b="1">
                <a:solidFill>
                  <a:srgbClr val="314359"/>
                </a:solidFill>
                <a:latin typeface="Arial"/>
              </a:rPr>
              <a:t>The edge AI cannot replicate</a:t>
            </a:r>
            <a:r>
              <a:rPr sz="720">
                <a:solidFill>
                  <a:srgbClr val="0E1620"/>
                </a:solidFill>
                <a:latin typeface="Arial"/>
              </a:rPr>
              <a:t> — access, influence and execution, not reading public data faster.</a:t>
            </a:r>
          </a:p>
        </p:txBody>
      </p:sp>
      <p:sp>
        <p:nvSpPr>
          <p:cNvPr id="17" name="Rectangle 16"/>
          <p:cNvSpPr/>
          <p:nvPr/>
        </p:nvSpPr>
        <p:spPr>
          <a:xfrm>
            <a:off x="453553" y="4535424"/>
            <a:ext cx="4286814"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0599" y="4535424"/>
            <a:ext cx="4067352" cy="448665"/>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Times New Roman"/>
              </a:rPr>
              <a:t>3 · We own the lane others abandoned</a:t>
            </a:r>
          </a:p>
        </p:txBody>
      </p:sp>
      <p:sp>
        <p:nvSpPr>
          <p:cNvPr id="19" name="Rectangle 18"/>
          <p:cNvSpPr/>
          <p:nvPr/>
        </p:nvSpPr>
        <p:spPr>
          <a:xfrm>
            <a:off x="453553" y="4984089"/>
            <a:ext cx="4286814" cy="169712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5230" y="5101132"/>
            <a:ext cx="4023460" cy="811632"/>
          </a:xfrm>
          <a:prstGeom prst="rect">
            <a:avLst/>
          </a:prstGeom>
          <a:noFill/>
        </p:spPr>
        <p:txBody>
          <a:bodyPr wrap="square" lIns="0" tIns="0" rIns="0" bIns="0" anchor="t">
            <a:spAutoFit/>
          </a:bodyPr>
          <a:lstStyle/>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The mid-market sweet spot</a:t>
            </a:r>
            <a:r>
              <a:rPr sz="720" dirty="0">
                <a:solidFill>
                  <a:srgbClr val="0E1620"/>
                </a:solidFill>
                <a:latin typeface="Arial"/>
              </a:rPr>
              <a:t> — €50m–€3bn, where a single board seat genuinely moves the outcome.</a:t>
            </a:r>
          </a:p>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Uncontested by the giants</a:t>
            </a:r>
            <a:r>
              <a:rPr sz="720" dirty="0">
                <a:solidFill>
                  <a:srgbClr val="0E1620"/>
                </a:solidFill>
                <a:latin typeface="Arial"/>
              </a:rPr>
              <a:t> — mega</a:t>
            </a:r>
            <a:r>
              <a:rPr lang="en-GB" sz="720" dirty="0">
                <a:solidFill>
                  <a:srgbClr val="0E1620"/>
                </a:solidFill>
                <a:latin typeface="Arial"/>
              </a:rPr>
              <a:t>-</a:t>
            </a:r>
            <a:r>
              <a:rPr sz="720" dirty="0">
                <a:solidFill>
                  <a:srgbClr val="0E1620"/>
                </a:solidFill>
                <a:latin typeface="Arial"/>
              </a:rPr>
              <a:t>cap activists left it behind as they scaled: high return, low competition.</a:t>
            </a:r>
          </a:p>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Control by agreement</a:t>
            </a:r>
            <a:r>
              <a:rPr sz="720" dirty="0">
                <a:solidFill>
                  <a:srgbClr val="0E1620"/>
                </a:solidFill>
                <a:latin typeface="Arial"/>
              </a:rPr>
              <a:t> — we invest only after securing agreement on board engagement with the other shareholders.</a:t>
            </a:r>
            <a:r>
              <a:rPr lang="en-GB" sz="720" dirty="0">
                <a:solidFill>
                  <a:srgbClr val="0E1620"/>
                </a:solidFill>
                <a:latin typeface="Arial"/>
              </a:rPr>
              <a:t/>
            </a:r>
            <a:endParaRPr sz="720" dirty="0">
              <a:solidFill>
                <a:srgbClr val="0E1620"/>
              </a:solidFill>
              <a:latin typeface="Arial"/>
            </a:endParaRPr>
          </a:p>
        </p:txBody>
      </p:sp>
      <p:sp>
        <p:nvSpPr>
          <p:cNvPr id="21" name="Rectangle 20"/>
          <p:cNvSpPr/>
          <p:nvPr/>
        </p:nvSpPr>
        <p:spPr>
          <a:xfrm>
            <a:off x="4872045" y="4535424"/>
            <a:ext cx="4286814"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89091" y="4535424"/>
            <a:ext cx="4067352" cy="448665"/>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Times New Roman"/>
              </a:rPr>
              <a:t>4 · And we have proven it repeats</a:t>
            </a:r>
          </a:p>
        </p:txBody>
      </p:sp>
      <p:sp>
        <p:nvSpPr>
          <p:cNvPr id="23" name="Rectangle 22"/>
          <p:cNvSpPr/>
          <p:nvPr/>
        </p:nvSpPr>
        <p:spPr>
          <a:xfrm>
            <a:off x="4872045" y="4984089"/>
            <a:ext cx="4286814" cy="169712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03721" y="5101132"/>
            <a:ext cx="4023460" cy="743280"/>
          </a:xfrm>
          <a:prstGeom prst="rect">
            <a:avLst/>
          </a:prstGeom>
          <a:noFill/>
        </p:spPr>
        <p:txBody>
          <a:bodyPr wrap="square" lIns="0" tIns="0" rIns="0" bIns="0" anchor="t">
            <a:spAutoFit/>
          </a:bodyPr>
          <a:lstStyle/>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1</a:t>
            </a:r>
            <a:r>
              <a:rPr lang="en-GB" sz="720" b="1" dirty="0">
                <a:solidFill>
                  <a:srgbClr val="314359"/>
                </a:solidFill>
                <a:latin typeface="Arial"/>
              </a:rPr>
              <a:t>9</a:t>
            </a:r>
            <a:r>
              <a:rPr sz="720" b="1" dirty="0">
                <a:solidFill>
                  <a:srgbClr val="314359"/>
                </a:solidFill>
                <a:latin typeface="Arial"/>
              </a:rPr>
              <a:t>% net p.a., capital grown 18×*</a:t>
            </a:r>
            <a:r>
              <a:rPr lang="en-GB" sz="720" b="1" dirty="0">
                <a:solidFill>
                  <a:srgbClr val="314359"/>
                </a:solidFill>
                <a:latin typeface="Arial"/>
              </a:rPr>
              <a:t>, </a:t>
            </a:r>
            <a:r>
              <a:rPr lang="en-US" sz="700" b="1" dirty="0">
                <a:solidFill>
                  <a:srgbClr val="314359"/>
                </a:solidFill>
              </a:rPr>
              <a:t>7% worst-entry record</a:t>
            </a:r>
            <a:r>
              <a:rPr sz="720" dirty="0">
                <a:solidFill>
                  <a:srgbClr val="0E1620"/>
                </a:solidFill>
                <a:latin typeface="Arial"/>
              </a:rPr>
              <a:t> — through two full market cycles, net of every fee.</a:t>
            </a:r>
          </a:p>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92% deal-level hit rate (35 of 38)</a:t>
            </a:r>
            <a:r>
              <a:rPr sz="720" dirty="0">
                <a:solidFill>
                  <a:srgbClr val="0E1620"/>
                </a:solidFill>
                <a:latin typeface="Arial"/>
              </a:rPr>
              <a:t> — a 5× MOIC roughly every two years: skill, not luck.</a:t>
            </a:r>
          </a:p>
          <a:p>
            <a:pPr marL="118875" indent="-118875">
              <a:lnSpc>
                <a:spcPct val="108000"/>
              </a:lnSpc>
              <a:spcAft>
                <a:spcPts val="400"/>
              </a:spcAft>
            </a:pPr>
            <a:r>
              <a:rPr sz="720" b="1" dirty="0">
                <a:solidFill>
                  <a:srgbClr val="556A83"/>
                </a:solidFill>
                <a:latin typeface="Arial"/>
              </a:rPr>
              <a:t>›  </a:t>
            </a:r>
            <a:r>
              <a:rPr sz="720" b="1" dirty="0">
                <a:solidFill>
                  <a:srgbClr val="314359"/>
                </a:solidFill>
                <a:latin typeface="Arial"/>
              </a:rPr>
              <a:t>93% up / 43% down capture</a:t>
            </a:r>
            <a:r>
              <a:rPr sz="720" dirty="0">
                <a:solidFill>
                  <a:srgbClr val="0E1620"/>
                </a:solidFill>
                <a:latin typeface="Arial"/>
              </a:rPr>
              <a:t> — we harvest the inefficiency and protect the downside.</a:t>
            </a:r>
            <a:endParaRPr lang="en-GB" sz="720" dirty="0">
              <a:solidFill>
                <a:srgbClr val="0E1620"/>
              </a:solidFill>
              <a:latin typeface="Arial"/>
            </a:endParaRPr>
          </a:p>
          <a:p>
            <a:pPr marL="118875" indent="-118875">
              <a:lnSpc>
                <a:spcPct val="108000"/>
              </a:lnSpc>
              <a:spcAft>
                <a:spcPts val="400"/>
              </a:spcAft>
            </a:pPr>
            <a:endParaRPr sz="720" dirty="0">
              <a:solidFill>
                <a:srgbClr val="0E1620"/>
              </a:solidFill>
              <a:latin typeface="Arial"/>
            </a:endParaRPr>
          </a:p>
        </p:txBody>
      </p:sp>
      <p:sp>
        <p:nvSpPr>
          <p:cNvPr id="25" name="TextBox 24"/>
          <p:cNvSpPr txBox="1"/>
          <p:nvPr/>
        </p:nvSpPr>
        <p:spPr>
          <a:xfrm>
            <a:off x="548640" y="6748272"/>
            <a:ext cx="5943600" cy="274320"/>
          </a:xfrm>
          <a:prstGeom prst="rect">
            <a:avLst/>
          </a:prstGeom>
          <a:noFill/>
        </p:spPr>
        <p:txBody>
          <a:bodyPr wrap="square" tIns="0" bIns="0" lIns="0">
            <a:spAutoFit/>
          </a:bodyPr>
          <a:lstStyle/>
          <a:p>
            <a:r>
              <a:rPr sz="720">
                <a:solidFill>
                  <a:srgbClr val="556A83"/>
                </a:solidFill>
                <a:latin typeface="Arial"/>
              </a:rPr>
              <a:t>*18× = cumulative growth of capital since inception (2006) — not an annual or average figure.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Our Edge</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Operators and investors in one team</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The rare combination behind our model: we have run real companies as chief executives — industrial conglomerates, consumer durables and services — and invested with this exact playbook, driving operating change from the boardroom, for 20 years.</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12</a:t>
            </a:r>
          </a:p>
        </p:txBody>
      </p:sp>
      <p:sp>
        <p:nvSpPr>
          <p:cNvPr id="9" name="Rectangle 8"/>
          <p:cNvSpPr/>
          <p:nvPr/>
        </p:nvSpPr>
        <p:spPr>
          <a:xfrm>
            <a:off x="1170461" y="2701747"/>
            <a:ext cx="7242229" cy="21674"/>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22" y="2292096"/>
            <a:ext cx="1463076" cy="341376"/>
          </a:xfrm>
          <a:prstGeom prst="rect">
            <a:avLst/>
          </a:prstGeom>
          <a:noFill/>
        </p:spPr>
        <p:txBody>
          <a:bodyPr wrap="square" lIns="0" tIns="0" rIns="0" bIns="0" anchor="t">
            <a:spAutoFit/>
          </a:bodyPr>
          <a:lstStyle/>
          <a:p>
            <a:pPr algn="ctr">
              <a:lnSpc>
                <a:spcPct val="110000"/>
              </a:lnSpc>
              <a:spcAft>
                <a:spcPts val="0"/>
              </a:spcAft>
            </a:pPr>
            <a:r>
              <a:rPr sz="1200" b="1" i="0">
                <a:solidFill>
                  <a:srgbClr val="314359"/>
                </a:solidFill>
                <a:latin typeface="Times New Roman"/>
              </a:rPr>
              <a:t>1992</a:t>
            </a:r>
          </a:p>
        </p:txBody>
      </p:sp>
      <p:sp>
        <p:nvSpPr>
          <p:cNvPr id="11" name="Oval 10"/>
          <p:cNvSpPr/>
          <p:nvPr/>
        </p:nvSpPr>
        <p:spPr>
          <a:xfrm>
            <a:off x="1104622" y="2633472"/>
            <a:ext cx="131676" cy="175564"/>
          </a:xfrm>
          <a:prstGeom prst="ellipse">
            <a:avLst/>
          </a:prstGeom>
          <a:solidFill>
            <a:srgbClr val="1521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9" y="2857804"/>
            <a:ext cx="1609384" cy="292608"/>
          </a:xfrm>
          <a:prstGeom prst="rect">
            <a:avLst/>
          </a:prstGeom>
          <a:noFill/>
        </p:spPr>
        <p:txBody>
          <a:bodyPr wrap="square" lIns="0" tIns="0" rIns="0" bIns="0" anchor="t">
            <a:spAutoFit/>
          </a:bodyPr>
          <a:lstStyle/>
          <a:p>
            <a:pPr algn="ctr">
              <a:lnSpc>
                <a:spcPct val="110000"/>
              </a:lnSpc>
              <a:spcAft>
                <a:spcPts val="0"/>
              </a:spcAft>
            </a:pPr>
            <a:r>
              <a:rPr sz="960" b="0" i="0">
                <a:solidFill>
                  <a:srgbClr val="314359"/>
                </a:solidFill>
                <a:latin typeface="Arial"/>
              </a:rPr>
              <a:t>Öresund</a:t>
            </a:r>
          </a:p>
        </p:txBody>
      </p:sp>
      <p:sp>
        <p:nvSpPr>
          <p:cNvPr id="13" name="TextBox 12"/>
          <p:cNvSpPr txBox="1"/>
          <p:nvPr/>
        </p:nvSpPr>
        <p:spPr>
          <a:xfrm>
            <a:off x="2852999" y="2292096"/>
            <a:ext cx="1463076" cy="341376"/>
          </a:xfrm>
          <a:prstGeom prst="rect">
            <a:avLst/>
          </a:prstGeom>
          <a:noFill/>
        </p:spPr>
        <p:txBody>
          <a:bodyPr wrap="square" lIns="0" tIns="0" rIns="0" bIns="0" anchor="t">
            <a:spAutoFit/>
          </a:bodyPr>
          <a:lstStyle/>
          <a:p>
            <a:pPr algn="ctr">
              <a:lnSpc>
                <a:spcPct val="110000"/>
              </a:lnSpc>
              <a:spcAft>
                <a:spcPts val="0"/>
              </a:spcAft>
            </a:pPr>
            <a:r>
              <a:rPr sz="1200" b="1" i="0">
                <a:solidFill>
                  <a:srgbClr val="314359"/>
                </a:solidFill>
                <a:latin typeface="Times New Roman"/>
              </a:rPr>
              <a:t>1996</a:t>
            </a:r>
          </a:p>
        </p:txBody>
      </p:sp>
      <p:sp>
        <p:nvSpPr>
          <p:cNvPr id="14" name="Oval 13"/>
          <p:cNvSpPr/>
          <p:nvPr/>
        </p:nvSpPr>
        <p:spPr>
          <a:xfrm>
            <a:off x="3518699" y="2633472"/>
            <a:ext cx="131676" cy="175564"/>
          </a:xfrm>
          <a:prstGeom prst="ellipse">
            <a:avLst/>
          </a:prstGeom>
          <a:solidFill>
            <a:srgbClr val="1521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79845" y="2857804"/>
            <a:ext cx="1609384" cy="292608"/>
          </a:xfrm>
          <a:prstGeom prst="rect">
            <a:avLst/>
          </a:prstGeom>
          <a:noFill/>
        </p:spPr>
        <p:txBody>
          <a:bodyPr wrap="square" lIns="0" tIns="0" rIns="0" bIns="0" anchor="t">
            <a:spAutoFit/>
          </a:bodyPr>
          <a:lstStyle/>
          <a:p>
            <a:pPr algn="ctr">
              <a:lnSpc>
                <a:spcPct val="110000"/>
              </a:lnSpc>
              <a:spcAft>
                <a:spcPts val="0"/>
              </a:spcAft>
            </a:pPr>
            <a:r>
              <a:rPr sz="960" b="0" i="0">
                <a:solidFill>
                  <a:srgbClr val="314359"/>
                </a:solidFill>
                <a:latin typeface="Arial"/>
              </a:rPr>
              <a:t>Custos</a:t>
            </a:r>
          </a:p>
        </p:txBody>
      </p:sp>
      <p:sp>
        <p:nvSpPr>
          <p:cNvPr id="16" name="TextBox 15"/>
          <p:cNvSpPr txBox="1"/>
          <p:nvPr/>
        </p:nvSpPr>
        <p:spPr>
          <a:xfrm>
            <a:off x="5267075" y="2292096"/>
            <a:ext cx="1463076" cy="341376"/>
          </a:xfrm>
          <a:prstGeom prst="rect">
            <a:avLst/>
          </a:prstGeom>
          <a:noFill/>
        </p:spPr>
        <p:txBody>
          <a:bodyPr wrap="square" lIns="0" tIns="0" rIns="0" bIns="0" anchor="t">
            <a:spAutoFit/>
          </a:bodyPr>
          <a:lstStyle/>
          <a:p>
            <a:pPr algn="ctr">
              <a:lnSpc>
                <a:spcPct val="110000"/>
              </a:lnSpc>
              <a:spcAft>
                <a:spcPts val="0"/>
              </a:spcAft>
            </a:pPr>
            <a:r>
              <a:rPr sz="1200" b="1" i="0">
                <a:solidFill>
                  <a:srgbClr val="314359"/>
                </a:solidFill>
                <a:latin typeface="Times New Roman"/>
              </a:rPr>
              <a:t>2006</a:t>
            </a:r>
          </a:p>
        </p:txBody>
      </p:sp>
      <p:sp>
        <p:nvSpPr>
          <p:cNvPr id="17" name="Oval 16"/>
          <p:cNvSpPr/>
          <p:nvPr/>
        </p:nvSpPr>
        <p:spPr>
          <a:xfrm>
            <a:off x="5932775" y="2633472"/>
            <a:ext cx="131676" cy="175564"/>
          </a:xfrm>
          <a:prstGeom prst="ellipse">
            <a:avLst/>
          </a:prstGeom>
          <a:solidFill>
            <a:srgbClr val="1521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93921" y="2857804"/>
            <a:ext cx="1609384" cy="292608"/>
          </a:xfrm>
          <a:prstGeom prst="rect">
            <a:avLst/>
          </a:prstGeom>
          <a:noFill/>
        </p:spPr>
        <p:txBody>
          <a:bodyPr wrap="square" lIns="0" tIns="0" rIns="0" bIns="0" anchor="t">
            <a:spAutoFit/>
          </a:bodyPr>
          <a:lstStyle/>
          <a:p>
            <a:pPr algn="ctr">
              <a:lnSpc>
                <a:spcPct val="110000"/>
              </a:lnSpc>
              <a:spcAft>
                <a:spcPts val="0"/>
              </a:spcAft>
            </a:pPr>
            <a:r>
              <a:rPr sz="960" b="0" i="0">
                <a:solidFill>
                  <a:srgbClr val="314359"/>
                </a:solidFill>
                <a:latin typeface="Arial"/>
              </a:rPr>
              <a:t>Creades</a:t>
            </a:r>
          </a:p>
        </p:txBody>
      </p:sp>
      <p:sp>
        <p:nvSpPr>
          <p:cNvPr id="19" name="TextBox 18"/>
          <p:cNvSpPr txBox="1"/>
          <p:nvPr/>
        </p:nvSpPr>
        <p:spPr>
          <a:xfrm>
            <a:off x="7681152" y="2292096"/>
            <a:ext cx="1463076" cy="341376"/>
          </a:xfrm>
          <a:prstGeom prst="rect">
            <a:avLst/>
          </a:prstGeom>
          <a:noFill/>
        </p:spPr>
        <p:txBody>
          <a:bodyPr wrap="square" lIns="0" tIns="0" rIns="0" bIns="0" anchor="t">
            <a:spAutoFit/>
          </a:bodyPr>
          <a:lstStyle/>
          <a:p>
            <a:pPr algn="ctr">
              <a:lnSpc>
                <a:spcPct val="110000"/>
              </a:lnSpc>
              <a:spcAft>
                <a:spcPts val="0"/>
              </a:spcAft>
            </a:pPr>
            <a:r>
              <a:rPr sz="1200" b="1" i="0">
                <a:solidFill>
                  <a:srgbClr val="314359"/>
                </a:solidFill>
                <a:latin typeface="Times New Roman"/>
              </a:rPr>
              <a:t>2015</a:t>
            </a:r>
          </a:p>
        </p:txBody>
      </p:sp>
      <p:sp>
        <p:nvSpPr>
          <p:cNvPr id="20" name="Oval 19"/>
          <p:cNvSpPr/>
          <p:nvPr/>
        </p:nvSpPr>
        <p:spPr>
          <a:xfrm>
            <a:off x="8346852" y="2633472"/>
            <a:ext cx="131676" cy="175564"/>
          </a:xfrm>
          <a:prstGeom prst="ellipse">
            <a:avLst/>
          </a:prstGeom>
          <a:solidFill>
            <a:srgbClr val="1521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07998" y="2857804"/>
            <a:ext cx="1609384" cy="292608"/>
          </a:xfrm>
          <a:prstGeom prst="rect">
            <a:avLst/>
          </a:prstGeom>
          <a:noFill/>
        </p:spPr>
        <p:txBody>
          <a:bodyPr wrap="square" lIns="0" tIns="0" rIns="0" bIns="0" anchor="t">
            <a:spAutoFit/>
          </a:bodyPr>
          <a:lstStyle/>
          <a:p>
            <a:pPr algn="ctr">
              <a:lnSpc>
                <a:spcPct val="110000"/>
              </a:lnSpc>
              <a:spcAft>
                <a:spcPts val="0"/>
              </a:spcAft>
            </a:pPr>
            <a:r>
              <a:rPr sz="960" b="0" i="0">
                <a:solidFill>
                  <a:srgbClr val="314359"/>
                </a:solidFill>
                <a:latin typeface="Arial"/>
              </a:rPr>
              <a:t>Athanase</a:t>
            </a:r>
          </a:p>
        </p:txBody>
      </p:sp>
      <p:sp>
        <p:nvSpPr>
          <p:cNvPr id="22" name="TextBox 21"/>
          <p:cNvSpPr txBox="1"/>
          <p:nvPr/>
        </p:nvSpPr>
        <p:spPr>
          <a:xfrm>
            <a:off x="548653" y="3511296"/>
            <a:ext cx="8705305" cy="4584192"/>
          </a:xfrm>
          <a:prstGeom prst="rect">
            <a:avLst/>
          </a:prstGeom>
          <a:noFill/>
        </p:spPr>
        <p:txBody>
          <a:bodyPr wrap="square" lIns="0" tIns="0" rIns="0" bIns="0" anchor="t">
            <a:spAutoFit/>
          </a:bodyPr>
          <a:lstStyle/>
          <a:p>
            <a:pPr marL="169422" indent="-169422">
              <a:lnSpc>
                <a:spcPct val="112000"/>
              </a:lnSpc>
              <a:spcAft>
                <a:spcPts val="1000"/>
              </a:spcAft>
            </a:pPr>
            <a:r>
              <a:rPr sz="1160" b="1">
                <a:solidFill>
                  <a:srgbClr val="314359"/>
                </a:solidFill>
                <a:latin typeface="Arial"/>
              </a:rPr>
              <a:t>›  We have run the companies, not just modelled them.</a:t>
            </a:r>
            <a:r>
              <a:rPr sz="1160">
                <a:solidFill>
                  <a:srgbClr val="0E1620"/>
                </a:solidFill>
                <a:latin typeface="Arial"/>
              </a:rPr>
              <a:t>  Former CEOs and senior operators of industrial, consumer-durables and services businesses — we have sat in the chief executive’s seat and lived the operational “how”.</a:t>
            </a:r>
          </a:p>
          <a:p>
            <a:pPr marL="169422" indent="-169422">
              <a:lnSpc>
                <a:spcPct val="112000"/>
              </a:lnSpc>
              <a:spcAft>
                <a:spcPts val="1000"/>
              </a:spcAft>
            </a:pPr>
            <a:r>
              <a:rPr sz="1160" b="1">
                <a:solidFill>
                  <a:srgbClr val="314359"/>
                </a:solidFill>
                <a:latin typeface="Arial"/>
              </a:rPr>
              <a:t>›  We have invested this way for two decades.</a:t>
            </a:r>
            <a:r>
              <a:rPr sz="1160">
                <a:solidFill>
                  <a:srgbClr val="0E1620"/>
                </a:solidFill>
                <a:latin typeface="Arial"/>
              </a:rPr>
              <a:t>  38 companies owned and 30+ public board seats — value created by operating change through board representation, the heart of our model.</a:t>
            </a:r>
          </a:p>
          <a:p>
            <a:pPr marL="169422" indent="-169422">
              <a:lnSpc>
                <a:spcPct val="112000"/>
              </a:lnSpc>
              <a:spcAft>
                <a:spcPts val="1000"/>
              </a:spcAft>
            </a:pPr>
            <a:r>
              <a:rPr sz="1160" b="1">
                <a:solidFill>
                  <a:srgbClr val="314359"/>
                </a:solidFill>
                <a:latin typeface="Arial"/>
              </a:rPr>
              <a:t>›  The combination is the edge.</a:t>
            </a:r>
            <a:r>
              <a:rPr sz="1160">
                <a:solidFill>
                  <a:srgbClr val="0E1620"/>
                </a:solidFill>
                <a:latin typeface="Arial"/>
              </a:rPr>
              <a:t>  A forensic investing lens to find the mispriced value and a C-suite operating lens to realise it — few managers have genuinely done both.</a:t>
            </a:r>
          </a:p>
          <a:p>
            <a:pPr marL="169422" indent="-169422">
              <a:lnSpc>
                <a:spcPct val="112000"/>
              </a:lnSpc>
              <a:spcAft>
                <a:spcPts val="1000"/>
              </a:spcAft>
            </a:pPr>
            <a:r>
              <a:rPr sz="1160" b="1">
                <a:solidFill>
                  <a:srgbClr val="314359"/>
                </a:solidFill>
                <a:latin typeface="Arial"/>
              </a:rPr>
              <a:t>›  Skin in the game.</a:t>
            </a:r>
            <a:r>
              <a:rPr sz="1160">
                <a:solidFill>
                  <a:srgbClr val="0E1620"/>
                </a:solidFill>
                <a:latin typeface="Arial"/>
              </a:rPr>
              <a:t>  The team uses Athanase as its own investment vehicle and shares in the success economics.</a:t>
            </a:r>
          </a:p>
          <a:p>
            <a:pPr marL="169422" indent="-169422">
              <a:lnSpc>
                <a:spcPct val="112000"/>
              </a:lnSpc>
              <a:spcAft>
                <a:spcPts val="1000"/>
              </a:spcAft>
            </a:pPr>
            <a:r>
              <a:rPr sz="1160" b="1">
                <a:solidFill>
                  <a:srgbClr val="314359"/>
                </a:solidFill>
                <a:latin typeface="Arial"/>
              </a:rPr>
              <a:t>›  Institutional memory.</a:t>
            </a:r>
            <a:r>
              <a:rPr sz="1160">
                <a:solidFill>
                  <a:srgbClr val="0E1620"/>
                </a:solidFill>
                <a:latin typeface="Arial"/>
              </a:rPr>
              <a:t>  Multiple market cycles together eliminate key-person risk and prevent repeating historical mistakes.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Experience</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The people behind the track record</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An integrated investment team — and an independent operations, finance and control function that safeguards investor capital.</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13</a:t>
            </a:r>
          </a:p>
        </p:txBody>
      </p:sp>
      <p:sp>
        <p:nvSpPr>
          <p:cNvPr id="9" name="TextBox 8"/>
          <p:cNvSpPr txBox="1"/>
          <p:nvPr/>
        </p:nvSpPr>
        <p:spPr>
          <a:xfrm>
            <a:off x="438922" y="2126284"/>
            <a:ext cx="5852306" cy="292608"/>
          </a:xfrm>
          <a:prstGeom prst="rect">
            <a:avLst/>
          </a:prstGeom>
          <a:noFill/>
        </p:spPr>
        <p:txBody>
          <a:bodyPr wrap="square" lIns="0" tIns="0" rIns="0" bIns="0" anchor="t">
            <a:spAutoFit/>
          </a:bodyPr>
          <a:lstStyle/>
          <a:p>
            <a:pPr algn="l">
              <a:lnSpc>
                <a:spcPct val="110000"/>
              </a:lnSpc>
              <a:spcAft>
                <a:spcPts val="0"/>
              </a:spcAft>
            </a:pPr>
            <a:r>
              <a:rPr sz="880" b="1" i="0">
                <a:solidFill>
                  <a:srgbClr val="314359"/>
                </a:solidFill>
                <a:latin typeface="Arial"/>
              </a:rPr>
              <a:t>INVESTMENT TEAM</a:t>
            </a:r>
          </a:p>
        </p:txBody>
      </p:sp>
      <p:sp>
        <p:nvSpPr>
          <p:cNvPr id="10" name="Rectangle 9"/>
          <p:cNvSpPr/>
          <p:nvPr/>
        </p:nvSpPr>
        <p:spPr>
          <a:xfrm>
            <a:off x="438922" y="2438400"/>
            <a:ext cx="1704484"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22" y="2438400"/>
            <a:ext cx="43892" cy="146304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30" y="2565196"/>
            <a:ext cx="147039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Stefan Charette</a:t>
            </a:r>
          </a:p>
        </p:txBody>
      </p:sp>
      <p:sp>
        <p:nvSpPr>
          <p:cNvPr id="13" name="TextBox 12"/>
          <p:cNvSpPr txBox="1"/>
          <p:nvPr/>
        </p:nvSpPr>
        <p:spPr>
          <a:xfrm>
            <a:off x="585230" y="2848051"/>
            <a:ext cx="147039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CIO &amp; PARTNER</a:t>
            </a:r>
          </a:p>
        </p:txBody>
      </p:sp>
      <p:sp>
        <p:nvSpPr>
          <p:cNvPr id="14" name="TextBox 13"/>
          <p:cNvSpPr txBox="1"/>
          <p:nvPr/>
        </p:nvSpPr>
        <p:spPr>
          <a:xfrm>
            <a:off x="585230" y="3101644"/>
            <a:ext cx="1455761"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CEO/CIO of Custos, Investment AB Öresund and Creades; CEO of Brokk; investment banker at Lehman Brothers and Salomon Smith Barney.</a:t>
            </a:r>
          </a:p>
        </p:txBody>
      </p:sp>
      <p:sp>
        <p:nvSpPr>
          <p:cNvPr id="15" name="Rectangle 14"/>
          <p:cNvSpPr/>
          <p:nvPr/>
        </p:nvSpPr>
        <p:spPr>
          <a:xfrm>
            <a:off x="2231191" y="2438400"/>
            <a:ext cx="1704484"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31191" y="2438400"/>
            <a:ext cx="43892" cy="146304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99" y="2565196"/>
            <a:ext cx="147039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Kenth Eriksson</a:t>
            </a:r>
          </a:p>
        </p:txBody>
      </p:sp>
      <p:sp>
        <p:nvSpPr>
          <p:cNvPr id="18" name="TextBox 17"/>
          <p:cNvSpPr txBox="1"/>
          <p:nvPr/>
        </p:nvSpPr>
        <p:spPr>
          <a:xfrm>
            <a:off x="2377499" y="2848051"/>
            <a:ext cx="147039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SENIOR PM &amp; PARTNER</a:t>
            </a:r>
          </a:p>
        </p:txBody>
      </p:sp>
      <p:sp>
        <p:nvSpPr>
          <p:cNvPr id="19" name="TextBox 18"/>
          <p:cNvSpPr txBox="1"/>
          <p:nvPr/>
        </p:nvSpPr>
        <p:spPr>
          <a:xfrm>
            <a:off x="2377499" y="3101644"/>
            <a:ext cx="1455761"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Ex-CEO of Tradimus; Senior VP, Electrolux; tech owner-operator.</a:t>
            </a:r>
          </a:p>
        </p:txBody>
      </p:sp>
      <p:sp>
        <p:nvSpPr>
          <p:cNvPr id="20" name="Rectangle 19"/>
          <p:cNvSpPr/>
          <p:nvPr/>
        </p:nvSpPr>
        <p:spPr>
          <a:xfrm>
            <a:off x="4023460" y="2438400"/>
            <a:ext cx="1704484"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023460" y="2438400"/>
            <a:ext cx="43892" cy="146304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69768" y="2565196"/>
            <a:ext cx="147039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Sven Thorén</a:t>
            </a:r>
          </a:p>
        </p:txBody>
      </p:sp>
      <p:sp>
        <p:nvSpPr>
          <p:cNvPr id="23" name="TextBox 22"/>
          <p:cNvSpPr txBox="1"/>
          <p:nvPr/>
        </p:nvSpPr>
        <p:spPr>
          <a:xfrm>
            <a:off x="4169768" y="2848051"/>
            <a:ext cx="147039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PM &amp; PARTNER</a:t>
            </a:r>
          </a:p>
        </p:txBody>
      </p:sp>
      <p:sp>
        <p:nvSpPr>
          <p:cNvPr id="24" name="TextBox 23"/>
          <p:cNvSpPr txBox="1"/>
          <p:nvPr/>
        </p:nvSpPr>
        <p:spPr>
          <a:xfrm>
            <a:off x="4169768" y="3101644"/>
            <a:ext cx="1455761"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Ex-PM at Adrigo, Catella, Pan Capital and Nordea.</a:t>
            </a:r>
          </a:p>
        </p:txBody>
      </p:sp>
      <p:sp>
        <p:nvSpPr>
          <p:cNvPr id="25" name="Rectangle 24"/>
          <p:cNvSpPr/>
          <p:nvPr/>
        </p:nvSpPr>
        <p:spPr>
          <a:xfrm>
            <a:off x="5815729" y="2438400"/>
            <a:ext cx="1704484"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815729" y="2438400"/>
            <a:ext cx="43892" cy="146304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62037" y="2565196"/>
            <a:ext cx="147039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Anders Elsell</a:t>
            </a:r>
          </a:p>
        </p:txBody>
      </p:sp>
      <p:sp>
        <p:nvSpPr>
          <p:cNvPr id="28" name="TextBox 27"/>
          <p:cNvSpPr txBox="1"/>
          <p:nvPr/>
        </p:nvSpPr>
        <p:spPr>
          <a:xfrm>
            <a:off x="5962037" y="2848051"/>
            <a:ext cx="147039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SENIOR PM</a:t>
            </a:r>
          </a:p>
        </p:txBody>
      </p:sp>
      <p:sp>
        <p:nvSpPr>
          <p:cNvPr id="29" name="TextBox 28"/>
          <p:cNvSpPr txBox="1"/>
          <p:nvPr/>
        </p:nvSpPr>
        <p:spPr>
          <a:xfrm>
            <a:off x="5962037" y="3101644"/>
            <a:ext cx="1455761"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On the team since 1996; ex-CEO/CIO of HQ Fonder; Carnegie.</a:t>
            </a:r>
          </a:p>
        </p:txBody>
      </p:sp>
      <p:sp>
        <p:nvSpPr>
          <p:cNvPr id="30" name="Rectangle 29"/>
          <p:cNvSpPr/>
          <p:nvPr/>
        </p:nvSpPr>
        <p:spPr>
          <a:xfrm>
            <a:off x="7607998" y="2438400"/>
            <a:ext cx="1704484" cy="14630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607998" y="2438400"/>
            <a:ext cx="43892" cy="146304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54305" y="2565196"/>
            <a:ext cx="147039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Daniel Nyhrén</a:t>
            </a:r>
          </a:p>
        </p:txBody>
      </p:sp>
      <p:sp>
        <p:nvSpPr>
          <p:cNvPr id="33" name="TextBox 32"/>
          <p:cNvSpPr txBox="1"/>
          <p:nvPr/>
        </p:nvSpPr>
        <p:spPr>
          <a:xfrm>
            <a:off x="7754305" y="2848051"/>
            <a:ext cx="147039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PARTNER</a:t>
            </a:r>
          </a:p>
        </p:txBody>
      </p:sp>
      <p:sp>
        <p:nvSpPr>
          <p:cNvPr id="34" name="TextBox 33"/>
          <p:cNvSpPr txBox="1"/>
          <p:nvPr/>
        </p:nvSpPr>
        <p:spPr>
          <a:xfrm>
            <a:off x="7754305" y="3101644"/>
            <a:ext cx="1455761"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On the team since 2006; ex-CFO of Global Batterier.</a:t>
            </a:r>
          </a:p>
        </p:txBody>
      </p:sp>
      <p:sp>
        <p:nvSpPr>
          <p:cNvPr id="35" name="TextBox 34"/>
          <p:cNvSpPr txBox="1"/>
          <p:nvPr/>
        </p:nvSpPr>
        <p:spPr>
          <a:xfrm>
            <a:off x="438922" y="4096512"/>
            <a:ext cx="6583844" cy="292608"/>
          </a:xfrm>
          <a:prstGeom prst="rect">
            <a:avLst/>
          </a:prstGeom>
          <a:noFill/>
        </p:spPr>
        <p:txBody>
          <a:bodyPr wrap="square" lIns="0" tIns="0" rIns="0" bIns="0" anchor="t">
            <a:spAutoFit/>
          </a:bodyPr>
          <a:lstStyle/>
          <a:p>
            <a:pPr algn="l">
              <a:lnSpc>
                <a:spcPct val="110000"/>
              </a:lnSpc>
              <a:spcAft>
                <a:spcPts val="0"/>
              </a:spcAft>
            </a:pPr>
            <a:r>
              <a:rPr sz="880" b="1" i="0">
                <a:solidFill>
                  <a:srgbClr val="314359"/>
                </a:solidFill>
                <a:latin typeface="Arial"/>
              </a:rPr>
              <a:t>OPERATIONS, FINANCE &amp; CONTROL — INDEPENDENT OF THE INVESTMENT TEAM</a:t>
            </a:r>
          </a:p>
        </p:txBody>
      </p:sp>
      <p:sp>
        <p:nvSpPr>
          <p:cNvPr id="36" name="Rectangle 35"/>
          <p:cNvSpPr/>
          <p:nvPr/>
        </p:nvSpPr>
        <p:spPr>
          <a:xfrm>
            <a:off x="438922" y="4408626"/>
            <a:ext cx="2165353"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8922" y="4408626"/>
            <a:ext cx="43892" cy="1414272"/>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85230" y="4535422"/>
            <a:ext cx="193126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Malin Norrman</a:t>
            </a:r>
          </a:p>
        </p:txBody>
      </p:sp>
      <p:sp>
        <p:nvSpPr>
          <p:cNvPr id="39" name="TextBox 38"/>
          <p:cNvSpPr txBox="1"/>
          <p:nvPr/>
        </p:nvSpPr>
        <p:spPr>
          <a:xfrm>
            <a:off x="585230" y="4818277"/>
            <a:ext cx="193126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CFO</a:t>
            </a:r>
          </a:p>
        </p:txBody>
      </p:sp>
      <p:sp>
        <p:nvSpPr>
          <p:cNvPr id="40" name="TextBox 39"/>
          <p:cNvSpPr txBox="1"/>
          <p:nvPr/>
        </p:nvSpPr>
        <p:spPr>
          <a:xfrm>
            <a:off x="585230" y="5071870"/>
            <a:ext cx="1916630"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Ex-COO/CFO of Captor Fund Mgmt; risk manager at Carnegie and AB Industrivärden.</a:t>
            </a:r>
          </a:p>
        </p:txBody>
      </p:sp>
      <p:sp>
        <p:nvSpPr>
          <p:cNvPr id="41" name="Rectangle 40"/>
          <p:cNvSpPr/>
          <p:nvPr/>
        </p:nvSpPr>
        <p:spPr>
          <a:xfrm>
            <a:off x="2699376" y="4408626"/>
            <a:ext cx="2165353"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699376" y="4408626"/>
            <a:ext cx="43892" cy="1414272"/>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845683" y="4535422"/>
            <a:ext cx="193126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Grant Loon</a:t>
            </a:r>
          </a:p>
        </p:txBody>
      </p:sp>
      <p:sp>
        <p:nvSpPr>
          <p:cNvPr id="44" name="TextBox 43"/>
          <p:cNvSpPr txBox="1"/>
          <p:nvPr/>
        </p:nvSpPr>
        <p:spPr>
          <a:xfrm>
            <a:off x="2845683" y="4818277"/>
            <a:ext cx="193126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HEAD OF FUND OPERATIONS</a:t>
            </a:r>
          </a:p>
        </p:txBody>
      </p:sp>
      <p:sp>
        <p:nvSpPr>
          <p:cNvPr id="45" name="TextBox 44"/>
          <p:cNvSpPr txBox="1"/>
          <p:nvPr/>
        </p:nvSpPr>
        <p:spPr>
          <a:xfrm>
            <a:off x="2845683" y="5071870"/>
            <a:ext cx="1916630"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Ex-COO of Madrague Capital and Port Capital; Soros, Commerzbank, Morgan Stanley.</a:t>
            </a:r>
          </a:p>
        </p:txBody>
      </p:sp>
      <p:sp>
        <p:nvSpPr>
          <p:cNvPr id="46" name="Rectangle 45"/>
          <p:cNvSpPr/>
          <p:nvPr/>
        </p:nvSpPr>
        <p:spPr>
          <a:xfrm>
            <a:off x="4959829" y="4408626"/>
            <a:ext cx="2165353"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959829" y="4408626"/>
            <a:ext cx="43892" cy="1414272"/>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106137" y="4535422"/>
            <a:ext cx="193126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Eva Andersson</a:t>
            </a:r>
          </a:p>
        </p:txBody>
      </p:sp>
      <p:sp>
        <p:nvSpPr>
          <p:cNvPr id="49" name="TextBox 48"/>
          <p:cNvSpPr txBox="1"/>
          <p:nvPr/>
        </p:nvSpPr>
        <p:spPr>
          <a:xfrm>
            <a:off x="5106137" y="4818277"/>
            <a:ext cx="193126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FUND OPERATIONS</a:t>
            </a:r>
          </a:p>
        </p:txBody>
      </p:sp>
      <p:sp>
        <p:nvSpPr>
          <p:cNvPr id="50" name="TextBox 49"/>
          <p:cNvSpPr txBox="1"/>
          <p:nvPr/>
        </p:nvSpPr>
        <p:spPr>
          <a:xfrm>
            <a:off x="5106137" y="5071870"/>
            <a:ext cx="1916630"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MBA, Business School London; sales-executive background.</a:t>
            </a:r>
          </a:p>
        </p:txBody>
      </p:sp>
      <p:sp>
        <p:nvSpPr>
          <p:cNvPr id="51" name="Rectangle 50"/>
          <p:cNvSpPr/>
          <p:nvPr/>
        </p:nvSpPr>
        <p:spPr>
          <a:xfrm>
            <a:off x="7220283" y="4408626"/>
            <a:ext cx="2165353"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220283" y="4408626"/>
            <a:ext cx="43892" cy="1414272"/>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66590" y="4535422"/>
            <a:ext cx="1931261" cy="292608"/>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Zetong Liu</a:t>
            </a:r>
          </a:p>
        </p:txBody>
      </p:sp>
      <p:sp>
        <p:nvSpPr>
          <p:cNvPr id="54" name="TextBox 53"/>
          <p:cNvSpPr txBox="1"/>
          <p:nvPr/>
        </p:nvSpPr>
        <p:spPr>
          <a:xfrm>
            <a:off x="7366590" y="4818277"/>
            <a:ext cx="1931261" cy="234086"/>
          </a:xfrm>
          <a:prstGeom prst="rect">
            <a:avLst/>
          </a:prstGeom>
          <a:noFill/>
        </p:spPr>
        <p:txBody>
          <a:bodyPr wrap="square" lIns="0" tIns="0" rIns="0" bIns="0" anchor="t">
            <a:spAutoFit/>
          </a:bodyPr>
          <a:lstStyle/>
          <a:p>
            <a:pPr algn="l">
              <a:lnSpc>
                <a:spcPct val="110000"/>
              </a:lnSpc>
              <a:spcAft>
                <a:spcPts val="0"/>
              </a:spcAft>
            </a:pPr>
            <a:r>
              <a:rPr sz="680" b="1" i="0">
                <a:solidFill>
                  <a:srgbClr val="314359"/>
                </a:solidFill>
                <a:latin typeface="Arial"/>
              </a:rPr>
              <a:t>TECHNOLOGY</a:t>
            </a:r>
          </a:p>
        </p:txBody>
      </p:sp>
      <p:sp>
        <p:nvSpPr>
          <p:cNvPr id="55" name="TextBox 54"/>
          <p:cNvSpPr txBox="1"/>
          <p:nvPr/>
        </p:nvSpPr>
        <p:spPr>
          <a:xfrm>
            <a:off x="7366590" y="5071870"/>
            <a:ext cx="1916630" cy="682752"/>
          </a:xfrm>
          <a:prstGeom prst="rect">
            <a:avLst/>
          </a:prstGeom>
          <a:noFill/>
        </p:spPr>
        <p:txBody>
          <a:bodyPr wrap="square" lIns="0" tIns="0" rIns="0" bIns="0" anchor="t">
            <a:spAutoFit/>
          </a:bodyPr>
          <a:lstStyle/>
          <a:p>
            <a:pPr algn="l">
              <a:lnSpc>
                <a:spcPct val="110000"/>
              </a:lnSpc>
              <a:spcAft>
                <a:spcPts val="0"/>
              </a:spcAft>
            </a:pPr>
            <a:r>
              <a:rPr sz="720" b="0" i="0">
                <a:solidFill>
                  <a:srgbClr val="0E1620"/>
                </a:solidFill>
                <a:latin typeface="Arial"/>
              </a:rPr>
              <a:t>MSc applied &amp; computational mathematics, KTH; projects for the Swiss Finance Institute / EPFL.</a:t>
            </a:r>
          </a:p>
        </p:txBody>
      </p:sp>
      <p:sp>
        <p:nvSpPr>
          <p:cNvPr id="56" name="Rectangle 55"/>
          <p:cNvSpPr/>
          <p:nvPr/>
        </p:nvSpPr>
        <p:spPr>
          <a:xfrm>
            <a:off x="438922" y="6164275"/>
            <a:ext cx="8873559" cy="604723"/>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85230" y="6164275"/>
            <a:ext cx="8558998" cy="604723"/>
          </a:xfrm>
          <a:prstGeom prst="rect">
            <a:avLst/>
          </a:prstGeom>
          <a:noFill/>
        </p:spPr>
        <p:txBody>
          <a:bodyPr wrap="square" lIns="0" tIns="0" rIns="0" bIns="0" anchor="ctr">
            <a:spAutoFit/>
          </a:bodyPr>
          <a:lstStyle/>
          <a:p>
            <a:pPr algn="l">
              <a:lnSpc>
                <a:spcPct val="110000"/>
              </a:lnSpc>
              <a:spcAft>
                <a:spcPts val="0"/>
              </a:spcAft>
            </a:pPr>
            <a:r>
              <a:rPr sz="960" b="0" i="1">
                <a:solidFill>
                  <a:srgbClr val="FFFFFF"/>
                </a:solidFill>
                <a:latin typeface="Arial"/>
              </a:rPr>
              <a:t>Segregation of duties protects investors: operations, valuation and risk sit apart from investment decisions — with SEB (custody), MUFG (administration) and KPMG (audit) independently verifying every NAV and fee.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Investment Strategy</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Figure 2</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We don’t buy broken companies — we buy hidden cores</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The classic objection to activism is adverse selection. Our model inverts it.</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14</a:t>
            </a:r>
          </a:p>
        </p:txBody>
      </p:sp>
      <p:sp>
        <p:nvSpPr>
          <p:cNvPr id="10" name="TextBox 9"/>
          <p:cNvSpPr txBox="1"/>
          <p:nvPr/>
        </p:nvSpPr>
        <p:spPr>
          <a:xfrm>
            <a:off x="512076" y="2292096"/>
            <a:ext cx="4681845" cy="4584192"/>
          </a:xfrm>
          <a:prstGeom prst="rect">
            <a:avLst/>
          </a:prstGeom>
          <a:noFill/>
        </p:spPr>
        <p:txBody>
          <a:bodyPr wrap="square" lIns="0" tIns="0" rIns="0" bIns="0" anchor="t">
            <a:spAutoFit/>
          </a:bodyPr>
          <a:lstStyle/>
          <a:p>
            <a:pPr marL="157738" indent="-157738">
              <a:lnSpc>
                <a:spcPct val="112000"/>
              </a:lnSpc>
              <a:spcAft>
                <a:spcPts val="1300"/>
              </a:spcAft>
            </a:pPr>
            <a:r>
              <a:rPr sz="1080" b="1">
                <a:solidFill>
                  <a:srgbClr val="314359"/>
                </a:solidFill>
                <a:latin typeface="Arial"/>
              </a:rPr>
              <a:t>›  The critique.</a:t>
            </a:r>
            <a:r>
              <a:rPr sz="1080">
                <a:solidFill>
                  <a:srgbClr val="0E1620"/>
                </a:solidFill>
                <a:latin typeface="Arial"/>
              </a:rPr>
              <a:t>  Buy “cheap and troubled” and you select for lemons — worse than they look. The market discounted them for a reason.</a:t>
            </a:r>
          </a:p>
          <a:p>
            <a:pPr marL="157738" indent="-157738">
              <a:lnSpc>
                <a:spcPct val="112000"/>
              </a:lnSpc>
              <a:spcAft>
                <a:spcPts val="1300"/>
              </a:spcAft>
            </a:pPr>
            <a:r>
              <a:rPr sz="1080" b="1">
                <a:solidFill>
                  <a:srgbClr val="314359"/>
                </a:solidFill>
                <a:latin typeface="Arial"/>
              </a:rPr>
              <a:t>›  Our precondition removes it.</a:t>
            </a:r>
            <a:r>
              <a:rPr sz="1080">
                <a:solidFill>
                  <a:srgbClr val="0E1620"/>
                </a:solidFill>
                <a:latin typeface="Arial"/>
              </a:rPr>
              <a:t>  We invest only where the core is a market leader earning high returns on capital — attractive even if we change nothing. No structurally weak turnarounds.</a:t>
            </a:r>
          </a:p>
          <a:p>
            <a:pPr marL="157738" indent="-157738">
              <a:lnSpc>
                <a:spcPct val="112000"/>
              </a:lnSpc>
              <a:spcAft>
                <a:spcPts val="1300"/>
              </a:spcAft>
            </a:pPr>
            <a:r>
              <a:rPr sz="1080" b="1">
                <a:solidFill>
                  <a:srgbClr val="314359"/>
                </a:solidFill>
                <a:latin typeface="Arial"/>
              </a:rPr>
              <a:t>›  The real setup.</a:t>
            </a:r>
            <a:r>
              <a:rPr sz="1080">
                <a:solidFill>
                  <a:srgbClr val="0E1620"/>
                </a:solidFill>
                <a:latin typeface="Arial"/>
              </a:rPr>
              <a:t>  Profitable leaders whose management pivoted into weak adjacencies — chasing growth as the core matured. A capital-allocation overlay on a good asset, not a bad asset.</a:t>
            </a:r>
          </a:p>
          <a:p>
            <a:pPr marL="157738" indent="-157738">
              <a:lnSpc>
                <a:spcPct val="112000"/>
              </a:lnSpc>
              <a:spcAft>
                <a:spcPts val="1300"/>
              </a:spcAft>
            </a:pPr>
            <a:r>
              <a:rPr sz="1080" b="1">
                <a:solidFill>
                  <a:srgbClr val="314359"/>
                </a:solidFill>
                <a:latin typeface="Arial"/>
              </a:rPr>
              <a:t>›  The inversion.</a:t>
            </a:r>
            <a:r>
              <a:rPr sz="1080">
                <a:solidFill>
                  <a:srgbClr val="0E1620"/>
                </a:solidFill>
                <a:latin typeface="Arial"/>
              </a:rPr>
              <a:t>  Blended results make it look mediocre, so it is priced mediocre. The appearance understates reality.</a:t>
            </a:r>
          </a:p>
        </p:txBody>
      </p:sp>
      <p:sp>
        <p:nvSpPr>
          <p:cNvPr id="11" name="TextBox 10"/>
          <p:cNvSpPr txBox="1"/>
          <p:nvPr/>
        </p:nvSpPr>
        <p:spPr>
          <a:xfrm>
            <a:off x="5340229" y="2243328"/>
            <a:ext cx="3950306" cy="292608"/>
          </a:xfrm>
          <a:prstGeom prst="rect">
            <a:avLst/>
          </a:prstGeom>
          <a:noFill/>
        </p:spPr>
        <p:txBody>
          <a:bodyPr wrap="square" lIns="0" tIns="0" rIns="0" bIns="0" anchor="t">
            <a:spAutoFit/>
          </a:bodyPr>
          <a:lstStyle/>
          <a:p>
            <a:pPr algn="ctr">
              <a:lnSpc>
                <a:spcPct val="110000"/>
              </a:lnSpc>
              <a:spcAft>
                <a:spcPts val="0"/>
              </a:spcAft>
            </a:pPr>
            <a:r>
              <a:rPr sz="880" b="1" i="0">
                <a:solidFill>
                  <a:srgbClr val="314359"/>
                </a:solidFill>
                <a:latin typeface="Arial"/>
              </a:rPr>
              <a:t>Figure 2  ·  WHY THE EARNINGS LOOK LIKE ZERO  (ILLUSTRATIVE)</a:t>
            </a:r>
          </a:p>
        </p:txBody>
      </p:sp>
      <p:sp>
        <p:nvSpPr>
          <p:cNvPr id="21" name="TextBox 20"/>
          <p:cNvSpPr txBox="1"/>
          <p:nvPr/>
        </p:nvSpPr>
        <p:spPr>
          <a:xfrm>
            <a:off x="512076" y="6291072"/>
            <a:ext cx="8778459" cy="487680"/>
          </a:xfrm>
          <a:prstGeom prst="rect">
            <a:avLst/>
          </a:prstGeom>
          <a:noFill/>
        </p:spPr>
        <p:txBody>
          <a:bodyPr wrap="square" lIns="0" tIns="0" rIns="0" bIns="0" anchor="t">
            <a:spAutoFit/>
          </a:bodyPr>
          <a:lstStyle/>
          <a:p>
            <a:pPr algn="l">
              <a:lnSpc>
                <a:spcPct val="110000"/>
              </a:lnSpc>
              <a:spcAft>
                <a:spcPts val="0"/>
              </a:spcAft>
            </a:pPr>
            <a:r>
              <a:rPr sz="1040" b="0" i="1">
                <a:solidFill>
                  <a:srgbClr val="314359"/>
                </a:solidFill>
                <a:latin typeface="Arial"/>
              </a:rPr>
              <a:t>Reported earnings near zero — so the market prices the whole company as broken. We buy it, fix or exit the pivot, and the core’s high-ROIIC earnings surface: value we underwrite at zero.</a:t>
            </a:r>
          </a:p>
        </p:txBody>
      </p:sp>
      <p:sp>
        <p:nvSpPr>
          <p:cNvPr id="22" name="Rectangle 21"/>
          <p:cNvSpPr/>
          <p:nvPr/>
        </p:nvSpPr>
        <p:spPr>
          <a:xfrm>
            <a:off x="7307884" y="3218688"/>
            <a:ext cx="14630" cy="237744"/>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7356" y="3456432"/>
            <a:ext cx="2075688" cy="14630"/>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0040" y="3456432"/>
            <a:ext cx="14630" cy="182880"/>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45728" y="3456432"/>
            <a:ext cx="14630" cy="182880"/>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63640" y="2670048"/>
            <a:ext cx="2103120" cy="548640"/>
          </a:xfrm>
          <a:prstGeom prst="roundRect">
            <a:avLst>
              <a:gd name="adj" fmla="val 10000"/>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Arial"/>
              </a:rPr>
              <a:t>Company X</a:t>
            </a:r>
          </a:p>
          <a:p>
            <a:pPr algn="ctr"/>
            <a:r>
              <a:rPr sz="850" b="0">
                <a:solidFill>
                  <a:srgbClr val="C9D2DD"/>
                </a:solidFill>
                <a:latin typeface="Arial"/>
              </a:rPr>
              <a:t>central overhead  −10</a:t>
            </a:r>
          </a:p>
        </p:txBody>
      </p:sp>
      <p:sp>
        <p:nvSpPr>
          <p:cNvPr id="27" name="Rounded Rectangle 26"/>
          <p:cNvSpPr/>
          <p:nvPr/>
        </p:nvSpPr>
        <p:spPr>
          <a:xfrm>
            <a:off x="5340096" y="3639312"/>
            <a:ext cx="1874519" cy="731520"/>
          </a:xfrm>
          <a:prstGeom prst="roundRect">
            <a:avLst>
              <a:gd name="adj" fmla="val 10000"/>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FFFFFF"/>
                </a:solidFill>
                <a:latin typeface="Arial"/>
              </a:rPr>
              <a:t>Core business    +30</a:t>
            </a:r>
          </a:p>
          <a:p>
            <a:pPr algn="ctr"/>
            <a:r>
              <a:rPr sz="830" b="0">
                <a:solidFill>
                  <a:srgbClr val="C9D2DD"/>
                </a:solidFill>
                <a:latin typeface="Arial"/>
              </a:rPr>
              <a:t>high ROIIC · strong prospects</a:t>
            </a:r>
          </a:p>
        </p:txBody>
      </p:sp>
      <p:sp>
        <p:nvSpPr>
          <p:cNvPr id="28" name="Rounded Rectangle 27"/>
          <p:cNvSpPr/>
          <p:nvPr/>
        </p:nvSpPr>
        <p:spPr>
          <a:xfrm>
            <a:off x="7415783" y="3639312"/>
            <a:ext cx="1874519" cy="731520"/>
          </a:xfrm>
          <a:prstGeom prst="roundRect">
            <a:avLst>
              <a:gd name="adj" fmla="val 10000"/>
            </a:avLst>
          </a:prstGeom>
          <a:solidFill>
            <a:srgbClr val="F6F7F9"/>
          </a:solidFill>
          <a:ln w="12700">
            <a:solidFill>
              <a:srgbClr val="556A8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314359"/>
                </a:solidFill>
                <a:latin typeface="Arial"/>
              </a:rPr>
              <a:t>Mgmt’s pivot    −20</a:t>
            </a:r>
          </a:p>
          <a:p>
            <a:pPr algn="ctr"/>
            <a:r>
              <a:rPr sz="830" b="0">
                <a:solidFill>
                  <a:srgbClr val="556A83"/>
                </a:solidFill>
                <a:latin typeface="Arial"/>
              </a:rPr>
              <a:t>poor returns · weak prospects</a:t>
            </a:r>
          </a:p>
        </p:txBody>
      </p:sp>
      <p:sp>
        <p:nvSpPr>
          <p:cNvPr id="29" name="Rectangle 28"/>
          <p:cNvSpPr/>
          <p:nvPr/>
        </p:nvSpPr>
        <p:spPr>
          <a:xfrm>
            <a:off x="6400800" y="4425696"/>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556A83"/>
                </a:solidFill>
                <a:latin typeface="Arial"/>
              </a:rPr>
              <a:t>=</a:t>
            </a:r>
          </a:p>
        </p:txBody>
      </p:sp>
      <p:sp>
        <p:nvSpPr>
          <p:cNvPr id="30" name="Rounded Rectangle 29"/>
          <p:cNvSpPr/>
          <p:nvPr/>
        </p:nvSpPr>
        <p:spPr>
          <a:xfrm>
            <a:off x="5760720" y="4718304"/>
            <a:ext cx="3108960" cy="566928"/>
          </a:xfrm>
          <a:prstGeom prst="roundRect">
            <a:avLst>
              <a:gd name="adj" fmla="val 10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314359"/>
                </a:solidFill>
                <a:latin typeface="Arial"/>
              </a:rPr>
              <a:t>≈ 0 reported operating result</a:t>
            </a:r>
          </a:p>
          <a:p>
            <a:pPr algn="ctr"/>
            <a:r>
              <a:rPr sz="830" b="0">
                <a:solidFill>
                  <a:srgbClr val="556A83"/>
                </a:solidFill>
                <a:latin typeface="Arial"/>
              </a:rPr>
              <a:t>so the market prices the whole company as broken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Ownership Model</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The ownership playbook, honed over 38 investments</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 repeatable sequence that turns a board seat into operational value — refocusing a good core, then growing it.</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15</a:t>
            </a:r>
          </a:p>
        </p:txBody>
      </p:sp>
      <p:sp>
        <p:nvSpPr>
          <p:cNvPr id="9" name="Rectangle 8"/>
          <p:cNvSpPr/>
          <p:nvPr/>
        </p:nvSpPr>
        <p:spPr>
          <a:xfrm>
            <a:off x="438922" y="2292096"/>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9861" y="2487168"/>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1</a:t>
            </a:r>
          </a:p>
        </p:txBody>
      </p:sp>
      <p:sp>
        <p:nvSpPr>
          <p:cNvPr id="11" name="TextBox 10"/>
          <p:cNvSpPr txBox="1"/>
          <p:nvPr/>
        </p:nvSpPr>
        <p:spPr>
          <a:xfrm>
            <a:off x="1097307" y="2526182"/>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Secure the board seat</a:t>
            </a:r>
          </a:p>
        </p:txBody>
      </p:sp>
      <p:sp>
        <p:nvSpPr>
          <p:cNvPr id="12" name="TextBox 11"/>
          <p:cNvSpPr txBox="1"/>
          <p:nvPr/>
        </p:nvSpPr>
        <p:spPr>
          <a:xfrm>
            <a:off x="621807" y="3091891"/>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Often a precondition to invest — the nomination committee proposes an AIP director.</a:t>
            </a:r>
          </a:p>
        </p:txBody>
      </p:sp>
      <p:sp>
        <p:nvSpPr>
          <p:cNvPr id="13" name="Rectangle 12"/>
          <p:cNvSpPr/>
          <p:nvPr/>
        </p:nvSpPr>
        <p:spPr>
          <a:xfrm>
            <a:off x="3416283" y="2292096"/>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77222" y="2487168"/>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2</a:t>
            </a:r>
          </a:p>
        </p:txBody>
      </p:sp>
      <p:sp>
        <p:nvSpPr>
          <p:cNvPr id="15" name="TextBox 14"/>
          <p:cNvSpPr txBox="1"/>
          <p:nvPr/>
        </p:nvSpPr>
        <p:spPr>
          <a:xfrm>
            <a:off x="4074668" y="2526182"/>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Align the thesis</a:t>
            </a:r>
          </a:p>
        </p:txBody>
      </p:sp>
      <p:sp>
        <p:nvSpPr>
          <p:cNvPr id="16" name="TextBox 15"/>
          <p:cNvSpPr txBox="1"/>
          <p:nvPr/>
        </p:nvSpPr>
        <p:spPr>
          <a:xfrm>
            <a:off x="3599168" y="3091891"/>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Collaborate with management and stakeholders to agree where the value is and what must change.</a:t>
            </a:r>
          </a:p>
        </p:txBody>
      </p:sp>
      <p:sp>
        <p:nvSpPr>
          <p:cNvPr id="17" name="Rectangle 16"/>
          <p:cNvSpPr/>
          <p:nvPr/>
        </p:nvSpPr>
        <p:spPr>
          <a:xfrm>
            <a:off x="6393644" y="2292096"/>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554583" y="2487168"/>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3</a:t>
            </a:r>
          </a:p>
        </p:txBody>
      </p:sp>
      <p:sp>
        <p:nvSpPr>
          <p:cNvPr id="19" name="TextBox 18"/>
          <p:cNvSpPr txBox="1"/>
          <p:nvPr/>
        </p:nvSpPr>
        <p:spPr>
          <a:xfrm>
            <a:off x="7052029" y="2526182"/>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Refocus to drive earnings</a:t>
            </a:r>
          </a:p>
        </p:txBody>
      </p:sp>
      <p:sp>
        <p:nvSpPr>
          <p:cNvPr id="20" name="TextBox 19"/>
          <p:cNvSpPr txBox="1"/>
          <p:nvPr/>
        </p:nvSpPr>
        <p:spPr>
          <a:xfrm>
            <a:off x="6576529" y="3091891"/>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Cut overhead and admin, optimise the footprint, exit loss-making “growth-trap” ventures.</a:t>
            </a:r>
          </a:p>
        </p:txBody>
      </p:sp>
      <p:sp>
        <p:nvSpPr>
          <p:cNvPr id="21" name="Rectangle 20"/>
          <p:cNvSpPr/>
          <p:nvPr/>
        </p:nvSpPr>
        <p:spPr>
          <a:xfrm>
            <a:off x="438922" y="4125772"/>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99861" y="4320844"/>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4</a:t>
            </a:r>
          </a:p>
        </p:txBody>
      </p:sp>
      <p:sp>
        <p:nvSpPr>
          <p:cNvPr id="23" name="TextBox 22"/>
          <p:cNvSpPr txBox="1"/>
          <p:nvPr/>
        </p:nvSpPr>
        <p:spPr>
          <a:xfrm>
            <a:off x="1097307" y="4359859"/>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Reallocate to winners</a:t>
            </a:r>
          </a:p>
        </p:txBody>
      </p:sp>
      <p:sp>
        <p:nvSpPr>
          <p:cNvPr id="24" name="TextBox 23"/>
          <p:cNvSpPr txBox="1"/>
          <p:nvPr/>
        </p:nvSpPr>
        <p:spPr>
          <a:xfrm>
            <a:off x="621807" y="4925568"/>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Redeploy freed-up capital into the profitable core and its strongest adjacencies; lift R&amp;D where it pays.</a:t>
            </a:r>
          </a:p>
        </p:txBody>
      </p:sp>
      <p:sp>
        <p:nvSpPr>
          <p:cNvPr id="25" name="Rectangle 24"/>
          <p:cNvSpPr/>
          <p:nvPr/>
        </p:nvSpPr>
        <p:spPr>
          <a:xfrm>
            <a:off x="3416283" y="4125772"/>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577222" y="4320844"/>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5</a:t>
            </a:r>
          </a:p>
        </p:txBody>
      </p:sp>
      <p:sp>
        <p:nvSpPr>
          <p:cNvPr id="27" name="TextBox 26"/>
          <p:cNvSpPr txBox="1"/>
          <p:nvPr/>
        </p:nvSpPr>
        <p:spPr>
          <a:xfrm>
            <a:off x="4074668" y="4359859"/>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Grow by acquisition</a:t>
            </a:r>
          </a:p>
        </p:txBody>
      </p:sp>
      <p:sp>
        <p:nvSpPr>
          <p:cNvPr id="28" name="TextBox 27"/>
          <p:cNvSpPr txBox="1"/>
          <p:nvPr/>
        </p:nvSpPr>
        <p:spPr>
          <a:xfrm>
            <a:off x="3599168" y="4925568"/>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Add complementary products, geographies or scale through value-accretive bolt-ons.</a:t>
            </a:r>
          </a:p>
        </p:txBody>
      </p:sp>
      <p:sp>
        <p:nvSpPr>
          <p:cNvPr id="29" name="Rectangle 28"/>
          <p:cNvSpPr/>
          <p:nvPr/>
        </p:nvSpPr>
        <p:spPr>
          <a:xfrm>
            <a:off x="6393644" y="4125772"/>
            <a:ext cx="2904207" cy="167761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554583" y="4320844"/>
            <a:ext cx="365769" cy="487680"/>
          </a:xfrm>
          <a:prstGeom prst="ellipse">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40" b="1">
                <a:solidFill>
                  <a:srgbClr val="FFFFFF"/>
                </a:solidFill>
                <a:latin typeface="Times New Roman"/>
              </a:rPr>
              <a:t>6</a:t>
            </a:r>
          </a:p>
        </p:txBody>
      </p:sp>
      <p:sp>
        <p:nvSpPr>
          <p:cNvPr id="31" name="TextBox 30"/>
          <p:cNvSpPr txBox="1"/>
          <p:nvPr/>
        </p:nvSpPr>
        <p:spPr>
          <a:xfrm>
            <a:off x="7052029" y="4359859"/>
            <a:ext cx="2099514" cy="487680"/>
          </a:xfrm>
          <a:prstGeom prst="rect">
            <a:avLst/>
          </a:prstGeom>
          <a:noFill/>
        </p:spPr>
        <p:txBody>
          <a:bodyPr wrap="square" lIns="0" tIns="0" rIns="0" bIns="0" anchor="t">
            <a:spAutoFit/>
          </a:bodyPr>
          <a:lstStyle/>
          <a:p>
            <a:pPr algn="l">
              <a:lnSpc>
                <a:spcPct val="110000"/>
              </a:lnSpc>
              <a:spcAft>
                <a:spcPts val="0"/>
              </a:spcAft>
            </a:pPr>
            <a:r>
              <a:rPr sz="1000" b="1" i="0">
                <a:solidFill>
                  <a:srgbClr val="314359"/>
                </a:solidFill>
                <a:latin typeface="Times New Roman"/>
              </a:rPr>
              <a:t>Exit</a:t>
            </a:r>
          </a:p>
        </p:txBody>
      </p:sp>
      <p:sp>
        <p:nvSpPr>
          <p:cNvPr id="32" name="TextBox 31"/>
          <p:cNvSpPr txBox="1"/>
          <p:nvPr/>
        </p:nvSpPr>
        <p:spPr>
          <a:xfrm>
            <a:off x="6576529" y="4925568"/>
            <a:ext cx="2575014" cy="829056"/>
          </a:xfrm>
          <a:prstGeom prst="rect">
            <a:avLst/>
          </a:prstGeom>
          <a:noFill/>
        </p:spPr>
        <p:txBody>
          <a:bodyPr wrap="square" lIns="0" tIns="0" rIns="0" bIns="0" anchor="t">
            <a:spAutoFit/>
          </a:bodyPr>
          <a:lstStyle/>
          <a:p>
            <a:pPr algn="l">
              <a:lnSpc>
                <a:spcPct val="112000"/>
              </a:lnSpc>
              <a:spcAft>
                <a:spcPts val="0"/>
              </a:spcAft>
            </a:pPr>
            <a:r>
              <a:rPr sz="760" b="0" i="0">
                <a:solidFill>
                  <a:srgbClr val="0E1620"/>
                </a:solidFill>
                <a:latin typeface="Arial"/>
              </a:rPr>
              <a:t>Realise via M&amp;A or in the equity market once the core is refocused and compounding.</a:t>
            </a:r>
          </a:p>
        </p:txBody>
      </p:sp>
      <p:sp>
        <p:nvSpPr>
          <p:cNvPr id="33" name="TextBox 32"/>
          <p:cNvSpPr txBox="1"/>
          <p:nvPr/>
        </p:nvSpPr>
        <p:spPr>
          <a:xfrm>
            <a:off x="438922" y="6339840"/>
            <a:ext cx="8924767" cy="487680"/>
          </a:xfrm>
          <a:prstGeom prst="rect">
            <a:avLst/>
          </a:prstGeom>
          <a:noFill/>
        </p:spPr>
        <p:txBody>
          <a:bodyPr wrap="square" lIns="0" tIns="0" rIns="0" bIns="0" anchor="t">
            <a:spAutoFit/>
          </a:bodyPr>
          <a:lstStyle/>
          <a:p>
            <a:pPr algn="l">
              <a:lnSpc>
                <a:spcPct val="110000"/>
              </a:lnSpc>
              <a:spcAft>
                <a:spcPts val="0"/>
              </a:spcAft>
            </a:pPr>
            <a:r>
              <a:rPr sz="1000" b="0" i="1">
                <a:solidFill>
                  <a:srgbClr val="314359"/>
                </a:solidFill>
                <a:latin typeface="Arial"/>
              </a:rPr>
              <a:t>The same playbook across 38 companies — value created by fixing capital allocation, not by financial engineering or leverage.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Risk-Adjusted Outcomes</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Figure 7</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A complement to global equities, not a duplicate</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What a global-equity holder asks of a new manager: do you keep up in rallies, lose less in selloffs, and add something the index can’t?</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16</a:t>
            </a:r>
          </a:p>
        </p:txBody>
      </p:sp>
      <p:pic>
        <p:nvPicPr>
          <p:cNvPr id="10" name="Picture 9" descr="mc_capture.png"/>
          <p:cNvPicPr>
            <a:picLocks noChangeAspect="1"/>
          </p:cNvPicPr>
          <p:nvPr/>
        </p:nvPicPr>
        <p:blipFill>
          <a:blip r:embed="rId3"/>
          <a:stretch>
            <a:fillRect/>
          </a:stretch>
        </p:blipFill>
        <p:spPr>
          <a:xfrm>
            <a:off x="402346" y="2194560"/>
            <a:ext cx="3627489" cy="2999306"/>
          </a:xfrm>
          <a:prstGeom prst="rect">
            <a:avLst/>
          </a:prstGeom>
        </p:spPr>
      </p:pic>
      <p:sp>
        <p:nvSpPr>
          <p:cNvPr id="11" name="Rectangle 10"/>
          <p:cNvSpPr/>
          <p:nvPr/>
        </p:nvSpPr>
        <p:spPr>
          <a:xfrm>
            <a:off x="4791575" y="2243328"/>
            <a:ext cx="4535537" cy="11704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52514" y="2360371"/>
            <a:ext cx="4213660"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CAPTURE ASYMMETRY</a:t>
            </a:r>
          </a:p>
        </p:txBody>
      </p:sp>
      <p:sp>
        <p:nvSpPr>
          <p:cNvPr id="13" name="TextBox 12"/>
          <p:cNvSpPr txBox="1"/>
          <p:nvPr/>
        </p:nvSpPr>
        <p:spPr>
          <a:xfrm>
            <a:off x="4952514" y="2594457"/>
            <a:ext cx="4213660" cy="341376"/>
          </a:xfrm>
          <a:prstGeom prst="rect">
            <a:avLst/>
          </a:prstGeom>
          <a:noFill/>
        </p:spPr>
        <p:txBody>
          <a:bodyPr wrap="square" lIns="0" tIns="0" rIns="0" bIns="0" anchor="t">
            <a:spAutoFit/>
          </a:bodyPr>
          <a:lstStyle/>
          <a:p>
            <a:pPr algn="l">
              <a:lnSpc>
                <a:spcPct val="110000"/>
              </a:lnSpc>
              <a:spcAft>
                <a:spcPts val="0"/>
              </a:spcAft>
            </a:pPr>
            <a:r>
              <a:rPr sz="1360" b="1" i="0">
                <a:solidFill>
                  <a:srgbClr val="314359"/>
                </a:solidFill>
                <a:latin typeface="Times New Roman"/>
              </a:rPr>
              <a:t>93% up  /  43% down</a:t>
            </a:r>
          </a:p>
        </p:txBody>
      </p:sp>
      <p:sp>
        <p:nvSpPr>
          <p:cNvPr id="14" name="TextBox 13"/>
          <p:cNvSpPr txBox="1"/>
          <p:nvPr/>
        </p:nvSpPr>
        <p:spPr>
          <a:xfrm>
            <a:off x="4952514" y="2965094"/>
            <a:ext cx="4213660" cy="438912"/>
          </a:xfrm>
          <a:prstGeom prst="rect">
            <a:avLst/>
          </a:prstGeom>
          <a:noFill/>
        </p:spPr>
        <p:txBody>
          <a:bodyPr wrap="square" lIns="0" tIns="0" rIns="0" bIns="0" anchor="t">
            <a:spAutoFit/>
          </a:bodyPr>
          <a:lstStyle/>
          <a:p>
            <a:pPr algn="l">
              <a:lnSpc>
                <a:spcPct val="112000"/>
              </a:lnSpc>
              <a:spcAft>
                <a:spcPts val="0"/>
              </a:spcAft>
            </a:pPr>
            <a:r>
              <a:rPr sz="840" b="0" i="0">
                <a:solidFill>
                  <a:srgbClr val="0E1620"/>
                </a:solidFill>
                <a:latin typeface="Arial"/>
              </a:rPr>
              <a:t>Keeps pace with rallies but takes less than half of selloffs — the essence of the edge.</a:t>
            </a:r>
          </a:p>
        </p:txBody>
      </p:sp>
      <p:sp>
        <p:nvSpPr>
          <p:cNvPr id="15" name="Rectangle 14"/>
          <p:cNvSpPr/>
          <p:nvPr/>
        </p:nvSpPr>
        <p:spPr>
          <a:xfrm>
            <a:off x="4791575" y="3530803"/>
            <a:ext cx="4535537" cy="11704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52514" y="3647846"/>
            <a:ext cx="4213660"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DIVERSIFICATION</a:t>
            </a:r>
          </a:p>
        </p:txBody>
      </p:sp>
      <p:sp>
        <p:nvSpPr>
          <p:cNvPr id="17" name="TextBox 16"/>
          <p:cNvSpPr txBox="1"/>
          <p:nvPr/>
        </p:nvSpPr>
        <p:spPr>
          <a:xfrm>
            <a:off x="4952514" y="3881932"/>
            <a:ext cx="4213660" cy="341376"/>
          </a:xfrm>
          <a:prstGeom prst="rect">
            <a:avLst/>
          </a:prstGeom>
          <a:noFill/>
        </p:spPr>
        <p:txBody>
          <a:bodyPr wrap="square" lIns="0" tIns="0" rIns="0" bIns="0" anchor="t">
            <a:spAutoFit/>
          </a:bodyPr>
          <a:lstStyle/>
          <a:p>
            <a:pPr algn="l">
              <a:lnSpc>
                <a:spcPct val="110000"/>
              </a:lnSpc>
              <a:spcAft>
                <a:spcPts val="0"/>
              </a:spcAft>
            </a:pPr>
            <a:r>
              <a:rPr sz="1360" b="1" i="0">
                <a:solidFill>
                  <a:srgbClr val="314359"/>
                </a:solidFill>
                <a:latin typeface="Times New Roman"/>
              </a:rPr>
              <a:t>0.44 correlation  ·  0.73 beta</a:t>
            </a:r>
          </a:p>
        </p:txBody>
      </p:sp>
      <p:sp>
        <p:nvSpPr>
          <p:cNvPr id="18" name="TextBox 17"/>
          <p:cNvSpPr txBox="1"/>
          <p:nvPr/>
        </p:nvSpPr>
        <p:spPr>
          <a:xfrm>
            <a:off x="4952514" y="4252569"/>
            <a:ext cx="4213660" cy="438912"/>
          </a:xfrm>
          <a:prstGeom prst="rect">
            <a:avLst/>
          </a:prstGeom>
          <a:noFill/>
        </p:spPr>
        <p:txBody>
          <a:bodyPr wrap="square" lIns="0" tIns="0" rIns="0" bIns="0" anchor="t">
            <a:spAutoFit/>
          </a:bodyPr>
          <a:lstStyle/>
          <a:p>
            <a:pPr algn="l">
              <a:lnSpc>
                <a:spcPct val="112000"/>
              </a:lnSpc>
              <a:spcAft>
                <a:spcPts val="0"/>
              </a:spcAft>
            </a:pPr>
            <a:r>
              <a:rPr sz="840" b="0" i="0">
                <a:solidFill>
                  <a:srgbClr val="0E1620"/>
                </a:solidFill>
                <a:latin typeface="Arial"/>
              </a:rPr>
              <a:t>Low correlation to your existing equity book — a genuine diversifier, not levered beta.</a:t>
            </a:r>
          </a:p>
        </p:txBody>
      </p:sp>
      <p:sp>
        <p:nvSpPr>
          <p:cNvPr id="19" name="Rectangle 18"/>
          <p:cNvSpPr/>
          <p:nvPr/>
        </p:nvSpPr>
        <p:spPr>
          <a:xfrm>
            <a:off x="4791575" y="4818278"/>
            <a:ext cx="4535537" cy="11704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52514" y="4935321"/>
            <a:ext cx="4213660"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RELIABILITY OVER TIME</a:t>
            </a:r>
          </a:p>
        </p:txBody>
      </p:sp>
      <p:sp>
        <p:nvSpPr>
          <p:cNvPr id="21" name="TextBox 20"/>
          <p:cNvSpPr txBox="1"/>
          <p:nvPr/>
        </p:nvSpPr>
        <p:spPr>
          <a:xfrm>
            <a:off x="4952514" y="5169408"/>
            <a:ext cx="4213660" cy="341376"/>
          </a:xfrm>
          <a:prstGeom prst="rect">
            <a:avLst/>
          </a:prstGeom>
          <a:noFill/>
        </p:spPr>
        <p:txBody>
          <a:bodyPr wrap="square" lIns="0" tIns="0" rIns="0" bIns="0" anchor="t">
            <a:spAutoFit/>
          </a:bodyPr>
          <a:lstStyle/>
          <a:p>
            <a:pPr algn="l">
              <a:lnSpc>
                <a:spcPct val="110000"/>
              </a:lnSpc>
              <a:spcAft>
                <a:spcPts val="0"/>
              </a:spcAft>
            </a:pPr>
            <a:r>
              <a:rPr sz="1360" b="1" i="0">
                <a:solidFill>
                  <a:srgbClr val="314359"/>
                </a:solidFill>
                <a:latin typeface="Times New Roman"/>
              </a:rPr>
              <a:t>Beat MSCI in 90% of 5-yr and 100% of 7-yr windows</a:t>
            </a:r>
          </a:p>
        </p:txBody>
      </p:sp>
      <p:sp>
        <p:nvSpPr>
          <p:cNvPr id="22" name="TextBox 21"/>
          <p:cNvSpPr txBox="1"/>
          <p:nvPr/>
        </p:nvSpPr>
        <p:spPr>
          <a:xfrm>
            <a:off x="4952514" y="5540044"/>
            <a:ext cx="4213660" cy="438912"/>
          </a:xfrm>
          <a:prstGeom prst="rect">
            <a:avLst/>
          </a:prstGeom>
          <a:noFill/>
        </p:spPr>
        <p:txBody>
          <a:bodyPr wrap="square" lIns="0" tIns="0" rIns="0" bIns="0" anchor="t">
            <a:spAutoFit/>
          </a:bodyPr>
          <a:lstStyle/>
          <a:p>
            <a:pPr algn="l">
              <a:lnSpc>
                <a:spcPct val="112000"/>
              </a:lnSpc>
              <a:spcAft>
                <a:spcPts val="0"/>
              </a:spcAft>
            </a:pPr>
            <a:r>
              <a:rPr sz="840" b="0" i="0">
                <a:solidFill>
                  <a:srgbClr val="0E1620"/>
                </a:solidFill>
                <a:latin typeface="Arial"/>
              </a:rPr>
              <a:t>Over every rolling 7-year holding period in 20 years, Athanase out-returned the index.</a:t>
            </a:r>
          </a:p>
        </p:txBody>
      </p:sp>
      <p:sp>
        <p:nvSpPr>
          <p:cNvPr id="23" name="Rectangle 22"/>
          <p:cNvSpPr/>
          <p:nvPr/>
        </p:nvSpPr>
        <p:spPr>
          <a:xfrm>
            <a:off x="438922" y="6456883"/>
            <a:ext cx="8873559"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0599" y="6456883"/>
            <a:ext cx="8632151" cy="448665"/>
          </a:xfrm>
          <a:prstGeom prst="rect">
            <a:avLst/>
          </a:prstGeom>
          <a:noFill/>
        </p:spPr>
        <p:txBody>
          <a:bodyPr wrap="square" lIns="0" tIns="0" rIns="0" bIns="0" anchor="ctr">
            <a:spAutoFit/>
          </a:bodyPr>
          <a:lstStyle/>
          <a:p>
            <a:pPr algn="l">
              <a:lnSpc>
                <a:spcPct val="110000"/>
              </a:lnSpc>
              <a:spcAft>
                <a:spcPts val="0"/>
              </a:spcAft>
            </a:pPr>
            <a:r>
              <a:rPr sz="960" b="0" i="1">
                <a:solidFill>
                  <a:srgbClr val="FFFFFF"/>
                </a:solidFill>
                <a:latin typeface="Arial"/>
              </a:rPr>
              <a:t>Athanase captures 93% of the market’s upside but only 43% of its downside — at 0.44 correlation, it improves the whole portfolio, not just one line of it.</a:t>
            </a:r>
          </a:p>
        </p:txBody>
      </p:sp>
      <p:sp>
        <p:nvSpPr>
          <p:cNvPr id="25" name="TextBox 24"/>
          <p:cNvSpPr txBox="1"/>
          <p:nvPr/>
        </p:nvSpPr>
        <p:spPr>
          <a:xfrm>
            <a:off x="438922" y="6983577"/>
            <a:ext cx="9217382" cy="390144"/>
          </a:xfrm>
          <a:prstGeom prst="rect">
            <a:avLst/>
          </a:prstGeom>
          <a:noFill/>
        </p:spPr>
        <p:txBody>
          <a:bodyPr wrap="square" lIns="0" tIns="0" rIns="0" bIns="0" anchor="t">
            <a:spAutoFit/>
          </a:bodyPr>
          <a:lstStyle/>
          <a:p>
            <a:pPr algn="l">
              <a:lnSpc>
                <a:spcPct val="110000"/>
              </a:lnSpc>
              <a:spcAft>
                <a:spcPts val="0"/>
              </a:spcAft>
            </a:pPr>
            <a:r>
              <a:rPr sz="600" b="0" i="0">
                <a:solidFill>
                  <a:srgbClr val="556A83"/>
                </a:solidFill>
                <a:latin typeface="Arial"/>
              </a:rPr>
              <a:t>Source: monthly net returns, 235 months (2006–2025). Capture = compounded Athanase return in the market’s up/down months ÷ the market’s. Past performance is not indicative of future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Risk-Adjusted Outcomes</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dirty="0">
                <a:solidFill>
                  <a:srgbClr val="314359"/>
                </a:solidFill>
                <a:latin typeface="Times New Roman"/>
              </a:rPr>
              <a:t>Built for down markets — where the record is made</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The edge shows most when the market falls: a small positive return in the average down month, and outperformance in four of the last five stress years.</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17</a:t>
            </a:r>
          </a:p>
        </p:txBody>
      </p:sp>
      <p:sp>
        <p:nvSpPr>
          <p:cNvPr id="9" name="Rectangle 8"/>
          <p:cNvSpPr/>
          <p:nvPr/>
        </p:nvSpPr>
        <p:spPr>
          <a:xfrm>
            <a:off x="438922" y="2292096"/>
            <a:ext cx="3145614" cy="3316224"/>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22" y="2292096"/>
            <a:ext cx="51207" cy="3316224"/>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807" y="2526182"/>
            <a:ext cx="2852999" cy="390144"/>
          </a:xfrm>
          <a:prstGeom prst="rect">
            <a:avLst/>
          </a:prstGeom>
          <a:noFill/>
        </p:spPr>
        <p:txBody>
          <a:bodyPr wrap="square" lIns="0" tIns="0" rIns="0" bIns="0" anchor="t">
            <a:spAutoFit/>
          </a:bodyPr>
          <a:lstStyle/>
          <a:p>
            <a:pPr algn="l">
              <a:lnSpc>
                <a:spcPct val="110000"/>
              </a:lnSpc>
              <a:spcAft>
                <a:spcPts val="0"/>
              </a:spcAft>
            </a:pPr>
            <a:r>
              <a:rPr sz="919" b="1" i="0">
                <a:solidFill>
                  <a:srgbClr val="314359"/>
                </a:solidFill>
                <a:latin typeface="Arial"/>
              </a:rPr>
              <a:t>IN THE AVERAGE MONTH OF A DOWN YEAR</a:t>
            </a:r>
          </a:p>
        </p:txBody>
      </p:sp>
      <p:sp>
        <p:nvSpPr>
          <p:cNvPr id="12" name="TextBox 11"/>
          <p:cNvSpPr txBox="1"/>
          <p:nvPr/>
        </p:nvSpPr>
        <p:spPr>
          <a:xfrm>
            <a:off x="621807" y="3052876"/>
            <a:ext cx="2852999" cy="682752"/>
          </a:xfrm>
          <a:prstGeom prst="rect">
            <a:avLst/>
          </a:prstGeom>
          <a:noFill/>
        </p:spPr>
        <p:txBody>
          <a:bodyPr wrap="square" lIns="0" tIns="0" rIns="0" bIns="0" anchor="t">
            <a:spAutoFit/>
          </a:bodyPr>
          <a:lstStyle/>
          <a:p>
            <a:pPr algn="l">
              <a:lnSpc>
                <a:spcPct val="110000"/>
              </a:lnSpc>
              <a:spcAft>
                <a:spcPts val="0"/>
              </a:spcAft>
            </a:pPr>
            <a:r>
              <a:rPr sz="3200" b="0" i="0" spc="-120">
                <a:solidFill>
                  <a:srgbClr val="314359"/>
                </a:solidFill>
                <a:latin typeface="Times New Roman"/>
              </a:rPr>
              <a:t>+0.2%</a:t>
            </a:r>
          </a:p>
        </p:txBody>
      </p:sp>
      <p:sp>
        <p:nvSpPr>
          <p:cNvPr id="13" name="TextBox 12"/>
          <p:cNvSpPr txBox="1"/>
          <p:nvPr/>
        </p:nvSpPr>
        <p:spPr>
          <a:xfrm>
            <a:off x="621807" y="3755136"/>
            <a:ext cx="2706691" cy="438912"/>
          </a:xfrm>
          <a:prstGeom prst="rect">
            <a:avLst/>
          </a:prstGeom>
          <a:noFill/>
        </p:spPr>
        <p:txBody>
          <a:bodyPr wrap="square" lIns="0" tIns="0" rIns="0" bIns="0" anchor="t">
            <a:spAutoFit/>
          </a:bodyPr>
          <a:lstStyle/>
          <a:p>
            <a:pPr algn="l">
              <a:lnSpc>
                <a:spcPct val="115000"/>
              </a:lnSpc>
              <a:spcAft>
                <a:spcPts val="0"/>
              </a:spcAft>
            </a:pPr>
            <a:r>
              <a:rPr sz="880" b="0" i="0">
                <a:solidFill>
                  <a:srgbClr val="0E1620"/>
                </a:solidFill>
                <a:latin typeface="Arial"/>
              </a:rPr>
              <a:t>Athanase — a small gain in the average month of a down year.</a:t>
            </a:r>
          </a:p>
        </p:txBody>
      </p:sp>
      <p:sp>
        <p:nvSpPr>
          <p:cNvPr id="14" name="TextBox 13"/>
          <p:cNvSpPr txBox="1"/>
          <p:nvPr/>
        </p:nvSpPr>
        <p:spPr>
          <a:xfrm>
            <a:off x="621807" y="4340352"/>
            <a:ext cx="2852999" cy="682752"/>
          </a:xfrm>
          <a:prstGeom prst="rect">
            <a:avLst/>
          </a:prstGeom>
          <a:noFill/>
        </p:spPr>
        <p:txBody>
          <a:bodyPr wrap="square" lIns="0" tIns="0" rIns="0" bIns="0" anchor="t">
            <a:spAutoFit/>
          </a:bodyPr>
          <a:lstStyle/>
          <a:p>
            <a:pPr algn="l">
              <a:lnSpc>
                <a:spcPct val="110000"/>
              </a:lnSpc>
              <a:spcAft>
                <a:spcPts val="0"/>
              </a:spcAft>
            </a:pPr>
            <a:r>
              <a:rPr sz="3200" b="0" i="0" spc="-120">
                <a:solidFill>
                  <a:srgbClr val="556A83"/>
                </a:solidFill>
                <a:latin typeface="Times New Roman"/>
              </a:rPr>
              <a:t>−1.7%</a:t>
            </a:r>
          </a:p>
        </p:txBody>
      </p:sp>
      <p:sp>
        <p:nvSpPr>
          <p:cNvPr id="15" name="TextBox 14"/>
          <p:cNvSpPr txBox="1"/>
          <p:nvPr/>
        </p:nvSpPr>
        <p:spPr>
          <a:xfrm>
            <a:off x="621807" y="5042611"/>
            <a:ext cx="2706691" cy="438912"/>
          </a:xfrm>
          <a:prstGeom prst="rect">
            <a:avLst/>
          </a:prstGeom>
          <a:noFill/>
        </p:spPr>
        <p:txBody>
          <a:bodyPr wrap="square" lIns="0" tIns="0" rIns="0" bIns="0" anchor="t">
            <a:spAutoFit/>
          </a:bodyPr>
          <a:lstStyle/>
          <a:p>
            <a:pPr algn="l">
              <a:lnSpc>
                <a:spcPct val="115000"/>
              </a:lnSpc>
              <a:spcAft>
                <a:spcPts val="0"/>
              </a:spcAft>
            </a:pPr>
            <a:r>
              <a:rPr sz="880" b="0" i="0">
                <a:solidFill>
                  <a:srgbClr val="0E1620"/>
                </a:solidFill>
                <a:latin typeface="Arial"/>
              </a:rPr>
              <a:t>MSCI World IMI — the market itself.</a:t>
            </a:r>
          </a:p>
        </p:txBody>
      </p:sp>
      <p:sp>
        <p:nvSpPr>
          <p:cNvPr id="16" name="TextBox 15"/>
          <p:cNvSpPr txBox="1"/>
          <p:nvPr/>
        </p:nvSpPr>
        <p:spPr>
          <a:xfrm>
            <a:off x="3877152" y="2292096"/>
            <a:ext cx="5413383" cy="390144"/>
          </a:xfrm>
          <a:prstGeom prst="rect">
            <a:avLst/>
          </a:prstGeom>
          <a:noFill/>
        </p:spPr>
        <p:txBody>
          <a:bodyPr wrap="square" lIns="0" tIns="0" rIns="0" bIns="0" anchor="t">
            <a:spAutoFit/>
          </a:bodyPr>
          <a:lstStyle/>
          <a:p>
            <a:pPr algn="l">
              <a:lnSpc>
                <a:spcPct val="110000"/>
              </a:lnSpc>
              <a:spcAft>
                <a:spcPts val="0"/>
              </a:spcAft>
            </a:pPr>
            <a:r>
              <a:rPr sz="919" b="1" i="0">
                <a:solidFill>
                  <a:srgbClr val="314359"/>
                </a:solidFill>
                <a:latin typeface="Arial"/>
              </a:rPr>
              <a:t>OUTPERFORMANCE IN STRESS YEARS</a:t>
            </a:r>
          </a:p>
        </p:txBody>
      </p:sp>
      <p:sp>
        <p:nvSpPr>
          <p:cNvPr id="17" name="TextBox 16"/>
          <p:cNvSpPr txBox="1"/>
          <p:nvPr/>
        </p:nvSpPr>
        <p:spPr>
          <a:xfrm>
            <a:off x="3877152" y="2877312"/>
            <a:ext cx="731538" cy="536448"/>
          </a:xfrm>
          <a:prstGeom prst="rect">
            <a:avLst/>
          </a:prstGeom>
          <a:noFill/>
        </p:spPr>
        <p:txBody>
          <a:bodyPr wrap="square" lIns="0" tIns="0" rIns="0" bIns="0" anchor="ctr">
            <a:spAutoFit/>
          </a:bodyPr>
          <a:lstStyle/>
          <a:p>
            <a:pPr algn="l">
              <a:lnSpc>
                <a:spcPct val="110000"/>
              </a:lnSpc>
              <a:spcAft>
                <a:spcPts val="0"/>
              </a:spcAft>
            </a:pPr>
            <a:r>
              <a:rPr sz="1040" b="1" i="0">
                <a:solidFill>
                  <a:srgbClr val="314359"/>
                </a:solidFill>
                <a:latin typeface="Arial"/>
              </a:rPr>
              <a:t>2008</a:t>
            </a:r>
          </a:p>
        </p:txBody>
      </p:sp>
      <p:sp>
        <p:nvSpPr>
          <p:cNvPr id="18" name="Rectangle 17"/>
          <p:cNvSpPr/>
          <p:nvPr/>
        </p:nvSpPr>
        <p:spPr>
          <a:xfrm>
            <a:off x="4681845" y="2999232"/>
            <a:ext cx="384330" cy="29260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53960" y="2877312"/>
            <a:ext cx="950999" cy="536448"/>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+2.2%</a:t>
            </a:r>
          </a:p>
        </p:txBody>
      </p:sp>
      <p:sp>
        <p:nvSpPr>
          <p:cNvPr id="20" name="TextBox 19"/>
          <p:cNvSpPr txBox="1"/>
          <p:nvPr/>
        </p:nvSpPr>
        <p:spPr>
          <a:xfrm>
            <a:off x="3877152" y="3413760"/>
            <a:ext cx="731538" cy="536448"/>
          </a:xfrm>
          <a:prstGeom prst="rect">
            <a:avLst/>
          </a:prstGeom>
          <a:noFill/>
        </p:spPr>
        <p:txBody>
          <a:bodyPr wrap="square" lIns="0" tIns="0" rIns="0" bIns="0" anchor="ctr">
            <a:spAutoFit/>
          </a:bodyPr>
          <a:lstStyle/>
          <a:p>
            <a:pPr algn="l">
              <a:lnSpc>
                <a:spcPct val="110000"/>
              </a:lnSpc>
              <a:spcAft>
                <a:spcPts val="0"/>
              </a:spcAft>
            </a:pPr>
            <a:r>
              <a:rPr sz="1040" b="1" i="0">
                <a:solidFill>
                  <a:srgbClr val="314359"/>
                </a:solidFill>
                <a:latin typeface="Arial"/>
              </a:rPr>
              <a:t>2011</a:t>
            </a:r>
          </a:p>
        </p:txBody>
      </p:sp>
      <p:sp>
        <p:nvSpPr>
          <p:cNvPr id="21" name="Rectangle 20"/>
          <p:cNvSpPr/>
          <p:nvPr/>
        </p:nvSpPr>
        <p:spPr>
          <a:xfrm>
            <a:off x="4681845" y="3535680"/>
            <a:ext cx="1380096" cy="29260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49725" y="3413760"/>
            <a:ext cx="950999" cy="536448"/>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+7.9%</a:t>
            </a:r>
          </a:p>
        </p:txBody>
      </p:sp>
      <p:sp>
        <p:nvSpPr>
          <p:cNvPr id="23" name="TextBox 22"/>
          <p:cNvSpPr txBox="1"/>
          <p:nvPr/>
        </p:nvSpPr>
        <p:spPr>
          <a:xfrm>
            <a:off x="3877152" y="3950208"/>
            <a:ext cx="731538" cy="536448"/>
          </a:xfrm>
          <a:prstGeom prst="rect">
            <a:avLst/>
          </a:prstGeom>
          <a:noFill/>
        </p:spPr>
        <p:txBody>
          <a:bodyPr wrap="square" lIns="0" tIns="0" rIns="0" bIns="0" anchor="ctr">
            <a:spAutoFit/>
          </a:bodyPr>
          <a:lstStyle/>
          <a:p>
            <a:pPr algn="l">
              <a:lnSpc>
                <a:spcPct val="110000"/>
              </a:lnSpc>
              <a:spcAft>
                <a:spcPts val="0"/>
              </a:spcAft>
            </a:pPr>
            <a:r>
              <a:rPr sz="1040" b="1" i="0">
                <a:solidFill>
                  <a:srgbClr val="314359"/>
                </a:solidFill>
                <a:latin typeface="Arial"/>
              </a:rPr>
              <a:t>2015</a:t>
            </a:r>
          </a:p>
        </p:txBody>
      </p:sp>
      <p:sp>
        <p:nvSpPr>
          <p:cNvPr id="24" name="Rectangle 23"/>
          <p:cNvSpPr/>
          <p:nvPr/>
        </p:nvSpPr>
        <p:spPr>
          <a:xfrm>
            <a:off x="4681845" y="4072128"/>
            <a:ext cx="2061409" cy="29260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31038" y="3950208"/>
            <a:ext cx="950999" cy="536448"/>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+11.8%</a:t>
            </a:r>
          </a:p>
        </p:txBody>
      </p:sp>
      <p:sp>
        <p:nvSpPr>
          <p:cNvPr id="26" name="TextBox 25"/>
          <p:cNvSpPr txBox="1"/>
          <p:nvPr/>
        </p:nvSpPr>
        <p:spPr>
          <a:xfrm>
            <a:off x="3877152" y="4486656"/>
            <a:ext cx="731538" cy="536448"/>
          </a:xfrm>
          <a:prstGeom prst="rect">
            <a:avLst/>
          </a:prstGeom>
          <a:noFill/>
        </p:spPr>
        <p:txBody>
          <a:bodyPr wrap="square" lIns="0" tIns="0" rIns="0" bIns="0" anchor="ctr">
            <a:spAutoFit/>
          </a:bodyPr>
          <a:lstStyle/>
          <a:p>
            <a:pPr algn="l">
              <a:lnSpc>
                <a:spcPct val="110000"/>
              </a:lnSpc>
              <a:spcAft>
                <a:spcPts val="0"/>
              </a:spcAft>
            </a:pPr>
            <a:r>
              <a:rPr sz="1040" b="1" i="0">
                <a:solidFill>
                  <a:srgbClr val="314359"/>
                </a:solidFill>
                <a:latin typeface="Arial"/>
              </a:rPr>
              <a:t>2018</a:t>
            </a:r>
          </a:p>
        </p:txBody>
      </p:sp>
      <p:sp>
        <p:nvSpPr>
          <p:cNvPr id="27" name="Rectangle 26"/>
          <p:cNvSpPr/>
          <p:nvPr/>
        </p:nvSpPr>
        <p:spPr>
          <a:xfrm>
            <a:off x="4681845" y="4608576"/>
            <a:ext cx="296982" cy="292608"/>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66612" y="4486656"/>
            <a:ext cx="950999" cy="536448"/>
          </a:xfrm>
          <a:prstGeom prst="rect">
            <a:avLst/>
          </a:prstGeom>
          <a:noFill/>
        </p:spPr>
        <p:txBody>
          <a:bodyPr wrap="square" lIns="0" tIns="0" rIns="0" bIns="0" anchor="ctr">
            <a:spAutoFit/>
          </a:bodyPr>
          <a:lstStyle/>
          <a:p>
            <a:pPr algn="l">
              <a:lnSpc>
                <a:spcPct val="110000"/>
              </a:lnSpc>
              <a:spcAft>
                <a:spcPts val="0"/>
              </a:spcAft>
            </a:pPr>
            <a:r>
              <a:rPr sz="960" b="1" i="0">
                <a:solidFill>
                  <a:srgbClr val="556A83"/>
                </a:solidFill>
                <a:latin typeface="Arial"/>
              </a:rPr>
              <a:t>−1.7%</a:t>
            </a:r>
          </a:p>
        </p:txBody>
      </p:sp>
      <p:sp>
        <p:nvSpPr>
          <p:cNvPr id="29" name="TextBox 28"/>
          <p:cNvSpPr txBox="1"/>
          <p:nvPr/>
        </p:nvSpPr>
        <p:spPr>
          <a:xfrm>
            <a:off x="3877152" y="5023104"/>
            <a:ext cx="731538" cy="536448"/>
          </a:xfrm>
          <a:prstGeom prst="rect">
            <a:avLst/>
          </a:prstGeom>
          <a:noFill/>
        </p:spPr>
        <p:txBody>
          <a:bodyPr wrap="square" lIns="0" tIns="0" rIns="0" bIns="0" anchor="ctr">
            <a:spAutoFit/>
          </a:bodyPr>
          <a:lstStyle/>
          <a:p>
            <a:pPr algn="l">
              <a:lnSpc>
                <a:spcPct val="110000"/>
              </a:lnSpc>
              <a:spcAft>
                <a:spcPts val="0"/>
              </a:spcAft>
            </a:pPr>
            <a:r>
              <a:rPr sz="1040" b="1" i="0">
                <a:solidFill>
                  <a:srgbClr val="314359"/>
                </a:solidFill>
                <a:latin typeface="Arial"/>
              </a:rPr>
              <a:t>2022</a:t>
            </a:r>
          </a:p>
        </p:txBody>
      </p:sp>
      <p:sp>
        <p:nvSpPr>
          <p:cNvPr id="30" name="Rectangle 29"/>
          <p:cNvSpPr/>
          <p:nvPr/>
        </p:nvSpPr>
        <p:spPr>
          <a:xfrm>
            <a:off x="4681845" y="5145024"/>
            <a:ext cx="3511383" cy="29260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81013" y="5023104"/>
            <a:ext cx="950999" cy="536448"/>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+20.1%</a:t>
            </a:r>
          </a:p>
        </p:txBody>
      </p:sp>
      <p:sp>
        <p:nvSpPr>
          <p:cNvPr id="32" name="TextBox 31"/>
          <p:cNvSpPr txBox="1"/>
          <p:nvPr/>
        </p:nvSpPr>
        <p:spPr>
          <a:xfrm>
            <a:off x="3877152" y="5618073"/>
            <a:ext cx="5413383" cy="487680"/>
          </a:xfrm>
          <a:prstGeom prst="rect">
            <a:avLst/>
          </a:prstGeom>
          <a:noFill/>
        </p:spPr>
        <p:txBody>
          <a:bodyPr wrap="square" lIns="0" tIns="0" rIns="0" bIns="0" anchor="t">
            <a:spAutoFit/>
          </a:bodyPr>
          <a:lstStyle/>
          <a:p>
            <a:pPr algn="l">
              <a:lnSpc>
                <a:spcPct val="118000"/>
              </a:lnSpc>
              <a:spcAft>
                <a:spcPts val="0"/>
              </a:spcAft>
            </a:pPr>
            <a:r>
              <a:rPr sz="840" b="0" i="1">
                <a:solidFill>
                  <a:srgbClr val="556A83"/>
                </a:solidFill>
                <a:latin typeface="Arial"/>
              </a:rPr>
              <a:t>The risk system forces diversification of business exposures and screens out weak competitive positions and untrustworthy management — which pays in demanding markets.</a:t>
            </a:r>
          </a:p>
        </p:txBody>
      </p:sp>
      <p:sp>
        <p:nvSpPr>
          <p:cNvPr id="33" name="Rectangle 32"/>
          <p:cNvSpPr/>
          <p:nvPr/>
        </p:nvSpPr>
        <p:spPr>
          <a:xfrm>
            <a:off x="438922" y="6242304"/>
            <a:ext cx="8873559" cy="487680"/>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85230" y="6242304"/>
            <a:ext cx="8558998" cy="487680"/>
          </a:xfrm>
          <a:prstGeom prst="rect">
            <a:avLst/>
          </a:prstGeom>
          <a:noFill/>
        </p:spPr>
        <p:txBody>
          <a:bodyPr wrap="square" lIns="0" tIns="0" rIns="0" bIns="0" anchor="ctr">
            <a:spAutoFit/>
          </a:bodyPr>
          <a:lstStyle/>
          <a:p>
            <a:pPr algn="l">
              <a:lnSpc>
                <a:spcPct val="110000"/>
              </a:lnSpc>
              <a:spcAft>
                <a:spcPts val="0"/>
              </a:spcAft>
            </a:pPr>
            <a:r>
              <a:rPr sz="1000" b="0" i="1">
                <a:solidFill>
                  <a:srgbClr val="FFFFFF"/>
                </a:solidFill>
                <a:latin typeface="Arial"/>
              </a:rPr>
              <a:t>When the market falls, the discipline pays — outperformance in four of the last five stress years, and a gain in the average down month.</a:t>
            </a:r>
          </a:p>
        </p:txBody>
      </p:sp>
      <p:sp>
        <p:nvSpPr>
          <p:cNvPr id="35" name="TextBox 34"/>
          <p:cNvSpPr txBox="1"/>
          <p:nvPr/>
        </p:nvSpPr>
        <p:spPr>
          <a:xfrm>
            <a:off x="438922" y="6847027"/>
            <a:ext cx="9217382" cy="341376"/>
          </a:xfrm>
          <a:prstGeom prst="rect">
            <a:avLst/>
          </a:prstGeom>
          <a:noFill/>
        </p:spPr>
        <p:txBody>
          <a:bodyPr wrap="square" lIns="0" tIns="0" rIns="0" bIns="0" anchor="t">
            <a:spAutoFit/>
          </a:bodyPr>
          <a:lstStyle/>
          <a:p>
            <a:pPr algn="l">
              <a:lnSpc>
                <a:spcPct val="110000"/>
              </a:lnSpc>
              <a:spcAft>
                <a:spcPts val="0"/>
              </a:spcAft>
            </a:pPr>
            <a:r>
              <a:rPr sz="600" b="0" i="1">
                <a:solidFill>
                  <a:srgbClr val="556A83"/>
                </a:solidFill>
                <a:latin typeface="Arial"/>
              </a:rPr>
              <a:t>Down-year figure: average monthly return across all months of the years in which the MSCI World IMI finished down. Annual figures: AIP net return − MSCI IMI. Source: Athanase, April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Risk-Adjusted Outcomes</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Table 16</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Lower downside risk compounds into better outcomes</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Athanase carries higher total volatility than the market — but its downside volatility is lower, which is what protects compounding.</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18</a:t>
            </a:r>
          </a:p>
        </p:txBody>
      </p:sp>
      <p:sp>
        <p:nvSpPr>
          <p:cNvPr id="10" name="Rectangle 9"/>
          <p:cNvSpPr/>
          <p:nvPr/>
        </p:nvSpPr>
        <p:spPr>
          <a:xfrm>
            <a:off x="438922" y="2292096"/>
            <a:ext cx="2889576" cy="12484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5230" y="2428646"/>
            <a:ext cx="2596960" cy="292608"/>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ANNUALISED RETURN</a:t>
            </a:r>
          </a:p>
        </p:txBody>
      </p:sp>
      <p:sp>
        <p:nvSpPr>
          <p:cNvPr id="12" name="TextBox 11"/>
          <p:cNvSpPr txBox="1"/>
          <p:nvPr/>
        </p:nvSpPr>
        <p:spPr>
          <a:xfrm>
            <a:off x="585230" y="2740761"/>
            <a:ext cx="2596960" cy="780288"/>
          </a:xfrm>
          <a:prstGeom prst="rect">
            <a:avLst/>
          </a:prstGeom>
          <a:noFill/>
        </p:spPr>
        <p:txBody>
          <a:bodyPr wrap="square" lIns="0" tIns="0" rIns="0" bIns="0" anchor="t">
            <a:spAutoFit/>
          </a:bodyPr>
          <a:lstStyle/>
          <a:p>
            <a:pPr>
              <a:spcAft>
                <a:spcPts val="200"/>
              </a:spcAft>
            </a:pPr>
            <a:r>
              <a:rPr sz="880">
                <a:solidFill>
                  <a:srgbClr val="556A83"/>
                </a:solidFill>
                <a:latin typeface="Arial"/>
              </a:rPr>
              <a:t>MSCI  </a:t>
            </a:r>
            <a:r>
              <a:rPr sz="1520" b="1">
                <a:solidFill>
                  <a:srgbClr val="314359"/>
                </a:solidFill>
                <a:latin typeface="Times New Roman"/>
              </a:rPr>
              <a:t>6.2%</a:t>
            </a:r>
          </a:p>
          <a:p>
            <a:r>
              <a:rPr sz="880">
                <a:solidFill>
                  <a:srgbClr val="556A83"/>
                </a:solidFill>
                <a:latin typeface="Arial"/>
              </a:rPr>
              <a:t>AIP   </a:t>
            </a:r>
            <a:r>
              <a:rPr sz="1520" b="1">
                <a:solidFill>
                  <a:srgbClr val="152130"/>
                </a:solidFill>
                <a:latin typeface="Times New Roman"/>
              </a:rPr>
              <a:t>16.3%</a:t>
            </a:r>
          </a:p>
        </p:txBody>
      </p:sp>
      <p:sp>
        <p:nvSpPr>
          <p:cNvPr id="13" name="Rectangle 12"/>
          <p:cNvSpPr/>
          <p:nvPr/>
        </p:nvSpPr>
        <p:spPr>
          <a:xfrm>
            <a:off x="3416283" y="2292096"/>
            <a:ext cx="2889576" cy="12484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62591" y="2428646"/>
            <a:ext cx="2596960" cy="292608"/>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TOTAL VOLATILITY</a:t>
            </a:r>
          </a:p>
        </p:txBody>
      </p:sp>
      <p:sp>
        <p:nvSpPr>
          <p:cNvPr id="15" name="TextBox 14"/>
          <p:cNvSpPr txBox="1"/>
          <p:nvPr/>
        </p:nvSpPr>
        <p:spPr>
          <a:xfrm>
            <a:off x="3562591" y="2740761"/>
            <a:ext cx="2596960" cy="780288"/>
          </a:xfrm>
          <a:prstGeom prst="rect">
            <a:avLst/>
          </a:prstGeom>
          <a:noFill/>
        </p:spPr>
        <p:txBody>
          <a:bodyPr wrap="square" lIns="0" tIns="0" rIns="0" bIns="0" anchor="t">
            <a:spAutoFit/>
          </a:bodyPr>
          <a:lstStyle/>
          <a:p>
            <a:pPr>
              <a:spcAft>
                <a:spcPts val="200"/>
              </a:spcAft>
            </a:pPr>
            <a:r>
              <a:rPr sz="880">
                <a:solidFill>
                  <a:srgbClr val="556A83"/>
                </a:solidFill>
                <a:latin typeface="Arial"/>
              </a:rPr>
              <a:t>MSCI  </a:t>
            </a:r>
            <a:r>
              <a:rPr sz="1520" b="1">
                <a:solidFill>
                  <a:srgbClr val="314359"/>
                </a:solidFill>
                <a:latin typeface="Times New Roman"/>
              </a:rPr>
              <a:t>16.3%</a:t>
            </a:r>
          </a:p>
          <a:p>
            <a:r>
              <a:rPr sz="880">
                <a:solidFill>
                  <a:srgbClr val="556A83"/>
                </a:solidFill>
                <a:latin typeface="Arial"/>
              </a:rPr>
              <a:t>AIP   </a:t>
            </a:r>
            <a:r>
              <a:rPr sz="1520" b="1">
                <a:solidFill>
                  <a:srgbClr val="152130"/>
                </a:solidFill>
                <a:latin typeface="Times New Roman"/>
              </a:rPr>
              <a:t>27.0%</a:t>
            </a:r>
          </a:p>
        </p:txBody>
      </p:sp>
      <p:sp>
        <p:nvSpPr>
          <p:cNvPr id="16" name="Rectangle 15"/>
          <p:cNvSpPr/>
          <p:nvPr/>
        </p:nvSpPr>
        <p:spPr>
          <a:xfrm>
            <a:off x="6393644" y="2292096"/>
            <a:ext cx="2889576" cy="12484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9952" y="2428646"/>
            <a:ext cx="2596960" cy="292608"/>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DOWNSIDE VOLATILITY</a:t>
            </a:r>
          </a:p>
        </p:txBody>
      </p:sp>
      <p:sp>
        <p:nvSpPr>
          <p:cNvPr id="18" name="TextBox 17"/>
          <p:cNvSpPr txBox="1"/>
          <p:nvPr/>
        </p:nvSpPr>
        <p:spPr>
          <a:xfrm>
            <a:off x="6539952" y="2740761"/>
            <a:ext cx="2596960" cy="780288"/>
          </a:xfrm>
          <a:prstGeom prst="rect">
            <a:avLst/>
          </a:prstGeom>
          <a:noFill/>
        </p:spPr>
        <p:txBody>
          <a:bodyPr wrap="square" lIns="0" tIns="0" rIns="0" bIns="0" anchor="t">
            <a:spAutoFit/>
          </a:bodyPr>
          <a:lstStyle/>
          <a:p>
            <a:pPr>
              <a:spcAft>
                <a:spcPts val="200"/>
              </a:spcAft>
            </a:pPr>
            <a:r>
              <a:rPr sz="880">
                <a:solidFill>
                  <a:srgbClr val="556A83"/>
                </a:solidFill>
                <a:latin typeface="Arial"/>
              </a:rPr>
              <a:t>MSCI  </a:t>
            </a:r>
            <a:r>
              <a:rPr sz="1520" b="1">
                <a:solidFill>
                  <a:srgbClr val="314359"/>
                </a:solidFill>
                <a:latin typeface="Times New Roman"/>
              </a:rPr>
              <a:t>11.5%</a:t>
            </a:r>
          </a:p>
          <a:p>
            <a:r>
              <a:rPr sz="880">
                <a:solidFill>
                  <a:srgbClr val="556A83"/>
                </a:solidFill>
                <a:latin typeface="Arial"/>
              </a:rPr>
              <a:t>AIP   </a:t>
            </a:r>
            <a:r>
              <a:rPr sz="1520" b="1">
                <a:solidFill>
                  <a:srgbClr val="152130"/>
                </a:solidFill>
                <a:latin typeface="Times New Roman"/>
              </a:rPr>
              <a:t>10.9%</a:t>
            </a:r>
          </a:p>
        </p:txBody>
      </p:sp>
      <p:sp>
        <p:nvSpPr>
          <p:cNvPr id="19" name="TextBox 18"/>
          <p:cNvSpPr txBox="1"/>
          <p:nvPr/>
        </p:nvSpPr>
        <p:spPr>
          <a:xfrm>
            <a:off x="6781360" y="3579571"/>
            <a:ext cx="2889576" cy="390144"/>
          </a:xfrm>
          <a:prstGeom prst="rect">
            <a:avLst/>
          </a:prstGeom>
          <a:noFill/>
        </p:spPr>
        <p:txBody>
          <a:bodyPr wrap="square" lIns="0" tIns="0" rIns="0" bIns="0" anchor="t">
            <a:spAutoFit/>
          </a:bodyPr>
          <a:lstStyle/>
          <a:p>
            <a:pPr algn="l">
              <a:lnSpc>
                <a:spcPct val="105000"/>
              </a:lnSpc>
              <a:spcAft>
                <a:spcPts val="0"/>
              </a:spcAft>
            </a:pPr>
            <a:r>
              <a:rPr sz="800" b="1" i="0">
                <a:solidFill>
                  <a:srgbClr val="152130"/>
                </a:solidFill>
                <a:latin typeface="Arial"/>
              </a:rPr>
              <a:t>↑ Athanase downside volatility is LOWER than the market’s.</a:t>
            </a:r>
          </a:p>
        </p:txBody>
      </p:sp>
      <p:sp>
        <p:nvSpPr>
          <p:cNvPr id="20" name="TextBox 19"/>
          <p:cNvSpPr txBox="1"/>
          <p:nvPr/>
        </p:nvSpPr>
        <p:spPr>
          <a:xfrm>
            <a:off x="438922" y="3901440"/>
            <a:ext cx="8778459" cy="292608"/>
          </a:xfrm>
          <a:prstGeom prst="rect">
            <a:avLst/>
          </a:prstGeom>
          <a:noFill/>
        </p:spPr>
        <p:txBody>
          <a:bodyPr wrap="square" lIns="0" tIns="0" rIns="0" bIns="0" anchor="t">
            <a:spAutoFit/>
          </a:bodyPr>
          <a:lstStyle/>
          <a:p>
            <a:pPr algn="l">
              <a:lnSpc>
                <a:spcPct val="110000"/>
              </a:lnSpc>
              <a:spcAft>
                <a:spcPts val="0"/>
              </a:spcAft>
            </a:pPr>
            <a:r>
              <a:rPr sz="880" b="1" i="0">
                <a:solidFill>
                  <a:srgbClr val="314359"/>
                </a:solidFill>
                <a:latin typeface="Arial"/>
              </a:rPr>
              <a:t>EXPECTED VALUE OF 100 INVESTED, BY HOLDING PERIOD</a:t>
            </a:r>
          </a:p>
        </p:txBody>
      </p:sp>
      <p:sp>
        <p:nvSpPr>
          <p:cNvPr id="21" name="Rectangle 20"/>
          <p:cNvSpPr/>
          <p:nvPr/>
        </p:nvSpPr>
        <p:spPr>
          <a:xfrm>
            <a:off x="438922" y="4194048"/>
            <a:ext cx="2560384" cy="341376"/>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6707" y="4194048"/>
            <a:ext cx="2414076" cy="341376"/>
          </a:xfrm>
          <a:prstGeom prst="rect">
            <a:avLst/>
          </a:prstGeom>
          <a:noFill/>
        </p:spPr>
        <p:txBody>
          <a:bodyPr wrap="square" lIns="0" tIns="0" rIns="0" bIns="0" anchor="ctr">
            <a:spAutoFit/>
          </a:bodyPr>
          <a:lstStyle/>
          <a:p>
            <a:pPr algn="l">
              <a:lnSpc>
                <a:spcPct val="110000"/>
              </a:lnSpc>
              <a:spcAft>
                <a:spcPts val="0"/>
              </a:spcAft>
            </a:pPr>
            <a:endParaRPr/>
          </a:p>
        </p:txBody>
      </p:sp>
      <p:sp>
        <p:nvSpPr>
          <p:cNvPr id="23" name="Rectangle 22"/>
          <p:cNvSpPr/>
          <p:nvPr/>
        </p:nvSpPr>
        <p:spPr>
          <a:xfrm>
            <a:off x="2999307" y="4194048"/>
            <a:ext cx="1578841" cy="341376"/>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87091" y="4194048"/>
            <a:ext cx="1432534" cy="341376"/>
          </a:xfrm>
          <a:prstGeom prst="rect">
            <a:avLst/>
          </a:prstGeom>
          <a:noFill/>
        </p:spPr>
        <p:txBody>
          <a:bodyPr wrap="square" lIns="0" tIns="0" rIns="0" bIns="0" anchor="ctr">
            <a:spAutoFit/>
          </a:bodyPr>
          <a:lstStyle/>
          <a:p>
            <a:pPr algn="r">
              <a:lnSpc>
                <a:spcPct val="110000"/>
              </a:lnSpc>
              <a:spcAft>
                <a:spcPts val="0"/>
              </a:spcAft>
            </a:pPr>
            <a:r>
              <a:rPr sz="960" b="1" i="0">
                <a:solidFill>
                  <a:srgbClr val="FFFFFF"/>
                </a:solidFill>
                <a:latin typeface="Arial"/>
              </a:rPr>
              <a:t>3 years</a:t>
            </a:r>
          </a:p>
        </p:txBody>
      </p:sp>
      <p:sp>
        <p:nvSpPr>
          <p:cNvPr id="25" name="Rectangle 24"/>
          <p:cNvSpPr/>
          <p:nvPr/>
        </p:nvSpPr>
        <p:spPr>
          <a:xfrm>
            <a:off x="4578148" y="4194048"/>
            <a:ext cx="1578841" cy="341376"/>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65933" y="4194048"/>
            <a:ext cx="1432534" cy="341376"/>
          </a:xfrm>
          <a:prstGeom prst="rect">
            <a:avLst/>
          </a:prstGeom>
          <a:noFill/>
        </p:spPr>
        <p:txBody>
          <a:bodyPr wrap="square" lIns="0" tIns="0" rIns="0" bIns="0" anchor="ctr">
            <a:spAutoFit/>
          </a:bodyPr>
          <a:lstStyle/>
          <a:p>
            <a:pPr algn="r">
              <a:lnSpc>
                <a:spcPct val="110000"/>
              </a:lnSpc>
              <a:spcAft>
                <a:spcPts val="0"/>
              </a:spcAft>
            </a:pPr>
            <a:r>
              <a:rPr sz="960" b="1" i="0">
                <a:solidFill>
                  <a:srgbClr val="FFFFFF"/>
                </a:solidFill>
                <a:latin typeface="Arial"/>
              </a:rPr>
              <a:t>5 years</a:t>
            </a:r>
          </a:p>
        </p:txBody>
      </p:sp>
      <p:sp>
        <p:nvSpPr>
          <p:cNvPr id="27" name="Rectangle 26"/>
          <p:cNvSpPr/>
          <p:nvPr/>
        </p:nvSpPr>
        <p:spPr>
          <a:xfrm>
            <a:off x="6156990" y="4194048"/>
            <a:ext cx="1578841" cy="341376"/>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4775" y="4194048"/>
            <a:ext cx="1432534" cy="341376"/>
          </a:xfrm>
          <a:prstGeom prst="rect">
            <a:avLst/>
          </a:prstGeom>
          <a:noFill/>
        </p:spPr>
        <p:txBody>
          <a:bodyPr wrap="square" lIns="0" tIns="0" rIns="0" bIns="0" anchor="ctr">
            <a:spAutoFit/>
          </a:bodyPr>
          <a:lstStyle/>
          <a:p>
            <a:pPr algn="r">
              <a:lnSpc>
                <a:spcPct val="110000"/>
              </a:lnSpc>
              <a:spcAft>
                <a:spcPts val="0"/>
              </a:spcAft>
            </a:pPr>
            <a:r>
              <a:rPr sz="960" b="1" i="0">
                <a:solidFill>
                  <a:srgbClr val="FFFFFF"/>
                </a:solidFill>
                <a:latin typeface="Arial"/>
              </a:rPr>
              <a:t>7 years</a:t>
            </a:r>
          </a:p>
        </p:txBody>
      </p:sp>
      <p:sp>
        <p:nvSpPr>
          <p:cNvPr id="29" name="Rectangle 28"/>
          <p:cNvSpPr/>
          <p:nvPr/>
        </p:nvSpPr>
        <p:spPr>
          <a:xfrm>
            <a:off x="7735832" y="4194048"/>
            <a:ext cx="1578841" cy="341376"/>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23617" y="4194048"/>
            <a:ext cx="1432534" cy="341376"/>
          </a:xfrm>
          <a:prstGeom prst="rect">
            <a:avLst/>
          </a:prstGeom>
          <a:noFill/>
        </p:spPr>
        <p:txBody>
          <a:bodyPr wrap="square" lIns="0" tIns="0" rIns="0" bIns="0" anchor="ctr">
            <a:spAutoFit/>
          </a:bodyPr>
          <a:lstStyle/>
          <a:p>
            <a:pPr algn="r">
              <a:lnSpc>
                <a:spcPct val="110000"/>
              </a:lnSpc>
              <a:spcAft>
                <a:spcPts val="0"/>
              </a:spcAft>
            </a:pPr>
            <a:r>
              <a:rPr sz="960" b="1" i="0">
                <a:solidFill>
                  <a:srgbClr val="FFFFFF"/>
                </a:solidFill>
                <a:latin typeface="Arial"/>
              </a:rPr>
              <a:t>10 years</a:t>
            </a:r>
          </a:p>
        </p:txBody>
      </p:sp>
      <p:sp>
        <p:nvSpPr>
          <p:cNvPr id="31" name="Rectangle 30"/>
          <p:cNvSpPr/>
          <p:nvPr/>
        </p:nvSpPr>
        <p:spPr>
          <a:xfrm>
            <a:off x="438922" y="4535424"/>
            <a:ext cx="2560384"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6707" y="4535424"/>
            <a:ext cx="2414076" cy="341376"/>
          </a:xfrm>
          <a:prstGeom prst="rect">
            <a:avLst/>
          </a:prstGeom>
          <a:noFill/>
        </p:spPr>
        <p:txBody>
          <a:bodyPr wrap="square" lIns="0" tIns="0" rIns="0" bIns="0" anchor="ctr">
            <a:spAutoFit/>
          </a:bodyPr>
          <a:lstStyle/>
          <a:p>
            <a:pPr algn="l">
              <a:lnSpc>
                <a:spcPct val="110000"/>
              </a:lnSpc>
              <a:spcAft>
                <a:spcPts val="0"/>
              </a:spcAft>
            </a:pPr>
            <a:r>
              <a:rPr sz="919" b="0" i="0">
                <a:solidFill>
                  <a:srgbClr val="556A83"/>
                </a:solidFill>
                <a:latin typeface="Arial"/>
              </a:rPr>
              <a:t>Median outcome — MSCI</a:t>
            </a:r>
          </a:p>
        </p:txBody>
      </p:sp>
      <p:sp>
        <p:nvSpPr>
          <p:cNvPr id="33" name="Rectangle 32"/>
          <p:cNvSpPr/>
          <p:nvPr/>
        </p:nvSpPr>
        <p:spPr>
          <a:xfrm>
            <a:off x="2999307" y="4535424"/>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72460" y="4535424"/>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120</a:t>
            </a:r>
          </a:p>
        </p:txBody>
      </p:sp>
      <p:sp>
        <p:nvSpPr>
          <p:cNvPr id="35" name="Rectangle 34"/>
          <p:cNvSpPr/>
          <p:nvPr/>
        </p:nvSpPr>
        <p:spPr>
          <a:xfrm>
            <a:off x="4578148" y="4535424"/>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51302" y="4535424"/>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135</a:t>
            </a:r>
          </a:p>
        </p:txBody>
      </p:sp>
      <p:sp>
        <p:nvSpPr>
          <p:cNvPr id="37" name="Rectangle 36"/>
          <p:cNvSpPr/>
          <p:nvPr/>
        </p:nvSpPr>
        <p:spPr>
          <a:xfrm>
            <a:off x="6156990" y="4535424"/>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30144" y="4535424"/>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152</a:t>
            </a:r>
          </a:p>
        </p:txBody>
      </p:sp>
      <p:sp>
        <p:nvSpPr>
          <p:cNvPr id="39" name="Rectangle 38"/>
          <p:cNvSpPr/>
          <p:nvPr/>
        </p:nvSpPr>
        <p:spPr>
          <a:xfrm>
            <a:off x="7735832" y="4535424"/>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08986" y="4535424"/>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182</a:t>
            </a:r>
          </a:p>
        </p:txBody>
      </p:sp>
      <p:sp>
        <p:nvSpPr>
          <p:cNvPr id="41" name="Rectangle 40"/>
          <p:cNvSpPr/>
          <p:nvPr/>
        </p:nvSpPr>
        <p:spPr>
          <a:xfrm>
            <a:off x="438922" y="4876800"/>
            <a:ext cx="2560384"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26707" y="4876800"/>
            <a:ext cx="2414076" cy="341376"/>
          </a:xfrm>
          <a:prstGeom prst="rect">
            <a:avLst/>
          </a:prstGeom>
          <a:noFill/>
        </p:spPr>
        <p:txBody>
          <a:bodyPr wrap="square" lIns="0" tIns="0" rIns="0" bIns="0" anchor="ctr">
            <a:spAutoFit/>
          </a:bodyPr>
          <a:lstStyle/>
          <a:p>
            <a:pPr algn="l">
              <a:lnSpc>
                <a:spcPct val="110000"/>
              </a:lnSpc>
              <a:spcAft>
                <a:spcPts val="0"/>
              </a:spcAft>
            </a:pPr>
            <a:r>
              <a:rPr sz="919" b="1" i="0">
                <a:solidFill>
                  <a:srgbClr val="152130"/>
                </a:solidFill>
                <a:latin typeface="Arial"/>
              </a:rPr>
              <a:t>Median outcome — Athanase</a:t>
            </a:r>
          </a:p>
        </p:txBody>
      </p:sp>
      <p:sp>
        <p:nvSpPr>
          <p:cNvPr id="43" name="Rectangle 42"/>
          <p:cNvSpPr/>
          <p:nvPr/>
        </p:nvSpPr>
        <p:spPr>
          <a:xfrm>
            <a:off x="2999307" y="4876800"/>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072460" y="4876800"/>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157</a:t>
            </a:r>
          </a:p>
        </p:txBody>
      </p:sp>
      <p:sp>
        <p:nvSpPr>
          <p:cNvPr id="45" name="Rectangle 44"/>
          <p:cNvSpPr/>
          <p:nvPr/>
        </p:nvSpPr>
        <p:spPr>
          <a:xfrm>
            <a:off x="4578148" y="4876800"/>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51302" y="4876800"/>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213</a:t>
            </a:r>
          </a:p>
        </p:txBody>
      </p:sp>
      <p:sp>
        <p:nvSpPr>
          <p:cNvPr id="47" name="Rectangle 46"/>
          <p:cNvSpPr/>
          <p:nvPr/>
        </p:nvSpPr>
        <p:spPr>
          <a:xfrm>
            <a:off x="6156990" y="4876800"/>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30144" y="4876800"/>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287</a:t>
            </a:r>
          </a:p>
        </p:txBody>
      </p:sp>
      <p:sp>
        <p:nvSpPr>
          <p:cNvPr id="49" name="Rectangle 48"/>
          <p:cNvSpPr/>
          <p:nvPr/>
        </p:nvSpPr>
        <p:spPr>
          <a:xfrm>
            <a:off x="7735832" y="4876800"/>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08986" y="4876800"/>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452</a:t>
            </a:r>
          </a:p>
        </p:txBody>
      </p:sp>
      <p:sp>
        <p:nvSpPr>
          <p:cNvPr id="51" name="Rectangle 50"/>
          <p:cNvSpPr/>
          <p:nvPr/>
        </p:nvSpPr>
        <p:spPr>
          <a:xfrm>
            <a:off x="438922" y="5218176"/>
            <a:ext cx="2560384"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26707" y="5218176"/>
            <a:ext cx="2414076" cy="341376"/>
          </a:xfrm>
          <a:prstGeom prst="rect">
            <a:avLst/>
          </a:prstGeom>
          <a:noFill/>
        </p:spPr>
        <p:txBody>
          <a:bodyPr wrap="square" lIns="0" tIns="0" rIns="0" bIns="0" anchor="ctr">
            <a:spAutoFit/>
          </a:bodyPr>
          <a:lstStyle/>
          <a:p>
            <a:pPr algn="l">
              <a:lnSpc>
                <a:spcPct val="110000"/>
              </a:lnSpc>
              <a:spcAft>
                <a:spcPts val="0"/>
              </a:spcAft>
            </a:pPr>
            <a:r>
              <a:rPr sz="919" b="0" i="0">
                <a:solidFill>
                  <a:srgbClr val="556A83"/>
                </a:solidFill>
                <a:latin typeface="Arial"/>
              </a:rPr>
              <a:t>Adverse case* — MSCI</a:t>
            </a:r>
          </a:p>
        </p:txBody>
      </p:sp>
      <p:sp>
        <p:nvSpPr>
          <p:cNvPr id="53" name="Rectangle 52"/>
          <p:cNvSpPr/>
          <p:nvPr/>
        </p:nvSpPr>
        <p:spPr>
          <a:xfrm>
            <a:off x="2999307" y="5218176"/>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72460" y="5218176"/>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99</a:t>
            </a:r>
          </a:p>
        </p:txBody>
      </p:sp>
      <p:sp>
        <p:nvSpPr>
          <p:cNvPr id="55" name="Rectangle 54"/>
          <p:cNvSpPr/>
          <p:nvPr/>
        </p:nvSpPr>
        <p:spPr>
          <a:xfrm>
            <a:off x="4578148" y="5218176"/>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651302" y="5218176"/>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105</a:t>
            </a:r>
          </a:p>
        </p:txBody>
      </p:sp>
      <p:sp>
        <p:nvSpPr>
          <p:cNvPr id="57" name="Rectangle 56"/>
          <p:cNvSpPr/>
          <p:nvPr/>
        </p:nvSpPr>
        <p:spPr>
          <a:xfrm>
            <a:off x="6156990" y="5218176"/>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230144" y="5218176"/>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114</a:t>
            </a:r>
          </a:p>
        </p:txBody>
      </p:sp>
      <p:sp>
        <p:nvSpPr>
          <p:cNvPr id="59" name="Rectangle 58"/>
          <p:cNvSpPr/>
          <p:nvPr/>
        </p:nvSpPr>
        <p:spPr>
          <a:xfrm>
            <a:off x="7735832" y="5218176"/>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808986" y="5218176"/>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129</a:t>
            </a:r>
          </a:p>
        </p:txBody>
      </p:sp>
      <p:sp>
        <p:nvSpPr>
          <p:cNvPr id="61" name="Rectangle 60"/>
          <p:cNvSpPr/>
          <p:nvPr/>
        </p:nvSpPr>
        <p:spPr>
          <a:xfrm>
            <a:off x="438922" y="5559552"/>
            <a:ext cx="2560384"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26707" y="5559552"/>
            <a:ext cx="2414076" cy="341376"/>
          </a:xfrm>
          <a:prstGeom prst="rect">
            <a:avLst/>
          </a:prstGeom>
          <a:noFill/>
        </p:spPr>
        <p:txBody>
          <a:bodyPr wrap="square" lIns="0" tIns="0" rIns="0" bIns="0" anchor="ctr">
            <a:spAutoFit/>
          </a:bodyPr>
          <a:lstStyle/>
          <a:p>
            <a:pPr algn="l">
              <a:lnSpc>
                <a:spcPct val="110000"/>
              </a:lnSpc>
              <a:spcAft>
                <a:spcPts val="0"/>
              </a:spcAft>
            </a:pPr>
            <a:r>
              <a:rPr sz="919" b="1" i="0">
                <a:solidFill>
                  <a:srgbClr val="152130"/>
                </a:solidFill>
                <a:latin typeface="Arial"/>
              </a:rPr>
              <a:t>Adverse case* — Athanase</a:t>
            </a:r>
          </a:p>
        </p:txBody>
      </p:sp>
      <p:sp>
        <p:nvSpPr>
          <p:cNvPr id="63" name="Rectangle 62"/>
          <p:cNvSpPr/>
          <p:nvPr/>
        </p:nvSpPr>
        <p:spPr>
          <a:xfrm>
            <a:off x="2999307" y="5559552"/>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072460" y="5559552"/>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133</a:t>
            </a:r>
          </a:p>
        </p:txBody>
      </p:sp>
      <p:sp>
        <p:nvSpPr>
          <p:cNvPr id="65" name="Rectangle 64"/>
          <p:cNvSpPr/>
          <p:nvPr/>
        </p:nvSpPr>
        <p:spPr>
          <a:xfrm>
            <a:off x="4578148" y="5559552"/>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651302" y="5559552"/>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172</a:t>
            </a:r>
          </a:p>
        </p:txBody>
      </p:sp>
      <p:sp>
        <p:nvSpPr>
          <p:cNvPr id="67" name="Rectangle 66"/>
          <p:cNvSpPr/>
          <p:nvPr/>
        </p:nvSpPr>
        <p:spPr>
          <a:xfrm>
            <a:off x="6156990" y="5559552"/>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230144" y="5559552"/>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223</a:t>
            </a:r>
          </a:p>
        </p:txBody>
      </p:sp>
      <p:sp>
        <p:nvSpPr>
          <p:cNvPr id="69" name="Rectangle 68"/>
          <p:cNvSpPr/>
          <p:nvPr/>
        </p:nvSpPr>
        <p:spPr>
          <a:xfrm>
            <a:off x="7735832" y="5559552"/>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08986" y="5559552"/>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335</a:t>
            </a:r>
          </a:p>
        </p:txBody>
      </p:sp>
      <p:sp>
        <p:nvSpPr>
          <p:cNvPr id="71" name="Rectangle 70"/>
          <p:cNvSpPr/>
          <p:nvPr/>
        </p:nvSpPr>
        <p:spPr>
          <a:xfrm>
            <a:off x="438922" y="5900928"/>
            <a:ext cx="2560384"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26707" y="5900928"/>
            <a:ext cx="2414076" cy="341376"/>
          </a:xfrm>
          <a:prstGeom prst="rect">
            <a:avLst/>
          </a:prstGeom>
          <a:noFill/>
        </p:spPr>
        <p:txBody>
          <a:bodyPr wrap="square" lIns="0" tIns="0" rIns="0" bIns="0" anchor="ctr">
            <a:spAutoFit/>
          </a:bodyPr>
          <a:lstStyle/>
          <a:p>
            <a:pPr algn="l">
              <a:lnSpc>
                <a:spcPct val="110000"/>
              </a:lnSpc>
              <a:spcAft>
                <a:spcPts val="0"/>
              </a:spcAft>
            </a:pPr>
            <a:r>
              <a:rPr sz="919" b="0" i="0">
                <a:solidFill>
                  <a:srgbClr val="556A83"/>
                </a:solidFill>
                <a:latin typeface="Arial"/>
              </a:rPr>
              <a:t>Chance of a loss — MSCI</a:t>
            </a:r>
          </a:p>
        </p:txBody>
      </p:sp>
      <p:sp>
        <p:nvSpPr>
          <p:cNvPr id="73" name="Rectangle 72"/>
          <p:cNvSpPr/>
          <p:nvPr/>
        </p:nvSpPr>
        <p:spPr>
          <a:xfrm>
            <a:off x="2999307" y="5900928"/>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072460" y="5900928"/>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18%</a:t>
            </a:r>
          </a:p>
        </p:txBody>
      </p:sp>
      <p:sp>
        <p:nvSpPr>
          <p:cNvPr id="75" name="Rectangle 74"/>
          <p:cNvSpPr/>
          <p:nvPr/>
        </p:nvSpPr>
        <p:spPr>
          <a:xfrm>
            <a:off x="4578148" y="5900928"/>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651302" y="5900928"/>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11%</a:t>
            </a:r>
          </a:p>
        </p:txBody>
      </p:sp>
      <p:sp>
        <p:nvSpPr>
          <p:cNvPr id="77" name="Rectangle 76"/>
          <p:cNvSpPr/>
          <p:nvPr/>
        </p:nvSpPr>
        <p:spPr>
          <a:xfrm>
            <a:off x="6156990" y="5900928"/>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230144" y="5900928"/>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8%</a:t>
            </a:r>
          </a:p>
        </p:txBody>
      </p:sp>
      <p:sp>
        <p:nvSpPr>
          <p:cNvPr id="79" name="Rectangle 78"/>
          <p:cNvSpPr/>
          <p:nvPr/>
        </p:nvSpPr>
        <p:spPr>
          <a:xfrm>
            <a:off x="7735832" y="5900928"/>
            <a:ext cx="1578841" cy="34137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808986" y="5900928"/>
            <a:ext cx="1432534" cy="341376"/>
          </a:xfrm>
          <a:prstGeom prst="rect">
            <a:avLst/>
          </a:prstGeom>
          <a:noFill/>
        </p:spPr>
        <p:txBody>
          <a:bodyPr wrap="square" lIns="0" tIns="0" rIns="0" bIns="0" anchor="ctr">
            <a:spAutoFit/>
          </a:bodyPr>
          <a:lstStyle/>
          <a:p>
            <a:pPr algn="r">
              <a:lnSpc>
                <a:spcPct val="110000"/>
              </a:lnSpc>
              <a:spcAft>
                <a:spcPts val="0"/>
              </a:spcAft>
            </a:pPr>
            <a:r>
              <a:rPr sz="1000" b="0" i="0">
                <a:solidFill>
                  <a:srgbClr val="556A83"/>
                </a:solidFill>
                <a:latin typeface="Arial"/>
              </a:rPr>
              <a:t>4%</a:t>
            </a:r>
          </a:p>
        </p:txBody>
      </p:sp>
      <p:sp>
        <p:nvSpPr>
          <p:cNvPr id="81" name="Rectangle 80"/>
          <p:cNvSpPr/>
          <p:nvPr/>
        </p:nvSpPr>
        <p:spPr>
          <a:xfrm>
            <a:off x="438922" y="6242304"/>
            <a:ext cx="2560384"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526707" y="6242304"/>
            <a:ext cx="2414076" cy="341376"/>
          </a:xfrm>
          <a:prstGeom prst="rect">
            <a:avLst/>
          </a:prstGeom>
          <a:noFill/>
        </p:spPr>
        <p:txBody>
          <a:bodyPr wrap="square" lIns="0" tIns="0" rIns="0" bIns="0" anchor="ctr">
            <a:spAutoFit/>
          </a:bodyPr>
          <a:lstStyle/>
          <a:p>
            <a:pPr algn="l">
              <a:lnSpc>
                <a:spcPct val="110000"/>
              </a:lnSpc>
              <a:spcAft>
                <a:spcPts val="0"/>
              </a:spcAft>
            </a:pPr>
            <a:r>
              <a:rPr sz="919" b="1" i="0">
                <a:solidFill>
                  <a:srgbClr val="152130"/>
                </a:solidFill>
                <a:latin typeface="Arial"/>
              </a:rPr>
              <a:t>Chance of a loss — Athanase</a:t>
            </a:r>
          </a:p>
        </p:txBody>
      </p:sp>
      <p:sp>
        <p:nvSpPr>
          <p:cNvPr id="83" name="Rectangle 82"/>
          <p:cNvSpPr/>
          <p:nvPr/>
        </p:nvSpPr>
        <p:spPr>
          <a:xfrm>
            <a:off x="2999307" y="6242304"/>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072460" y="6242304"/>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0%</a:t>
            </a:r>
          </a:p>
        </p:txBody>
      </p:sp>
      <p:sp>
        <p:nvSpPr>
          <p:cNvPr id="85" name="Rectangle 84"/>
          <p:cNvSpPr/>
          <p:nvPr/>
        </p:nvSpPr>
        <p:spPr>
          <a:xfrm>
            <a:off x="4578148" y="6242304"/>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651302" y="6242304"/>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0%</a:t>
            </a:r>
          </a:p>
        </p:txBody>
      </p:sp>
      <p:sp>
        <p:nvSpPr>
          <p:cNvPr id="87" name="Rectangle 86"/>
          <p:cNvSpPr/>
          <p:nvPr/>
        </p:nvSpPr>
        <p:spPr>
          <a:xfrm>
            <a:off x="6156990" y="6242304"/>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230144" y="6242304"/>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0%</a:t>
            </a:r>
          </a:p>
        </p:txBody>
      </p:sp>
      <p:sp>
        <p:nvSpPr>
          <p:cNvPr id="89" name="Rectangle 88"/>
          <p:cNvSpPr/>
          <p:nvPr/>
        </p:nvSpPr>
        <p:spPr>
          <a:xfrm>
            <a:off x="7735832" y="6242304"/>
            <a:ext cx="1578841" cy="341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808986" y="6242304"/>
            <a:ext cx="1432534" cy="341376"/>
          </a:xfrm>
          <a:prstGeom prst="rect">
            <a:avLst/>
          </a:prstGeom>
          <a:noFill/>
        </p:spPr>
        <p:txBody>
          <a:bodyPr wrap="square" lIns="0" tIns="0" rIns="0" bIns="0" anchor="ctr">
            <a:spAutoFit/>
          </a:bodyPr>
          <a:lstStyle/>
          <a:p>
            <a:pPr algn="r">
              <a:lnSpc>
                <a:spcPct val="110000"/>
              </a:lnSpc>
              <a:spcAft>
                <a:spcPts val="0"/>
              </a:spcAft>
            </a:pPr>
            <a:r>
              <a:rPr sz="1000" b="1" i="0">
                <a:solidFill>
                  <a:srgbClr val="314359"/>
                </a:solidFill>
                <a:latin typeface="Arial"/>
              </a:rPr>
              <a:t>0%</a:t>
            </a:r>
          </a:p>
        </p:txBody>
      </p:sp>
      <p:sp>
        <p:nvSpPr>
          <p:cNvPr id="91" name="Rectangle 90"/>
          <p:cNvSpPr/>
          <p:nvPr/>
        </p:nvSpPr>
        <p:spPr>
          <a:xfrm>
            <a:off x="438922" y="6661708"/>
            <a:ext cx="8873559" cy="370636"/>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70599" y="6661708"/>
            <a:ext cx="8632151" cy="370636"/>
          </a:xfrm>
          <a:prstGeom prst="rect">
            <a:avLst/>
          </a:prstGeom>
          <a:noFill/>
        </p:spPr>
        <p:txBody>
          <a:bodyPr wrap="square" lIns="0" tIns="0" rIns="0" bIns="0" anchor="ctr">
            <a:spAutoFit/>
          </a:bodyPr>
          <a:lstStyle/>
          <a:p>
            <a:pPr algn="l">
              <a:lnSpc>
                <a:spcPct val="110000"/>
              </a:lnSpc>
              <a:spcAft>
                <a:spcPts val="0"/>
              </a:spcAft>
            </a:pPr>
            <a:r>
              <a:rPr sz="919" b="0" i="1">
                <a:solidFill>
                  <a:srgbClr val="FFFFFF"/>
                </a:solidFill>
                <a:latin typeface="Arial"/>
              </a:rPr>
              <a:t>Even in the adverse case, Athanase’s lower downside volatility leaves an investor ahead at every horizon — and the gap widens with time.</a:t>
            </a:r>
          </a:p>
        </p:txBody>
      </p:sp>
      <p:sp>
        <p:nvSpPr>
          <p:cNvPr id="93" name="TextBox 92"/>
          <p:cNvSpPr txBox="1"/>
          <p:nvPr/>
        </p:nvSpPr>
        <p:spPr>
          <a:xfrm>
            <a:off x="438922" y="7110374"/>
            <a:ext cx="9217382" cy="390144"/>
          </a:xfrm>
          <a:prstGeom prst="rect">
            <a:avLst/>
          </a:prstGeom>
          <a:noFill/>
        </p:spPr>
        <p:txBody>
          <a:bodyPr wrap="square" lIns="0" tIns="0" rIns="0" bIns="0" anchor="t">
            <a:spAutoFit/>
          </a:bodyPr>
          <a:lstStyle/>
          <a:p>
            <a:pPr algn="l">
              <a:lnSpc>
                <a:spcPct val="110000"/>
              </a:lnSpc>
              <a:spcAft>
                <a:spcPts val="0"/>
              </a:spcAft>
            </a:pPr>
            <a:r>
              <a:rPr sz="600" b="0" i="0">
                <a:solidFill>
                  <a:srgbClr val="556A83"/>
                </a:solidFill>
                <a:latin typeface="Arial"/>
              </a:rPr>
              <a:t>Source: monthly net returns, 235 months (2006–2025). *Adverse case = one downside-deviation outcome (≈1-in-6), narrowing with horizon as dd/√T. Illustrative; past performance is not indicative of future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Portfolio Impact</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Figure 6</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What it does to an allocator’s portfolio</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Illustrative: redirecting a sleeve into Athanase rather than a long-only global fund or another activist.</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19</a:t>
            </a:r>
          </a:p>
        </p:txBody>
      </p:sp>
      <p:graphicFrame>
        <p:nvGraphicFramePr>
          <p:cNvPr id="10" name="Chart 9"/>
          <p:cNvGraphicFramePr>
            <a:graphicFrameLocks noGrp="1"/>
          </p:cNvGraphicFramePr>
          <p:nvPr/>
        </p:nvGraphicFramePr>
        <p:xfrm>
          <a:off x="438922" y="2340864"/>
          <a:ext cx="4901306" cy="4096512"/>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3526014" y="2896819"/>
            <a:ext cx="12192" cy="2926080"/>
          </a:xfrm>
          <a:prstGeom prst="rect">
            <a:avLst/>
          </a:prstGeom>
          <a:solidFill>
            <a:srgbClr val="556A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94476" y="2643225"/>
            <a:ext cx="1463076" cy="292608"/>
          </a:xfrm>
          <a:prstGeom prst="rect">
            <a:avLst/>
          </a:prstGeom>
          <a:noFill/>
        </p:spPr>
        <p:txBody>
          <a:bodyPr wrap="square" lIns="0" tIns="0" rIns="0" bIns="0" anchor="t">
            <a:spAutoFit/>
          </a:bodyPr>
          <a:lstStyle/>
          <a:p>
            <a:pPr algn="ctr">
              <a:lnSpc>
                <a:spcPct val="110000"/>
              </a:lnSpc>
              <a:spcAft>
                <a:spcPts val="0"/>
              </a:spcAft>
            </a:pPr>
            <a:r>
              <a:rPr sz="800" b="1" i="0">
                <a:solidFill>
                  <a:srgbClr val="314359"/>
                </a:solidFill>
                <a:latin typeface="Arial"/>
              </a:rPr>
              <a:t>Down-market year</a:t>
            </a:r>
          </a:p>
        </p:txBody>
      </p:sp>
      <p:sp>
        <p:nvSpPr>
          <p:cNvPr id="13" name="TextBox 12"/>
          <p:cNvSpPr txBox="1"/>
          <p:nvPr/>
        </p:nvSpPr>
        <p:spPr>
          <a:xfrm>
            <a:off x="3584537" y="4392177"/>
            <a:ext cx="1170461" cy="253593"/>
          </a:xfrm>
          <a:prstGeom prst="rect">
            <a:avLst/>
          </a:prstGeom>
          <a:noFill/>
        </p:spPr>
        <p:txBody>
          <a:bodyPr wrap="square" lIns="0" tIns="0" rIns="0" bIns="0" anchor="t">
            <a:spAutoFit/>
          </a:bodyPr>
          <a:lstStyle/>
          <a:p>
            <a:pPr algn="l">
              <a:lnSpc>
                <a:spcPct val="110000"/>
              </a:lnSpc>
              <a:spcAft>
                <a:spcPts val="0"/>
              </a:spcAft>
            </a:pPr>
            <a:r>
              <a:rPr sz="760" b="1" i="0">
                <a:solidFill>
                  <a:srgbClr val="314359"/>
                </a:solidFill>
                <a:latin typeface="Arial"/>
              </a:rPr>
              <a:t>Athanase: holds</a:t>
            </a:r>
          </a:p>
        </p:txBody>
      </p:sp>
      <p:sp>
        <p:nvSpPr>
          <p:cNvPr id="14" name="TextBox 13"/>
          <p:cNvSpPr txBox="1"/>
          <p:nvPr/>
        </p:nvSpPr>
        <p:spPr>
          <a:xfrm>
            <a:off x="3584537" y="5248689"/>
            <a:ext cx="1170461" cy="253593"/>
          </a:xfrm>
          <a:prstGeom prst="rect">
            <a:avLst/>
          </a:prstGeom>
          <a:noFill/>
        </p:spPr>
        <p:txBody>
          <a:bodyPr wrap="square" lIns="0" tIns="0" rIns="0" bIns="0" anchor="t">
            <a:spAutoFit/>
          </a:bodyPr>
          <a:lstStyle/>
          <a:p>
            <a:pPr algn="l">
              <a:lnSpc>
                <a:spcPct val="110000"/>
              </a:lnSpc>
              <a:spcAft>
                <a:spcPts val="0"/>
              </a:spcAft>
            </a:pPr>
            <a:r>
              <a:rPr sz="760" b="0" i="0">
                <a:solidFill>
                  <a:srgbClr val="556A83"/>
                </a:solidFill>
                <a:latin typeface="Arial"/>
              </a:rPr>
              <a:t>Long-only: −19%</a:t>
            </a:r>
          </a:p>
        </p:txBody>
      </p:sp>
      <p:sp>
        <p:nvSpPr>
          <p:cNvPr id="15" name="TextBox 14"/>
          <p:cNvSpPr txBox="1"/>
          <p:nvPr/>
        </p:nvSpPr>
        <p:spPr>
          <a:xfrm>
            <a:off x="4791575" y="2828544"/>
            <a:ext cx="950999" cy="292608"/>
          </a:xfrm>
          <a:prstGeom prst="rect">
            <a:avLst/>
          </a:prstGeom>
          <a:noFill/>
        </p:spPr>
        <p:txBody>
          <a:bodyPr wrap="square" lIns="0" tIns="0" rIns="0" bIns="0" anchor="t">
            <a:spAutoFit/>
          </a:bodyPr>
          <a:lstStyle/>
          <a:p>
            <a:pPr algn="l">
              <a:lnSpc>
                <a:spcPct val="110000"/>
              </a:lnSpc>
              <a:spcAft>
                <a:spcPts val="0"/>
              </a:spcAft>
            </a:pPr>
            <a:r>
              <a:rPr sz="960" b="1" i="0">
                <a:solidFill>
                  <a:srgbClr val="314359"/>
                </a:solidFill>
                <a:latin typeface="Arial"/>
              </a:rPr>
              <a:t>523</a:t>
            </a:r>
          </a:p>
        </p:txBody>
      </p:sp>
      <p:sp>
        <p:nvSpPr>
          <p:cNvPr id="16" name="TextBox 15"/>
          <p:cNvSpPr txBox="1"/>
          <p:nvPr/>
        </p:nvSpPr>
        <p:spPr>
          <a:xfrm>
            <a:off x="4791575" y="4584192"/>
            <a:ext cx="950999" cy="292608"/>
          </a:xfrm>
          <a:prstGeom prst="rect">
            <a:avLst/>
          </a:prstGeom>
          <a:noFill/>
        </p:spPr>
        <p:txBody>
          <a:bodyPr wrap="square" lIns="0" tIns="0" rIns="0" bIns="0" anchor="t">
            <a:spAutoFit/>
          </a:bodyPr>
          <a:lstStyle/>
          <a:p>
            <a:pPr algn="l">
              <a:lnSpc>
                <a:spcPct val="110000"/>
              </a:lnSpc>
              <a:spcAft>
                <a:spcPts val="0"/>
              </a:spcAft>
            </a:pPr>
            <a:r>
              <a:rPr sz="880" b="1" i="0">
                <a:solidFill>
                  <a:srgbClr val="556A83"/>
                </a:solidFill>
                <a:latin typeface="Arial"/>
              </a:rPr>
              <a:t>271</a:t>
            </a:r>
          </a:p>
        </p:txBody>
      </p:sp>
      <p:sp>
        <p:nvSpPr>
          <p:cNvPr id="17" name="TextBox 16"/>
          <p:cNvSpPr txBox="1"/>
          <p:nvPr/>
        </p:nvSpPr>
        <p:spPr>
          <a:xfrm>
            <a:off x="4791575" y="5169408"/>
            <a:ext cx="950999"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208</a:t>
            </a:r>
          </a:p>
        </p:txBody>
      </p:sp>
      <p:sp>
        <p:nvSpPr>
          <p:cNvPr id="18" name="TextBox 17"/>
          <p:cNvSpPr txBox="1"/>
          <p:nvPr/>
        </p:nvSpPr>
        <p:spPr>
          <a:xfrm>
            <a:off x="5888883" y="2340864"/>
            <a:ext cx="3365076" cy="536448"/>
          </a:xfrm>
          <a:prstGeom prst="rect">
            <a:avLst/>
          </a:prstGeom>
          <a:noFill/>
        </p:spPr>
        <p:txBody>
          <a:bodyPr wrap="square" lIns="0" tIns="0" rIns="0" bIns="0" anchor="t">
            <a:spAutoFit/>
          </a:bodyPr>
          <a:lstStyle/>
          <a:p>
            <a:pPr algn="l">
              <a:lnSpc>
                <a:spcPct val="110000"/>
              </a:lnSpc>
              <a:spcAft>
                <a:spcPts val="0"/>
              </a:spcAft>
            </a:pPr>
            <a:r>
              <a:rPr sz="880" b="1" i="0">
                <a:solidFill>
                  <a:srgbClr val="314359"/>
                </a:solidFill>
                <a:latin typeface="Arial"/>
              </a:rPr>
              <a:t>Table 15.  Annual uplift to TOTAL-portfolio return (bps), by sleeve size</a:t>
            </a:r>
          </a:p>
        </p:txBody>
      </p:sp>
      <p:sp>
        <p:nvSpPr>
          <p:cNvPr id="19" name="Rectangle 18"/>
          <p:cNvSpPr/>
          <p:nvPr/>
        </p:nvSpPr>
        <p:spPr>
          <a:xfrm>
            <a:off x="5888883" y="2896819"/>
            <a:ext cx="1097307" cy="448665"/>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62037" y="2896819"/>
            <a:ext cx="980261" cy="448665"/>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Arial"/>
              </a:rPr>
              <a:t>Sleeve</a:t>
            </a:r>
          </a:p>
        </p:txBody>
      </p:sp>
      <p:sp>
        <p:nvSpPr>
          <p:cNvPr id="21" name="Rectangle 20"/>
          <p:cNvSpPr/>
          <p:nvPr/>
        </p:nvSpPr>
        <p:spPr>
          <a:xfrm>
            <a:off x="6986190" y="2896819"/>
            <a:ext cx="1133884" cy="448665"/>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59344" y="2896819"/>
            <a:ext cx="1016838" cy="448665"/>
          </a:xfrm>
          <a:prstGeom prst="rect">
            <a:avLst/>
          </a:prstGeom>
          <a:noFill/>
        </p:spPr>
        <p:txBody>
          <a:bodyPr wrap="square" lIns="0" tIns="0" rIns="0" bIns="0" anchor="ctr">
            <a:spAutoFit/>
          </a:bodyPr>
          <a:lstStyle/>
          <a:p>
            <a:pPr algn="r">
              <a:lnSpc>
                <a:spcPct val="110000"/>
              </a:lnSpc>
              <a:spcAft>
                <a:spcPts val="0"/>
              </a:spcAft>
            </a:pPr>
            <a:r>
              <a:rPr sz="1000" b="1" i="0">
                <a:solidFill>
                  <a:srgbClr val="FFFFFF"/>
                </a:solidFill>
                <a:latin typeface="Arial"/>
              </a:rPr>
              <a:t>vs Long-only</a:t>
            </a:r>
          </a:p>
        </p:txBody>
      </p:sp>
      <p:sp>
        <p:nvSpPr>
          <p:cNvPr id="23" name="Rectangle 22"/>
          <p:cNvSpPr/>
          <p:nvPr/>
        </p:nvSpPr>
        <p:spPr>
          <a:xfrm>
            <a:off x="8120075" y="2896819"/>
            <a:ext cx="1426499" cy="448665"/>
          </a:xfrm>
          <a:prstGeom prst="rect">
            <a:avLst/>
          </a:prstGeom>
          <a:solidFill>
            <a:srgbClr val="3143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93228" y="2896819"/>
            <a:ext cx="1309453" cy="448665"/>
          </a:xfrm>
          <a:prstGeom prst="rect">
            <a:avLst/>
          </a:prstGeom>
          <a:noFill/>
        </p:spPr>
        <p:txBody>
          <a:bodyPr wrap="square" lIns="0" tIns="0" rIns="0" bIns="0" anchor="ctr">
            <a:spAutoFit/>
          </a:bodyPr>
          <a:lstStyle/>
          <a:p>
            <a:pPr algn="r">
              <a:lnSpc>
                <a:spcPct val="110000"/>
              </a:lnSpc>
              <a:spcAft>
                <a:spcPts val="0"/>
              </a:spcAft>
            </a:pPr>
            <a:r>
              <a:rPr sz="1000" b="1" i="0">
                <a:solidFill>
                  <a:srgbClr val="FFFFFF"/>
                </a:solidFill>
                <a:latin typeface="Arial"/>
              </a:rPr>
              <a:t>vs Other activist</a:t>
            </a:r>
          </a:p>
        </p:txBody>
      </p:sp>
      <p:sp>
        <p:nvSpPr>
          <p:cNvPr id="25" name="Rectangle 24"/>
          <p:cNvSpPr/>
          <p:nvPr/>
        </p:nvSpPr>
        <p:spPr>
          <a:xfrm>
            <a:off x="5888883" y="3345484"/>
            <a:ext cx="1097307"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62037" y="3345484"/>
            <a:ext cx="980261" cy="448665"/>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3%</a:t>
            </a:r>
          </a:p>
        </p:txBody>
      </p:sp>
      <p:sp>
        <p:nvSpPr>
          <p:cNvPr id="27" name="Rectangle 26"/>
          <p:cNvSpPr/>
          <p:nvPr/>
        </p:nvSpPr>
        <p:spPr>
          <a:xfrm>
            <a:off x="6986190" y="3345484"/>
            <a:ext cx="1133884"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59344" y="3345484"/>
            <a:ext cx="1016838"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+31 bps</a:t>
            </a:r>
          </a:p>
        </p:txBody>
      </p:sp>
      <p:sp>
        <p:nvSpPr>
          <p:cNvPr id="29" name="Rectangle 28"/>
          <p:cNvSpPr/>
          <p:nvPr/>
        </p:nvSpPr>
        <p:spPr>
          <a:xfrm>
            <a:off x="8120075" y="3345484"/>
            <a:ext cx="1426499"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93228" y="3345484"/>
            <a:ext cx="1309453"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+23 bps</a:t>
            </a:r>
          </a:p>
        </p:txBody>
      </p:sp>
      <p:sp>
        <p:nvSpPr>
          <p:cNvPr id="31" name="Rectangle 30"/>
          <p:cNvSpPr/>
          <p:nvPr/>
        </p:nvSpPr>
        <p:spPr>
          <a:xfrm>
            <a:off x="5888883" y="3794150"/>
            <a:ext cx="1097307" cy="44866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62037" y="3794150"/>
            <a:ext cx="980261" cy="448665"/>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5%</a:t>
            </a:r>
          </a:p>
        </p:txBody>
      </p:sp>
      <p:sp>
        <p:nvSpPr>
          <p:cNvPr id="33" name="Rectangle 32"/>
          <p:cNvSpPr/>
          <p:nvPr/>
        </p:nvSpPr>
        <p:spPr>
          <a:xfrm>
            <a:off x="6986190" y="3794150"/>
            <a:ext cx="1133884" cy="44866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344" y="3794150"/>
            <a:ext cx="1016838"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+52 bps</a:t>
            </a:r>
          </a:p>
        </p:txBody>
      </p:sp>
      <p:sp>
        <p:nvSpPr>
          <p:cNvPr id="35" name="Rectangle 34"/>
          <p:cNvSpPr/>
          <p:nvPr/>
        </p:nvSpPr>
        <p:spPr>
          <a:xfrm>
            <a:off x="8120075" y="3794150"/>
            <a:ext cx="1426499" cy="44866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93228" y="3794150"/>
            <a:ext cx="1309453"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+38 bps</a:t>
            </a:r>
          </a:p>
        </p:txBody>
      </p:sp>
      <p:sp>
        <p:nvSpPr>
          <p:cNvPr id="37" name="Rectangle 36"/>
          <p:cNvSpPr/>
          <p:nvPr/>
        </p:nvSpPr>
        <p:spPr>
          <a:xfrm>
            <a:off x="5888883" y="4242816"/>
            <a:ext cx="1097307"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2037" y="4242816"/>
            <a:ext cx="980261" cy="448665"/>
          </a:xfrm>
          <a:prstGeom prst="rect">
            <a:avLst/>
          </a:prstGeom>
          <a:noFill/>
        </p:spPr>
        <p:txBody>
          <a:bodyPr wrap="square" lIns="0" tIns="0" rIns="0" bIns="0" anchor="ctr">
            <a:spAutoFit/>
          </a:bodyPr>
          <a:lstStyle/>
          <a:p>
            <a:pPr algn="l">
              <a:lnSpc>
                <a:spcPct val="110000"/>
              </a:lnSpc>
              <a:spcAft>
                <a:spcPts val="0"/>
              </a:spcAft>
            </a:pPr>
            <a:r>
              <a:rPr sz="960" b="1" i="0">
                <a:solidFill>
                  <a:srgbClr val="314359"/>
                </a:solidFill>
                <a:latin typeface="Arial"/>
              </a:rPr>
              <a:t>8%</a:t>
            </a:r>
          </a:p>
        </p:txBody>
      </p:sp>
      <p:sp>
        <p:nvSpPr>
          <p:cNvPr id="39" name="Rectangle 38"/>
          <p:cNvSpPr/>
          <p:nvPr/>
        </p:nvSpPr>
        <p:spPr>
          <a:xfrm>
            <a:off x="6986190" y="4242816"/>
            <a:ext cx="1133884"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59344" y="4242816"/>
            <a:ext cx="1016838"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+83 bps</a:t>
            </a:r>
          </a:p>
        </p:txBody>
      </p:sp>
      <p:sp>
        <p:nvSpPr>
          <p:cNvPr id="41" name="Rectangle 40"/>
          <p:cNvSpPr/>
          <p:nvPr/>
        </p:nvSpPr>
        <p:spPr>
          <a:xfrm>
            <a:off x="8120075" y="4242816"/>
            <a:ext cx="1426499" cy="448665"/>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93228" y="4242816"/>
            <a:ext cx="1309453" cy="448665"/>
          </a:xfrm>
          <a:prstGeom prst="rect">
            <a:avLst/>
          </a:prstGeom>
          <a:noFill/>
        </p:spPr>
        <p:txBody>
          <a:bodyPr wrap="square" lIns="0" tIns="0" rIns="0" bIns="0" anchor="ctr">
            <a:spAutoFit/>
          </a:bodyPr>
          <a:lstStyle/>
          <a:p>
            <a:pPr algn="r">
              <a:lnSpc>
                <a:spcPct val="110000"/>
              </a:lnSpc>
              <a:spcAft>
                <a:spcPts val="0"/>
              </a:spcAft>
            </a:pPr>
            <a:r>
              <a:rPr sz="960" b="0" i="0">
                <a:solidFill>
                  <a:srgbClr val="0E1620"/>
                </a:solidFill>
                <a:latin typeface="Arial"/>
              </a:rPr>
              <a:t>+60 bps</a:t>
            </a:r>
          </a:p>
        </p:txBody>
      </p:sp>
      <p:sp>
        <p:nvSpPr>
          <p:cNvPr id="43" name="TextBox 42"/>
          <p:cNvSpPr txBox="1"/>
          <p:nvPr/>
        </p:nvSpPr>
        <p:spPr>
          <a:xfrm>
            <a:off x="5888883" y="4847539"/>
            <a:ext cx="3365076" cy="292608"/>
          </a:xfrm>
          <a:prstGeom prst="rect">
            <a:avLst/>
          </a:prstGeom>
          <a:noFill/>
        </p:spPr>
        <p:txBody>
          <a:bodyPr wrap="square" lIns="0" tIns="0" rIns="0" bIns="0" anchor="t">
            <a:spAutoFit/>
          </a:bodyPr>
          <a:lstStyle/>
          <a:p>
            <a:pPr algn="l">
              <a:lnSpc>
                <a:spcPct val="110000"/>
              </a:lnSpc>
              <a:spcAft>
                <a:spcPts val="0"/>
              </a:spcAft>
            </a:pPr>
            <a:r>
              <a:rPr sz="880" b="1" i="0">
                <a:solidFill>
                  <a:srgbClr val="314359"/>
                </a:solidFill>
                <a:latin typeface="Arial"/>
              </a:rPr>
              <a:t>HOW THE PATH IS EARNED</a:t>
            </a:r>
          </a:p>
        </p:txBody>
      </p:sp>
      <p:sp>
        <p:nvSpPr>
          <p:cNvPr id="44" name="TextBox 43"/>
          <p:cNvSpPr txBox="1"/>
          <p:nvPr/>
        </p:nvSpPr>
        <p:spPr>
          <a:xfrm>
            <a:off x="5888883" y="5140147"/>
            <a:ext cx="3365076" cy="2145792"/>
          </a:xfrm>
          <a:prstGeom prst="rect">
            <a:avLst/>
          </a:prstGeom>
          <a:noFill/>
        </p:spPr>
        <p:txBody>
          <a:bodyPr wrap="square" lIns="0" tIns="0" rIns="0" bIns="0" anchor="t">
            <a:spAutoFit/>
          </a:bodyPr>
          <a:lstStyle/>
          <a:p>
            <a:pPr algn="l">
              <a:lnSpc>
                <a:spcPct val="115000"/>
              </a:lnSpc>
              <a:spcAft>
                <a:spcPts val="700"/>
              </a:spcAft>
            </a:pPr>
            <a:r>
              <a:rPr sz="919" b="0" i="0">
                <a:solidFill>
                  <a:srgbClr val="0E1620"/>
                </a:solidFill>
                <a:latin typeface="Arial"/>
              </a:rPr>
              <a:t>The smooth line is not won by chasing rallies. On average monthly returns (p.18), Athanase roughly matches the market up (1.2% vs 1.3%) but protects sharply down (+0.2% vs −1.7%).</a:t>
            </a:r>
          </a:p>
          <a:p>
            <a:pPr algn="l">
              <a:lnSpc>
                <a:spcPct val="115000"/>
              </a:lnSpc>
              <a:spcAft>
                <a:spcPts val="0"/>
              </a:spcAft>
            </a:pPr>
            <a:r>
              <a:rPr sz="919" b="0" i="0">
                <a:solidFill>
                  <a:srgbClr val="0E1620"/>
                </a:solidFill>
                <a:latin typeface="Arial"/>
              </a:rPr>
              <a:t>Losing less in the down months — not winning more up — is what compounds the lines apart: a steadier path, not just a higher one.</a:t>
            </a:r>
          </a:p>
        </p:txBody>
      </p:sp>
      <p:sp>
        <p:nvSpPr>
          <p:cNvPr id="45" name="TextBox 44"/>
          <p:cNvSpPr txBox="1"/>
          <p:nvPr/>
        </p:nvSpPr>
        <p:spPr>
          <a:xfrm>
            <a:off x="438922" y="6973824"/>
            <a:ext cx="6510690" cy="390144"/>
          </a:xfrm>
          <a:prstGeom prst="rect">
            <a:avLst/>
          </a:prstGeom>
          <a:noFill/>
        </p:spPr>
        <p:txBody>
          <a:bodyPr wrap="square" lIns="0" tIns="0" rIns="0" bIns="0" anchor="t">
            <a:spAutoFit/>
          </a:bodyPr>
          <a:lstStyle/>
          <a:p>
            <a:pPr algn="l">
              <a:lnSpc>
                <a:spcPct val="115000"/>
              </a:lnSpc>
              <a:spcAft>
                <a:spcPts val="0"/>
              </a:spcAft>
            </a:pPr>
            <a:r>
              <a:rPr sz="680" b="0" i="0">
                <a:solidFill>
                  <a:srgbClr val="556A83"/>
                </a:solidFill>
                <a:latin typeface="Arial"/>
              </a:rPr>
              <a:t>Illustrative only; not a projection. Athanase 18% (headline net IRR); other activist 10.5%; long-only 7.6% (MSCI IMI). Uplift = sleeve × return spread; growth = annual compounding. Past performance ≠ future 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Risk-Adjusted Outcomes</a:t>
            </a:r>
          </a:p>
        </p:txBody>
      </p:sp>
      <p:sp>
        <p:nvSpPr>
          <p:cNvPr id="5" name="TextBox 4"/>
          <p:cNvSpPr txBox="1"/>
          <p:nvPr/>
        </p:nvSpPr>
        <p:spPr>
          <a:xfrm>
            <a:off x="7242229" y="263347"/>
            <a:ext cx="2084884" cy="292608"/>
          </a:xfrm>
          <a:prstGeom prst="rect">
            <a:avLst/>
          </a:prstGeom>
          <a:noFill/>
        </p:spPr>
        <p:txBody>
          <a:bodyPr wrap="square" lIns="0" tIns="0" rIns="0" bIns="0" anchor="t">
            <a:spAutoFit/>
          </a:bodyPr>
          <a:lstStyle/>
          <a:p>
            <a:pPr algn="r">
              <a:lnSpc>
                <a:spcPct val="110000"/>
              </a:lnSpc>
              <a:spcAft>
                <a:spcPts val="0"/>
              </a:spcAft>
            </a:pPr>
            <a:r>
              <a:rPr sz="880" b="1" i="0">
                <a:solidFill>
                  <a:srgbClr val="556A83"/>
                </a:solidFill>
                <a:latin typeface="Arial"/>
              </a:rPr>
              <a:t>Figure 8</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What a blend does to the whole portfolio</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Adding Athanase to a global-equity book moves the portfolio up and to the left — more return for less downside risk, thanks to low correlation.</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20</a:t>
            </a:r>
          </a:p>
        </p:txBody>
      </p:sp>
      <p:pic>
        <p:nvPicPr>
          <p:cNvPr id="10" name="Picture 9" descr="mc_frontier.png"/>
          <p:cNvPicPr>
            <a:picLocks noChangeAspect="1"/>
          </p:cNvPicPr>
          <p:nvPr/>
        </p:nvPicPr>
        <p:blipFill>
          <a:blip r:embed="rId3"/>
          <a:stretch>
            <a:fillRect/>
          </a:stretch>
        </p:blipFill>
        <p:spPr>
          <a:xfrm>
            <a:off x="402346" y="2194560"/>
            <a:ext cx="6002145" cy="2999306"/>
          </a:xfrm>
          <a:prstGeom prst="rect">
            <a:avLst/>
          </a:prstGeom>
        </p:spPr>
      </p:pic>
      <p:sp>
        <p:nvSpPr>
          <p:cNvPr id="11" name="Rectangle 10"/>
          <p:cNvSpPr/>
          <p:nvPr/>
        </p:nvSpPr>
        <p:spPr>
          <a:xfrm>
            <a:off x="6510690" y="2286000"/>
            <a:ext cx="2816422" cy="731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1629" y="2359152"/>
            <a:ext cx="2494545"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ALL GLOBAL EQUITIES</a:t>
            </a:r>
          </a:p>
        </p:txBody>
      </p:sp>
      <p:sp>
        <p:nvSpPr>
          <p:cNvPr id="13" name="TextBox 12"/>
          <p:cNvSpPr txBox="1"/>
          <p:nvPr/>
        </p:nvSpPr>
        <p:spPr>
          <a:xfrm>
            <a:off x="6671629" y="2587752"/>
            <a:ext cx="2494545" cy="438912"/>
          </a:xfrm>
          <a:prstGeom prst="rect">
            <a:avLst/>
          </a:prstGeom>
          <a:noFill/>
        </p:spPr>
        <p:txBody>
          <a:bodyPr wrap="square" lIns="0" tIns="0" rIns="0" bIns="0" anchor="t">
            <a:spAutoFit/>
          </a:bodyPr>
          <a:lstStyle/>
          <a:p>
            <a:pPr>
              <a:spcAft>
                <a:spcPts val="0"/>
              </a:spcAft>
            </a:pPr>
            <a:r>
              <a:rPr sz="1200" b="1">
                <a:solidFill>
                  <a:srgbClr val="314359"/>
                </a:solidFill>
                <a:latin typeface="Times New Roman"/>
              </a:rPr>
              <a:t>6.1% return   ·   11.5% downside risk</a:t>
            </a:r>
            <a:r>
              <a:rPr sz="1200">
                <a:solidFill>
                  <a:srgbClr val="314359"/>
                </a:solidFill>
                <a:latin typeface="Arial"/>
              </a:rPr>
              <a:t/>
            </a:r>
          </a:p>
        </p:txBody>
      </p:sp>
      <p:sp>
        <p:nvSpPr>
          <p:cNvPr id="15" name="Rectangle 14"/>
          <p:cNvSpPr/>
          <p:nvPr/>
        </p:nvSpPr>
        <p:spPr>
          <a:xfrm>
            <a:off x="6510690" y="3090672"/>
            <a:ext cx="2816422" cy="731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1629" y="3163824"/>
            <a:ext cx="2494545"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ADD A 10% SLEEVE      ·      90 / 10</a:t>
            </a:r>
          </a:p>
        </p:txBody>
      </p:sp>
      <p:sp>
        <p:nvSpPr>
          <p:cNvPr id="17" name="TextBox 16"/>
          <p:cNvSpPr txBox="1"/>
          <p:nvPr/>
        </p:nvSpPr>
        <p:spPr>
          <a:xfrm>
            <a:off x="6671629" y="3392424"/>
            <a:ext cx="2494545" cy="438912"/>
          </a:xfrm>
          <a:prstGeom prst="rect">
            <a:avLst/>
          </a:prstGeom>
          <a:noFill/>
        </p:spPr>
        <p:txBody>
          <a:bodyPr wrap="square" lIns="0" tIns="0" rIns="0" bIns="0" anchor="t">
            <a:spAutoFit/>
          </a:bodyPr>
          <a:lstStyle/>
          <a:p>
            <a:pPr>
              <a:spcAft>
                <a:spcPts val="0"/>
              </a:spcAft>
            </a:pPr>
            <a:r>
              <a:rPr sz="1200" b="1">
                <a:solidFill>
                  <a:srgbClr val="314359"/>
                </a:solidFill>
                <a:latin typeface="Times New Roman"/>
              </a:rPr>
              <a:t>7.3% return   ·   11.1% downside risk</a:t>
            </a:r>
            <a:r>
              <a:rPr sz="1200">
                <a:solidFill>
                  <a:srgbClr val="314359"/>
                </a:solidFill>
                <a:latin typeface="Arial"/>
              </a:rPr>
              <a:t/>
            </a:r>
          </a:p>
        </p:txBody>
      </p:sp>
      <p:sp>
        <p:nvSpPr>
          <p:cNvPr id="19" name="TextBox 18"/>
          <p:cNvSpPr txBox="1"/>
          <p:nvPr/>
        </p:nvSpPr>
        <p:spPr>
          <a:xfrm>
            <a:off x="6510690" y="4896307"/>
            <a:ext cx="2816422" cy="292608"/>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HOW TO READ IT</a:t>
            </a:r>
          </a:p>
        </p:txBody>
      </p:sp>
      <p:sp>
        <p:nvSpPr>
          <p:cNvPr id="20" name="TextBox 19"/>
          <p:cNvSpPr txBox="1"/>
          <p:nvPr/>
        </p:nvSpPr>
        <p:spPr>
          <a:xfrm>
            <a:off x="6510690" y="5169408"/>
            <a:ext cx="2816422" cy="1853184"/>
          </a:xfrm>
          <a:prstGeom prst="rect">
            <a:avLst/>
          </a:prstGeom>
          <a:noFill/>
        </p:spPr>
        <p:txBody>
          <a:bodyPr wrap="square" lIns="0" tIns="0" rIns="0" bIns="0" anchor="t">
            <a:spAutoFit/>
          </a:bodyPr>
          <a:lstStyle/>
          <a:p>
            <a:pPr algn="l">
              <a:lnSpc>
                <a:spcPct val="116000"/>
              </a:lnSpc>
              <a:spcAft>
                <a:spcPts val="0"/>
              </a:spcAft>
            </a:pPr>
            <a:r>
              <a:rPr sz="840" b="0" i="0">
                <a:solidFill>
                  <a:srgbClr val="0E1620"/>
                </a:solidFill>
                <a:latin typeface="Arial"/>
              </a:rPr>
              <a:t>Every blend beats equities alone, and the benefit builds toward the ~60% minimum-risk point. A 10% sleeve lifts return ~1.2 pts with less downside; doubling to 20% roughly doubles the return pickup (~+2.4 pts) and cuts risk further — still far from any concentration limit.</a:t>
            </a:r>
          </a:p>
        </p:txBody>
      </p:sp>
      <p:sp>
        <p:nvSpPr>
          <p:cNvPr id="21" name="Rectangle 20"/>
          <p:cNvSpPr/>
          <p:nvPr/>
        </p:nvSpPr>
        <p:spPr>
          <a:xfrm>
            <a:off x="438922" y="6456883"/>
            <a:ext cx="8873559" cy="448665"/>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0599" y="6456883"/>
            <a:ext cx="8632151" cy="448665"/>
          </a:xfrm>
          <a:prstGeom prst="rect">
            <a:avLst/>
          </a:prstGeom>
          <a:noFill/>
        </p:spPr>
        <p:txBody>
          <a:bodyPr wrap="square" lIns="0" tIns="0" rIns="0" bIns="0" anchor="ctr">
            <a:spAutoFit/>
          </a:bodyPr>
          <a:lstStyle/>
          <a:p>
            <a:pPr algn="l">
              <a:lnSpc>
                <a:spcPct val="110000"/>
              </a:lnSpc>
              <a:spcAft>
                <a:spcPts val="0"/>
              </a:spcAft>
            </a:pPr>
            <a:r>
              <a:rPr sz="960" b="0" i="1">
                <a:solidFill>
                  <a:srgbClr val="FFFFFF"/>
                </a:solidFill>
                <a:latin typeface="Arial"/>
              </a:rPr>
              <a:t>The blend is not a trade-off: every allocation raises return and lowers downside risk — a mathematical risk-reduction tool, not a risky bet. A ~10% sleeve adds ~1.2 pts of return and ~0.4 pts less downside risk; a ~20% sleeve roughly doubles both.</a:t>
            </a:r>
          </a:p>
        </p:txBody>
      </p:sp>
      <p:sp>
        <p:nvSpPr>
          <p:cNvPr id="23" name="TextBox 22"/>
          <p:cNvSpPr txBox="1"/>
          <p:nvPr/>
        </p:nvSpPr>
        <p:spPr>
          <a:xfrm>
            <a:off x="438922" y="6983577"/>
            <a:ext cx="9217382" cy="390144"/>
          </a:xfrm>
          <a:prstGeom prst="rect">
            <a:avLst/>
          </a:prstGeom>
          <a:noFill/>
        </p:spPr>
        <p:txBody>
          <a:bodyPr wrap="square" lIns="0" tIns="0" rIns="0" bIns="0" anchor="t">
            <a:spAutoFit/>
          </a:bodyPr>
          <a:lstStyle/>
          <a:p>
            <a:pPr algn="l">
              <a:lnSpc>
                <a:spcPct val="110000"/>
              </a:lnSpc>
              <a:spcAft>
                <a:spcPts val="0"/>
              </a:spcAft>
            </a:pPr>
            <a:r>
              <a:rPr sz="600" b="0" i="0">
                <a:solidFill>
                  <a:srgbClr val="556A83"/>
                </a:solidFill>
                <a:latin typeface="Arial"/>
              </a:rPr>
              <a:t>Source: Athanase (AIP) and MSCI World IMI monthly net returns (SEK), 233 months 2006–2025 (ex-2014 H2 fund-transition gap), monthly-rebalanced blends; downside volatility = annualised downside deviation below zero. Minimum-risk point is in-sample, shown for shape, not advice. Past performance is not indicative of future results.</a:t>
            </a:r>
          </a:p>
        </p:txBody>
      </p:sp>
      <p:sp>
        <p:nvSpPr>
          <p:cNvPr id="24" name="Rectangle 14"/>
          <p:cNvSpPr/>
          <p:nvPr/>
        </p:nvSpPr>
        <p:spPr>
          <a:xfrm>
            <a:off x="6510690" y="3895344"/>
            <a:ext cx="2816422" cy="731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15"/>
          <p:cNvSpPr txBox="1"/>
          <p:nvPr/>
        </p:nvSpPr>
        <p:spPr>
          <a:xfrm>
            <a:off x="6671629" y="3968496"/>
            <a:ext cx="2494545" cy="243840"/>
          </a:xfrm>
          <a:prstGeom prst="rect">
            <a:avLst/>
          </a:prstGeom>
          <a:noFill/>
        </p:spPr>
        <p:txBody>
          <a:bodyPr wrap="square" lIns="0" tIns="0" rIns="0" bIns="0" anchor="t">
            <a:spAutoFit/>
          </a:bodyPr>
          <a:lstStyle/>
          <a:p>
            <a:pPr algn="l">
              <a:lnSpc>
                <a:spcPct val="110000"/>
              </a:lnSpc>
              <a:spcAft>
                <a:spcPts val="0"/>
              </a:spcAft>
            </a:pPr>
            <a:r>
              <a:rPr sz="840" b="1" i="0">
                <a:solidFill>
                  <a:srgbClr val="314359"/>
                </a:solidFill>
                <a:latin typeface="Arial"/>
              </a:rPr>
              <a:t>ADD A 20% SLEEVE      ·      80 / 20</a:t>
            </a:r>
          </a:p>
        </p:txBody>
      </p:sp>
      <p:sp>
        <p:nvSpPr>
          <p:cNvPr id="26" name="TextBox 16"/>
          <p:cNvSpPr txBox="1"/>
          <p:nvPr/>
        </p:nvSpPr>
        <p:spPr>
          <a:xfrm>
            <a:off x="6671629" y="4197096"/>
            <a:ext cx="2494545" cy="438912"/>
          </a:xfrm>
          <a:prstGeom prst="rect">
            <a:avLst/>
          </a:prstGeom>
          <a:noFill/>
        </p:spPr>
        <p:txBody>
          <a:bodyPr wrap="square" lIns="0" tIns="0" rIns="0" bIns="0" anchor="t">
            <a:spAutoFit/>
          </a:bodyPr>
          <a:lstStyle/>
          <a:p>
            <a:pPr>
              <a:spcAft>
                <a:spcPts val="0"/>
              </a:spcAft>
            </a:pPr>
            <a:r>
              <a:rPr sz="1200" b="1">
                <a:solidFill>
                  <a:srgbClr val="314359"/>
                </a:solidFill>
                <a:latin typeface="Times New Roman"/>
              </a:rPr>
              <a:t>8.5% return   ·   10.8% downside risk</a:t>
            </a:r>
            <a:r>
              <a:rPr sz="1200">
                <a:solidFill>
                  <a:srgbClr val="314359"/>
                </a:solidFill>
                <a:latin typeface="Arial"/>
              </a:rP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Independent Review</a:t>
            </a:r>
          </a:p>
        </p:txBody>
      </p:sp>
      <p:sp>
        <p:nvSpPr>
          <p:cNvPr id="5" name="Rectangle 4"/>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Independently validated: 20 years, net of every fee</a:t>
            </a:r>
          </a:p>
        </p:txBody>
      </p:sp>
      <p:sp>
        <p:nvSpPr>
          <p:cNvPr id="7" name="TextBox 6"/>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A prospective LP’s investment committee reconciled the security-level (StatPro) data against the LP-level NET return series.</a:t>
            </a:r>
          </a:p>
        </p:txBody>
      </p:sp>
      <p:sp>
        <p:nvSpPr>
          <p:cNvPr id="8" name="TextBox 7"/>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21</a:t>
            </a:r>
          </a:p>
        </p:txBody>
      </p:sp>
      <p:sp>
        <p:nvSpPr>
          <p:cNvPr id="9" name="Rectangle 8"/>
          <p:cNvSpPr/>
          <p:nvPr/>
        </p:nvSpPr>
        <p:spPr>
          <a:xfrm>
            <a:off x="548653" y="2292096"/>
            <a:ext cx="2158037" cy="17556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53" y="2545689"/>
            <a:ext cx="2158037" cy="1365504"/>
          </a:xfrm>
          <a:prstGeom prst="rect">
            <a:avLst/>
          </a:prstGeom>
          <a:noFill/>
        </p:spPr>
        <p:txBody>
          <a:bodyPr wrap="square" lIns="0" tIns="0" rIns="0" bIns="0" anchor="t">
            <a:spAutoFit/>
          </a:bodyPr>
          <a:lstStyle/>
          <a:p>
            <a:pPr algn="ctr">
              <a:lnSpc>
                <a:spcPct val="110000"/>
              </a:lnSpc>
              <a:spcAft>
                <a:spcPts val="400"/>
              </a:spcAft>
            </a:pPr>
            <a:r>
              <a:rPr sz="2720" b="0" i="0" spc="-102">
                <a:solidFill>
                  <a:srgbClr val="314359"/>
                </a:solidFill>
                <a:latin typeface="Times New Roman"/>
              </a:rPr>
              <a:t>+1,743%</a:t>
            </a:r>
          </a:p>
          <a:p>
            <a:pPr algn="ctr">
              <a:lnSpc>
                <a:spcPct val="110000"/>
              </a:lnSpc>
              <a:spcAft>
                <a:spcPts val="0"/>
              </a:spcAft>
            </a:pPr>
            <a:r>
              <a:rPr sz="919" b="0" i="0">
                <a:solidFill>
                  <a:srgbClr val="556A83"/>
                </a:solidFill>
                <a:latin typeface="Arial"/>
              </a:rPr>
              <a:t>cumulative NET return</a:t>
            </a:r>
          </a:p>
          <a:p>
            <a:pPr algn="ctr">
              <a:lnSpc>
                <a:spcPct val="110000"/>
              </a:lnSpc>
              <a:spcAft>
                <a:spcPts val="0"/>
              </a:spcAft>
            </a:pPr>
            <a:r>
              <a:rPr sz="919" b="0" i="0">
                <a:solidFill>
                  <a:srgbClr val="556A83"/>
                </a:solidFill>
                <a:latin typeface="Arial"/>
              </a:rPr>
              <a:t>over 19.3 years</a:t>
            </a:r>
          </a:p>
        </p:txBody>
      </p:sp>
      <p:sp>
        <p:nvSpPr>
          <p:cNvPr id="11" name="Rectangle 10"/>
          <p:cNvSpPr/>
          <p:nvPr/>
        </p:nvSpPr>
        <p:spPr>
          <a:xfrm>
            <a:off x="2838368" y="2292096"/>
            <a:ext cx="2158037" cy="17556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8368" y="2545689"/>
            <a:ext cx="2158037" cy="1365504"/>
          </a:xfrm>
          <a:prstGeom prst="rect">
            <a:avLst/>
          </a:prstGeom>
          <a:noFill/>
        </p:spPr>
        <p:txBody>
          <a:bodyPr wrap="square" lIns="0" tIns="0" rIns="0" bIns="0" anchor="t">
            <a:spAutoFit/>
          </a:bodyPr>
          <a:lstStyle/>
          <a:p>
            <a:pPr algn="ctr">
              <a:lnSpc>
                <a:spcPct val="110000"/>
              </a:lnSpc>
              <a:spcAft>
                <a:spcPts val="400"/>
              </a:spcAft>
            </a:pPr>
            <a:r>
              <a:rPr sz="2720" b="0" i="0" spc="-102">
                <a:solidFill>
                  <a:srgbClr val="314359"/>
                </a:solidFill>
                <a:latin typeface="Times New Roman"/>
              </a:rPr>
              <a:t>+16.3%</a:t>
            </a:r>
          </a:p>
          <a:p>
            <a:pPr algn="ctr">
              <a:lnSpc>
                <a:spcPct val="110000"/>
              </a:lnSpc>
              <a:spcAft>
                <a:spcPts val="0"/>
              </a:spcAft>
            </a:pPr>
            <a:r>
              <a:rPr sz="919" b="0" i="0">
                <a:solidFill>
                  <a:srgbClr val="556A83"/>
                </a:solidFill>
                <a:latin typeface="Arial"/>
              </a:rPr>
              <a:t>annualised NET</a:t>
            </a:r>
          </a:p>
          <a:p>
            <a:pPr algn="ctr">
              <a:lnSpc>
                <a:spcPct val="110000"/>
              </a:lnSpc>
              <a:spcAft>
                <a:spcPts val="0"/>
              </a:spcAft>
            </a:pPr>
            <a:r>
              <a:rPr sz="919" b="0" i="0">
                <a:solidFill>
                  <a:srgbClr val="556A83"/>
                </a:solidFill>
                <a:latin typeface="Arial"/>
              </a:rPr>
              <a:t>(net of all fees)</a:t>
            </a:r>
          </a:p>
        </p:txBody>
      </p:sp>
      <p:sp>
        <p:nvSpPr>
          <p:cNvPr id="13" name="Rectangle 12"/>
          <p:cNvSpPr/>
          <p:nvPr/>
        </p:nvSpPr>
        <p:spPr>
          <a:xfrm>
            <a:off x="5128083" y="2292096"/>
            <a:ext cx="2158037" cy="17556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8083" y="2545689"/>
            <a:ext cx="2158037" cy="1365504"/>
          </a:xfrm>
          <a:prstGeom prst="rect">
            <a:avLst/>
          </a:prstGeom>
          <a:noFill/>
        </p:spPr>
        <p:txBody>
          <a:bodyPr wrap="square" lIns="0" tIns="0" rIns="0" bIns="0" anchor="t">
            <a:spAutoFit/>
          </a:bodyPr>
          <a:lstStyle/>
          <a:p>
            <a:pPr algn="ctr">
              <a:lnSpc>
                <a:spcPct val="110000"/>
              </a:lnSpc>
              <a:spcAft>
                <a:spcPts val="400"/>
              </a:spcAft>
            </a:pPr>
            <a:r>
              <a:rPr sz="2720" b="0" i="0" spc="-102">
                <a:solidFill>
                  <a:srgbClr val="314359"/>
                </a:solidFill>
                <a:latin typeface="Times New Roman"/>
              </a:rPr>
              <a:t>+10 pts</a:t>
            </a:r>
          </a:p>
          <a:p>
            <a:pPr algn="ctr">
              <a:lnSpc>
                <a:spcPct val="110000"/>
              </a:lnSpc>
              <a:spcAft>
                <a:spcPts val="0"/>
              </a:spcAft>
            </a:pPr>
            <a:r>
              <a:rPr sz="919" b="0" i="0">
                <a:solidFill>
                  <a:srgbClr val="556A83"/>
                </a:solidFill>
                <a:latin typeface="Arial"/>
              </a:rPr>
              <a:t>annualised alpha,</a:t>
            </a:r>
          </a:p>
          <a:p>
            <a:pPr algn="ctr">
              <a:lnSpc>
                <a:spcPct val="110000"/>
              </a:lnSpc>
              <a:spcAft>
                <a:spcPts val="0"/>
              </a:spcAft>
            </a:pPr>
            <a:r>
              <a:rPr sz="919" b="0" i="0">
                <a:solidFill>
                  <a:srgbClr val="556A83"/>
                </a:solidFill>
                <a:latin typeface="Arial"/>
              </a:rPr>
              <a:t>net, vs the market</a:t>
            </a:r>
          </a:p>
        </p:txBody>
      </p:sp>
      <p:sp>
        <p:nvSpPr>
          <p:cNvPr id="15" name="Rectangle 14"/>
          <p:cNvSpPr/>
          <p:nvPr/>
        </p:nvSpPr>
        <p:spPr>
          <a:xfrm>
            <a:off x="7417798" y="2292096"/>
            <a:ext cx="2158037" cy="17556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17798" y="2545689"/>
            <a:ext cx="2158037" cy="1365504"/>
          </a:xfrm>
          <a:prstGeom prst="rect">
            <a:avLst/>
          </a:prstGeom>
          <a:noFill/>
        </p:spPr>
        <p:txBody>
          <a:bodyPr wrap="square" lIns="0" tIns="0" rIns="0" bIns="0" anchor="t">
            <a:spAutoFit/>
          </a:bodyPr>
          <a:lstStyle/>
          <a:p>
            <a:pPr algn="ctr">
              <a:lnSpc>
                <a:spcPct val="110000"/>
              </a:lnSpc>
              <a:spcAft>
                <a:spcPts val="400"/>
              </a:spcAft>
            </a:pPr>
            <a:r>
              <a:rPr sz="2720" b="0" i="0" spc="-102">
                <a:solidFill>
                  <a:srgbClr val="314359"/>
                </a:solidFill>
                <a:latin typeface="Times New Roman"/>
              </a:rPr>
              <a:t>5.8×</a:t>
            </a:r>
          </a:p>
          <a:p>
            <a:pPr algn="ctr">
              <a:lnSpc>
                <a:spcPct val="110000"/>
              </a:lnSpc>
              <a:spcAft>
                <a:spcPts val="0"/>
              </a:spcAft>
            </a:pPr>
            <a:r>
              <a:rPr sz="919" b="0" i="0">
                <a:solidFill>
                  <a:srgbClr val="556A83"/>
                </a:solidFill>
                <a:latin typeface="Arial"/>
              </a:rPr>
              <a:t>the relevant equity</a:t>
            </a:r>
          </a:p>
          <a:p>
            <a:pPr algn="ctr">
              <a:lnSpc>
                <a:spcPct val="110000"/>
              </a:lnSpc>
              <a:spcAft>
                <a:spcPts val="0"/>
              </a:spcAft>
            </a:pPr>
            <a:r>
              <a:rPr sz="919" b="0" i="0">
                <a:solidFill>
                  <a:srgbClr val="556A83"/>
                </a:solidFill>
                <a:latin typeface="Arial"/>
              </a:rPr>
              <a:t>benchmark</a:t>
            </a:r>
          </a:p>
        </p:txBody>
      </p:sp>
      <p:sp>
        <p:nvSpPr>
          <p:cNvPr id="17" name="TextBox 16"/>
          <p:cNvSpPr txBox="1"/>
          <p:nvPr/>
        </p:nvSpPr>
        <p:spPr>
          <a:xfrm>
            <a:off x="548653" y="4291582"/>
            <a:ext cx="8705305" cy="4584192"/>
          </a:xfrm>
          <a:prstGeom prst="rect">
            <a:avLst/>
          </a:prstGeom>
          <a:noFill/>
        </p:spPr>
        <p:txBody>
          <a:bodyPr wrap="square" lIns="0" tIns="0" rIns="0" bIns="0" anchor="t">
            <a:spAutoFit/>
          </a:bodyPr>
          <a:lstStyle/>
          <a:p>
            <a:pPr marL="163580" indent="-163580">
              <a:lnSpc>
                <a:spcPct val="112000"/>
              </a:lnSpc>
              <a:spcAft>
                <a:spcPts val="1000"/>
              </a:spcAft>
            </a:pPr>
            <a:r>
              <a:rPr sz="1120" b="1">
                <a:solidFill>
                  <a:srgbClr val="314359"/>
                </a:solidFill>
                <a:latin typeface="Arial"/>
              </a:rPr>
              <a:t>›  Two full cycles, survived.</a:t>
            </a:r>
            <a:r>
              <a:rPr sz="1120">
                <a:solidFill>
                  <a:srgbClr val="0E1620"/>
                </a:solidFill>
                <a:latin typeface="Arial"/>
              </a:rPr>
              <a:t>  Drawdowns of −52.8% (2008, recovered by 2010) and −45.9% (2017–2020, recovered by Sep 2020) — navigated live with the same philosophy, not back-tested.</a:t>
            </a:r>
          </a:p>
          <a:p>
            <a:pPr marL="163580" indent="-163580">
              <a:lnSpc>
                <a:spcPct val="112000"/>
              </a:lnSpc>
              <a:spcAft>
                <a:spcPts val="1000"/>
              </a:spcAft>
            </a:pPr>
            <a:r>
              <a:rPr sz="1120" b="1">
                <a:solidFill>
                  <a:srgbClr val="314359"/>
                </a:solidFill>
                <a:latin typeface="Arial"/>
              </a:rPr>
              <a:t>›  Top-tier downside-adjusted return.</a:t>
            </a:r>
            <a:r>
              <a:rPr sz="1120">
                <a:solidFill>
                  <a:srgbClr val="0E1620"/>
                </a:solidFill>
                <a:latin typeface="Arial"/>
              </a:rPr>
              <a:t>  20-year Sortino 1.54; AIPFII Sortino 2.40, with upside volatility 3.9× the downside.</a:t>
            </a:r>
          </a:p>
          <a:p>
            <a:pPr marL="163580" indent="-163580">
              <a:lnSpc>
                <a:spcPct val="112000"/>
              </a:lnSpc>
              <a:spcAft>
                <a:spcPts val="1000"/>
              </a:spcAft>
            </a:pPr>
            <a:r>
              <a:rPr sz="1120" b="1">
                <a:solidFill>
                  <a:srgbClr val="314359"/>
                </a:solidFill>
                <a:latin typeface="Arial"/>
              </a:rPr>
              <a:t>›  Realised cash, not marks.</a:t>
            </a:r>
            <a:r>
              <a:rPr sz="1120">
                <a:solidFill>
                  <a:srgbClr val="0E1620"/>
                </a:solidFill>
                <a:latin typeface="Arial"/>
              </a:rPr>
              <a:t>  The largest contributors are realised LP cash — removing the mark-to-model objection.</a:t>
            </a:r>
          </a:p>
        </p:txBody>
      </p:sp>
      <p:sp>
        <p:nvSpPr>
          <p:cNvPr id="18" name="TextBox 17"/>
          <p:cNvSpPr txBox="1"/>
          <p:nvPr/>
        </p:nvSpPr>
        <p:spPr>
          <a:xfrm>
            <a:off x="548653" y="6778752"/>
            <a:ext cx="8632151" cy="390144"/>
          </a:xfrm>
          <a:prstGeom prst="rect">
            <a:avLst/>
          </a:prstGeom>
          <a:noFill/>
        </p:spPr>
        <p:txBody>
          <a:bodyPr wrap="square" lIns="0" tIns="0" rIns="0" bIns="0" anchor="t">
            <a:spAutoFit/>
          </a:bodyPr>
          <a:lstStyle/>
          <a:p>
            <a:pPr algn="l">
              <a:lnSpc>
                <a:spcPct val="110000"/>
              </a:lnSpc>
              <a:spcAft>
                <a:spcPts val="0"/>
              </a:spcAft>
            </a:pPr>
            <a:r>
              <a:rPr sz="680" b="0" i="0">
                <a:solidFill>
                  <a:srgbClr val="556A83"/>
                </a:solidFill>
                <a:latin typeface="Arial"/>
              </a:rPr>
              <a:t>Source: independent institutional due-diligence review, May 2026, on StatPro security-level data and LP-level NET monthly returns (2006–2026).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Proposed Terms</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Indicative term sheet</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Indicative and non-binding, for discussion only — subject to contract and final documentation.  (1 of 2)</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22</a:t>
            </a:r>
          </a:p>
        </p:txBody>
      </p:sp>
      <p:graphicFrame>
        <p:nvGraphicFramePr>
          <p:cNvPr id="10" name="Table 9"/>
          <p:cNvGraphicFramePr>
            <a:graphicFrameLocks noGrp="1"/>
          </p:cNvGraphicFramePr>
          <p:nvPr/>
        </p:nvGraphicFramePr>
        <p:xfrm>
          <a:off x="512064" y="2139696"/>
          <a:ext cx="8796527" cy="2377440"/>
        </p:xfrm>
        <a:graphic>
          <a:graphicData uri="http://schemas.openxmlformats.org/drawingml/2006/table">
            <a:tbl>
              <a:tblPr>
                <a:tableStyleId>{2D5ABB26-0587-4C30-8999-92F81FD0307C}</a:tableStyleId>
              </a:tblPr>
              <a:tblGrid>
                <a:gridCol w="2331720"/>
                <a:gridCol w="6464807"/>
              </a:tblGrid>
              <a:tr h="237744">
                <a:tc>
                  <a:txBody>
                    <a:bodyPr wrap="square"/>
                    <a:lstStyle/>
                    <a:p>
                      <a:r>
                        <a:rPr sz="900" b="1">
                          <a:solidFill>
                            <a:srgbClr val="314359"/>
                          </a:solidFill>
                          <a:latin typeface="Arial"/>
                        </a:rPr>
                        <a:t>Structure &amp; domicile</a:t>
                      </a:r>
                    </a:p>
                  </a:txBody>
                  <a:tcPr marL="64008" marR="82296" marT="32004" marB="32004" anchor="t">
                    <a:solidFill>
                      <a:srgbClr val="FFFFFF"/>
                    </a:solidFill>
                  </a:tcPr>
                </a:tc>
                <a:tc>
                  <a:txBody>
                    <a:bodyPr wrap="square"/>
                    <a:lstStyle/>
                    <a:p>
                      <a:r>
                        <a:rPr sz="869" b="0">
                          <a:solidFill>
                            <a:srgbClr val="0E1620"/>
                          </a:solidFill>
                          <a:latin typeface="Arial"/>
                        </a:rPr>
                        <a:t>UK investment trust (plc), approved under s.1158 CTA 2010 [domicile TBC].</a:t>
                      </a:r>
                    </a:p>
                  </a:txBody>
                  <a:tcPr marL="64008" marR="82296" marT="32004" marB="32004" anchor="t">
                    <a:solidFill>
                      <a:srgbClr val="FFFFFF"/>
                    </a:solidFill>
                  </a:tcPr>
                </a:tc>
              </a:tr>
              <a:tr h="237744">
                <a:tc>
                  <a:txBody>
                    <a:bodyPr wrap="square"/>
                    <a:lstStyle/>
                    <a:p>
                      <a:r>
                        <a:rPr sz="900" b="1">
                          <a:solidFill>
                            <a:srgbClr val="314359"/>
                          </a:solidFill>
                          <a:latin typeface="Arial"/>
                        </a:rPr>
                        <a:t>Listing &amp; market</a:t>
                      </a:r>
                    </a:p>
                  </a:txBody>
                  <a:tcPr marL="64008" marR="82296" marT="32004" marB="32004" anchor="t">
                    <a:solidFill>
                      <a:srgbClr val="F4F6F8"/>
                    </a:solidFill>
                  </a:tcPr>
                </a:tc>
                <a:tc>
                  <a:txBody>
                    <a:bodyPr wrap="square"/>
                    <a:lstStyle/>
                    <a:p>
                      <a:r>
                        <a:rPr sz="869" b="0">
                          <a:solidFill>
                            <a:srgbClr val="0E1620"/>
                          </a:solidFill>
                          <a:latin typeface="Arial"/>
                        </a:rPr>
                        <a:t>Premium listing, London Stock Exchange Main Market; sterling.</a:t>
                      </a:r>
                    </a:p>
                  </a:txBody>
                  <a:tcPr marL="64008" marR="82296" marT="32004" marB="32004" anchor="t">
                    <a:solidFill>
                      <a:srgbClr val="F4F6F8"/>
                    </a:solidFill>
                  </a:tcPr>
                </a:tc>
              </a:tr>
              <a:tr h="237744">
                <a:tc>
                  <a:txBody>
                    <a:bodyPr wrap="square"/>
                    <a:lstStyle/>
                    <a:p>
                      <a:r>
                        <a:rPr sz="900" b="1">
                          <a:solidFill>
                            <a:srgbClr val="314359"/>
                          </a:solidFill>
                          <a:latin typeface="Arial"/>
                        </a:rPr>
                        <a:t>Size</a:t>
                      </a:r>
                    </a:p>
                  </a:txBody>
                  <a:tcPr marL="64008" marR="82296" marT="32004" marB="32004" anchor="t">
                    <a:solidFill>
                      <a:srgbClr val="FFFFFF"/>
                    </a:solidFill>
                  </a:tcPr>
                </a:tc>
                <a:tc>
                  <a:txBody>
                    <a:bodyPr wrap="square"/>
                    <a:lstStyle/>
                    <a:p>
                      <a:r>
                        <a:rPr sz="869" b="0">
                          <a:solidFill>
                            <a:srgbClr val="0E1620"/>
                          </a:solidFill>
                          <a:latin typeface="Arial"/>
                        </a:rPr>
                        <a:t>Minimum £1bn raised at IPO.</a:t>
                      </a:r>
                    </a:p>
                  </a:txBody>
                  <a:tcPr marL="64008" marR="82296" marT="32004" marB="32004" anchor="t">
                    <a:solidFill>
                      <a:srgbClr val="FFFFFF"/>
                    </a:solidFill>
                  </a:tcPr>
                </a:tc>
              </a:tr>
              <a:tr h="237744">
                <a:tc>
                  <a:txBody>
                    <a:bodyPr wrap="square"/>
                    <a:lstStyle/>
                    <a:p>
                      <a:r>
                        <a:rPr sz="900" b="1">
                          <a:solidFill>
                            <a:srgbClr val="314359"/>
                          </a:solidFill>
                          <a:latin typeface="Arial"/>
                        </a:rPr>
                        <a:t>Investment objective &amp; policy</a:t>
                      </a:r>
                    </a:p>
                  </a:txBody>
                  <a:tcPr marL="64008" marR="82296" marT="32004" marB="32004" anchor="t">
                    <a:solidFill>
                      <a:srgbClr val="F4F6F8"/>
                    </a:solidFill>
                  </a:tcPr>
                </a:tc>
                <a:tc>
                  <a:txBody>
                    <a:bodyPr wrap="square"/>
                    <a:lstStyle/>
                    <a:p>
                      <a:r>
                        <a:rPr sz="869" b="0">
                          <a:solidFill>
                            <a:srgbClr val="0E1620"/>
                          </a:solidFill>
                          <a:latin typeface="Arial"/>
                        </a:rPr>
                        <a:t>Long-term capital growth, investing substantially all assets in Athanase Industrial Partners Fund II (“AIPII”) through a zero-fee share class. AIPII invests globally in mid-sized companies with scope for operational improvement through engaged ownership.</a:t>
                      </a:r>
                    </a:p>
                  </a:txBody>
                  <a:tcPr marL="64008" marR="82296" marT="32004" marB="32004" anchor="t">
                    <a:solidFill>
                      <a:srgbClr val="F4F6F8"/>
                    </a:solidFill>
                  </a:tcPr>
                </a:tc>
              </a:tr>
              <a:tr h="237744">
                <a:tc>
                  <a:txBody>
                    <a:bodyPr wrap="square"/>
                    <a:lstStyle/>
                    <a:p>
                      <a:r>
                        <a:rPr sz="900" b="1">
                          <a:solidFill>
                            <a:srgbClr val="314359"/>
                          </a:solidFill>
                          <a:latin typeface="Arial"/>
                        </a:rPr>
                        <a:t>Investment restrictions &amp; limits</a:t>
                      </a:r>
                    </a:p>
                  </a:txBody>
                  <a:tcPr marL="64008" marR="82296" marT="32004" marB="32004" anchor="t">
                    <a:solidFill>
                      <a:srgbClr val="FFFFFF"/>
                    </a:solidFill>
                  </a:tcPr>
                </a:tc>
                <a:tc>
                  <a:txBody>
                    <a:bodyPr wrap="square"/>
                    <a:lstStyle/>
                    <a:p>
                      <a:r>
                        <a:rPr sz="869" b="0">
                          <a:solidFill>
                            <a:srgbClr val="0E1620"/>
                          </a:solidFill>
                          <a:latin typeface="Arial"/>
                        </a:rPr>
                        <a:t>The trust invests solely in AIPII.</a:t>
                      </a:r>
                    </a:p>
                  </a:txBody>
                  <a:tcPr marL="64008" marR="82296" marT="32004" marB="32004" anchor="t">
                    <a:solidFill>
                      <a:srgbClr val="FFFFFF"/>
                    </a:solidFill>
                  </a:tcPr>
                </a:tc>
              </a:tr>
              <a:tr h="237744">
                <a:tc>
                  <a:txBody>
                    <a:bodyPr wrap="square"/>
                    <a:lstStyle/>
                    <a:p>
                      <a:r>
                        <a:rPr sz="900" b="1">
                          <a:solidFill>
                            <a:srgbClr val="314359"/>
                          </a:solidFill>
                          <a:latin typeface="Arial"/>
                        </a:rPr>
                        <a:t>AIFM, management &amp; key persons</a:t>
                      </a:r>
                    </a:p>
                  </a:txBody>
                  <a:tcPr marL="64008" marR="82296" marT="32004" marB="32004" anchor="t">
                    <a:solidFill>
                      <a:srgbClr val="F4F6F8"/>
                    </a:solidFill>
                  </a:tcPr>
                </a:tc>
                <a:tc>
                  <a:txBody>
                    <a:bodyPr wrap="square"/>
                    <a:lstStyle/>
                    <a:p>
                      <a:r>
                        <a:rPr sz="869" b="0">
                          <a:solidFill>
                            <a:srgbClr val="0E1620"/>
                          </a:solidFill>
                          <a:latin typeface="Arial"/>
                        </a:rPr>
                        <a:t>Self-managed: the board is the AIFM and makes the single allocation decision (hold AIPII); there is no trust-level investment manager. AIPII's assets are managed by Athanase Industrial Partner Ltd (Cayman Islands). Key man: Stefan Charette — on his departure the trust may redeem its AIPII units and reinvest the proceeds.</a:t>
                      </a:r>
                    </a:p>
                  </a:txBody>
                  <a:tcPr marL="64008" marR="82296" marT="32004" marB="32004" anchor="t">
                    <a:solidFill>
                      <a:srgbClr val="F4F6F8"/>
                    </a:solidFill>
                  </a:tcPr>
                </a:tc>
              </a:tr>
              <a:tr h="237744">
                <a:tc>
                  <a:txBody>
                    <a:bodyPr wrap="square"/>
                    <a:lstStyle/>
                    <a:p>
                      <a:r>
                        <a:rPr sz="900" b="1">
                          <a:solidFill>
                            <a:srgbClr val="314359"/>
                          </a:solidFill>
                          <a:latin typeface="Arial"/>
                        </a:rPr>
                        <a:t>Costs — operating fee, not an AUM fee</a:t>
                      </a:r>
                    </a:p>
                  </a:txBody>
                  <a:tcPr marL="64008" marR="82296" marT="32004" marB="32004" anchor="t">
                    <a:solidFill>
                      <a:srgbClr val="FFFFFF"/>
                    </a:solidFill>
                  </a:tcPr>
                </a:tc>
                <a:tc>
                  <a:txBody>
                    <a:bodyPr wrap="square"/>
                    <a:lstStyle/>
                    <a:p>
                      <a:r>
                        <a:rPr sz="869" b="0">
                          <a:solidFill>
                            <a:srgbClr val="0E1620"/>
                          </a:solidFill>
                          <a:latin typeface="Arial"/>
                        </a:rPr>
                        <a:t>No management fee on AUM and no fee at the AIPII level. AIP (holder of the special A shares) receives a flat operating fee agreed at listing, rising by no more than inflation each year. The trust's AIPII holding bears custodian and administrator costs (typically under 20bp). Total ongoing charges are capped at ~50bp at listing and fall materially as NAV grows.</a:t>
                      </a:r>
                    </a:p>
                  </a:txBody>
                  <a:tcPr marL="64008" marR="82296" marT="32004" marB="32004" anchor="t">
                    <a:solidFill>
                      <a:srgbClr val="FFFFFF"/>
                    </a:solidFill>
                  </a:tcPr>
                </a:tc>
              </a:tr>
              <a:tr h="237744">
                <a:tc>
                  <a:txBody>
                    <a:bodyPr wrap="square"/>
                    <a:lstStyle/>
                    <a:p>
                      <a:r>
                        <a:rPr sz="900" b="1">
                          <a:solidFill>
                            <a:srgbClr val="314359"/>
                          </a:solidFill>
                          <a:latin typeface="Arial"/>
                        </a:rPr>
                        <a:t>Manager incentive — conversion A share</a:t>
                      </a:r>
                    </a:p>
                  </a:txBody>
                  <a:tcPr marL="64008" marR="82296" marT="32004" marB="32004" anchor="t">
                    <a:solidFill>
                      <a:srgbClr val="F4F6F8"/>
                    </a:solidFill>
                  </a:tcPr>
                </a:tc>
                <a:tc>
                  <a:txBody>
                    <a:bodyPr wrap="square"/>
                    <a:lstStyle/>
                    <a:p>
                      <a:r>
                        <a:rPr sz="869" b="0">
                          <a:solidFill>
                            <a:srgbClr val="0E1620"/>
                          </a:solidFill>
                          <a:latin typeface="Arial"/>
                        </a:rPr>
                        <a:t>AIP holds a special A share carrying no economic rights that converts into economic rights only once NAV per share reaches 2.5× its initial value — aligning reward to absolute, compounding growth, not assets gathered.</a:t>
                      </a:r>
                    </a:p>
                  </a:txBody>
                  <a:tcPr marL="64008" marR="82296" marT="32004" marB="32004" anchor="t">
                    <a:solidFill>
                      <a:srgbClr val="F4F6F8"/>
                    </a:solidFill>
                  </a:tcPr>
                </a:tc>
              </a:tr>
              <a:tr h="237744">
                <a:tc>
                  <a:txBody>
                    <a:bodyPr wrap="square"/>
                    <a:lstStyle/>
                    <a:p>
                      <a:r>
                        <a:rPr sz="900" b="1">
                          <a:solidFill>
                            <a:srgbClr val="314359"/>
                          </a:solidFill>
                          <a:latin typeface="Arial"/>
                        </a:rPr>
                        <a:t>Discount control</a:t>
                      </a:r>
                    </a:p>
                  </a:txBody>
                  <a:tcPr marL="64008" marR="82296" marT="32004" marB="32004" anchor="t">
                    <a:solidFill>
                      <a:srgbClr val="FFFFFF"/>
                    </a:solidFill>
                  </a:tcPr>
                </a:tc>
                <a:tc>
                  <a:txBody>
                    <a:bodyPr wrap="square"/>
                    <a:lstStyle/>
                    <a:p>
                      <a:r>
                        <a:rPr sz="869" b="0">
                          <a:solidFill>
                            <a:srgbClr val="0E1620"/>
                          </a:solidFill>
                          <a:latin typeface="Arial"/>
                        </a:rPr>
                        <a:t>The trust buys back shares when they trade more than 10% below NAV, measured on a 10-day VWAP.</a:t>
                      </a:r>
                    </a:p>
                  </a:txBody>
                  <a:tcPr marL="64008" marR="82296" marT="32004" marB="32004" anchor="t">
                    <a:solidFill>
                      <a:srgbClr val="FFFFFF"/>
                    </a:solidFill>
                  </a:tcPr>
                </a:tc>
              </a:tr>
              <a:tr h="237744">
                <a:tc>
                  <a:txBody>
                    <a:bodyPr wrap="square"/>
                    <a:lstStyle/>
                    <a:p>
                      <a:r>
                        <a:rPr sz="900" b="1">
                          <a:solidFill>
                            <a:srgbClr val="314359"/>
                          </a:solidFill>
                          <a:latin typeface="Arial"/>
                        </a:rPr>
                        <a:t>Launch costs</a:t>
                      </a:r>
                    </a:p>
                  </a:txBody>
                  <a:tcPr marL="64008" marR="82296" marT="32004" marB="32004" anchor="t">
                    <a:solidFill>
                      <a:srgbClr val="F4F6F8"/>
                    </a:solidFill>
                  </a:tcPr>
                </a:tc>
                <a:tc>
                  <a:txBody>
                    <a:bodyPr wrap="square"/>
                    <a:lstStyle/>
                    <a:p>
                      <a:r>
                        <a:rPr sz="869" b="0">
                          <a:solidFill>
                            <a:srgbClr val="0E1620"/>
                          </a:solidFill>
                          <a:latin typeface="Arial"/>
                        </a:rPr>
                        <a:t>Borne by the trust, partially offset by AIP's subscription for the initial shares.</a:t>
                      </a:r>
                    </a:p>
                  </a:txBody>
                  <a:tcPr marL="64008" marR="82296" marT="32004" marB="32004" anchor="t">
                    <a:solidFill>
                      <a:srgbClr val="F4F6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Proposed Terms</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Indicative term sheet (continued)</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Gearing, governance, operations and service providers.  (2 of 2)</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23</a:t>
            </a:r>
          </a:p>
        </p:txBody>
      </p:sp>
      <p:graphicFrame>
        <p:nvGraphicFramePr>
          <p:cNvPr id="10" name="Table 9"/>
          <p:cNvGraphicFramePr>
            <a:graphicFrameLocks noGrp="1"/>
          </p:cNvGraphicFramePr>
          <p:nvPr/>
        </p:nvGraphicFramePr>
        <p:xfrm>
          <a:off x="512064" y="2139696"/>
          <a:ext cx="8796527" cy="2852928"/>
        </p:xfrm>
        <a:graphic>
          <a:graphicData uri="http://schemas.openxmlformats.org/drawingml/2006/table">
            <a:tbl>
              <a:tblPr>
                <a:tableStyleId>{2D5ABB26-0587-4C30-8999-92F81FD0307C}</a:tableStyleId>
              </a:tblPr>
              <a:tblGrid>
                <a:gridCol w="2331720"/>
                <a:gridCol w="6464807"/>
              </a:tblGrid>
              <a:tr h="237744">
                <a:tc>
                  <a:txBody>
                    <a:bodyPr wrap="square"/>
                    <a:lstStyle/>
                    <a:p>
                      <a:r>
                        <a:rPr sz="900" b="1">
                          <a:solidFill>
                            <a:srgbClr val="314359"/>
                          </a:solidFill>
                          <a:latin typeface="Arial"/>
                        </a:rPr>
                        <a:t>Gearing / borrowing policy</a:t>
                      </a:r>
                    </a:p>
                  </a:txBody>
                  <a:tcPr marL="64008" marR="82296" marT="32004" marB="32004" anchor="t">
                    <a:solidFill>
                      <a:srgbClr val="FFFFFF"/>
                    </a:solidFill>
                  </a:tcPr>
                </a:tc>
                <a:tc>
                  <a:txBody>
                    <a:bodyPr wrap="square"/>
                    <a:lstStyle/>
                    <a:p>
                      <a:r>
                        <a:rPr sz="869" b="0">
                          <a:solidFill>
                            <a:srgbClr val="0E1620"/>
                          </a:solidFill>
                          <a:latin typeface="Arial"/>
                        </a:rPr>
                        <a:t>No structural gearing to enhance investment returns. Short-term borrowing is used as a bridge — alongside a cash buffer — to fund share buybacks over the gap between executing a buyback and receiving the AIPII redemption proceeds (quarterly, 90 days' notice), and for operating-cost or working-capital needs. Capped at 10% of NAV.</a:t>
                      </a:r>
                    </a:p>
                  </a:txBody>
                  <a:tcPr marL="64008" marR="82296" marT="32004" marB="32004" anchor="t">
                    <a:solidFill>
                      <a:srgbClr val="FFFFFF"/>
                    </a:solidFill>
                  </a:tcPr>
                </a:tc>
              </a:tr>
              <a:tr h="237744">
                <a:tc>
                  <a:txBody>
                    <a:bodyPr wrap="square"/>
                    <a:lstStyle/>
                    <a:p>
                      <a:r>
                        <a:rPr sz="900" b="1">
                          <a:solidFill>
                            <a:srgbClr val="314359"/>
                          </a:solidFill>
                          <a:latin typeface="Arial"/>
                        </a:rPr>
                        <a:t>Dividend &amp; distribution policy</a:t>
                      </a:r>
                    </a:p>
                  </a:txBody>
                  <a:tcPr marL="64008" marR="82296" marT="32004" marB="32004" anchor="t">
                    <a:solidFill>
                      <a:srgbClr val="F4F6F8"/>
                    </a:solidFill>
                  </a:tcPr>
                </a:tc>
                <a:tc>
                  <a:txBody>
                    <a:bodyPr wrap="square"/>
                    <a:lstStyle/>
                    <a:p>
                      <a:r>
                        <a:rPr sz="869" b="0">
                          <a:solidFill>
                            <a:srgbClr val="0E1620"/>
                          </a:solidFill>
                          <a:latin typeface="Arial"/>
                        </a:rPr>
                        <a:t>Managed for long-term total return; no regular dividend expected. Distributions limited to the minimum required to maintain s.1158 status.  [for confirmation]</a:t>
                      </a:r>
                    </a:p>
                  </a:txBody>
                  <a:tcPr marL="64008" marR="82296" marT="32004" marB="32004" anchor="t">
                    <a:solidFill>
                      <a:srgbClr val="F4F6F8"/>
                    </a:solidFill>
                  </a:tcPr>
                </a:tc>
              </a:tr>
              <a:tr h="237744">
                <a:tc>
                  <a:txBody>
                    <a:bodyPr wrap="square"/>
                    <a:lstStyle/>
                    <a:p>
                      <a:r>
                        <a:rPr sz="900" b="1">
                          <a:solidFill>
                            <a:srgbClr val="314359"/>
                          </a:solidFill>
                          <a:latin typeface="Arial"/>
                        </a:rPr>
                        <a:t>NAV calculation &amp; valuation policy</a:t>
                      </a:r>
                    </a:p>
                  </a:txBody>
                  <a:tcPr marL="64008" marR="82296" marT="32004" marB="32004" anchor="t">
                    <a:solidFill>
                      <a:srgbClr val="FFFFFF"/>
                    </a:solidFill>
                  </a:tcPr>
                </a:tc>
                <a:tc>
                  <a:txBody>
                    <a:bodyPr wrap="square"/>
                    <a:lstStyle/>
                    <a:p>
                      <a:r>
                        <a:rPr sz="869" b="0">
                          <a:solidFill>
                            <a:srgbClr val="0E1620"/>
                          </a:solidFill>
                          <a:latin typeface="Arial"/>
                        </a:rPr>
                        <a:t>Based on AIPII's NAV as struck by its administrator, MUFG.</a:t>
                      </a:r>
                    </a:p>
                  </a:txBody>
                  <a:tcPr marL="64008" marR="82296" marT="32004" marB="32004" anchor="t">
                    <a:solidFill>
                      <a:srgbClr val="FFFFFF"/>
                    </a:solidFill>
                  </a:tcPr>
                </a:tc>
              </a:tr>
              <a:tr h="237744">
                <a:tc>
                  <a:txBody>
                    <a:bodyPr wrap="square"/>
                    <a:lstStyle/>
                    <a:p>
                      <a:r>
                        <a:rPr sz="900" b="1">
                          <a:solidFill>
                            <a:srgbClr val="314359"/>
                          </a:solidFill>
                          <a:latin typeface="Arial"/>
                        </a:rPr>
                        <a:t>Underlying fund liquidity</a:t>
                      </a:r>
                    </a:p>
                  </a:txBody>
                  <a:tcPr marL="64008" marR="82296" marT="32004" marB="32004" anchor="t">
                    <a:solidFill>
                      <a:srgbClr val="F4F6F8"/>
                    </a:solidFill>
                  </a:tcPr>
                </a:tc>
                <a:tc>
                  <a:txBody>
                    <a:bodyPr wrap="square"/>
                    <a:lstStyle/>
                    <a:p>
                      <a:r>
                        <a:rPr sz="869" b="0">
                          <a:solidFill>
                            <a:srgbClr val="0E1620"/>
                          </a:solidFill>
                          <a:latin typeface="Arial"/>
                        </a:rPr>
                        <a:t>AIPII offers quarterly redemptions on 90 days' notice — the source the trust draws on to fund buybacks and to exit on a key-man event. The trust itself remains closed-ended and listed.</a:t>
                      </a:r>
                    </a:p>
                  </a:txBody>
                  <a:tcPr marL="64008" marR="82296" marT="32004" marB="32004" anchor="t">
                    <a:solidFill>
                      <a:srgbClr val="F4F6F8"/>
                    </a:solidFill>
                  </a:tcPr>
                </a:tc>
              </a:tr>
              <a:tr h="237744">
                <a:tc>
                  <a:txBody>
                    <a:bodyPr wrap="square"/>
                    <a:lstStyle/>
                    <a:p>
                      <a:r>
                        <a:rPr sz="900" b="1">
                          <a:solidFill>
                            <a:srgbClr val="314359"/>
                          </a:solidFill>
                          <a:latin typeface="Arial"/>
                        </a:rPr>
                        <a:t>Continuation vote / life of the company</a:t>
                      </a:r>
                    </a:p>
                  </a:txBody>
                  <a:tcPr marL="64008" marR="82296" marT="32004" marB="32004" anchor="t">
                    <a:solidFill>
                      <a:srgbClr val="FFFFFF"/>
                    </a:solidFill>
                  </a:tcPr>
                </a:tc>
                <a:tc>
                  <a:txBody>
                    <a:bodyPr wrap="square"/>
                    <a:lstStyle/>
                    <a:p>
                      <a:r>
                        <a:rPr sz="869" b="0">
                          <a:solidFill>
                            <a:srgbClr val="0E1620"/>
                          </a:solidFill>
                          <a:latin typeface="Arial"/>
                        </a:rPr>
                        <a:t>Continues until shareholders vote to discontinue; on discontinuation, AIP's special share converts automatically.</a:t>
                      </a:r>
                    </a:p>
                  </a:txBody>
                  <a:tcPr marL="64008" marR="82296" marT="32004" marB="32004" anchor="t">
                    <a:solidFill>
                      <a:srgbClr val="FFFFFF"/>
                    </a:solidFill>
                  </a:tcPr>
                </a:tc>
              </a:tr>
              <a:tr h="237744">
                <a:tc>
                  <a:txBody>
                    <a:bodyPr wrap="square"/>
                    <a:lstStyle/>
                    <a:p>
                      <a:r>
                        <a:rPr sz="900" b="1">
                          <a:solidFill>
                            <a:srgbClr val="314359"/>
                          </a:solidFill>
                          <a:latin typeface="Arial"/>
                        </a:rPr>
                        <a:t>Board composition &amp; corporate governance</a:t>
                      </a:r>
                    </a:p>
                  </a:txBody>
                  <a:tcPr marL="64008" marR="82296" marT="32004" marB="32004" anchor="t">
                    <a:solidFill>
                      <a:srgbClr val="F4F6F8"/>
                    </a:solidFill>
                  </a:tcPr>
                </a:tc>
                <a:tc>
                  <a:txBody>
                    <a:bodyPr wrap="square"/>
                    <a:lstStyle/>
                    <a:p>
                      <a:r>
                        <a:rPr sz="869" b="0">
                          <a:solidFill>
                            <a:srgbClr val="0E1620"/>
                          </a:solidFill>
                          <a:latin typeface="Arial"/>
                        </a:rPr>
                        <a:t>At least four independent non-executive directors plus one AIP management representative; UK Corporate Governance / AIC Code.</a:t>
                      </a:r>
                    </a:p>
                  </a:txBody>
                  <a:tcPr marL="64008" marR="82296" marT="32004" marB="32004" anchor="t">
                    <a:solidFill>
                      <a:srgbClr val="F4F6F8"/>
                    </a:solidFill>
                  </a:tcPr>
                </a:tc>
              </a:tr>
              <a:tr h="237744">
                <a:tc>
                  <a:txBody>
                    <a:bodyPr wrap="square"/>
                    <a:lstStyle/>
                    <a:p>
                      <a:r>
                        <a:rPr sz="900" b="1">
                          <a:solidFill>
                            <a:srgbClr val="314359"/>
                          </a:solidFill>
                          <a:latin typeface="Arial"/>
                        </a:rPr>
                        <a:t>Conflicts of interest &amp; related-party dealing</a:t>
                      </a:r>
                    </a:p>
                  </a:txBody>
                  <a:tcPr marL="64008" marR="82296" marT="32004" marB="32004" anchor="t">
                    <a:solidFill>
                      <a:srgbClr val="FFFFFF"/>
                    </a:solidFill>
                  </a:tcPr>
                </a:tc>
                <a:tc>
                  <a:txBody>
                    <a:bodyPr wrap="square"/>
                    <a:lstStyle/>
                    <a:p>
                      <a:r>
                        <a:rPr sz="869" b="0">
                          <a:solidFill>
                            <a:srgbClr val="0E1620"/>
                          </a:solidFill>
                          <a:latin typeface="Arial"/>
                        </a:rPr>
                        <a:t>All exposure is held through AIPII to minimise conflicts; residual matters governed by a formal conflicts-of-interest framework.</a:t>
                      </a:r>
                    </a:p>
                  </a:txBody>
                  <a:tcPr marL="64008" marR="82296" marT="32004" marB="32004" anchor="t">
                    <a:solidFill>
                      <a:srgbClr val="FFFFFF"/>
                    </a:solidFill>
                  </a:tcPr>
                </a:tc>
              </a:tr>
              <a:tr h="237744">
                <a:tc>
                  <a:txBody>
                    <a:bodyPr wrap="square"/>
                    <a:lstStyle/>
                    <a:p>
                      <a:r>
                        <a:rPr sz="900" b="1">
                          <a:solidFill>
                            <a:srgbClr val="314359"/>
                          </a:solidFill>
                          <a:latin typeface="Arial"/>
                        </a:rPr>
                        <a:t>Depositary, administrator &amp; registrar</a:t>
                      </a:r>
                    </a:p>
                  </a:txBody>
                  <a:tcPr marL="64008" marR="82296" marT="32004" marB="32004" anchor="t">
                    <a:solidFill>
                      <a:srgbClr val="F4F6F8"/>
                    </a:solidFill>
                  </a:tcPr>
                </a:tc>
                <a:tc>
                  <a:txBody>
                    <a:bodyPr wrap="square"/>
                    <a:lstStyle/>
                    <a:p>
                      <a:r>
                        <a:rPr sz="869" b="0">
                          <a:solidFill>
                            <a:srgbClr val="0E1620"/>
                          </a:solidFill>
                          <a:latin typeface="Arial"/>
                        </a:rPr>
                        <a:t>To be confirmed.</a:t>
                      </a:r>
                    </a:p>
                  </a:txBody>
                  <a:tcPr marL="64008" marR="82296" marT="32004" marB="32004" anchor="t">
                    <a:solidFill>
                      <a:srgbClr val="F4F6F8"/>
                    </a:solidFill>
                  </a:tcPr>
                </a:tc>
              </a:tr>
              <a:tr h="237744">
                <a:tc>
                  <a:txBody>
                    <a:bodyPr wrap="square"/>
                    <a:lstStyle/>
                    <a:p>
                      <a:r>
                        <a:rPr sz="900" b="1">
                          <a:solidFill>
                            <a:srgbClr val="314359"/>
                          </a:solidFill>
                          <a:latin typeface="Arial"/>
                        </a:rPr>
                        <a:t>Auditor &amp; corporate broker</a:t>
                      </a:r>
                    </a:p>
                  </a:txBody>
                  <a:tcPr marL="64008" marR="82296" marT="32004" marB="32004" anchor="t">
                    <a:solidFill>
                      <a:srgbClr val="FFFFFF"/>
                    </a:solidFill>
                  </a:tcPr>
                </a:tc>
                <a:tc>
                  <a:txBody>
                    <a:bodyPr wrap="square"/>
                    <a:lstStyle/>
                    <a:p>
                      <a:r>
                        <a:rPr sz="869" b="0">
                          <a:solidFill>
                            <a:srgbClr val="0E1620"/>
                          </a:solidFill>
                          <a:latin typeface="Arial"/>
                        </a:rPr>
                        <a:t>To be confirmed.</a:t>
                      </a:r>
                    </a:p>
                  </a:txBody>
                  <a:tcPr marL="64008" marR="82296" marT="32004" marB="32004" anchor="t">
                    <a:solidFill>
                      <a:srgbClr val="FFFFFF"/>
                    </a:solidFill>
                  </a:tcPr>
                </a:tc>
              </a:tr>
              <a:tr h="237744">
                <a:tc>
                  <a:txBody>
                    <a:bodyPr wrap="square"/>
                    <a:lstStyle/>
                    <a:p>
                      <a:r>
                        <a:rPr sz="900" b="1">
                          <a:solidFill>
                            <a:srgbClr val="314359"/>
                          </a:solidFill>
                          <a:latin typeface="Arial"/>
                        </a:rPr>
                        <a:t>Lock-up &amp; orderly-market arrangements</a:t>
                      </a:r>
                    </a:p>
                  </a:txBody>
                  <a:tcPr marL="64008" marR="82296" marT="32004" marB="32004" anchor="t">
                    <a:solidFill>
                      <a:srgbClr val="F4F6F8"/>
                    </a:solidFill>
                  </a:tcPr>
                </a:tc>
                <a:tc>
                  <a:txBody>
                    <a:bodyPr wrap="square"/>
                    <a:lstStyle/>
                    <a:p>
                      <a:r>
                        <a:rPr sz="869" b="0">
                          <a:solidFill>
                            <a:srgbClr val="0E1620"/>
                          </a:solidFill>
                          <a:latin typeface="Arial"/>
                        </a:rPr>
                        <a:t>To be confirmed.</a:t>
                      </a:r>
                    </a:p>
                  </a:txBody>
                  <a:tcPr marL="64008" marR="82296" marT="32004" marB="32004" anchor="t">
                    <a:solidFill>
                      <a:srgbClr val="F4F6F8"/>
                    </a:solidFill>
                  </a:tcPr>
                </a:tc>
              </a:tr>
              <a:tr h="237744">
                <a:tc>
                  <a:txBody>
                    <a:bodyPr wrap="square"/>
                    <a:lstStyle/>
                    <a:p>
                      <a:r>
                        <a:rPr sz="900" b="1">
                          <a:solidFill>
                            <a:srgbClr val="314359"/>
                          </a:solidFill>
                          <a:latin typeface="Arial"/>
                        </a:rPr>
                        <a:t>ISA / SIPP eligibility</a:t>
                      </a:r>
                    </a:p>
                  </a:txBody>
                  <a:tcPr marL="64008" marR="82296" marT="32004" marB="32004" anchor="t">
                    <a:solidFill>
                      <a:srgbClr val="FFFFFF"/>
                    </a:solidFill>
                  </a:tcPr>
                </a:tc>
                <a:tc>
                  <a:txBody>
                    <a:bodyPr wrap="square"/>
                    <a:lstStyle/>
                    <a:p>
                      <a:r>
                        <a:rPr sz="869" b="0">
                          <a:solidFill>
                            <a:srgbClr val="0E1620"/>
                          </a:solidFill>
                          <a:latin typeface="Arial"/>
                        </a:rPr>
                        <a:t>To be confirmed (expected eligible).</a:t>
                      </a:r>
                    </a:p>
                  </a:txBody>
                  <a:tcPr marL="64008" marR="82296" marT="32004" marB="32004" anchor="t">
                    <a:solidFill>
                      <a:srgbClr val="FFFFFF"/>
                    </a:solidFill>
                  </a:tcPr>
                </a:tc>
              </a:tr>
              <a:tr h="237744">
                <a:tc>
                  <a:txBody>
                    <a:bodyPr wrap="square"/>
                    <a:lstStyle/>
                    <a:p>
                      <a:r>
                        <a:rPr sz="900" b="1">
                          <a:solidFill>
                            <a:srgbClr val="314359"/>
                          </a:solidFill>
                          <a:latin typeface="Arial"/>
                        </a:rPr>
                        <a:t>Reporting &amp; financial calendar</a:t>
                      </a:r>
                    </a:p>
                  </a:txBody>
                  <a:tcPr marL="64008" marR="82296" marT="32004" marB="32004" anchor="t">
                    <a:solidFill>
                      <a:srgbClr val="F4F6F8"/>
                    </a:solidFill>
                  </a:tcPr>
                </a:tc>
                <a:tc>
                  <a:txBody>
                    <a:bodyPr wrap="square"/>
                    <a:lstStyle/>
                    <a:p>
                      <a:r>
                        <a:rPr sz="869" b="0">
                          <a:solidFill>
                            <a:srgbClr val="0E1620"/>
                          </a:solidFill>
                          <a:latin typeface="Arial"/>
                        </a:rPr>
                        <a:t>To be confirmed.</a:t>
                      </a:r>
                    </a:p>
                  </a:txBody>
                  <a:tcPr marL="64008" marR="82296" marT="32004" marB="32004" anchor="t">
                    <a:solidFill>
                      <a:srgbClr val="F4F6F8"/>
                    </a:solidFill>
                  </a:tcPr>
                </a:tc>
              </a:tr>
              <a:tr h="237744">
                <a:tc>
                  <a:txBody>
                    <a:bodyPr wrap="square"/>
                    <a:lstStyle/>
                    <a:p>
                      <a:r>
                        <a:rPr sz="900" b="1">
                          <a:solidFill>
                            <a:srgbClr val="314359"/>
                          </a:solidFill>
                          <a:latin typeface="Arial"/>
                        </a:rPr>
                        <a:t>Ticker, ISIN &amp; SEDOL</a:t>
                      </a:r>
                    </a:p>
                  </a:txBody>
                  <a:tcPr marL="64008" marR="82296" marT="32004" marB="32004" anchor="t">
                    <a:solidFill>
                      <a:srgbClr val="FFFFFF"/>
                    </a:solidFill>
                  </a:tcPr>
                </a:tc>
                <a:tc>
                  <a:txBody>
                    <a:bodyPr wrap="square"/>
                    <a:lstStyle/>
                    <a:p>
                      <a:r>
                        <a:rPr sz="869" b="0">
                          <a:solidFill>
                            <a:srgbClr val="0E1620"/>
                          </a:solidFill>
                          <a:latin typeface="Arial"/>
                        </a:rPr>
                        <a:t>To be confirmed.</a:t>
                      </a:r>
                    </a:p>
                  </a:txBody>
                  <a:tcPr marL="64008" marR="82296" marT="32004" marB="32004" anchor="t">
                    <a:solidFill>
                      <a:srgbClr val="FFFFFF"/>
                    </a:solidFill>
                  </a:tcPr>
                </a:tc>
              </a:tr>
            </a:tbl>
          </a:graphicData>
        </a:graphic>
      </p:graphicFrame>
      <p:sp>
        <p:nvSpPr>
          <p:cNvPr id="11" name="TextBox 10"/>
          <p:cNvSpPr txBox="1"/>
          <p:nvPr/>
        </p:nvSpPr>
        <p:spPr>
          <a:xfrm>
            <a:off x="512064" y="6455664"/>
            <a:ext cx="8778240" cy="365760"/>
          </a:xfrm>
          <a:prstGeom prst="rect">
            <a:avLst/>
          </a:prstGeom>
          <a:noFill/>
        </p:spPr>
        <p:txBody>
          <a:bodyPr wrap="square" lIns="0" rIns="0" tIns="0" bIns="0">
            <a:spAutoFit/>
          </a:bodyPr>
          <a:lstStyle/>
          <a:p>
            <a:r>
              <a:rPr sz="650">
                <a:solidFill>
                  <a:srgbClr val="8A939F"/>
                </a:solidFill>
                <a:latin typeface="Arial"/>
              </a:rPr>
              <a:t>Indicative and non-binding, for discussion only — subject to contract, satisfactory due diligence, regulatory approval and final documentation. Not an offer or invitation to invest. [TBC = to be confirmed.]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Appendix</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How the share buyback works</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UK MAR safe-harbour mechanics, and our proposed discount-control policy.</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24</a:t>
            </a:r>
          </a:p>
        </p:txBody>
      </p:sp>
      <p:sp>
        <p:nvSpPr>
          <p:cNvPr id="10" name="Rectangle 9"/>
          <p:cNvSpPr/>
          <p:nvPr/>
        </p:nvSpPr>
        <p:spPr>
          <a:xfrm>
            <a:off x="5230368" y="2240280"/>
            <a:ext cx="10972" cy="40690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212848"/>
            <a:ext cx="4572000" cy="274320"/>
          </a:xfrm>
          <a:prstGeom prst="rect">
            <a:avLst/>
          </a:prstGeom>
          <a:noFill/>
        </p:spPr>
        <p:txBody>
          <a:bodyPr wrap="square" lIns="0" rIns="0" tIns="0" bIns="0">
            <a:spAutoFit/>
          </a:bodyPr>
          <a:lstStyle/>
          <a:p>
            <a:r>
              <a:rPr sz="950" b="1">
                <a:solidFill>
                  <a:srgbClr val="556A83"/>
                </a:solidFill>
                <a:latin typeface="Arial"/>
              </a:rPr>
              <a:t>THE UK FRAMEWORK   ·   MAR SAFE HARBOUR</a:t>
            </a:r>
          </a:p>
        </p:txBody>
      </p:sp>
      <p:sp>
        <p:nvSpPr>
          <p:cNvPr id="12" name="TextBox 11"/>
          <p:cNvSpPr txBox="1"/>
          <p:nvPr/>
        </p:nvSpPr>
        <p:spPr>
          <a:xfrm>
            <a:off x="512064" y="2560320"/>
            <a:ext cx="4590288" cy="3840480"/>
          </a:xfrm>
          <a:prstGeom prst="rect">
            <a:avLst/>
          </a:prstGeom>
          <a:noFill/>
        </p:spPr>
        <p:txBody>
          <a:bodyPr wrap="square" lIns="0" rIns="0" tIns="0" bIns="0">
            <a:spAutoFit/>
          </a:bodyPr>
          <a:lstStyle/>
          <a:p>
            <a:pPr>
              <a:spcAft>
                <a:spcPts val="600"/>
              </a:spcAft>
            </a:pPr>
            <a:r>
              <a:rPr sz="960" b="1">
                <a:solidFill>
                  <a:srgbClr val="314359"/>
                </a:solidFill>
                <a:latin typeface="Arial"/>
              </a:rPr>
              <a:t>›  </a:t>
            </a:r>
            <a:r>
              <a:rPr sz="960" b="1">
                <a:solidFill>
                  <a:srgbClr val="314359"/>
                </a:solidFill>
                <a:latin typeface="Arial"/>
              </a:rPr>
              <a:t>Shareholder authority.  </a:t>
            </a:r>
            <a:r>
              <a:rPr sz="960" b="0">
                <a:solidFill>
                  <a:srgbClr val="0E1620"/>
                </a:solidFill>
                <a:latin typeface="Arial"/>
              </a:rPr>
              <a:t>AGM approval to repurchase up to 14.99% of issued shares; going further needs a general meeting and a fresh circular.</a:t>
            </a:r>
          </a:p>
          <a:p>
            <a:pPr>
              <a:spcAft>
                <a:spcPts val="600"/>
              </a:spcAft>
            </a:pPr>
            <a:r>
              <a:rPr sz="960" b="1">
                <a:solidFill>
                  <a:srgbClr val="314359"/>
                </a:solidFill>
                <a:latin typeface="Arial"/>
              </a:rPr>
              <a:t>›  </a:t>
            </a:r>
            <a:r>
              <a:rPr sz="960" b="1">
                <a:solidFill>
                  <a:srgbClr val="314359"/>
                </a:solidFill>
                <a:latin typeface="Arial"/>
              </a:rPr>
              <a:t>Price &amp; volume limits.  </a:t>
            </a:r>
            <a:r>
              <a:rPr sz="960" b="0">
                <a:solidFill>
                  <a:srgbClr val="0E1620"/>
                </a:solidFill>
                <a:latin typeface="Arial"/>
              </a:rPr>
              <a:t>No higher than the higher of the last independent trade or the highest current bid; volume capped at 25% of average daily volume (ADTV).</a:t>
            </a:r>
          </a:p>
          <a:p>
            <a:pPr>
              <a:spcAft>
                <a:spcPts val="600"/>
              </a:spcAft>
            </a:pPr>
            <a:r>
              <a:rPr sz="960" b="1">
                <a:solidFill>
                  <a:srgbClr val="314359"/>
                </a:solidFill>
                <a:latin typeface="Arial"/>
              </a:rPr>
              <a:t>›  </a:t>
            </a:r>
            <a:r>
              <a:rPr sz="960" b="1">
                <a:solidFill>
                  <a:srgbClr val="314359"/>
                </a:solidFill>
                <a:latin typeface="Arial"/>
              </a:rPr>
              <a:t>Disclosure.  </a:t>
            </a:r>
            <a:r>
              <a:rPr sz="960" b="0">
                <a:solidFill>
                  <a:srgbClr val="0E1620"/>
                </a:solidFill>
                <a:latin typeface="Arial"/>
              </a:rPr>
              <a:t>Each day's dealings are announced by RNS — market practice is same-day, shortly after the 16:30 close (volume, high/low and VWAP).</a:t>
            </a:r>
          </a:p>
          <a:p>
            <a:pPr>
              <a:spcAft>
                <a:spcPts val="600"/>
              </a:spcAft>
            </a:pPr>
            <a:r>
              <a:rPr sz="960" b="1">
                <a:solidFill>
                  <a:srgbClr val="314359"/>
                </a:solidFill>
                <a:latin typeface="Arial"/>
              </a:rPr>
              <a:t>›  </a:t>
            </a:r>
            <a:r>
              <a:rPr sz="960" b="1">
                <a:solidFill>
                  <a:srgbClr val="314359"/>
                </a:solidFill>
                <a:latin typeface="Arial"/>
              </a:rPr>
              <a:t>Execution.  </a:t>
            </a:r>
            <a:r>
              <a:rPr sz="960" b="0">
                <a:solidFill>
                  <a:srgbClr val="0E1620"/>
                </a:solidFill>
                <a:latin typeface="Arial"/>
              </a:rPr>
              <a:t>A broker runs the programme; a non-discretionary mandate — board sets the parameters, broker executes — lets buybacks continue through closed periods.</a:t>
            </a:r>
          </a:p>
          <a:p>
            <a:pPr>
              <a:spcAft>
                <a:spcPts val="600"/>
              </a:spcAft>
            </a:pPr>
            <a:r>
              <a:rPr sz="960" b="1">
                <a:solidFill>
                  <a:srgbClr val="314359"/>
                </a:solidFill>
                <a:latin typeface="Arial"/>
              </a:rPr>
              <a:t>›  </a:t>
            </a:r>
            <a:r>
              <a:rPr sz="960" b="1">
                <a:solidFill>
                  <a:srgbClr val="314359"/>
                </a:solidFill>
                <a:latin typeface="Arial"/>
              </a:rPr>
              <a:t>Treatment.  </a:t>
            </a:r>
            <a:r>
              <a:rPr sz="960" b="0">
                <a:solidFill>
                  <a:srgbClr val="0E1620"/>
                </a:solidFill>
                <a:latin typeface="Arial"/>
              </a:rPr>
              <a:t>Cancel (permanently shrinks the count and, as shares are bought below NAV, lifts NAV per share) or hold in treasury for quick re-issue at a premium.</a:t>
            </a:r>
          </a:p>
        </p:txBody>
      </p:sp>
      <p:sp>
        <p:nvSpPr>
          <p:cNvPr id="13" name="TextBox 12"/>
          <p:cNvSpPr txBox="1"/>
          <p:nvPr/>
        </p:nvSpPr>
        <p:spPr>
          <a:xfrm>
            <a:off x="5440680" y="2212848"/>
            <a:ext cx="3886200" cy="274320"/>
          </a:xfrm>
          <a:prstGeom prst="rect">
            <a:avLst/>
          </a:prstGeom>
          <a:noFill/>
        </p:spPr>
        <p:txBody>
          <a:bodyPr wrap="square" lIns="0" rIns="0" tIns="0" bIns="0">
            <a:spAutoFit/>
          </a:bodyPr>
          <a:lstStyle/>
          <a:p>
            <a:r>
              <a:rPr sz="950" b="1">
                <a:solidFill>
                  <a:srgbClr val="556A83"/>
                </a:solidFill>
                <a:latin typeface="Arial"/>
              </a:rPr>
              <a:t>OUR PROPOSED DISCOUNT-CONTROL POLICY</a:t>
            </a:r>
          </a:p>
        </p:txBody>
      </p:sp>
      <p:sp>
        <p:nvSpPr>
          <p:cNvPr id="14" name="TextBox 13"/>
          <p:cNvSpPr txBox="1"/>
          <p:nvPr/>
        </p:nvSpPr>
        <p:spPr>
          <a:xfrm>
            <a:off x="5440680" y="2560320"/>
            <a:ext cx="3886200" cy="3840480"/>
          </a:xfrm>
          <a:prstGeom prst="rect">
            <a:avLst/>
          </a:prstGeom>
          <a:noFill/>
        </p:spPr>
        <p:txBody>
          <a:bodyPr wrap="square" lIns="0" rIns="0" tIns="0" bIns="0">
            <a:spAutoFit/>
          </a:bodyPr>
          <a:lstStyle/>
          <a:p>
            <a:pPr>
              <a:spcAft>
                <a:spcPts val="600"/>
              </a:spcAft>
            </a:pPr>
            <a:r>
              <a:rPr sz="960" b="1">
                <a:solidFill>
                  <a:srgbClr val="314359"/>
                </a:solidFill>
                <a:latin typeface="Arial"/>
              </a:rPr>
              <a:t>›  </a:t>
            </a:r>
            <a:r>
              <a:rPr sz="960" b="1">
                <a:solidFill>
                  <a:srgbClr val="314359"/>
                </a:solidFill>
                <a:latin typeface="Arial"/>
              </a:rPr>
              <a:t>Trigger.  </a:t>
            </a:r>
            <a:r>
              <a:rPr sz="960" b="0">
                <a:solidFill>
                  <a:srgbClr val="0E1620"/>
                </a:solidFill>
                <a:latin typeface="Arial"/>
              </a:rPr>
              <a:t>Activate when the rolling 10-day VWAP trades at a discount wider than 10% to the latest published NAV.</a:t>
            </a:r>
          </a:p>
          <a:p>
            <a:pPr>
              <a:spcAft>
                <a:spcPts val="600"/>
              </a:spcAft>
            </a:pPr>
            <a:r>
              <a:rPr sz="960" b="1">
                <a:solidFill>
                  <a:srgbClr val="314359"/>
                </a:solidFill>
                <a:latin typeface="Arial"/>
              </a:rPr>
              <a:t>›  </a:t>
            </a:r>
            <a:r>
              <a:rPr sz="960" b="1">
                <a:solidFill>
                  <a:srgbClr val="314359"/>
                </a:solidFill>
                <a:latin typeface="Arial"/>
              </a:rPr>
              <a:t>Execution.  </a:t>
            </a:r>
            <a:r>
              <a:rPr sz="960" b="0">
                <a:solidFill>
                  <a:srgbClr val="0E1620"/>
                </a:solidFill>
                <a:latin typeface="Arial"/>
              </a:rPr>
              <a:t>On-market purchases within the MAR safe harbour, via a non-discretionary mandate so the programme runs through closed periods.</a:t>
            </a:r>
          </a:p>
          <a:p>
            <a:pPr>
              <a:spcAft>
                <a:spcPts val="600"/>
              </a:spcAft>
            </a:pPr>
            <a:r>
              <a:rPr sz="960" b="1">
                <a:solidFill>
                  <a:srgbClr val="314359"/>
                </a:solidFill>
                <a:latin typeface="Arial"/>
              </a:rPr>
              <a:t>›  </a:t>
            </a:r>
            <a:r>
              <a:rPr sz="960" b="1">
                <a:solidFill>
                  <a:srgbClr val="314359"/>
                </a:solidFill>
                <a:latin typeface="Arial"/>
              </a:rPr>
              <a:t>Funding.  </a:t>
            </a:r>
            <a:r>
              <a:rPr sz="960" b="0">
                <a:solidFill>
                  <a:srgbClr val="0E1620"/>
                </a:solidFill>
                <a:latin typeface="Arial"/>
              </a:rPr>
              <a:t>A cash buffer plus short-term borrowing, repaid from AIPII's quarterly redemptions (90 days' notice); within the 10%-of-NAV borrowing cap.</a:t>
            </a:r>
          </a:p>
          <a:p>
            <a:pPr>
              <a:spcAft>
                <a:spcPts val="600"/>
              </a:spcAft>
            </a:pPr>
            <a:r>
              <a:rPr sz="960" b="1">
                <a:solidFill>
                  <a:srgbClr val="314359"/>
                </a:solidFill>
                <a:latin typeface="Arial"/>
              </a:rPr>
              <a:t>›  </a:t>
            </a:r>
            <a:r>
              <a:rPr sz="960" b="1">
                <a:solidFill>
                  <a:srgbClr val="314359"/>
                </a:solidFill>
                <a:latin typeface="Arial"/>
              </a:rPr>
              <a:t>Capacity &amp; refresh.  </a:t>
            </a:r>
            <a:r>
              <a:rPr sz="960" b="0">
                <a:solidFill>
                  <a:srgbClr val="0E1620"/>
                </a:solidFill>
                <a:latin typeface="Arial"/>
              </a:rPr>
              <a:t>Repurchase in tranches of up to ~10% of shares, then a general meeting to cancel the shares and renew authority — repeating while the discount persists.</a:t>
            </a:r>
          </a:p>
          <a:p>
            <a:pPr>
              <a:spcAft>
                <a:spcPts val="600"/>
              </a:spcAft>
            </a:pPr>
            <a:r>
              <a:rPr sz="960" b="1">
                <a:solidFill>
                  <a:srgbClr val="314359"/>
                </a:solidFill>
                <a:latin typeface="Arial"/>
              </a:rPr>
              <a:t>›  </a:t>
            </a:r>
            <a:r>
              <a:rPr sz="960" b="1">
                <a:solidFill>
                  <a:srgbClr val="314359"/>
                </a:solidFill>
                <a:latin typeface="Arial"/>
              </a:rPr>
              <a:t>Measurement.  </a:t>
            </a:r>
            <a:r>
              <a:rPr sz="960" b="0">
                <a:solidFill>
                  <a:srgbClr val="0E1620"/>
                </a:solidFill>
                <a:latin typeface="Arial"/>
              </a:rPr>
              <a:t>Discount tracked daily on the rolling 10-day VWAP vs latest NAV; the programme pauses once it narrows back inside ~5%, and is reviewed each quarter alongside the redemption that funds it.</a:t>
            </a:r>
          </a:p>
        </p:txBody>
      </p:sp>
      <p:sp>
        <p:nvSpPr>
          <p:cNvPr id="15" name="TextBox 14"/>
          <p:cNvSpPr txBox="1"/>
          <p:nvPr/>
        </p:nvSpPr>
        <p:spPr>
          <a:xfrm>
            <a:off x="512064" y="6437376"/>
            <a:ext cx="8778240" cy="365760"/>
          </a:xfrm>
          <a:prstGeom prst="rect">
            <a:avLst/>
          </a:prstGeom>
          <a:noFill/>
        </p:spPr>
        <p:txBody>
          <a:bodyPr wrap="square" lIns="0" rIns="0" tIns="0" bIns="0">
            <a:spAutoFit/>
          </a:bodyPr>
          <a:lstStyle/>
          <a:p>
            <a:r>
              <a:rPr sz="650" b="0">
                <a:solidFill>
                  <a:srgbClr val="8A939F"/>
                </a:solidFill>
                <a:latin typeface="Arial"/>
              </a:rPr>
              <a:t>Indicative and for discussion only; final policy subject to board approval, shareholder authority and MAR compliance. ADTV = average daily trading volume; VWAP = volume-weighted average price.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Market Context</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Why parts of the market may be overvalued</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Fifty years of peer-reviewed research, mapped onto today's race for the hardest-to-value assets.</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25</a:t>
            </a:r>
          </a:p>
        </p:txBody>
      </p:sp>
      <p:graphicFrame>
        <p:nvGraphicFramePr>
          <p:cNvPr id="10" name="Table 9"/>
          <p:cNvGraphicFramePr>
            <a:graphicFrameLocks noGrp="1"/>
          </p:cNvGraphicFramePr>
          <p:nvPr/>
        </p:nvGraphicFramePr>
        <p:xfrm>
          <a:off x="512064" y="2249424"/>
          <a:ext cx="8796528" cy="1645920"/>
        </p:xfrm>
        <a:graphic>
          <a:graphicData uri="http://schemas.openxmlformats.org/drawingml/2006/table">
            <a:tbl>
              <a:tblPr>
                <a:tableStyleId>{2D5ABB26-0587-4C30-8999-92F81FD0307C}</a:tableStyleId>
              </a:tblPr>
              <a:tblGrid>
                <a:gridCol w="4828032"/>
                <a:gridCol w="3968496"/>
              </a:tblGrid>
              <a:tr h="274320">
                <a:tc>
                  <a:txBody>
                    <a:bodyPr wrap="square"/>
                    <a:lstStyle/>
                    <a:p>
                      <a:r>
                        <a:rPr sz="800" b="1">
                          <a:solidFill>
                            <a:srgbClr val="556A83"/>
                          </a:solidFill>
                          <a:latin typeface="Arial"/>
                        </a:rPr>
                        <a:t>WHAT THE RESEARCH SHOWS</a:t>
                      </a:r>
                    </a:p>
                  </a:txBody>
                  <a:tcPr marL="82296" marR="91440" marT="36576" marB="36576" anchor="t">
                    <a:solidFill>
                      <a:srgbClr val="FFFFFF"/>
                    </a:solidFill>
                  </a:tcPr>
                </a:tc>
                <a:tc>
                  <a:txBody>
                    <a:bodyPr wrap="square"/>
                    <a:lstStyle/>
                    <a:p>
                      <a:r>
                        <a:rPr sz="800" b="1">
                          <a:solidFill>
                            <a:srgbClr val="556A83"/>
                          </a:solidFill>
                          <a:latin typeface="Arial"/>
                        </a:rPr>
                        <a:t>WHAT WE SEE TODAY · 2026</a:t>
                      </a:r>
                    </a:p>
                  </a:txBody>
                  <a:tcPr marL="82296" marR="91440" marT="36576" marB="36576" anchor="t">
                    <a:solidFill>
                      <a:srgbClr val="FFFFFF"/>
                    </a:solidFill>
                  </a:tcPr>
                </a:tc>
              </a:tr>
              <a:tr h="274320">
                <a:tc>
                  <a:txBody>
                    <a:bodyPr wrap="square"/>
                    <a:lstStyle/>
                    <a:p>
                      <a:r>
                        <a:rPr sz="830" b="1">
                          <a:solidFill>
                            <a:srgbClr val="314359"/>
                          </a:solidFill>
                          <a:latin typeface="Arial"/>
                        </a:rPr>
                        <a:t>Uncertainty inflates price.</a:t>
                      </a:r>
                      <a:r>
                        <a:rPr sz="830" b="0">
                          <a:solidFill>
                            <a:srgbClr val="0E1620"/>
                          </a:solidFill>
                          <a:latin typeface="Arial"/>
                        </a:rPr>
                        <a:t> Unknowable prospects, and pessimists who can't short, leave the optimists to set the price — equity turns option-like, so more uncertainty lifts the valuation. (Miller 1977; Pástor–Veronesi 2009; Scheinkman–Xiong 2003)</a:t>
                      </a:r>
                    </a:p>
                  </a:txBody>
                  <a:tcPr marL="82296" marR="91440" marT="36576" marB="36576" anchor="t">
                    <a:solidFill>
                      <a:srgbClr val="FFFFFF"/>
                    </a:solidFill>
                  </a:tcPr>
                </a:tc>
                <a:tc>
                  <a:txBody>
                    <a:bodyPr wrap="square"/>
                    <a:lstStyle/>
                    <a:p>
                      <a:r>
                        <a:rPr sz="830" b="0">
                          <a:solidFill>
                            <a:srgbClr val="0E1620"/>
                          </a:solidFill>
                          <a:latin typeface="Arial"/>
                        </a:rPr>
                        <a:t>The most-wanted assets are the least-knowable: SpaceX listed at a reported </a:t>
                      </a:r>
                      <a:r>
                        <a:rPr sz="830" b="1">
                          <a:solidFill>
                            <a:srgbClr val="314359"/>
                          </a:solidFill>
                          <a:latin typeface="Arial"/>
                        </a:rPr>
                        <a:t>~$1.8tn</a:t>
                      </a:r>
                      <a:r>
                        <a:rPr sz="830" b="0">
                          <a:solidFill>
                            <a:srgbClr val="0E1620"/>
                          </a:solidFill>
                          <a:latin typeface="Arial"/>
                        </a:rPr>
                        <a:t>; </a:t>
                      </a:r>
                      <a:r>
                        <a:rPr sz="830" b="1">
                          <a:solidFill>
                            <a:srgbClr val="314359"/>
                          </a:solidFill>
                          <a:latin typeface="Arial"/>
                        </a:rPr>
                        <a:t>Anthropic ~$965bn</a:t>
                      </a:r>
                      <a:r>
                        <a:rPr sz="830" b="0">
                          <a:solidFill>
                            <a:srgbClr val="0E1620"/>
                          </a:solidFill>
                          <a:latin typeface="Arial"/>
                        </a:rPr>
                        <a:t> and </a:t>
                      </a:r>
                      <a:r>
                        <a:rPr sz="830" b="1">
                          <a:solidFill>
                            <a:srgbClr val="314359"/>
                          </a:solidFill>
                          <a:latin typeface="Arial"/>
                        </a:rPr>
                        <a:t>OpenAI ~$830bn</a:t>
                      </a:r>
                      <a:r>
                        <a:rPr sz="830" b="0">
                          <a:solidFill>
                            <a:srgbClr val="0E1620"/>
                          </a:solidFill>
                          <a:latin typeface="Arial"/>
                        </a:rPr>
                        <a:t> in private rounds — still deeply loss-making.</a:t>
                      </a:r>
                    </a:p>
                  </a:txBody>
                  <a:tcPr marL="82296" marR="91440" marT="36576" marB="36576" anchor="t">
                    <a:solidFill>
                      <a:srgbClr val="FFFFFF"/>
                    </a:solidFill>
                  </a:tcPr>
                </a:tc>
              </a:tr>
              <a:tr h="274320">
                <a:tc>
                  <a:txBody>
                    <a:bodyPr wrap="square"/>
                    <a:lstStyle/>
                    <a:p>
                      <a:r>
                        <a:rPr sz="830" b="1">
                          <a:solidFill>
                            <a:srgbClr val="314359"/>
                          </a:solidFill>
                          <a:latin typeface="Arial"/>
                        </a:rPr>
                        <a:t>Disagreement reverts.</a:t>
                      </a:r>
                      <a:r>
                        <a:rPr sz="830" b="0">
                          <a:solidFill>
                            <a:srgbClr val="0E1620"/>
                          </a:solidFill>
                          <a:latin typeface="Arial"/>
                        </a:rPr>
                        <a:t> The most-disputed stocks are systematically overpriced; the highest forecast-dispersion names underperform by </a:t>
                      </a:r>
                      <a:r>
                        <a:rPr sz="830" b="1">
                          <a:solidFill>
                            <a:srgbClr val="314359"/>
                          </a:solidFill>
                          <a:latin typeface="Arial"/>
                        </a:rPr>
                        <a:t>~9.5% a year</a:t>
                      </a:r>
                      <a:r>
                        <a:rPr sz="830" b="0">
                          <a:solidFill>
                            <a:srgbClr val="0E1620"/>
                          </a:solidFill>
                          <a:latin typeface="Arial"/>
                        </a:rPr>
                        <a:t>. (Diether–Malloy–Scherbina 2002; Hong–Stein 2007)</a:t>
                      </a:r>
                    </a:p>
                  </a:txBody>
                  <a:tcPr marL="82296" marR="91440" marT="36576" marB="36576" anchor="t">
                    <a:solidFill>
                      <a:srgbClr val="F4F6F8"/>
                    </a:solidFill>
                  </a:tcPr>
                </a:tc>
                <a:tc>
                  <a:txBody>
                    <a:bodyPr wrap="square"/>
                    <a:lstStyle/>
                    <a:p>
                      <a:r>
                        <a:rPr sz="830" b="0">
                          <a:solidFill>
                            <a:srgbClr val="0E1620"/>
                          </a:solidFill>
                          <a:latin typeface="Arial"/>
                        </a:rPr>
                        <a:t>Nothing divides opinion like AI's terminal value — and newly- or not-yet-listed names are among the </a:t>
                      </a:r>
                      <a:r>
                        <a:rPr sz="830" b="1">
                          <a:solidFill>
                            <a:srgbClr val="314359"/>
                          </a:solidFill>
                          <a:latin typeface="Arial"/>
                        </a:rPr>
                        <a:t>hardest to short</a:t>
                      </a:r>
                      <a:r>
                        <a:rPr sz="830" b="0">
                          <a:solidFill>
                            <a:srgbClr val="0E1620"/>
                          </a:solidFill>
                          <a:latin typeface="Arial"/>
                        </a:rPr>
                        <a:t>.</a:t>
                      </a:r>
                    </a:p>
                  </a:txBody>
                  <a:tcPr marL="82296" marR="91440" marT="36576" marB="36576" anchor="t">
                    <a:solidFill>
                      <a:srgbClr val="F4F6F8"/>
                    </a:solidFill>
                  </a:tcPr>
                </a:tc>
              </a:tr>
              <a:tr h="274320">
                <a:tc>
                  <a:txBody>
                    <a:bodyPr wrap="square"/>
                    <a:lstStyle/>
                    <a:p>
                      <a:r>
                        <a:rPr sz="830" b="1">
                          <a:solidFill>
                            <a:srgbClr val="314359"/>
                          </a:solidFill>
                          <a:latin typeface="Arial"/>
                        </a:rPr>
                        <a:t>IPO waves underperform.</a:t>
                      </a:r>
                      <a:r>
                        <a:rPr sz="830" b="0">
                          <a:solidFill>
                            <a:srgbClr val="0E1620"/>
                          </a:solidFill>
                          <a:latin typeface="Arial"/>
                        </a:rPr>
                        <a:t> New issues returned </a:t>
                      </a:r>
                      <a:r>
                        <a:rPr sz="830" b="1">
                          <a:solidFill>
                            <a:srgbClr val="314359"/>
                          </a:solidFill>
                          <a:latin typeface="Arial"/>
                        </a:rPr>
                        <a:t>34.5% vs 61.9%</a:t>
                      </a:r>
                      <a:r>
                        <a:rPr sz="830" b="0">
                          <a:solidFill>
                            <a:srgbClr val="0E1620"/>
                          </a:solidFill>
                          <a:latin typeface="Arial"/>
                        </a:rPr>
                        <a:t> for matched firms over three years — worst in hot years and for unprofitable issuers. (Ritter 1991; Loughran–Ritter 1995; Ibbotson–Jaffe 1975)</a:t>
                      </a:r>
                    </a:p>
                  </a:txBody>
                  <a:tcPr marL="82296" marR="91440" marT="36576" marB="36576" anchor="t">
                    <a:solidFill>
                      <a:srgbClr val="FFFFFF"/>
                    </a:solidFill>
                  </a:tcPr>
                </a:tc>
                <a:tc>
                  <a:txBody>
                    <a:bodyPr wrap="square"/>
                    <a:lstStyle/>
                    <a:p>
                      <a:r>
                        <a:rPr sz="830" b="0">
                          <a:solidFill>
                            <a:srgbClr val="0E1620"/>
                          </a:solidFill>
                          <a:latin typeface="Arial"/>
                        </a:rPr>
                        <a:t>2025–26 is the </a:t>
                      </a:r>
                      <a:r>
                        <a:rPr sz="830" b="1">
                          <a:solidFill>
                            <a:srgbClr val="314359"/>
                          </a:solidFill>
                          <a:latin typeface="Arial"/>
                        </a:rPr>
                        <a:t>most AI-concentrated IPO market on record</a:t>
                      </a:r>
                      <a:r>
                        <a:rPr sz="830" b="0">
                          <a:solidFill>
                            <a:srgbClr val="0E1620"/>
                          </a:solidFill>
                          <a:latin typeface="Arial"/>
                        </a:rPr>
                        <a:t>; SpaceX was the </a:t>
                      </a:r>
                      <a:r>
                        <a:rPr sz="830" b="1">
                          <a:solidFill>
                            <a:srgbClr val="314359"/>
                          </a:solidFill>
                          <a:latin typeface="Arial"/>
                        </a:rPr>
                        <a:t>largest IPO in history</a:t>
                      </a:r>
                      <a:r>
                        <a:rPr sz="830" b="0">
                          <a:solidFill>
                            <a:srgbClr val="0E1620"/>
                          </a:solidFill>
                          <a:latin typeface="Arial"/>
                        </a:rPr>
                        <a:t>, with OpenAI and Anthropic reportedly next.</a:t>
                      </a:r>
                    </a:p>
                  </a:txBody>
                  <a:tcPr marL="82296" marR="91440" marT="36576" marB="36576" anchor="t">
                    <a:solidFill>
                      <a:srgbClr val="FFFFFF"/>
                    </a:solidFill>
                  </a:tcPr>
                </a:tc>
              </a:tr>
              <a:tr h="274320">
                <a:tc>
                  <a:txBody>
                    <a:bodyPr wrap="square"/>
                    <a:lstStyle/>
                    <a:p>
                      <a:r>
                        <a:rPr sz="830" b="1">
                          <a:solidFill>
                            <a:srgbClr val="314359"/>
                          </a:solidFill>
                          <a:latin typeface="Arial"/>
                        </a:rPr>
                        <a:t>The dot-com template.</a:t>
                      </a:r>
                      <a:r>
                        <a:rPr sz="830" b="0">
                          <a:solidFill>
                            <a:srgbClr val="0E1620"/>
                          </a:solidFill>
                          <a:latin typeface="Arial"/>
                        </a:rPr>
                        <a:t> Internet stocks hit </a:t>
                      </a:r>
                      <a:r>
                        <a:rPr sz="830" b="1">
                          <a:solidFill>
                            <a:srgbClr val="314359"/>
                          </a:solidFill>
                          <a:latin typeface="Arial"/>
                        </a:rPr>
                        <a:t>~6% of US market value</a:t>
                      </a:r>
                      <a:r>
                        <a:rPr sz="830" b="0">
                          <a:solidFill>
                            <a:srgbClr val="0E1620"/>
                          </a:solidFill>
                          <a:latin typeface="Arial"/>
                        </a:rPr>
                        <a:t> on a sliver of the fundamentals, then crashed; arbitrage failed and the smart money rode it. (Ofek–Richardson 2003; Lamont–Thaler 2003; Brunnermeier–Nagel 2004)</a:t>
                      </a:r>
                    </a:p>
                  </a:txBody>
                  <a:tcPr marL="82296" marR="91440" marT="36576" marB="36576" anchor="t">
                    <a:solidFill>
                      <a:srgbClr val="F4F6F8"/>
                    </a:solidFill>
                  </a:tcPr>
                </a:tc>
                <a:tc>
                  <a:txBody>
                    <a:bodyPr wrap="square"/>
                    <a:lstStyle/>
                    <a:p>
                      <a:r>
                        <a:rPr sz="830" b="0">
                          <a:solidFill>
                            <a:srgbClr val="0E1620"/>
                          </a:solidFill>
                          <a:latin typeface="Arial"/>
                        </a:rPr>
                        <a:t>The </a:t>
                      </a:r>
                      <a:r>
                        <a:rPr sz="830" b="1">
                          <a:solidFill>
                            <a:srgbClr val="314359"/>
                          </a:solidFill>
                          <a:latin typeface="Arial"/>
                        </a:rPr>
                        <a:t>“Magnificent Seven” are ~35%</a:t>
                      </a:r>
                      <a:r>
                        <a:rPr sz="830" b="0">
                          <a:solidFill>
                            <a:srgbClr val="0E1620"/>
                          </a:solidFill>
                          <a:latin typeface="Arial"/>
                        </a:rPr>
                        <a:t> of the S&amp;P 500 (12% in 2015); the </a:t>
                      </a:r>
                      <a:r>
                        <a:rPr sz="830" b="1">
                          <a:solidFill>
                            <a:srgbClr val="314359"/>
                          </a:solidFill>
                          <a:latin typeface="Arial"/>
                        </a:rPr>
                        <a:t>Shiller CAPE is ~40</a:t>
                      </a:r>
                      <a:r>
                        <a:rPr sz="830" b="0">
                          <a:solidFill>
                            <a:srgbClr val="0E1620"/>
                          </a:solidFill>
                          <a:latin typeface="Arial"/>
                        </a:rPr>
                        <a:t> — near its 2000 record.</a:t>
                      </a:r>
                    </a:p>
                  </a:txBody>
                  <a:tcPr marL="82296" marR="91440" marT="36576" marB="36576" anchor="t">
                    <a:solidFill>
                      <a:srgbClr val="F4F6F8"/>
                    </a:solidFill>
                  </a:tcPr>
                </a:tc>
              </a:tr>
              <a:tr h="274320">
                <a:tc>
                  <a:txBody>
                    <a:bodyPr wrap="square"/>
                    <a:lstStyle/>
                    <a:p>
                      <a:r>
                        <a:rPr sz="830" b="1">
                          <a:solidFill>
                            <a:srgbClr val="314359"/>
                          </a:solidFill>
                          <a:latin typeface="Arial"/>
                        </a:rPr>
                        <a:t>Run-ups carry crash odds.</a:t>
                      </a:r>
                      <a:r>
                        <a:rPr sz="830" b="0">
                          <a:solidFill>
                            <a:srgbClr val="0E1620"/>
                          </a:solidFill>
                          <a:latin typeface="Arial"/>
                        </a:rPr>
                        <a:t> After an industry doubles in two years, a 40% crash follows </a:t>
                      </a:r>
                      <a:r>
                        <a:rPr sz="830" b="1">
                          <a:solidFill>
                            <a:srgbClr val="314359"/>
                          </a:solidFill>
                          <a:latin typeface="Arial"/>
                        </a:rPr>
                        <a:t>~53%</a:t>
                      </a:r>
                      <a:r>
                        <a:rPr sz="830" b="0">
                          <a:solidFill>
                            <a:srgbClr val="0E1620"/>
                          </a:solidFill>
                          <a:latin typeface="Arial"/>
                        </a:rPr>
                        <a:t> of the time (</a:t>
                      </a:r>
                      <a:r>
                        <a:rPr sz="830" b="1">
                          <a:solidFill>
                            <a:srgbClr val="314359"/>
                          </a:solidFill>
                          <a:latin typeface="Arial"/>
                        </a:rPr>
                        <a:t>~80%</a:t>
                      </a:r>
                      <a:r>
                        <a:rPr sz="830" b="0">
                          <a:solidFill>
                            <a:srgbClr val="0E1620"/>
                          </a:solidFill>
                          <a:latin typeface="Arial"/>
                        </a:rPr>
                        <a:t> after +150%); a high CAPE foreshadows weak long-run returns. (Greenwood–Shleifer–You 2019; Campbell–Shiller 1988)</a:t>
                      </a:r>
                    </a:p>
                  </a:txBody>
                  <a:tcPr marL="82296" marR="91440" marT="36576" marB="36576" anchor="t">
                    <a:solidFill>
                      <a:srgbClr val="FFFFFF"/>
                    </a:solidFill>
                  </a:tcPr>
                </a:tc>
                <a:tc>
                  <a:txBody>
                    <a:bodyPr wrap="square"/>
                    <a:lstStyle/>
                    <a:p>
                      <a:r>
                        <a:rPr sz="830" b="0">
                          <a:solidFill>
                            <a:srgbClr val="0E1620"/>
                          </a:solidFill>
                          <a:latin typeface="Arial"/>
                        </a:rPr>
                        <a:t>Leading AI names have </a:t>
                      </a:r>
                      <a:r>
                        <a:rPr sz="830" b="1">
                          <a:solidFill>
                            <a:srgbClr val="314359"/>
                          </a:solidFill>
                          <a:latin typeface="Arial"/>
                        </a:rPr>
                        <a:t>more than doubled in two years</a:t>
                      </a:r>
                      <a:r>
                        <a:rPr sz="830" b="0">
                          <a:solidFill>
                            <a:srgbClr val="0E1620"/>
                          </a:solidFill>
                          <a:latin typeface="Arial"/>
                        </a:rPr>
                        <a:t> — squarely in the range where crash probability passes one-in-two.</a:t>
                      </a:r>
                    </a:p>
                  </a:txBody>
                  <a:tcPr marL="82296" marR="91440" marT="36576" marB="36576" anchor="t">
                    <a:solidFill>
                      <a:srgbClr val="FFFFFF"/>
                    </a:solidFill>
                  </a:tcPr>
                </a:tc>
              </a:tr>
            </a:tbl>
          </a:graphicData>
        </a:graphic>
      </p:graphicFrame>
      <p:sp>
        <p:nvSpPr>
          <p:cNvPr id="11" name="Rectangle 10"/>
          <p:cNvSpPr/>
          <p:nvPr/>
        </p:nvSpPr>
        <p:spPr>
          <a:xfrm>
            <a:off x="438912" y="6035040"/>
            <a:ext cx="8878824" cy="566928"/>
          </a:xfrm>
          <a:prstGeom prst="rect">
            <a:avLst/>
          </a:prstGeom>
          <a:solidFill>
            <a:srgbClr val="1521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900" b="0">
                <a:solidFill>
                  <a:srgbClr val="FFFFFF"/>
                </a:solidFill>
                <a:latin typeface="Arial"/>
              </a:rPr>
              <a:t>None of this dates the top — bubbles persist precisely because rational investors ride them rather than fight them (Abreu–Brunnermeier 2003). It is the case for diversifying an index that has become a concentrated bet on the market's hardest-to-value assets into a strategy priced on </a:t>
            </a:r>
            <a:r>
              <a:rPr sz="900" b="1">
                <a:solidFill>
                  <a:srgbClr val="FFFFFF"/>
                </a:solidFill>
                <a:latin typeface="Arial"/>
              </a:rPr>
              <a:t>realised cash flows</a:t>
            </a:r>
            <a:r>
              <a:rPr sz="900" b="0">
                <a:solidFill>
                  <a:srgbClr val="FFFFFF"/>
                </a:solidFill>
                <a:latin typeface="Arial"/>
              </a:rPr>
              <a:t>.</a:t>
            </a:r>
          </a:p>
        </p:txBody>
      </p:sp>
      <p:sp>
        <p:nvSpPr>
          <p:cNvPr id="12" name="TextBox 11"/>
          <p:cNvSpPr txBox="1"/>
          <p:nvPr/>
        </p:nvSpPr>
        <p:spPr>
          <a:xfrm>
            <a:off x="512064" y="6656832"/>
            <a:ext cx="8778240" cy="274320"/>
          </a:xfrm>
          <a:prstGeom prst="rect">
            <a:avLst/>
          </a:prstGeom>
          <a:noFill/>
        </p:spPr>
        <p:txBody>
          <a:bodyPr wrap="square" lIns="0" rIns="0" tIns="0" bIns="0">
            <a:spAutoFit/>
          </a:bodyPr>
          <a:lstStyle/>
          <a:p>
            <a:r>
              <a:rPr sz="650" b="0">
                <a:solidFill>
                  <a:srgbClr val="8A939F"/>
                </a:solidFill>
                <a:latin typeface="Arial"/>
              </a:rPr>
              <a:t>Peer-reviewed citations on the following page. Company valuations are reported 2026 figures, including private rounds; some IPO details are press-reported and may be revised.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600" cy="7315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rk_dark.png"/>
          <p:cNvPicPr>
            <a:picLocks noChangeAspect="1"/>
          </p:cNvPicPr>
          <p:nvPr/>
        </p:nvPicPr>
        <p:blipFill>
          <a:blip r:embed="rId2"/>
          <a:stretch>
            <a:fillRect/>
          </a:stretch>
        </p:blipFill>
        <p:spPr>
          <a:xfrm>
            <a:off x="402346" y="234086"/>
            <a:ext cx="224012" cy="190199"/>
          </a:xfrm>
          <a:prstGeom prst="rect">
            <a:avLst/>
          </a:prstGeom>
        </p:spPr>
      </p:pic>
      <p:sp>
        <p:nvSpPr>
          <p:cNvPr id="4" name="TextBox 3"/>
          <p:cNvSpPr txBox="1"/>
          <p:nvPr/>
        </p:nvSpPr>
        <p:spPr>
          <a:xfrm>
            <a:off x="716907" y="263347"/>
            <a:ext cx="5120768" cy="292608"/>
          </a:xfrm>
          <a:prstGeom prst="rect">
            <a:avLst/>
          </a:prstGeom>
          <a:noFill/>
        </p:spPr>
        <p:txBody>
          <a:bodyPr wrap="square" lIns="0" tIns="0" rIns="0" bIns="0" anchor="t">
            <a:spAutoFit/>
          </a:bodyPr>
          <a:lstStyle/>
          <a:p>
            <a:pPr algn="l">
              <a:lnSpc>
                <a:spcPct val="110000"/>
              </a:lnSpc>
              <a:spcAft>
                <a:spcPts val="0"/>
              </a:spcAft>
            </a:pPr>
            <a:r>
              <a:rPr sz="880" b="0" i="0">
                <a:solidFill>
                  <a:srgbClr val="556A83"/>
                </a:solidFill>
                <a:latin typeface="Arial"/>
              </a:rPr>
              <a:t>Appendix</a:t>
            </a:r>
          </a:p>
        </p:txBody>
      </p:sp>
      <p:sp>
        <p:nvSpPr>
          <p:cNvPr id="6" name="Rectangle 5"/>
          <p:cNvSpPr/>
          <p:nvPr/>
        </p:nvSpPr>
        <p:spPr>
          <a:xfrm>
            <a:off x="0" y="604723"/>
            <a:ext cx="9753600" cy="141427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22" y="721766"/>
            <a:ext cx="8851613" cy="829056"/>
          </a:xfrm>
          <a:prstGeom prst="rect">
            <a:avLst/>
          </a:prstGeom>
          <a:noFill/>
        </p:spPr>
        <p:txBody>
          <a:bodyPr wrap="square" lIns="0" tIns="0" rIns="0" bIns="0" anchor="t">
            <a:spAutoFit/>
          </a:bodyPr>
          <a:lstStyle/>
          <a:p>
            <a:pPr algn="l">
              <a:lnSpc>
                <a:spcPct val="110000"/>
              </a:lnSpc>
              <a:spcAft>
                <a:spcPts val="200"/>
              </a:spcAft>
            </a:pPr>
            <a:r>
              <a:rPr sz="2400" b="0" i="0" spc="-90">
                <a:solidFill>
                  <a:srgbClr val="314359"/>
                </a:solidFill>
                <a:latin typeface="Times New Roman"/>
              </a:rPr>
              <a:t>Sources &amp; references</a:t>
            </a:r>
          </a:p>
        </p:txBody>
      </p:sp>
      <p:sp>
        <p:nvSpPr>
          <p:cNvPr id="8" name="TextBox 7"/>
          <p:cNvSpPr txBox="1"/>
          <p:nvPr/>
        </p:nvSpPr>
        <p:spPr>
          <a:xfrm>
            <a:off x="453553" y="1511808"/>
            <a:ext cx="8705305" cy="487680"/>
          </a:xfrm>
          <a:prstGeom prst="rect">
            <a:avLst/>
          </a:prstGeom>
          <a:noFill/>
        </p:spPr>
        <p:txBody>
          <a:bodyPr wrap="square" lIns="0" tIns="0" rIns="0" bIns="0" anchor="t">
            <a:spAutoFit/>
          </a:bodyPr>
          <a:lstStyle/>
          <a:p>
            <a:pPr algn="l">
              <a:lnSpc>
                <a:spcPct val="110000"/>
              </a:lnSpc>
              <a:spcAft>
                <a:spcPts val="0"/>
              </a:spcAft>
            </a:pPr>
            <a:r>
              <a:rPr sz="1040" b="0" i="1">
                <a:solidFill>
                  <a:srgbClr val="556A83"/>
                </a:solidFill>
                <a:latin typeface="Arial"/>
              </a:rPr>
              <a:t>Peer-reviewed studies underpinning the preceding analysis; market data and contemporary reporting.</a:t>
            </a:r>
          </a:p>
        </p:txBody>
      </p:sp>
      <p:sp>
        <p:nvSpPr>
          <p:cNvPr id="9" name="TextBox 8"/>
          <p:cNvSpPr txBox="1"/>
          <p:nvPr/>
        </p:nvSpPr>
        <p:spPr>
          <a:xfrm>
            <a:off x="6583844" y="6876288"/>
            <a:ext cx="2926153" cy="292608"/>
          </a:xfrm>
          <a:prstGeom prst="rect">
            <a:avLst/>
          </a:prstGeom>
          <a:noFill/>
        </p:spPr>
        <p:txBody>
          <a:bodyPr wrap="square" lIns="0" tIns="0" rIns="0" bIns="0" anchor="t">
            <a:spAutoFit/>
          </a:bodyPr>
          <a:lstStyle/>
          <a:p>
            <a:pPr algn="r">
              <a:lnSpc>
                <a:spcPct val="110000"/>
              </a:lnSpc>
              <a:spcAft>
                <a:spcPts val="0"/>
              </a:spcAft>
            </a:pPr>
            <a:r>
              <a:rPr sz="680" b="0" i="0">
                <a:solidFill>
                  <a:srgbClr val="556A83"/>
                </a:solidFill>
                <a:latin typeface="Arial"/>
              </a:rPr>
              <a:t>Strictly confidential          26</a:t>
            </a:r>
          </a:p>
        </p:txBody>
      </p:sp>
      <p:sp>
        <p:nvSpPr>
          <p:cNvPr id="10" name="Rectangle 9"/>
          <p:cNvSpPr/>
          <p:nvPr/>
        </p:nvSpPr>
        <p:spPr>
          <a:xfrm>
            <a:off x="5230368" y="2240280"/>
            <a:ext cx="10972" cy="40690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212848"/>
            <a:ext cx="4572000" cy="274320"/>
          </a:xfrm>
          <a:prstGeom prst="rect">
            <a:avLst/>
          </a:prstGeom>
          <a:noFill/>
        </p:spPr>
        <p:txBody>
          <a:bodyPr wrap="square" lIns="0" rIns="0" tIns="0" bIns="0">
            <a:spAutoFit/>
          </a:bodyPr>
          <a:lstStyle/>
          <a:p>
            <a:r>
              <a:rPr sz="900" b="1">
                <a:solidFill>
                  <a:srgbClr val="556A83"/>
                </a:solidFill>
                <a:latin typeface="Arial"/>
              </a:rPr>
              <a:t>PEER-REVIEWED STUDIES</a:t>
            </a:r>
          </a:p>
        </p:txBody>
      </p:sp>
      <p:sp>
        <p:nvSpPr>
          <p:cNvPr id="12" name="TextBox 11"/>
          <p:cNvSpPr txBox="1"/>
          <p:nvPr/>
        </p:nvSpPr>
        <p:spPr>
          <a:xfrm>
            <a:off x="5440680" y="2212848"/>
            <a:ext cx="3886200" cy="274320"/>
          </a:xfrm>
          <a:prstGeom prst="rect">
            <a:avLst/>
          </a:prstGeom>
          <a:noFill/>
        </p:spPr>
        <p:txBody>
          <a:bodyPr wrap="square" lIns="0" rIns="0" tIns="0" bIns="0">
            <a:spAutoFit/>
          </a:bodyPr>
          <a:lstStyle/>
          <a:p>
            <a:r>
              <a:rPr sz="900" b="1">
                <a:solidFill>
                  <a:srgbClr val="556A83"/>
                </a:solidFill>
                <a:latin typeface="Arial"/>
              </a:rPr>
              <a:t>BOOK  ·  MARKET DATA  ·  REPORTING</a:t>
            </a:r>
          </a:p>
        </p:txBody>
      </p:sp>
      <p:sp>
        <p:nvSpPr>
          <p:cNvPr id="13" name="TextBox 12"/>
          <p:cNvSpPr txBox="1"/>
          <p:nvPr/>
        </p:nvSpPr>
        <p:spPr>
          <a:xfrm>
            <a:off x="512064" y="2560320"/>
            <a:ext cx="4617720" cy="3840480"/>
          </a:xfrm>
          <a:prstGeom prst="rect">
            <a:avLst/>
          </a:prstGeom>
          <a:noFill/>
        </p:spPr>
        <p:txBody>
          <a:bodyPr wrap="square" lIns="0" rIns="0" tIns="0" bIns="0">
            <a:spAutoFit/>
          </a:bodyPr>
          <a:lstStyle/>
          <a:p>
            <a:pPr>
              <a:spcAft>
                <a:spcPts val="240"/>
              </a:spcAft>
            </a:pPr>
            <a:r>
              <a:rPr sz="740" b="1">
                <a:solidFill>
                  <a:srgbClr val="314359"/>
                </a:solidFill>
                <a:latin typeface="Arial"/>
              </a:rPr>
              <a:t>Miller, E. M. (1977).</a:t>
            </a:r>
            <a:r>
              <a:rPr sz="740" b="0">
                <a:solidFill>
                  <a:srgbClr val="0E1620"/>
                </a:solidFill>
                <a:latin typeface="Arial"/>
              </a:rPr>
              <a:t> Risk, Uncertainty, and Divergence of Opinion. Journal of Finance 32(4): 1151–1168.</a:t>
            </a:r>
          </a:p>
          <a:p>
            <a:pPr>
              <a:spcAft>
                <a:spcPts val="240"/>
              </a:spcAft>
            </a:pPr>
            <a:r>
              <a:rPr sz="740" b="1">
                <a:solidFill>
                  <a:srgbClr val="314359"/>
                </a:solidFill>
                <a:latin typeface="Arial"/>
              </a:rPr>
              <a:t>Scheinkman, J. A. &amp; Xiong, W. (2003).</a:t>
            </a:r>
            <a:r>
              <a:rPr sz="740" b="0">
                <a:solidFill>
                  <a:srgbClr val="0E1620"/>
                </a:solidFill>
                <a:latin typeface="Arial"/>
              </a:rPr>
              <a:t> Overconfidence and Speculative Bubbles. Journal of Political Economy 111(6): 1183–1219.</a:t>
            </a:r>
          </a:p>
          <a:p>
            <a:pPr>
              <a:spcAft>
                <a:spcPts val="240"/>
              </a:spcAft>
            </a:pPr>
            <a:r>
              <a:rPr sz="740" b="1">
                <a:solidFill>
                  <a:srgbClr val="314359"/>
                </a:solidFill>
                <a:latin typeface="Arial"/>
              </a:rPr>
              <a:t>Hong, H. &amp; Stein, J. C. (2007).</a:t>
            </a:r>
            <a:r>
              <a:rPr sz="740" b="0">
                <a:solidFill>
                  <a:srgbClr val="0E1620"/>
                </a:solidFill>
                <a:latin typeface="Arial"/>
              </a:rPr>
              <a:t> Disagreement and the Stock Market. Journal of Economic Perspectives 21(2): 109–128.</a:t>
            </a:r>
          </a:p>
          <a:p>
            <a:pPr>
              <a:spcAft>
                <a:spcPts val="240"/>
              </a:spcAft>
            </a:pPr>
            <a:r>
              <a:rPr sz="740" b="1">
                <a:solidFill>
                  <a:srgbClr val="314359"/>
                </a:solidFill>
                <a:latin typeface="Arial"/>
              </a:rPr>
              <a:t>Diether, K. B., Malloy, C. J. &amp; Scherbina, A. (2002).</a:t>
            </a:r>
            <a:r>
              <a:rPr sz="740" b="0">
                <a:solidFill>
                  <a:srgbClr val="0E1620"/>
                </a:solidFill>
                <a:latin typeface="Arial"/>
              </a:rPr>
              <a:t> Differences of Opinion and the Cross-Section of Stock Returns. Journal of Finance 57(5): 2113–2141.</a:t>
            </a:r>
          </a:p>
          <a:p>
            <a:pPr>
              <a:spcAft>
                <a:spcPts val="240"/>
              </a:spcAft>
            </a:pPr>
            <a:r>
              <a:rPr sz="740" b="1">
                <a:solidFill>
                  <a:srgbClr val="314359"/>
                </a:solidFill>
                <a:latin typeface="Arial"/>
              </a:rPr>
              <a:t>Pástor, Ľ. &amp; Veronesi, P. (2009).</a:t>
            </a:r>
            <a:r>
              <a:rPr sz="740" b="0">
                <a:solidFill>
                  <a:srgbClr val="0E1620"/>
                </a:solidFill>
                <a:latin typeface="Arial"/>
              </a:rPr>
              <a:t> Technological Revolutions and Stock Prices. American Economic Review 99(4): 1451–1483.</a:t>
            </a:r>
          </a:p>
          <a:p>
            <a:pPr>
              <a:spcAft>
                <a:spcPts val="240"/>
              </a:spcAft>
            </a:pPr>
            <a:r>
              <a:rPr sz="740" b="1">
                <a:solidFill>
                  <a:srgbClr val="314359"/>
                </a:solidFill>
                <a:latin typeface="Arial"/>
              </a:rPr>
              <a:t>Pástor, Ľ. &amp; Veronesi, P. (2006).</a:t>
            </a:r>
            <a:r>
              <a:rPr sz="740" b="0">
                <a:solidFill>
                  <a:srgbClr val="0E1620"/>
                </a:solidFill>
                <a:latin typeface="Arial"/>
              </a:rPr>
              <a:t> Was There a Nasdaq Bubble in the Late 1990s? Journal of Financial Economics 81(1): 61–100.</a:t>
            </a:r>
          </a:p>
          <a:p>
            <a:pPr>
              <a:spcAft>
                <a:spcPts val="240"/>
              </a:spcAft>
            </a:pPr>
            <a:r>
              <a:rPr sz="740" b="1">
                <a:solidFill>
                  <a:srgbClr val="314359"/>
                </a:solidFill>
                <a:latin typeface="Arial"/>
              </a:rPr>
              <a:t>Ofek, E. &amp; Richardson, M. (2003).</a:t>
            </a:r>
            <a:r>
              <a:rPr sz="740" b="0">
                <a:solidFill>
                  <a:srgbClr val="0E1620"/>
                </a:solidFill>
                <a:latin typeface="Arial"/>
              </a:rPr>
              <a:t> DotCom Mania: The Rise and Fall of Internet Stock Prices. Journal of Finance 58(3): 1113–1137.</a:t>
            </a:r>
          </a:p>
          <a:p>
            <a:pPr>
              <a:spcAft>
                <a:spcPts val="240"/>
              </a:spcAft>
            </a:pPr>
            <a:r>
              <a:rPr sz="740" b="1">
                <a:solidFill>
                  <a:srgbClr val="314359"/>
                </a:solidFill>
                <a:latin typeface="Arial"/>
              </a:rPr>
              <a:t>Lamont, O. A. &amp; Thaler, R. H. (2003).</a:t>
            </a:r>
            <a:r>
              <a:rPr sz="740" b="0">
                <a:solidFill>
                  <a:srgbClr val="0E1620"/>
                </a:solidFill>
                <a:latin typeface="Arial"/>
              </a:rPr>
              <a:t> Can the Market Add and Subtract? Journal of Political Economy 111(2): 227–268.</a:t>
            </a:r>
          </a:p>
          <a:p>
            <a:pPr>
              <a:spcAft>
                <a:spcPts val="240"/>
              </a:spcAft>
            </a:pPr>
            <a:r>
              <a:rPr sz="740" b="1">
                <a:solidFill>
                  <a:srgbClr val="314359"/>
                </a:solidFill>
                <a:latin typeface="Arial"/>
              </a:rPr>
              <a:t>Brunnermeier, M. K. &amp; Nagel, S. (2004).</a:t>
            </a:r>
            <a:r>
              <a:rPr sz="740" b="0">
                <a:solidFill>
                  <a:srgbClr val="0E1620"/>
                </a:solidFill>
                <a:latin typeface="Arial"/>
              </a:rPr>
              <a:t> Hedge Funds and the Technology Bubble. Journal of Finance 59(5): 2013–2040.</a:t>
            </a:r>
          </a:p>
          <a:p>
            <a:pPr>
              <a:spcAft>
                <a:spcPts val="240"/>
              </a:spcAft>
            </a:pPr>
            <a:r>
              <a:rPr sz="740" b="1">
                <a:solidFill>
                  <a:srgbClr val="314359"/>
                </a:solidFill>
                <a:latin typeface="Arial"/>
              </a:rPr>
              <a:t>Abreu, D. &amp; Brunnermeier, M. K. (2003).</a:t>
            </a:r>
            <a:r>
              <a:rPr sz="740" b="0">
                <a:solidFill>
                  <a:srgbClr val="0E1620"/>
                </a:solidFill>
                <a:latin typeface="Arial"/>
              </a:rPr>
              <a:t> Bubbles and Crashes. Econometrica 71(1): 173–204.</a:t>
            </a:r>
          </a:p>
          <a:p>
            <a:pPr>
              <a:spcAft>
                <a:spcPts val="240"/>
              </a:spcAft>
            </a:pPr>
            <a:r>
              <a:rPr sz="740" b="1">
                <a:solidFill>
                  <a:srgbClr val="314359"/>
                </a:solidFill>
                <a:latin typeface="Arial"/>
              </a:rPr>
              <a:t>Ritter, J. R. (1991).</a:t>
            </a:r>
            <a:r>
              <a:rPr sz="740" b="0">
                <a:solidFill>
                  <a:srgbClr val="0E1620"/>
                </a:solidFill>
                <a:latin typeface="Arial"/>
              </a:rPr>
              <a:t> The Long-Run Performance of Initial Public Offerings. Journal of Finance 46(1): 3–27.</a:t>
            </a:r>
          </a:p>
          <a:p>
            <a:pPr>
              <a:spcAft>
                <a:spcPts val="240"/>
              </a:spcAft>
            </a:pPr>
            <a:r>
              <a:rPr sz="740" b="1">
                <a:solidFill>
                  <a:srgbClr val="314359"/>
                </a:solidFill>
                <a:latin typeface="Arial"/>
              </a:rPr>
              <a:t>Loughran, T. &amp; Ritter, J. R. (1995).</a:t>
            </a:r>
            <a:r>
              <a:rPr sz="740" b="0">
                <a:solidFill>
                  <a:srgbClr val="0E1620"/>
                </a:solidFill>
                <a:latin typeface="Arial"/>
              </a:rPr>
              <a:t> The New Issues Puzzle. Journal of Finance 50(1): 23–51.</a:t>
            </a:r>
          </a:p>
          <a:p>
            <a:pPr>
              <a:spcAft>
                <a:spcPts val="240"/>
              </a:spcAft>
            </a:pPr>
            <a:r>
              <a:rPr sz="740" b="1">
                <a:solidFill>
                  <a:srgbClr val="314359"/>
                </a:solidFill>
                <a:latin typeface="Arial"/>
              </a:rPr>
              <a:t>Ritter, J. R. &amp; Welch, I. (2002).</a:t>
            </a:r>
            <a:r>
              <a:rPr sz="740" b="0">
                <a:solidFill>
                  <a:srgbClr val="0E1620"/>
                </a:solidFill>
                <a:latin typeface="Arial"/>
              </a:rPr>
              <a:t> A Review of IPO Activity, Pricing, and Allocations. Journal of Finance 57(4): 1795–1828.</a:t>
            </a:r>
          </a:p>
          <a:p>
            <a:pPr>
              <a:spcAft>
                <a:spcPts val="240"/>
              </a:spcAft>
            </a:pPr>
            <a:r>
              <a:rPr sz="740" b="1">
                <a:solidFill>
                  <a:srgbClr val="314359"/>
                </a:solidFill>
                <a:latin typeface="Arial"/>
              </a:rPr>
              <a:t>Ibbotson, R. G. &amp; Jaffe, J. F. (1975).</a:t>
            </a:r>
            <a:r>
              <a:rPr sz="740" b="0">
                <a:solidFill>
                  <a:srgbClr val="0E1620"/>
                </a:solidFill>
                <a:latin typeface="Arial"/>
              </a:rPr>
              <a:t> “Hot Issue” Markets. Journal of Finance 30(4): 1027–1042.</a:t>
            </a:r>
          </a:p>
          <a:p>
            <a:pPr>
              <a:spcAft>
                <a:spcPts val="240"/>
              </a:spcAft>
            </a:pPr>
            <a:r>
              <a:rPr sz="740" b="1">
                <a:solidFill>
                  <a:srgbClr val="314359"/>
                </a:solidFill>
                <a:latin typeface="Arial"/>
              </a:rPr>
              <a:t>Greenwood, R., Shleifer, A. &amp; You, Y. (2019).</a:t>
            </a:r>
            <a:r>
              <a:rPr sz="740" b="0">
                <a:solidFill>
                  <a:srgbClr val="0E1620"/>
                </a:solidFill>
                <a:latin typeface="Arial"/>
              </a:rPr>
              <a:t> Bubbles for Fama. Journal of Financial Economics 131(1): 20–43.</a:t>
            </a:r>
          </a:p>
          <a:p>
            <a:pPr>
              <a:spcAft>
                <a:spcPts val="240"/>
              </a:spcAft>
            </a:pPr>
            <a:r>
              <a:rPr sz="740" b="1">
                <a:solidFill>
                  <a:srgbClr val="314359"/>
                </a:solidFill>
                <a:latin typeface="Arial"/>
              </a:rPr>
              <a:t>Campbell, J. Y. &amp; Shiller, R. J. (1988).</a:t>
            </a:r>
            <a:r>
              <a:rPr sz="740" b="0">
                <a:solidFill>
                  <a:srgbClr val="0E1620"/>
                </a:solidFill>
                <a:latin typeface="Arial"/>
              </a:rPr>
              <a:t> Stock Prices, Earnings, and Expected Dividends. Journal of Finance 43(3): 661–676.</a:t>
            </a:r>
          </a:p>
        </p:txBody>
      </p:sp>
      <p:sp>
        <p:nvSpPr>
          <p:cNvPr id="14" name="TextBox 13"/>
          <p:cNvSpPr txBox="1"/>
          <p:nvPr/>
        </p:nvSpPr>
        <p:spPr>
          <a:xfrm>
            <a:off x="5440680" y="2560320"/>
            <a:ext cx="3886200" cy="3840480"/>
          </a:xfrm>
          <a:prstGeom prst="rect">
            <a:avLst/>
          </a:prstGeom>
          <a:noFill/>
        </p:spPr>
        <p:txBody>
          <a:bodyPr wrap="square" lIns="0" rIns="0" tIns="0" bIns="0">
            <a:spAutoFit/>
          </a:bodyPr>
          <a:lstStyle/>
          <a:p>
            <a:pPr>
              <a:spcAft>
                <a:spcPts val="200"/>
              </a:spcAft>
            </a:pPr>
            <a:r>
              <a:rPr sz="800" b="1">
                <a:solidFill>
                  <a:srgbClr val="314359"/>
                </a:solidFill>
                <a:latin typeface="Arial"/>
              </a:rPr>
              <a:t>BOOK</a:t>
            </a:r>
          </a:p>
          <a:p>
            <a:pPr>
              <a:spcAft>
                <a:spcPts val="260"/>
              </a:spcAft>
            </a:pPr>
          </a:p>
          <a:p>
            <a:pPr>
              <a:spcAft>
                <a:spcPts val="260"/>
              </a:spcAft>
            </a:pPr>
            <a:r>
              <a:rPr sz="760" b="1">
                <a:solidFill>
                  <a:srgbClr val="314359"/>
                </a:solidFill>
                <a:latin typeface="Arial"/>
              </a:rPr>
              <a:t>Shiller, R. J. (2000, rev. 2015).</a:t>
            </a:r>
            <a:r>
              <a:rPr sz="760" b="0">
                <a:solidFill>
                  <a:srgbClr val="0E1620"/>
                </a:solidFill>
                <a:latin typeface="Arial"/>
              </a:rPr>
              <a:t> Irrational Exuberance. Princeton University Press — not peer-reviewed.</a:t>
            </a:r>
          </a:p>
          <a:p>
            <a:pPr>
              <a:spcBef>
                <a:spcPts val="800"/>
              </a:spcBef>
              <a:spcAft>
                <a:spcPts val="200"/>
              </a:spcAft>
            </a:pPr>
            <a:r>
              <a:rPr sz="800" b="1">
                <a:solidFill>
                  <a:srgbClr val="314359"/>
                </a:solidFill>
                <a:latin typeface="Arial"/>
              </a:rPr>
              <a:t>MARKET DATA &amp; REPORTING · 2025–26</a:t>
            </a:r>
          </a:p>
          <a:p>
            <a:pPr>
              <a:spcAft>
                <a:spcPts val="260"/>
              </a:spcAft>
            </a:pPr>
            <a:r>
              <a:rPr sz="760" b="1">
                <a:solidFill>
                  <a:srgbClr val="314359"/>
                </a:solidFill>
                <a:latin typeface="Arial"/>
              </a:rPr>
              <a:t>Shiller CAPE (~40, 2026):</a:t>
            </a:r>
            <a:r>
              <a:rPr sz="760" b="0">
                <a:solidFill>
                  <a:srgbClr val="0E1620"/>
                </a:solidFill>
                <a:latin typeface="Arial"/>
              </a:rPr>
              <a:t> multpl.com; GuruFocus.</a:t>
            </a:r>
          </a:p>
          <a:p>
            <a:pPr>
              <a:spcAft>
                <a:spcPts val="260"/>
              </a:spcAft>
            </a:pPr>
            <a:r>
              <a:rPr sz="760" b="1">
                <a:solidFill>
                  <a:srgbClr val="314359"/>
                </a:solidFill>
                <a:latin typeface="Arial"/>
              </a:rPr>
              <a:t>“Magnificent Seven” ~35% of the S&amp;P 500 (2026):</a:t>
            </a:r>
            <a:r>
              <a:rPr sz="760" b="0">
                <a:solidFill>
                  <a:srgbClr val="0E1620"/>
                </a:solidFill>
                <a:latin typeface="Arial"/>
              </a:rPr>
              <a:t> S&amp;P; Motley Fool; MacroMicro.</a:t>
            </a:r>
          </a:p>
          <a:p>
            <a:pPr>
              <a:spcAft>
                <a:spcPts val="260"/>
              </a:spcAft>
            </a:pPr>
            <a:r>
              <a:rPr sz="760" b="1">
                <a:solidFill>
                  <a:srgbClr val="314359"/>
                </a:solidFill>
                <a:latin typeface="Arial"/>
              </a:rPr>
              <a:t>Global / US IPO activity (2025–26):</a:t>
            </a:r>
            <a:r>
              <a:rPr sz="760" b="0">
                <a:solidFill>
                  <a:srgbClr val="0E1620"/>
                </a:solidFill>
                <a:latin typeface="Arial"/>
              </a:rPr>
              <a:t> Cleary Gottlieb, Global IPO Trends.</a:t>
            </a:r>
          </a:p>
          <a:p>
            <a:pPr>
              <a:spcAft>
                <a:spcPts val="260"/>
              </a:spcAft>
            </a:pPr>
            <a:r>
              <a:rPr sz="760" b="1">
                <a:solidFill>
                  <a:srgbClr val="314359"/>
                </a:solidFill>
                <a:latin typeface="Arial"/>
              </a:rPr>
              <a:t>SpaceX IPO (Jun 2026, reported ~$1.8tn):</a:t>
            </a:r>
            <a:r>
              <a:rPr sz="760" b="0">
                <a:solidFill>
                  <a:srgbClr val="0E1620"/>
                </a:solidFill>
                <a:latin typeface="Arial"/>
              </a:rPr>
              <a:t> NPR; CNBC.</a:t>
            </a:r>
          </a:p>
          <a:p>
            <a:pPr>
              <a:spcAft>
                <a:spcPts val="260"/>
              </a:spcAft>
            </a:pPr>
            <a:r>
              <a:rPr sz="760" b="1">
                <a:solidFill>
                  <a:srgbClr val="314359"/>
                </a:solidFill>
                <a:latin typeface="Arial"/>
              </a:rPr>
              <a:t>OpenAI &amp; Anthropic private valuations (2026):</a:t>
            </a:r>
            <a:r>
              <a:rPr sz="760" b="0">
                <a:solidFill>
                  <a:srgbClr val="0E1620"/>
                </a:solidFill>
                <a:latin typeface="Arial"/>
              </a:rPr>
              <a:t> company releases; CNBC; WSJ.</a:t>
            </a:r>
          </a:p>
          <a:p>
            <a:pPr>
              <a:spcAft>
                <a:spcPts val="260"/>
              </a:spcAft>
            </a:pPr>
            <a:r>
              <a:rPr sz="760" b="1">
                <a:solidFill>
                  <a:srgbClr val="314359"/>
                </a:solidFill>
                <a:latin typeface="Arial"/>
              </a:rPr>
              <a:t>IMF &amp; Bank of England AI-valuation warnings (Oct 2025):</a:t>
            </a:r>
            <a:r>
              <a:rPr sz="760" b="0">
                <a:solidFill>
                  <a:srgbClr val="0E1620"/>
                </a:solidFill>
                <a:latin typeface="Arial"/>
              </a:rPr>
              <a:t> CNBC.</a:t>
            </a:r>
          </a:p>
        </p:txBody>
      </p:sp>
      <p:sp>
        <p:nvSpPr>
          <p:cNvPr id="15" name="TextBox 14"/>
          <p:cNvSpPr txBox="1"/>
          <p:nvPr/>
        </p:nvSpPr>
        <p:spPr>
          <a:xfrm>
            <a:off x="512064" y="6492240"/>
            <a:ext cx="8778240" cy="365760"/>
          </a:xfrm>
          <a:prstGeom prst="rect">
            <a:avLst/>
          </a:prstGeom>
          <a:noFill/>
        </p:spPr>
        <p:txBody>
          <a:bodyPr wrap="square" lIns="0" rIns="0" tIns="0" bIns="0">
            <a:spAutoFit/>
          </a:bodyPr>
          <a:lstStyle/>
          <a:p>
            <a:r>
              <a:rPr sz="630" b="0">
                <a:solidFill>
                  <a:srgbClr val="8A939F"/>
                </a:solidFill>
                <a:latin typeface="Arial"/>
              </a:rPr>
              <a:t>Peer-reviewed journal articles unless marked. Contemporary valuations are reported/press figures (2026), including private funding rounds, and may be revised; full URLs available on request.</a:t>
            </a:r>
          </a:p>
        </p:txBody>
      </p:sp>
    </p:spTree>
  </p:cSld>
  <p:clrMapOvr>
    <a:masterClrMapping/>
  </p:clrMapOvr>
</p:sld>
</file>

<file path=ppt/theme/theme1.xml><?xml version="1.0" encoding="utf-8"?>
<a:theme xmlns:a="http://schemas.openxmlformats.org/drawingml/2006/main" name="Office Theme">
  <a:themeElements>
    <a:clrScheme name="Office">
      <a:dk1>
        <a:srgbClr val="152130"/>
      </a:dk1>
      <a:lt1>
        <a:srgbClr val="FFFFFF"/>
      </a:lt1>
      <a:dk2>
        <a:srgbClr val="0E1620"/>
      </a:dk2>
      <a:lt2>
        <a:srgbClr val="F6F7F9"/>
      </a:lt2>
      <a:accent1>
        <a:srgbClr val="152130"/>
      </a:accent1>
      <a:accent2>
        <a:srgbClr val="314359"/>
      </a:accent2>
      <a:accent3>
        <a:srgbClr val="556A83"/>
      </a:accent3>
      <a:accent4>
        <a:srgbClr val="0E1620"/>
      </a:accent4>
      <a:accent5>
        <a:srgbClr val="E2E5E9"/>
      </a:accent5>
      <a:accent6>
        <a:srgbClr val="F6F7F9"/>
      </a:accent6>
      <a:hlink>
        <a:srgbClr val="314359"/>
      </a:hlink>
      <a:folHlink>
        <a:srgbClr val="556A83"/>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27318a-0826-4810-8988-cc3e5c2e3a20">
      <Terms xmlns="http://schemas.microsoft.com/office/infopath/2007/PartnerControls"/>
    </lcf76f155ced4ddcb4097134ff3c332f>
    <TaxCatchAll xmlns="4124b31e-6573-4802-b7ef-311f4d26277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6310709CD82A6741BE5E8B9BFA41D3C0" ma:contentTypeVersion="13" ma:contentTypeDescription="Skapa ett nytt dokument." ma:contentTypeScope="" ma:versionID="ea70554b132df1325a42697029f21ce4">
  <xsd:schema xmlns:xsd="http://www.w3.org/2001/XMLSchema" xmlns:xs="http://www.w3.org/2001/XMLSchema" xmlns:p="http://schemas.microsoft.com/office/2006/metadata/properties" xmlns:ns2="5e27318a-0826-4810-8988-cc3e5c2e3a20" xmlns:ns3="4124b31e-6573-4802-b7ef-311f4d26277d" targetNamespace="http://schemas.microsoft.com/office/2006/metadata/properties" ma:root="true" ma:fieldsID="cc21193230fc81558174baefa7095284" ns2:_="" ns3:_="">
    <xsd:import namespace="5e27318a-0826-4810-8988-cc3e5c2e3a20"/>
    <xsd:import namespace="4124b31e-6573-4802-b7ef-311f4d2627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27318a-0826-4810-8988-cc3e5c2e3a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ildmarkeringar" ma:readOnly="false" ma:fieldId="{5cf76f15-5ced-4ddc-b409-7134ff3c332f}" ma:taxonomyMulti="true" ma:sspId="7f99c0e0-a277-4309-9e70-fff5b915cc5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24b31e-6573-4802-b7ef-311f4d26277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70a8ef-2ce6-4f9b-a60c-abb7e201e7ac}" ma:internalName="TaxCatchAll" ma:showField="CatchAllData" ma:web="4124b31e-6573-4802-b7ef-311f4d2627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9CEDA-D96E-4DE0-BD69-05CF6CA08BCA}">
  <ds:schemaRefs>
    <ds:schemaRef ds:uri="http://schemas.microsoft.com/office/2006/metadata/properties"/>
    <ds:schemaRef ds:uri="http://schemas.microsoft.com/office/infopath/2007/PartnerControls"/>
    <ds:schemaRef ds:uri="5e27318a-0826-4810-8988-cc3e5c2e3a20"/>
    <ds:schemaRef ds:uri="4124b31e-6573-4802-b7ef-311f4d26277d"/>
  </ds:schemaRefs>
</ds:datastoreItem>
</file>

<file path=customXml/itemProps2.xml><?xml version="1.0" encoding="utf-8"?>
<ds:datastoreItem xmlns:ds="http://schemas.openxmlformats.org/officeDocument/2006/customXml" ds:itemID="{2B94E596-B65B-4BD7-8F65-8C8EB76BBAFF}">
  <ds:schemaRefs>
    <ds:schemaRef ds:uri="http://schemas.microsoft.com/sharepoint/v3/contenttype/forms"/>
  </ds:schemaRefs>
</ds:datastoreItem>
</file>

<file path=customXml/itemProps3.xml><?xml version="1.0" encoding="utf-8"?>
<ds:datastoreItem xmlns:ds="http://schemas.openxmlformats.org/officeDocument/2006/customXml" ds:itemID="{E9B4E500-B9BC-47AF-8F6B-49D89CFF5B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27318a-0826-4810-8988-cc3e5c2e3a20"/>
    <ds:schemaRef ds:uri="4124b31e-6573-4802-b7ef-311f4d2627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TotalTime>
  <Words>4505</Words>
  <Application>Microsoft Office PowerPoint</Application>
  <PresentationFormat>Custom</PresentationFormat>
  <Paragraphs>433</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Investment Trust Proposal</dc:title>
  <dc:subject/>
  <dc:creator/>
  <cp:keywords/>
  <dc:description>generated using python-pptx</dc:description>
  <cp:lastModifiedBy>Stefan Charette</cp:lastModifiedBy>
  <cp:revision>1</cp:revision>
  <dcterms:created xsi:type="dcterms:W3CDTF">2013-01-27T09:14:16Z</dcterms:created>
  <dcterms:modified xsi:type="dcterms:W3CDTF">2026-06-09T15:02:21Z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0x0101006310709CD82A6741BE5E8B9BFA41D3C0</vt:lpwstr>
  </property>
</Properties>
</file>