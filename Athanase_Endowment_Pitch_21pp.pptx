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7"/>
  </p:notesMasterIdLst>
  <p:sldIdLst>
    <p:sldId id="256" r:id="rId5"/>
    <p:sldId id="343" r:id="rId34"/>
    <p:sldId id="260" r:id="rId6"/>
    <p:sldId id="263" r:id="rId7"/>
    <p:sldId id="267" r:id="rId8"/>
    <p:sldId id="284" r:id="rId9"/>
    <p:sldId id="271" r:id="rId10"/>
    <p:sldId id="341" r:id="rId11"/>
    <p:sldId id="342" r:id="rId12"/>
    <p:sldId id="278" r:id="rId13"/>
    <p:sldId id="339" r:id="rId14"/>
    <p:sldId id="279" r:id="rId15"/>
    <p:sldId id="340" r:id="rId16"/>
    <p:sldId id="285" r:id="rId17"/>
    <p:sldId id="282" r:id="rId18"/>
    <p:sldId id="327" r:id="rId20"/>
    <p:sldId id="330" r:id="rId21"/>
    <p:sldId id="326" r:id="rId22"/>
    <p:sldId id="325" r:id="rId23"/>
    <p:sldId id="329" r:id="rId24"/>
    <p:sldId id="321" r:id="rId26"/>
  </p:sldIdLst>
  <p:sldSz cx="9753600" cy="7315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CFD312-D45A-4B19-8463-6466AF1AAD16}" v="3" dt="2026-06-09T15:02:11.7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80" y="4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6/11/relationships/changesInfo" Target="changesInfos/changesInfo1.xml"/><Relationship Id="rId33" Type="http://schemas.microsoft.com/office/2015/10/relationships/revisionInfo" Target="revisionInfo.xml"/><Relationship Id="rId34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fan Charette" userId="0db9b4c6-585a-4616-ab53-47ba82066cad" providerId="ADAL" clId="{42E455C0-5321-4BA4-9654-3C8921CE5DA4}"/>
    <pc:docChg chg="custSel addSld modSld">
      <pc:chgData name="Stefan Charette" userId="0db9b4c6-585a-4616-ab53-47ba82066cad" providerId="ADAL" clId="{42E455C0-5321-4BA4-9654-3C8921CE5DA4}" dt="2026-06-09T15:02:11.765" v="341"/>
      <pc:docMkLst>
        <pc:docMk/>
      </pc:docMkLst>
      <pc:sldChg chg="delSp modSp mod">
        <pc:chgData name="Stefan Charette" userId="0db9b4c6-585a-4616-ab53-47ba82066cad" providerId="ADAL" clId="{42E455C0-5321-4BA4-9654-3C8921CE5DA4}" dt="2026-06-09T10:30:30.470" v="340" actId="478"/>
        <pc:sldMkLst>
          <pc:docMk/>
          <pc:sldMk cId="0" sldId="256"/>
        </pc:sldMkLst>
        <pc:spChg chg="mod">
          <ac:chgData name="Stefan Charette" userId="0db9b4c6-585a-4616-ab53-47ba82066cad" providerId="ADAL" clId="{42E455C0-5321-4BA4-9654-3C8921CE5DA4}" dt="2026-06-09T10:30:25.904" v="339" actId="20577"/>
          <ac:spMkLst>
            <pc:docMk/>
            <pc:sldMk cId="0" sldId="256"/>
            <ac:spMk id="5" creationId="{00000000-0000-0000-0000-000000000000}"/>
          </ac:spMkLst>
        </pc:spChg>
        <pc:spChg chg="del">
          <ac:chgData name="Stefan Charette" userId="0db9b4c6-585a-4616-ab53-47ba82066cad" providerId="ADAL" clId="{42E455C0-5321-4BA4-9654-3C8921CE5DA4}" dt="2026-06-09T10:30:30.470" v="340" actId="478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12.051" v="23" actId="20577"/>
        <pc:sldMkLst>
          <pc:docMk/>
          <pc:sldMk cId="0" sldId="268"/>
        </pc:sldMkLst>
        <pc:spChg chg="mod">
          <ac:chgData name="Stefan Charette" userId="0db9b4c6-585a-4616-ab53-47ba82066cad" providerId="ADAL" clId="{42E455C0-5321-4BA4-9654-3C8921CE5DA4}" dt="2026-06-09T08:13:12.051" v="23" actId="20577"/>
          <ac:spMkLst>
            <pc:docMk/>
            <pc:sldMk cId="0" sldId="268"/>
            <ac:spMk id="8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34.859" v="41" actId="20577"/>
        <pc:sldMkLst>
          <pc:docMk/>
          <pc:sldMk cId="0" sldId="269"/>
        </pc:sldMkLst>
        <pc:spChg chg="mod">
          <ac:chgData name="Stefan Charette" userId="0db9b4c6-585a-4616-ab53-47ba82066cad" providerId="ADAL" clId="{42E455C0-5321-4BA4-9654-3C8921CE5DA4}" dt="2026-06-09T08:13:34.859" v="41" actId="20577"/>
          <ac:spMkLst>
            <pc:docMk/>
            <pc:sldMk cId="0" sldId="269"/>
            <ac:spMk id="8" creationId="{00000000-0000-0000-0000-000000000000}"/>
          </ac:spMkLst>
        </pc:spChg>
      </pc:sldChg>
      <pc:sldChg chg="add">
        <pc:chgData name="Stefan Charette" userId="0db9b4c6-585a-4616-ab53-47ba82066cad" providerId="ADAL" clId="{42E455C0-5321-4BA4-9654-3C8921CE5DA4}" dt="2026-06-09T15:02:11.765" v="341"/>
        <pc:sldMkLst>
          <pc:docMk/>
          <pc:sldMk cId="0" sldId="330"/>
        </pc:sldMkLst>
      </pc:sldChg>
      <pc:sldChg chg="modSp mod">
        <pc:chgData name="Stefan Charette" userId="0db9b4c6-585a-4616-ab53-47ba82066cad" providerId="ADAL" clId="{42E455C0-5321-4BA4-9654-3C8921CE5DA4}" dt="2026-06-09T10:29:33.258" v="301" actId="20577"/>
        <pc:sldMkLst>
          <pc:docMk/>
          <pc:sldMk cId="0" sldId="339"/>
        </pc:sldMkLst>
        <pc:spChg chg="mod">
          <ac:chgData name="Stefan Charette" userId="0db9b4c6-585a-4616-ab53-47ba82066cad" providerId="ADAL" clId="{42E455C0-5321-4BA4-9654-3C8921CE5DA4}" dt="2026-06-09T10:29:33.258" v="301" actId="20577"/>
          <ac:spMkLst>
            <pc:docMk/>
            <pc:sldMk cId="0" sldId="339"/>
            <ac:spMk id="20" creationId="{00000000-0000-0000-0000-000000000000}"/>
          </ac:spMkLst>
        </pc:spChg>
        <pc:spChg chg="mod">
          <ac:chgData name="Stefan Charette" userId="0db9b4c6-585a-4616-ab53-47ba82066cad" providerId="ADAL" clId="{42E455C0-5321-4BA4-9654-3C8921CE5DA4}" dt="2026-06-09T10:29:20.676" v="300" actId="20577"/>
          <ac:spMkLst>
            <pc:docMk/>
            <pc:sldMk cId="0" sldId="339"/>
            <ac:spMk id="24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121-44FE-B2F6-B09CBC8BB4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6E-4765-9E38-E47A72446D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6E-4765-9E38-E47A72446DD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096E-4765-9E38-E47A72446D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6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/>
          </a:pPr>
          <a:endParaRPr lang="sv-SE"/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697395-2D59-4227-B53D-BB43A6595B5E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8C4698-2B99-4D89-860A-947FB27451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085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8C4698-2B99-4D89-860A-947FB274513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875954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9471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en-GB" sz="3360" spc="-126" dirty="0">
                <a:solidFill>
                  <a:srgbClr val="FFFFFF"/>
                </a:solidFill>
                <a:latin typeface="Times New Roman"/>
              </a:rPr>
              <a:t>Don’t bet your wealth</a:t>
            </a:r>
            <a:endParaRPr sz="3360" b="0" i="0" spc="-126" dirty="0">
              <a:solidFill>
                <a:srgbClr val="FFFFFF"/>
              </a:solidFill>
              <a:latin typeface="Times New Roman"/>
            </a:endParaRPr>
            <a:br/>
            <a:r>
              <a:rPr lang="en-GB" sz="3360" spc="-126" dirty="0">
                <a:solidFill>
                  <a:srgbClr val="FFFFFF"/>
                </a:solidFill>
                <a:latin typeface="Times New Roman"/>
              </a:rPr>
              <a:t>on a handful of AI stocks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GB" sz="1920" b="0" i="1" spc="-72" dirty="0">
                <a:solidFill>
                  <a:srgbClr val="E2E5E9"/>
                </a:solidFill>
                <a:latin typeface="Times New Roman"/>
              </a:rPr>
              <a:t>June 2026</a:t>
            </a:r>
            <a:endParaRPr sz="1920" b="0" i="1" spc="-72" dirty="0">
              <a:solidFill>
                <a:srgbClr val="E2E5E9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Table of 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The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The inefficiency Athanase harvests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mid-caps are more often mispriced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Why this opportunity isn’t arbitraged away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/>
            </a:r>
            <a:r>
              <a:rPr sz="800">
                <a:solidFill>
                  <a:srgbClr val="314359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Athanase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Why Athanase is best built to capture it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Operators and investors in one team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We buy hidden cores, not broken companies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The ownership playbook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III  ·  Your portfolio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A complement to global equities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Built for down markets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18   </a:t>
            </a:r>
            <a:r>
              <a:rPr sz="800">
                <a:solidFill>
                  <a:srgbClr val="314359"/>
                </a:solidFill>
                <a:latin typeface="Arial"/>
              </a:rPr>
              <a:t>Lower downside risk compounds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19   </a:t>
            </a:r>
            <a:r>
              <a:rPr sz="800">
                <a:solidFill>
                  <a:srgbClr val="314359"/>
                </a:solidFill>
                <a:latin typeface="Arial"/>
              </a:rPr>
              <a:t>What it does to your portfolio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20   </a:t>
            </a:r>
            <a:r>
              <a:rPr sz="800">
                <a:solidFill>
                  <a:srgbClr val="314359"/>
                </a:solidFill>
                <a:latin typeface="Arial"/>
              </a:rPr>
              <a:t>What a blend does to the whole portfolio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/>
            </a:r>
            <a:r>
              <a:rPr sz="800">
                <a:solidFill>
                  <a:srgbClr val="314359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Appendix  ·  Track record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21   </a:t>
            </a:r>
            <a:r>
              <a:rPr sz="800">
                <a:solidFill>
                  <a:srgbClr val="314359"/>
                </a:solidFill>
                <a:latin typeface="Arial"/>
              </a:rPr>
              <a:t>Independently validated: 20 years, net of fees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p.3).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10×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mid-caps are more often mispriced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companies that are easiest to improve are also the most likely to be mispriced — three structural features of the mid-market leave more value on the 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Thin analyst coverage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Far fewer sell-side analysts follow a mid-cap than a mega-cap, and many have little or no coverage at all. Less information reaches the market, so price discovery is slower and the gap between price and intrinsic value persists for longer.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Fewer sophisticated investors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segment is too small to move the needle for the largest institutions, so it is under-owned by the most resourced investors. Pricing is set at the margin by less-informed holders — leaving more frequent, and larger, mispricings.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Higher earnings volatility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Mid-caps’ earnings swing more than large caps’ — they are less diversified and earlier in their growth. The market over-extrapolates each swing, over-punishing a soft quarter and widening the discount to an otherwise durable core.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Less coverage, fewer expert owners and lumpier earnings mean mid-caps are mispriced more often and by more — a deeper opportunity set of low-risk entry points for a disciplined engaged owner.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this opportunity isn’t arbitraged 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is hard, uncomfortable and off-mandate for most investors — so the crowd stays away and the inefficiency is never competed out. Four barriers keep the lane open.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Fear keeps the crowd on the sidelines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Most investors avoid a company while it is underperforming and wait for the turn — buying back only once results visibly improve, and the price with them. We do the opposite: we buy at the point of maximum doubt and create the improvement ourselves.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skill bar is genuinely high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It takes three things at once — operating credibility, deep investment experience, and the psychological strength to convince a board and fellow shareholders you are right. Few managers have all three, so few can even attempt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Career risk — and the wrong mandate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Voicing a public or private view on what a company must do carries real career risk; the typical, risk-averse equity manager would rather stay quiet. And most funds have no mandate to engage at all — they simply vote with their feet and sell.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They misread the discount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crowd assumes a cheap, troubled company is even worse than it looks — and is often right. We play a different game: we buy good businesses hidden inside a poorly-run structure — quality at a discount, not a value trap.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Each barrier filters out the typical manager; together they keep the opportunity uncrowded — and clearing all four at once is exactly what our combination of operating and investing experience is built to 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Why Athanase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Athanase is the firm best built to capture this inefficiency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Harvesting this mispricing takes four capabilities at once — find the hidden core, win real control, fix it from the boardroom, and prove it repeats. Few managers have one; we have built all four.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We find what others miss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proprietary universe</a:t>
            </a:r>
            <a:r>
              <a:rPr sz="720">
                <a:solidFill>
                  <a:srgbClr val="0E1620"/>
                </a:solidFill>
                <a:latin typeface="Arial"/>
              </a:rPr>
              <a:t> — ~60,000 companies restated to economic reality, separating the profitable core from the value-destroying pivot.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Moat- and CEO-scored</a:t>
            </a:r>
            <a:r>
              <a:rPr sz="720">
                <a:solidFill>
                  <a:srgbClr val="0E1620"/>
                </a:solidFill>
                <a:latin typeface="Arial"/>
              </a:rPr>
              <a:t> — ~20,000 names ranked; about 1 in 1,000 screened is ever bought.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Hidden cores, not broken companies</a:t>
            </a:r>
            <a:r>
              <a:rPr sz="720">
                <a:solidFill>
                  <a:srgbClr val="0E1620"/>
                </a:solidFill>
                <a:latin typeface="Arial"/>
              </a:rPr>
              <a:t> — market leaders attractive even if we change nothing — no adverse selection.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We can actually change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operator’s edge, not an analyst’s</a:t>
            </a:r>
            <a:r>
              <a:rPr sz="720">
                <a:solidFill>
                  <a:srgbClr val="0E1620"/>
                </a:solidFill>
                <a:latin typeface="Arial"/>
              </a:rPr>
              <a:t> — one integrated team for 20 years; 30+ public board seats; former CEOs and CIOs.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Control from the boardroom</a:t>
            </a:r>
            <a:r>
              <a:rPr sz="720">
                <a:solidFill>
                  <a:srgbClr val="0E1620"/>
                </a:solidFill>
                <a:latin typeface="Arial"/>
              </a:rPr>
              <a:t> — the experience to fix capital allocation, M&amp;A and focus — not merely to advise.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edge AI cannot replicate</a:t>
            </a:r>
            <a:r>
              <a:rPr sz="720">
                <a:solidFill>
                  <a:srgbClr val="0E1620"/>
                </a:solidFill>
                <a:latin typeface="Arial"/>
              </a:rPr>
              <a:t> — access, influence and execution, not reading public data faster.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We own the lane others abandoned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811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The mid-market sweet spot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€50m–€3bn, where a single board seat genuinely moves the outcome.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Uncontested by the giants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mega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>-</a:t>
            </a:r>
            <a:r>
              <a:rPr sz="720" dirty="0">
                <a:solidFill>
                  <a:srgbClr val="0E1620"/>
                </a:solidFill>
                <a:latin typeface="Arial"/>
              </a:rPr>
              <a:t>cap activists left it behind as they scaled: high return, low competition.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Control by agreement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invest only after securing agreement on board engagement with the other shareholders.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/>
            </a: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And we have proven it repeats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74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1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9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% net p.a., capital grown 18×*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, </a:t>
            </a:r>
            <a:r>
              <a:rPr lang="en-US" sz="700" b="1" dirty="0">
                <a:solidFill>
                  <a:srgbClr val="314359"/>
                </a:solidFill>
              </a:rPr>
              <a:t>7% worst-entry record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through two full market cycles, net of every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92% deal-level hit rate (35 of 38)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a 5× MOIC roughly every two years: skill, not luck.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93% up / 43% down capture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harvest the inefficiency and protect the downside.</a:t>
            </a:r>
            <a:endParaRPr lang="en-GB" sz="720" dirty="0">
              <a:solidFill>
                <a:srgbClr val="0E1620"/>
              </a:solidFill>
              <a:latin typeface="Arial"/>
            </a:endParaRP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48640" y="6748272"/>
            <a:ext cx="5943600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r>
              <a:rPr sz="720">
                <a:solidFill>
                  <a:srgbClr val="556A83"/>
                </a:solidFill>
                <a:latin typeface="Arial"/>
              </a:rPr>
              <a:t>*18× = cumulative growth of capital since inception (2006) — not an annual or average figure.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Our 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Operators and investors in one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rare combination behind our model: we have run real companies as chief executives — industrial conglomerates, consumer durables and services — and invested with this exact playbook, driving operating change from the boardroom, for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run the companies, not just modelled them.</a:t>
            </a:r>
            <a:r>
              <a:rPr sz="1160">
                <a:solidFill>
                  <a:srgbClr val="0E1620"/>
                </a:solidFill>
                <a:latin typeface="Arial"/>
              </a:rPr>
              <a:t>  Former CEOs and senior operators of industrial, consumer-durables and services businesses — we have sat in the chief executive’s seat and lived the operational “how”.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invested this way for two decades.</a:t>
            </a:r>
            <a:r>
              <a:rPr sz="1160">
                <a:solidFill>
                  <a:srgbClr val="0E1620"/>
                </a:solidFill>
                <a:latin typeface="Arial"/>
              </a:rPr>
              <a:t>  38 companies owned and 30+ public board seats — value created by operating change through board representation, the heart of our model.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The combination is the edge.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mispriced value and a C-suite operating lens to realise it — few managers have genuinely done both.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 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WHY THE EARNINGS LOOK LIKE ZERO  (ILLUSTRATIVE)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Reported earnings near zero — so the market prices the whole company as broken. We buy it, fix or exit the pivot, and the core’s high-ROIIC earnings surface: value we underwrite at zero.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07884" y="3218688"/>
            <a:ext cx="14630" cy="23774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77356" y="3456432"/>
            <a:ext cx="2075688" cy="1463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0040" y="3456432"/>
            <a:ext cx="14630" cy="1828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45728" y="3456432"/>
            <a:ext cx="14630" cy="1828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63640" y="2670048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Company X</a:t>
            </a:r>
          </a:p>
          <a:p>
            <a:pPr algn="ctr"/>
            <a:r>
              <a:rPr sz="850" b="0">
                <a:solidFill>
                  <a:srgbClr val="C9D2DD"/>
                </a:solidFill>
                <a:latin typeface="Arial"/>
              </a:rPr>
              <a:t>central overhead  −10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0096" y="3639312"/>
            <a:ext cx="1874519" cy="731520"/>
          </a:xfrm>
          <a:prstGeom prst="roundRect">
            <a:avLst>
              <a:gd name="adj" fmla="val 10000"/>
            </a:avLst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Core business    +30</a:t>
            </a:r>
          </a:p>
          <a:p>
            <a:pPr algn="ctr"/>
            <a:r>
              <a:rPr sz="830" b="0">
                <a:solidFill>
                  <a:srgbClr val="C9D2DD"/>
                </a:solidFill>
                <a:latin typeface="Arial"/>
              </a:rPr>
              <a:t>high ROIIC · strong prospects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15783" y="3639312"/>
            <a:ext cx="1874519" cy="731520"/>
          </a:xfrm>
          <a:prstGeom prst="roundRect">
            <a:avLst>
              <a:gd name="adj" fmla="val 10000"/>
            </a:avLst>
          </a:prstGeom>
          <a:solidFill>
            <a:srgbClr val="F6F7F9"/>
          </a:solidFill>
          <a:ln w="12700">
            <a:solidFill>
              <a:srgbClr val="556A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314359"/>
                </a:solidFill>
                <a:latin typeface="Arial"/>
              </a:rPr>
              <a:t>Mgmt’s pivot    −20</a:t>
            </a:r>
          </a:p>
          <a:p>
            <a:pPr algn="ctr"/>
            <a:r>
              <a:rPr sz="830" b="0">
                <a:solidFill>
                  <a:srgbClr val="556A83"/>
                </a:solidFill>
                <a:latin typeface="Arial"/>
              </a:rPr>
              <a:t>poor returns · weak prospects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4425696"/>
            <a:ext cx="1828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556A83"/>
                </a:solidFill>
                <a:latin typeface="Arial"/>
              </a:rPr>
              <a:t>=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4718304"/>
            <a:ext cx="3108960" cy="566928"/>
          </a:xfrm>
          <a:prstGeom prst="roundRect">
            <a:avLst>
              <a:gd name="adj" fmla="val 1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314359"/>
                </a:solidFill>
                <a:latin typeface="Arial"/>
              </a:rPr>
              <a:t>≈ 0 reported operating result</a:t>
            </a:r>
          </a:p>
          <a:p>
            <a:pPr algn="ctr"/>
            <a:r>
              <a:rPr sz="830" b="0">
                <a:solidFill>
                  <a:srgbClr val="556A83"/>
                </a:solidFill>
                <a:latin typeface="Arial"/>
              </a:rPr>
              <a:t>so the market prices the whole company as broken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 dirty="0">
                <a:solidFill>
                  <a:srgbClr val="314359"/>
                </a:solidFill>
                <a:latin typeface="Times New Roman"/>
              </a:rPr>
              <a:t>Built for down markets — where the record is made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edge shows most when the market falls: a small positive return in the average down month, and outperformance in four of the last five stress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3145614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33162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807" y="2526182"/>
            <a:ext cx="28529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 THE AVERAGE MONTH OF A DOWN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52876"/>
            <a:ext cx="2852999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+0.2%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755136"/>
            <a:ext cx="2706691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Athanase — a small gain in the average month of a down year.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340352"/>
            <a:ext cx="2852999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 spc="-120">
                <a:solidFill>
                  <a:srgbClr val="556A83"/>
                </a:solidFill>
                <a:latin typeface="Times New Roman"/>
              </a:rPr>
              <a:t>−1.7%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5042611"/>
            <a:ext cx="2706691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MSCI World IMI — the market itself.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7152" y="2292096"/>
            <a:ext cx="5413383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OUTPERFORMANCE IN STRESS YEARS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77152" y="2877312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2008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1845" y="2999232"/>
            <a:ext cx="384330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53960" y="2877312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+2.2%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7152" y="3413760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845" y="3535680"/>
            <a:ext cx="1380096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49725" y="3413760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+7.9%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77152" y="3950208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81845" y="4072128"/>
            <a:ext cx="2061409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31038" y="3950208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+11.8%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77152" y="4486656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81845" y="4608576"/>
            <a:ext cx="296982" cy="292608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66612" y="4486656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556A83"/>
                </a:solidFill>
                <a:latin typeface="Arial"/>
              </a:rPr>
              <a:t>−1.7%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77152" y="5023104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2022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1845" y="5145024"/>
            <a:ext cx="3511383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81013" y="5023104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+20.1%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7152" y="5618073"/>
            <a:ext cx="5413383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The risk system forces diversification of business exposures and screens out weak competitive positions and untrustworthy management — which pays in demanding markets.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6242304"/>
            <a:ext cx="887355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85230" y="6242304"/>
            <a:ext cx="8558998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the market falls, the discipline pays — outperformance in four of the last five stress years, and a gain in the average down month.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847027"/>
            <a:ext cx="9217382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Down-year figure: average monthly return across all months of the years in which the MSCI World IMI finished down. Annual figures: AIP net return − MSCI IMI. Source: Athanase, April 2026.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(p.18),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27318a-0826-4810-8988-cc3e5c2e3a20">
      <Terms xmlns="http://schemas.microsoft.com/office/infopath/2007/PartnerControls"/>
    </lcf76f155ced4ddcb4097134ff3c332f>
    <TaxCatchAll xmlns="4124b31e-6573-4802-b7ef-311f4d26277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6310709CD82A6741BE5E8B9BFA41D3C0" ma:contentTypeVersion="13" ma:contentTypeDescription="Skapa ett nytt dokument." ma:contentTypeScope="" ma:versionID="ea70554b132df1325a42697029f21ce4">
  <xsd:schema xmlns:xsd="http://www.w3.org/2001/XMLSchema" xmlns:xs="http://www.w3.org/2001/XMLSchema" xmlns:p="http://schemas.microsoft.com/office/2006/metadata/properties" xmlns:ns2="5e27318a-0826-4810-8988-cc3e5c2e3a20" xmlns:ns3="4124b31e-6573-4802-b7ef-311f4d26277d" targetNamespace="http://schemas.microsoft.com/office/2006/metadata/properties" ma:root="true" ma:fieldsID="cc21193230fc81558174baefa7095284" ns2:_="" ns3:_="">
    <xsd:import namespace="5e27318a-0826-4810-8988-cc3e5c2e3a20"/>
    <xsd:import namespace="4124b31e-6573-4802-b7ef-311f4d2627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27318a-0826-4810-8988-cc3e5c2e3a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ildmarkeringar" ma:readOnly="false" ma:fieldId="{5cf76f15-5ced-4ddc-b409-7134ff3c332f}" ma:taxonomyMulti="true" ma:sspId="7f99c0e0-a277-4309-9e70-fff5b915cc5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24b31e-6573-4802-b7ef-311f4d26277d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9270a8ef-2ce6-4f9b-a60c-abb7e201e7ac}" ma:internalName="TaxCatchAll" ma:showField="CatchAllData" ma:web="4124b31e-6573-4802-b7ef-311f4d2627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F09CEDA-D96E-4DE0-BD69-05CF6CA08BCA}">
  <ds:schemaRefs>
    <ds:schemaRef ds:uri="http://schemas.microsoft.com/office/2006/metadata/properties"/>
    <ds:schemaRef ds:uri="http://schemas.microsoft.com/office/infopath/2007/PartnerControls"/>
    <ds:schemaRef ds:uri="5e27318a-0826-4810-8988-cc3e5c2e3a20"/>
    <ds:schemaRef ds:uri="4124b31e-6573-4802-b7ef-311f4d26277d"/>
  </ds:schemaRefs>
</ds:datastoreItem>
</file>

<file path=customXml/itemProps2.xml><?xml version="1.0" encoding="utf-8"?>
<ds:datastoreItem xmlns:ds="http://schemas.openxmlformats.org/officeDocument/2006/customXml" ds:itemID="{2B94E596-B65B-4BD7-8F65-8C8EB76BBA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9B4E500-B9BC-47AF-8F6B-49D89CFF5B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27318a-0826-4810-8988-cc3e5c2e3a20"/>
    <ds:schemaRef ds:uri="4124b31e-6573-4802-b7ef-311f4d2627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4505</Words>
  <Application>Microsoft Office PowerPoint</Application>
  <PresentationFormat>Custom</PresentationFormat>
  <Paragraphs>433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Don’t bet your wealth on a handful of AI stocks</dc:title>
  <dc:subject/>
  <dc:creator/>
  <cp:keywords/>
  <dc:description>generated using python-pptx</dc:description>
  <cp:lastModifiedBy>Stefan Charette</cp:lastModifiedBy>
  <cp:revision>1</cp:revision>
  <dcterms:created xsi:type="dcterms:W3CDTF">2013-01-27T09:14:16Z</dcterms:created>
  <dcterms:modified xsi:type="dcterms:W3CDTF">2026-06-09T15:02:21Z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0x0101006310709CD82A6741BE5E8B9BFA41D3C0</vt:lpwstr>
  </property>
</Properties>
</file>