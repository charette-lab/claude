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sldIdLst>
    <p:sldId id="256" r:id="rId5"/>
    <p:sldId id="260" r:id="rId6"/>
    <p:sldId id="263" r:id="rId7"/>
    <p:sldId id="267" r:id="rId8"/>
    <p:sldId id="284" r:id="rId9"/>
    <p:sldId id="274" r:id="rId11"/>
    <p:sldId id="278" r:id="rId12"/>
    <p:sldId id="339" r:id="rId13"/>
    <p:sldId id="279" r:id="rId14"/>
    <p:sldId id="340" r:id="rId33"/>
    <p:sldId id="285" r:id="rId15"/>
    <p:sldId id="282" r:id="rId16"/>
    <p:sldId id="286" r:id="rId17"/>
    <p:sldId id="289" r:id="rId18"/>
    <p:sldId id="327" r:id="rId19"/>
    <p:sldId id="326" r:id="rId20"/>
    <p:sldId id="328" r:id="rId21"/>
    <p:sldId id="325" r:id="rId22"/>
    <p:sldId id="329" r:id="rId23"/>
    <p:sldId id="317" r:id="rId24"/>
    <p:sldId id="321" r:id="rId25"/>
  </p:sldIdLst>
  <p:sldSz cx="9753600" cy="7315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4CFD312-D45A-4B19-8463-6466AF1AAD16}" v="2" dt="2026-06-09T10:28:35.7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80" y="4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90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fan Charette" userId="0db9b4c6-585a-4616-ab53-47ba82066cad" providerId="ADAL" clId="{42E455C0-5321-4BA4-9654-3C8921CE5DA4}"/>
    <pc:docChg chg="custSel modSld">
      <pc:chgData name="Stefan Charette" userId="0db9b4c6-585a-4616-ab53-47ba82066cad" providerId="ADAL" clId="{42E455C0-5321-4BA4-9654-3C8921CE5DA4}" dt="2026-06-09T10:30:30.470" v="340" actId="478"/>
      <pc:docMkLst>
        <pc:docMk/>
      </pc:docMkLst>
      <pc:sldChg chg="delSp modSp mod">
        <pc:chgData name="Stefan Charette" userId="0db9b4c6-585a-4616-ab53-47ba82066cad" providerId="ADAL" clId="{42E455C0-5321-4BA4-9654-3C8921CE5DA4}" dt="2026-06-09T10:30:30.470" v="340" actId="478"/>
        <pc:sldMkLst>
          <pc:docMk/>
          <pc:sldMk cId="0" sldId="256"/>
        </pc:sldMkLst>
        <pc:spChg chg="mod">
          <ac:chgData name="Stefan Charette" userId="0db9b4c6-585a-4616-ab53-47ba82066cad" providerId="ADAL" clId="{42E455C0-5321-4BA4-9654-3C8921CE5DA4}" dt="2026-06-09T10:30:25.904" v="339" actId="20577"/>
          <ac:spMkLst>
            <pc:docMk/>
            <pc:sldMk cId="0" sldId="256"/>
            <ac:spMk id="5" creationId="{00000000-0000-0000-0000-000000000000}"/>
          </ac:spMkLst>
        </pc:spChg>
        <pc:spChg chg="del">
          <ac:chgData name="Stefan Charette" userId="0db9b4c6-585a-4616-ab53-47ba82066cad" providerId="ADAL" clId="{42E455C0-5321-4BA4-9654-3C8921CE5DA4}" dt="2026-06-09T10:30:30.470" v="340" actId="478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12.051" v="23" actId="20577"/>
        <pc:sldMkLst>
          <pc:docMk/>
          <pc:sldMk cId="0" sldId="268"/>
        </pc:sldMkLst>
        <pc:spChg chg="mod">
          <ac:chgData name="Stefan Charette" userId="0db9b4c6-585a-4616-ab53-47ba82066cad" providerId="ADAL" clId="{42E455C0-5321-4BA4-9654-3C8921CE5DA4}" dt="2026-06-09T08:13:12.051" v="23" actId="20577"/>
          <ac:spMkLst>
            <pc:docMk/>
            <pc:sldMk cId="0" sldId="268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08:13:34.859" v="41" actId="20577"/>
        <pc:sldMkLst>
          <pc:docMk/>
          <pc:sldMk cId="0" sldId="269"/>
        </pc:sldMkLst>
        <pc:spChg chg="mod">
          <ac:chgData name="Stefan Charette" userId="0db9b4c6-585a-4616-ab53-47ba82066cad" providerId="ADAL" clId="{42E455C0-5321-4BA4-9654-3C8921CE5DA4}" dt="2026-06-09T08:13:34.859" v="41" actId="20577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Stefan Charette" userId="0db9b4c6-585a-4616-ab53-47ba82066cad" providerId="ADAL" clId="{42E455C0-5321-4BA4-9654-3C8921CE5DA4}" dt="2026-06-09T10:29:33.258" v="301" actId="20577"/>
        <pc:sldMkLst>
          <pc:docMk/>
          <pc:sldMk cId="0" sldId="339"/>
        </pc:sldMkLst>
        <pc:spChg chg="mod">
          <ac:chgData name="Stefan Charette" userId="0db9b4c6-585a-4616-ab53-47ba82066cad" providerId="ADAL" clId="{42E455C0-5321-4BA4-9654-3C8921CE5DA4}" dt="2026-06-09T10:29:33.258" v="301" actId="20577"/>
          <ac:spMkLst>
            <pc:docMk/>
            <pc:sldMk cId="0" sldId="339"/>
            <ac:spMk id="20" creationId="{00000000-0000-0000-0000-000000000000}"/>
          </ac:spMkLst>
        </pc:spChg>
        <pc:spChg chg="mod">
          <ac:chgData name="Stefan Charette" userId="0db9b4c6-585a-4616-ab53-47ba82066cad" providerId="ADAL" clId="{42E455C0-5321-4BA4-9654-3C8921CE5DA4}" dt="2026-06-09T10:29:20.676" v="300" actId="20577"/>
          <ac:spMkLst>
            <pc:docMk/>
            <pc:sldMk cId="0" sldId="339"/>
            <ac:spMk id="24" creationId="{00000000-0000-0000-0000-000000000000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8121-44FE-B2F6-B09CBC8BB4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6E-4765-9E38-E47A72446DD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6E-4765-9E38-E47A72446DD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096E-4765-9E38-E47A72446D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600"/>
          <c:min val="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  <a:endParaRPr lang="sv-SE"/>
          </a:p>
        </c:txPr>
        <c:crossAx val="2118791784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00"/>
          </a:pPr>
          <a:endParaRPr lang="sv-SE"/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E970-45BA-8499-251F9C2C08E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invertIfNegative val="1"/>
          <c:dLbls>
            <c:numFmt formatCode="0.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20">
                    <a:solidFill>
                      <a:srgbClr val="0E1620"/>
                    </a:solidFill>
                  </a:defRPr>
                </a:pPr>
                <a:endParaRPr lang="sv-SE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E970-45BA-8499-251F9C2C08E0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  <a:endParaRPr lang="sv-SE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880"/>
          </a:pPr>
          <a:endParaRPr lang="sv-SE"/>
        </a:p>
      </c:txPr>
    </c:legend>
    <c:plotVisOnly val="1"/>
    <c:dispBlanksAs val="gap"/>
    <c:showDLblsOverMax val="1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697395-2D59-4227-B53D-BB43A6595B5E}" type="datetimeFigureOut">
              <a:rPr lang="en-GB" smtClean="0"/>
              <a:t>09/06/2026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8C4698-2B99-4D89-860A-947FB274513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0857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8C4698-2B99-4D89-860A-947FB2745133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875954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9471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lang="en-GB" sz="3360" spc="-126" dirty="0">
                <a:solidFill>
                  <a:srgbClr val="FFFFFF"/>
                </a:solidFill>
                <a:latin typeface="Times New Roman"/>
              </a:rPr>
              <a:t>Investor Presentation</a:t>
            </a:r>
            <a:endParaRPr sz="3360" b="0" i="0" spc="-126" dirty="0">
              <a:solidFill>
                <a:srgbClr val="FFFFFF"/>
              </a:solidFill>
              <a:latin typeface="Times New Roman"/>
            </a:endParaRP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en-GB" sz="1920" b="0" i="1" spc="-72" dirty="0">
                <a:solidFill>
                  <a:srgbClr val="E2E5E9"/>
                </a:solidFill>
                <a:latin typeface="Times New Roman"/>
              </a:rPr>
              <a:t>June 2026</a:t>
            </a:r>
            <a:endParaRPr sz="1920" b="0" i="1" spc="-72" dirty="0">
              <a:solidFill>
                <a:srgbClr val="E2E5E9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Why Athanase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Athanase is the firm best built to capture this inefficiency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Harvesting this mispricing takes four capabilities at once — find the hidden core, win real control, fix it from the boardroom, and prove it repeats. Few managers have one; we have built all four.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We find what others miss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proprietary universe</a:t>
            </a:r>
            <a:r>
              <a:rPr sz="720">
                <a:solidFill>
                  <a:srgbClr val="0E1620"/>
                </a:solidFill>
                <a:latin typeface="Arial"/>
              </a:rPr>
              <a:t> — ~60,000 companies restated to economic reality, separating the profitable core from the value-destroying pivot.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Moat- and CEO-scored</a:t>
            </a:r>
            <a:r>
              <a:rPr sz="720">
                <a:solidFill>
                  <a:srgbClr val="0E1620"/>
                </a:solidFill>
                <a:latin typeface="Arial"/>
              </a:rPr>
              <a:t> — ~20,000 names ranked; about 1 in 1,000 screened is ever bought.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Hidden cores, not broken companies</a:t>
            </a:r>
            <a:r>
              <a:rPr sz="720">
                <a:solidFill>
                  <a:srgbClr val="0E1620"/>
                </a:solidFill>
                <a:latin typeface="Arial"/>
              </a:rPr>
              <a:t> — market leaders attractive even if we change nothing — no adverse selection.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We can actually change 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operator’s edge, not an analyst’s</a:t>
            </a:r>
            <a:r>
              <a:rPr sz="720">
                <a:solidFill>
                  <a:srgbClr val="0E1620"/>
                </a:solidFill>
                <a:latin typeface="Arial"/>
              </a:rPr>
              <a:t> — one integrated team for 20 years; 30+ public board seats; former CEOs and CIOs.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Control from the boardroom</a:t>
            </a:r>
            <a:r>
              <a:rPr sz="720">
                <a:solidFill>
                  <a:srgbClr val="0E1620"/>
                </a:solidFill>
                <a:latin typeface="Arial"/>
              </a:rPr>
              <a:t> — the experience to fix capital allocation, M&amp;A and focus — not merely to advise.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edge AI cannot replicate</a:t>
            </a:r>
            <a:r>
              <a:rPr sz="720">
                <a:solidFill>
                  <a:srgbClr val="0E1620"/>
                </a:solidFill>
                <a:latin typeface="Arial"/>
              </a:rPr>
              <a:t> — access, influence and execution, not reading public data faster.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We own the lane others abandoned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811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The mid-market sweet spot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€50m–€3bn, where a single board seat genuinely moves the outcome.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Uncontested by the giants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mega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-</a:t>
            </a:r>
            <a:r>
              <a:rPr sz="720" dirty="0">
                <a:solidFill>
                  <a:srgbClr val="0E1620"/>
                </a:solidFill>
                <a:latin typeface="Arial"/>
              </a:rPr>
              <a:t>cap activists left it behind as they scaled: high return, low competition.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Control by agreement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</a:t>
            </a:r>
            <a:r>
              <a:rPr lang="en-GB" sz="720" dirty="0">
                <a:solidFill>
                  <a:srgbClr val="0E1620"/>
                </a:solidFill>
                <a:latin typeface="Arial"/>
              </a:rPr>
              <a:t>we invest after we have agreed on board engagement with the other shareholders</a:t>
            </a:r>
            <a:endParaRPr sz="720" dirty="0">
              <a:solidFill>
                <a:srgbClr val="0E1620"/>
              </a:solidFill>
              <a:latin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And we have proven it repeats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74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1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9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% net p.a., capital grown 18×</a:t>
            </a:r>
            <a:r>
              <a:rPr lang="en-GB" sz="720" b="1" dirty="0">
                <a:solidFill>
                  <a:srgbClr val="314359"/>
                </a:solidFill>
                <a:latin typeface="Arial"/>
              </a:rPr>
              <a:t>, </a:t>
            </a:r>
            <a:r>
              <a:rPr lang="en-US" sz="700" b="1" dirty="0">
                <a:solidFill>
                  <a:srgbClr val="314359"/>
                </a:solidFill>
              </a:rPr>
              <a:t>7% worst-entry record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through two full market cycles, net of every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92% deal-level hit rate (35 of 38)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a 5× MOIC roughly every two years: skill, not luck.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 dirty="0">
                <a:solidFill>
                  <a:srgbClr val="556A83"/>
                </a:solidFill>
                <a:latin typeface="Arial"/>
              </a:rPr>
              <a:t>›  </a:t>
            </a:r>
            <a:r>
              <a:rPr sz="720" b="1" dirty="0">
                <a:solidFill>
                  <a:srgbClr val="314359"/>
                </a:solidFill>
                <a:latin typeface="Arial"/>
              </a:rPr>
              <a:t>93% up / 43% down capture</a:t>
            </a:r>
            <a:r>
              <a:rPr sz="720" dirty="0">
                <a:solidFill>
                  <a:srgbClr val="0E1620"/>
                </a:solidFill>
                <a:latin typeface="Arial"/>
              </a:rPr>
              <a:t> — we harvest the inefficiency and protect the downside.</a:t>
            </a:r>
            <a:endParaRPr lang="en-GB" sz="720" dirty="0">
              <a:solidFill>
                <a:srgbClr val="0E1620"/>
              </a:solidFill>
              <a:latin typeface="Arial"/>
            </a:endParaRP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endParaRPr sz="720" dirty="0">
              <a:solidFill>
                <a:srgbClr val="0E162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 dirty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27318a-0826-4810-8988-cc3e5c2e3a20">
      <Terms xmlns="http://schemas.microsoft.com/office/infopath/2007/PartnerControls"/>
    </lcf76f155ced4ddcb4097134ff3c332f>
    <TaxCatchAll xmlns="4124b31e-6573-4802-b7ef-311f4d26277d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6310709CD82A6741BE5E8B9BFA41D3C0" ma:contentTypeVersion="13" ma:contentTypeDescription="Skapa ett nytt dokument." ma:contentTypeScope="" ma:versionID="ea70554b132df1325a42697029f21ce4">
  <xsd:schema xmlns:xsd="http://www.w3.org/2001/XMLSchema" xmlns:xs="http://www.w3.org/2001/XMLSchema" xmlns:p="http://schemas.microsoft.com/office/2006/metadata/properties" xmlns:ns2="5e27318a-0826-4810-8988-cc3e5c2e3a20" xmlns:ns3="4124b31e-6573-4802-b7ef-311f4d26277d" targetNamespace="http://schemas.microsoft.com/office/2006/metadata/properties" ma:root="true" ma:fieldsID="cc21193230fc81558174baefa7095284" ns2:_="" ns3:_="">
    <xsd:import namespace="5e27318a-0826-4810-8988-cc3e5c2e3a20"/>
    <xsd:import namespace="4124b31e-6573-4802-b7ef-311f4d2627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27318a-0826-4810-8988-cc3e5c2e3a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Bildmarkeringar" ma:readOnly="false" ma:fieldId="{5cf76f15-5ced-4ddc-b409-7134ff3c332f}" ma:taxonomyMulti="true" ma:sspId="7f99c0e0-a277-4309-9e70-fff5b915cc5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24b31e-6573-4802-b7ef-311f4d26277d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270a8ef-2ce6-4f9b-a60c-abb7e201e7ac}" ma:internalName="TaxCatchAll" ma:showField="CatchAllData" ma:web="4124b31e-6573-4802-b7ef-311f4d2627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ehållstyp"/>
        <xsd:element ref="dc:title" minOccurs="0" maxOccurs="1" ma:index="4" ma:displayName="Rubrik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F09CEDA-D96E-4DE0-BD69-05CF6CA08BCA}">
  <ds:schemaRefs>
    <ds:schemaRef ds:uri="http://schemas.microsoft.com/office/2006/metadata/properties"/>
    <ds:schemaRef ds:uri="http://schemas.microsoft.com/office/infopath/2007/PartnerControls"/>
    <ds:schemaRef ds:uri="5e27318a-0826-4810-8988-cc3e5c2e3a20"/>
    <ds:schemaRef ds:uri="4124b31e-6573-4802-b7ef-311f4d26277d"/>
  </ds:schemaRefs>
</ds:datastoreItem>
</file>

<file path=customXml/itemProps2.xml><?xml version="1.0" encoding="utf-8"?>
<ds:datastoreItem xmlns:ds="http://schemas.openxmlformats.org/officeDocument/2006/customXml" ds:itemID="{E9B4E500-B9BC-47AF-8F6B-49D89CFF5B8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27318a-0826-4810-8988-cc3e5c2e3a20"/>
    <ds:schemaRef ds:uri="4124b31e-6573-4802-b7ef-311f4d2627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B94E596-B65B-4BD7-8F65-8C8EB76BBAF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4280</Words>
  <Application>Microsoft Office PowerPoint</Application>
  <PresentationFormat>Custom</PresentationFormat>
  <Paragraphs>414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Stefan Charette</cp:lastModifiedBy>
  <cp:revision>1</cp:revision>
  <dcterms:created xsi:type="dcterms:W3CDTF">2013-01-27T09:14:16Z</dcterms:created>
  <dcterms:modified xsi:type="dcterms:W3CDTF">2026-06-09T10:30:30Z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0x0101006310709CD82A6741BE5E8B9BFA41D3C0</vt:lpwstr>
  </property>
</Properties>
</file>