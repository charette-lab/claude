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0" r:id="rId9"/>
    <p:sldId id="263" r:id="rId12"/>
    <p:sldId id="284" r:id="rId33"/>
    <p:sldId id="271" r:id="rId20"/>
    <p:sldId id="274" r:id="rId23"/>
    <p:sldId id="278" r:id="rId27"/>
    <p:sldId id="279" r:id="rId28"/>
    <p:sldId id="285" r:id="rId34"/>
    <p:sldId id="282" r:id="rId31"/>
    <p:sldId id="286" r:id="rId35"/>
    <p:sldId id="289" r:id="rId38"/>
    <p:sldId id="327" r:id="rId76"/>
    <p:sldId id="326" r:id="rId75"/>
    <p:sldId id="328" r:id="rId77"/>
    <p:sldId id="325" r:id="rId74"/>
    <p:sldId id="329" r:id="rId78"/>
    <p:sldId id="317" r:id="rId66"/>
    <p:sldId id="318" r:id="rId67"/>
    <p:sldId id="321" r:id="rId70"/>
  </p:sldIdLst>
  <p:sldSz cx="975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80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9" Type="http://schemas.openxmlformats.org/officeDocument/2006/relationships/slide" Target="slides/slide2.xml"/><Relationship Id="rId12" Type="http://schemas.openxmlformats.org/officeDocument/2006/relationships/slide" Target="slides/slide3.xml"/><Relationship Id="rId20" Type="http://schemas.openxmlformats.org/officeDocument/2006/relationships/slide" Target="slides/slide5.xml"/><Relationship Id="rId23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31" Type="http://schemas.openxmlformats.org/officeDocument/2006/relationships/slide" Target="slides/slide10.xml"/><Relationship Id="rId33" Type="http://schemas.openxmlformats.org/officeDocument/2006/relationships/slide" Target="slides/slide4.xml"/><Relationship Id="rId34" Type="http://schemas.openxmlformats.org/officeDocument/2006/relationships/slide" Target="slides/slide9.xml"/><Relationship Id="rId35" Type="http://schemas.openxmlformats.org/officeDocument/2006/relationships/slide" Target="slides/slide11.xml"/><Relationship Id="rId38" Type="http://schemas.openxmlformats.org/officeDocument/2006/relationships/slide" Target="slides/slide12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70" Type="http://schemas.openxmlformats.org/officeDocument/2006/relationships/slide" Target="slides/slide20.xml"/><Relationship Id="rId74" Type="http://schemas.openxmlformats.org/officeDocument/2006/relationships/slide" Target="slides/slide16.xml"/><Relationship Id="rId75" Type="http://schemas.openxmlformats.org/officeDocument/2006/relationships/slide" Target="slides/slide14.xml"/><Relationship Id="rId76" Type="http://schemas.openxmlformats.org/officeDocument/2006/relationships/slide" Target="slides/slide13.xml"/><Relationship Id="rId77" Type="http://schemas.openxmlformats.org/officeDocument/2006/relationships/slide" Target="slides/slide15.xml"/><Relationship Id="rId78" Type="http://schemas.openxmlformats.org/officeDocument/2006/relationships/slide" Target="slides/slide17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Relationship Id="rId10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Charette" userId="0db9b4c6-585a-4616-ab53-47ba82066cad" providerId="ADAL" clId="{42E455C0-5321-4BA4-9654-3C8921CE5DA4}"/>
    <pc:docChg chg="modSld">
      <pc:chgData name="Stefan Charette" userId="0db9b4c6-585a-4616-ab53-47ba82066cad" providerId="ADAL" clId="{42E455C0-5321-4BA4-9654-3C8921CE5DA4}" dt="2026-06-09T08:13:34.859" v="41" actId="20577"/>
      <pc:docMkLst>
        <pc:docMk/>
      </pc:docMkLst>
      <pc:sldChg chg="modSp mod">
        <pc:chgData name="Stefan Charette" userId="0db9b4c6-585a-4616-ab53-47ba82066cad" providerId="ADAL" clId="{42E455C0-5321-4BA4-9654-3C8921CE5DA4}" dt="2026-06-09T08:13:12.051" v="23" actId="20577"/>
        <pc:sldMkLst>
          <pc:docMk/>
          <pc:sldMk cId="0" sldId="268"/>
        </pc:sldMkLst>
        <pc:spChg chg="mod">
          <ac:chgData name="Stefan Charette" userId="0db9b4c6-585a-4616-ab53-47ba82066cad" providerId="ADAL" clId="{42E455C0-5321-4BA4-9654-3C8921CE5DA4}" dt="2026-06-09T08:13:12.051" v="23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34.859" v="41" actId="20577"/>
        <pc:sldMkLst>
          <pc:docMk/>
          <pc:sldMk cId="0" sldId="269"/>
        </pc:sldMkLst>
        <pc:spChg chg="mod">
          <ac:chgData name="Stefan Charette" userId="0db9b4c6-585a-4616-ab53-47ba82066cad" providerId="ADAL" clId="{42E455C0-5321-4BA4-9654-3C8921CE5DA4}" dt="2026-06-09T08:13:34.859" v="41" actId="20577"/>
          <ac:spMkLst>
            <pc:docMk/>
            <pc:sldMk cId="0" sldId="269"/>
            <ac:spMk id="8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1.  “Probability decay”: strategy efficiency over a CEO cycle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efficiency</c:v>
                </c:pt>
              </c:strCache>
            </c:strRef>
          </c:tx>
          <c:spPr>
            <a:ln w="31750">
              <a:solidFill>
                <a:srgbClr val="152130"/>
              </a:solidFill>
            </a:ln>
          </c:spPr>
          <c:cat>
            <c:strRef>
              <c:f>Sheet1!$A$2:$A$9</c:f>
              <c:strCache>
                <c:ptCount val="8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  <c:pt idx="5">
                  <c:v>Yr 6</c:v>
                </c:pt>
                <c:pt idx="6">
                  <c:v>Yr 7</c:v>
                </c:pt>
                <c:pt idx="7">
                  <c:v>Yr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76</c:v>
                </c:pt>
                <c:pt idx="2">
                  <c:v>71</c:v>
                </c:pt>
                <c:pt idx="3">
                  <c:v>65</c:v>
                </c:pt>
                <c:pt idx="4">
                  <c:v>60</c:v>
                </c:pt>
                <c:pt idx="5">
                  <c:v>55</c:v>
                </c:pt>
                <c:pt idx="6">
                  <c:v>52</c:v>
                </c:pt>
                <c:pt idx="7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121-44FE-B2F6-B09CBC8BB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960">
                <a:solidFill>
                  <a:srgbClr val="556A83"/>
                </a:solidFill>
              </a:rPr>
              <a:t>Figure 5.  Average monthly return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Athanase</c:v>
                </c:pt>
              </c:strCache>
            </c:strRef>
          </c:tx>
          <c:spPr>
            <a:solidFill>
              <a:srgbClr val="152130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1.2</c:v>
                </c:pt>
                <c:pt idx="2">
                  <c:v>0.2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70-45BA-8499-251F9C2C0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IMI</c:v>
                </c:pt>
              </c:strCache>
            </c:strRef>
          </c:tx>
          <c:spPr>
            <a:solidFill>
              <a:srgbClr val="556A83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1.3</c:v>
                </c:pt>
                <c:pt idx="2">
                  <c:v>-1.7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970-45BA-8499-251F9C2C08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80"/>
          </a:pPr>
          <a:endParaRPr lang="sv-SE"/>
        </a:p>
      </c:txPr>
    </c:legend>
    <c:plotVisOnly val="1"/>
    <c:dispBlanksAs val="gap"/>
    <c:showDLblsOverMax val="1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6.  Growth of a 100 sleeve through a market cycle (indexed)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Athanase (18%)</c:v>
                </c:pt>
              </c:strCache>
            </c:strRef>
          </c:tx>
          <c:spPr>
            <a:ln w="38100">
              <a:solidFill>
                <a:srgbClr val="15213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118</c:v>
                </c:pt>
                <c:pt idx="2">
                  <c:v>140</c:v>
                </c:pt>
                <c:pt idx="3">
                  <c:v>166</c:v>
                </c:pt>
                <c:pt idx="4">
                  <c:v>197</c:v>
                </c:pt>
                <c:pt idx="5">
                  <c:v>233</c:v>
                </c:pt>
                <c:pt idx="6">
                  <c:v>236</c:v>
                </c:pt>
                <c:pt idx="7">
                  <c:v>296</c:v>
                </c:pt>
                <c:pt idx="8">
                  <c:v>366</c:v>
                </c:pt>
                <c:pt idx="9">
                  <c:v>442</c:v>
                </c:pt>
                <c:pt idx="10">
                  <c:v>523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6E-4765-9E38-E47A72446D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activist (10.5%)</c:v>
                </c:pt>
              </c:strCache>
            </c:strRef>
          </c:tx>
          <c:spPr>
            <a:ln w="25400">
              <a:solidFill>
                <a:srgbClr val="556A83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111</c:v>
                </c:pt>
                <c:pt idx="2">
                  <c:v>123</c:v>
                </c:pt>
                <c:pt idx="3">
                  <c:v>137</c:v>
                </c:pt>
                <c:pt idx="4">
                  <c:v>152</c:v>
                </c:pt>
                <c:pt idx="5">
                  <c:v>168</c:v>
                </c:pt>
                <c:pt idx="6">
                  <c:v>150</c:v>
                </c:pt>
                <c:pt idx="7">
                  <c:v>182</c:v>
                </c:pt>
                <c:pt idx="8">
                  <c:v>214</c:v>
                </c:pt>
                <c:pt idx="9">
                  <c:v>244</c:v>
                </c:pt>
                <c:pt idx="10">
                  <c:v>271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6E-4765-9E38-E47A72446D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Long-only global (7.6%)</c:v>
                </c:pt>
              </c:strCache>
            </c:strRef>
          </c:tx>
          <c:spPr>
            <a:ln w="25400">
              <a:solidFill>
                <a:srgbClr val="E2E5E9"/>
              </a:solidFill>
              <a:prstDash val="sys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108</c:v>
                </c:pt>
                <c:pt idx="2">
                  <c:v>117</c:v>
                </c:pt>
                <c:pt idx="3">
                  <c:v>126</c:v>
                </c:pt>
                <c:pt idx="4">
                  <c:v>136</c:v>
                </c:pt>
                <c:pt idx="5">
                  <c:v>147</c:v>
                </c:pt>
                <c:pt idx="6">
                  <c:v>119</c:v>
                </c:pt>
                <c:pt idx="7">
                  <c:v>142</c:v>
                </c:pt>
                <c:pt idx="8">
                  <c:v>168</c:v>
                </c:pt>
                <c:pt idx="9">
                  <c:v>190</c:v>
                </c:pt>
                <c:pt idx="10">
                  <c:v>208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96E-4765-9E38-E47A72446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sv-SE"/>
        </a:p>
      </c:txPr>
    </c:legend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2" y="536448"/>
            <a:ext cx="1768098" cy="380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89120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22" y="4632960"/>
            <a:ext cx="8632151" cy="1950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360" b="0" i="0" spc="-126">
                <a:solidFill>
                  <a:srgbClr val="FFFFFF"/>
                </a:solidFill>
                <a:latin typeface="Times New Roman"/>
              </a:rPr>
              <a:t>Engaged Ownership as an Asset Class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20" b="0" i="1" spc="-72">
                <a:solidFill>
                  <a:srgbClr val="E2E5E9"/>
                </a:solidFill>
                <a:latin typeface="Times New Roman"/>
              </a:rPr>
              <a:t>Why allocators should consider it — and why Athanase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553" y="6437376"/>
            <a:ext cx="5852306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556A83"/>
                </a:solidFill>
                <a:latin typeface="Arial"/>
              </a:rPr>
              <a:t>An endowment briefing  ·  Replacing part of global public equity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Passive has become a concentrated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cap-weighted index puts the most money into the stocks that have already risen the most — concentration and factor risk dressed as diversification.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53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~38%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of the S&amp;P 500 in its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10 largest stocks*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960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47960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960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in the “Magnificent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Seven” alone*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267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47267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267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~50 yrs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since US equity was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this concentrated*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3969715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Cap-weighting buys high by design.</a:t>
            </a:r>
            <a:r>
              <a:rPr sz="1120">
                <a:solidFill>
                  <a:srgbClr val="0E1620"/>
                </a:solidFill>
                <a:latin typeface="Arial"/>
              </a:rPr>
              <a:t>  The more a stock rises, the more of it you must own — the opposite of buy-low discipline.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A concentrated factor bet.</a:t>
            </a:r>
            <a:r>
              <a:rPr sz="1120">
                <a:solidFill>
                  <a:srgbClr val="0E1620"/>
                </a:solidFill>
                <a:latin typeface="Arial"/>
              </a:rPr>
              <a:t>  The “diversified” index is now a leveraged position in large-cap growth, momentum and a single theme (AI) — not diversification.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Breadth is fragile.</a:t>
            </a:r>
            <a:r>
              <a:rPr sz="1120">
                <a:solidFill>
                  <a:srgbClr val="0E1620"/>
                </a:solidFill>
                <a:latin typeface="Arial"/>
              </a:rPr>
              <a:t>  A stumble in a handful of mega-caps now moves the entire index; the rest of the market has been left behind.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22" y="6944563"/>
            <a:ext cx="5852306" cy="35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*Illustrative, recent data (2024–25); source: S&amp;P Dow Jones Indices. Index concentration and factor tilts change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From passive risk to active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expensive, concentrated, passive-dominated market is exactly the environment active management is built for — and as analysis itself commoditises, the most durable edge is ownership, not stock-picking.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· The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Expensive equities, record index concentration, and price-insensitive passive flows that inflate the most crowded names.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· Why active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Wider mispricing and dispersion; valuation discipline is rewarded again. The “active underperforms” critique is cyclical — and weakest in exactly this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· A better kind of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Other genuine edges exist — quant and specialist alpha — but they compete on analysing the same public data, which is what commoditises fastest. The most durable edge is ownership: buying mispriced businesses and changing the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614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498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When the index is the crowded, expensive, fragile trade, the answer is not to pick stocks and hope — it is to own undervalued businesses and make them better. That is engaged ownership.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inefficiency Athanase harvests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Corporate decay is structural — it continuously recreates low-risk, high-return entry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08691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Duration mismatch.</a:t>
            </a:r>
            <a:r>
              <a:rPr sz="1080">
                <a:solidFill>
                  <a:srgbClr val="0E1620"/>
                </a:solidFill>
                <a:latin typeface="Arial"/>
              </a:rPr>
              <a:t>  CEOs run 7–8 year defensive cycles while moats erode at hyper-speed; an 80%-correct strategy decays to ~50% efficient.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prestige trap.</a:t>
            </a:r>
            <a:r>
              <a:rPr sz="1080">
                <a:solidFill>
                  <a:srgbClr val="0E1620"/>
                </a:solidFill>
                <a:latin typeface="Arial"/>
              </a:rPr>
              <a:t>  Empire-building and the sunk-cost fallacy lead management to double down on unprofitable ventures.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Shareholder exhaustion.</a:t>
            </a:r>
            <a:r>
              <a:rPr sz="1080">
                <a:solidFill>
                  <a:srgbClr val="0E1620"/>
                </a:solidFill>
                <a:latin typeface="Arial"/>
              </a:rPr>
              <a:t>  As patience runs out, price hits a long-term low and liquidity dries up — Athanase becomes the “buyer of last resort” at a discount.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Low competition.</a:t>
            </a:r>
            <a:r>
              <a:rPr sz="1080">
                <a:solidFill>
                  <a:srgbClr val="0E1620"/>
                </a:solidFill>
                <a:latin typeface="Arial"/>
              </a:rPr>
              <a:t>  Passive buys the most expensive names; active managers wait for proof; PE needs 10x the capital — leaving these bargains open.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230498" y="2487168"/>
          <a:ext cx="4169768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30498" y="6047232"/>
            <a:ext cx="4169768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Even an excellent team’s edge erodes as the external environment shifts.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mid-market is the sweet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Big enough to run well, small enough to change — and to grow. The engaged-ownership opportunity is richest in the middle.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828845" cy="390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682538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31191" y="2292096"/>
            <a:ext cx="2377499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8976" y="2292096"/>
            <a:ext cx="2231191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Small-cap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691" y="2292096"/>
            <a:ext cx="2560384" cy="39014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6475" y="2292096"/>
            <a:ext cx="2414076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Mid-market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9075" y="2292096"/>
            <a:ext cx="2121461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6859" y="2292096"/>
            <a:ext cx="1975153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Large-cap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46" y="2682240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30" y="268224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Organisational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1191" y="2682240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18976" y="268224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Often too thin to support a capable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691" y="2682240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6475" y="268224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Enough structure for a real management team and processes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9075" y="2682240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6859" y="268224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Deep, but layered and 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46" y="3443020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0130" y="344302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runway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91" y="3443020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18976" y="344302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Long, but fragile and under-resourced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08691" y="3443020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6475" y="344302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Still long — small enough to compound for years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9075" y="3443020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56859" y="344302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Largely played out; growth is incremental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203801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30" y="4203801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Speed of 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31191" y="4203801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8976" y="4203801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Fast, but limited resources to execute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8691" y="4203801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96475" y="4203801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Operational change lands within ~1.5 years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9075" y="4203801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56859" y="4203801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Years to turn; entrenched complexity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46" y="4964582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30" y="4964582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Owner influence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31191" y="4964582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18976" y="4964582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High, but little to work with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8691" y="4964582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96475" y="4964582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A board seat genuinely moves the outcome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69075" y="4964582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6859" y="4964582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Diluted; one owner rarely shifts the agenda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46" y="5861913"/>
            <a:ext cx="8924767" cy="409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Mid-market companies are run well enough to be worth owning, yet small enough that an engaged owner can still change — and grow — them.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46" y="6369100"/>
            <a:ext cx="8924767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And the opportunity set is deep and global: ~50,000 listed companies worldwide (World Federation of Exchanges, 2024); the investable MSCI ACWI IMI spans ~8,800 large-, mid- and small-cap names across 23 developed and 24 emerging markets — about 1,600 of them mid-caps (MSCI, 2024). Our €50m–€3bn target band, in markets with a stable legal system, is a large subset.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evidence: constructive engagement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Three decades of peer-reviewed research — across the US and Europe — converge on the same finding.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450653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022" y="2292096"/>
            <a:ext cx="2275084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9576" y="2292096"/>
            <a:ext cx="1865422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4676" y="2292096"/>
            <a:ext cx="1689853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What it covers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998" y="2292096"/>
            <a:ext cx="4579429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50098" y="2292096"/>
            <a:ext cx="440386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What it establishes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22" y="2682240"/>
            <a:ext cx="2450653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022" y="2682240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Brav, Jiang, Partnoy &amp; Thomas (2008) · J. Finance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9576" y="2682240"/>
            <a:ext cx="1865422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84676" y="2682240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1,000+ US engagements, 2001–06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998" y="2682240"/>
            <a:ext cx="4579429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50098" y="2682240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Activists “seldom seek control” and are “nonconfrontational”; ~2/3 reach full or partial success; +7% announcement return with no reversal; payout, operating performance and CEO turnover all rise.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22" y="3521049"/>
            <a:ext cx="2450653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4022" y="3521049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Becht, Franks, Grant &amp; Wagner (2017) · Rev. Fin. Studies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9576" y="3521049"/>
            <a:ext cx="1865422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84676" y="3521049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1,740 engagements, 23 countries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998" y="3521049"/>
            <a:ext cx="4579429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50098" y="3521049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Outcomes and market responses are similar in Europe and North America — the playbook travels; board representation is a central, value-creating outcome.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22" y="4359859"/>
            <a:ext cx="2450653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022" y="4359859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Becht, Franks, Mayer &amp; Rossi (2009) · Rev. Fin. Studies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9576" y="4359859"/>
            <a:ext cx="1865422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84676" y="4359859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Clinical study — Hermes UK Focus Fund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998" y="4359859"/>
            <a:ext cx="4579429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50098" y="4359859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Returns come from engagement, not stock-picking — via private, cooperative interventions: refocus on the core, return cash, change the CEO / chair.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22" y="5198668"/>
            <a:ext cx="2450653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022" y="5198668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Bebchuk, Brav, Jiang &amp; Keusch (2020) · J. Fin. Economics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9576" y="5198668"/>
            <a:ext cx="1865422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84676" y="5198668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US settlement agreements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998" y="5198668"/>
            <a:ext cx="4579429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50098" y="5198668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Boards settle by granting board seats — the intermediary step to the operational and leadership change activists seek. Exactly the precondition model.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22" y="6037478"/>
            <a:ext cx="2450653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4022" y="6037478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Gantchev (2013) · J. Fin. Economics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9576" y="6037478"/>
            <a:ext cx="1865422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84676" y="6037478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1,492 campaigns, 2000–07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998" y="6037478"/>
            <a:ext cx="4579429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50098" y="6037478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 campaign escalating to a proxy fight costs ~$10.7m; settling at the board-representation stage avoids most of it — collaboration is cheaper.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22" y="6993331"/>
            <a:ext cx="8851613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academic record converges with our own 38 engagements: control secured cooperatively through a board seat is how operational value is created.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Athanase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5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5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38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investments 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engaged 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836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836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19%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avg annualised NET,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any entry month*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808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808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7%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worst-ever entry,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still positive*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779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1779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growth of capital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since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53" y="399897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~19% average annualised return*</a:t>
            </a:r>
            <a:r>
              <a:rPr sz="1200">
                <a:solidFill>
                  <a:srgbClr val="0E1620"/>
                </a:solidFill>
                <a:latin typeface="Arial"/>
              </a:rPr>
              <a:t>  whatever month you invested and held to today — entry timing has barely mattered.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~7% in the single worst entry month</a:t>
            </a:r>
            <a:r>
              <a:rPr sz="1200">
                <a:solidFill>
                  <a:srgbClr val="0E1620"/>
                </a:solidFill>
                <a:latin typeface="Arial"/>
              </a:rPr>
              <a:t>  even the unluckiest possible entry still compounded at a mid-single-digit net return — no investor lost over the holding period.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16.3% time-weighted NET since 2006</a:t>
            </a:r>
            <a:r>
              <a:rPr sz="1200">
                <a:solidFill>
                  <a:srgbClr val="0E1620"/>
                </a:solidFill>
                <a:latin typeface="Arial"/>
              </a:rPr>
              <a:t>  vs MSCI IMI 6.2% — net of all fees.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6583680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*Average of the annualised NET return earned investing in each individual month and holding to the end (107 entry months, AIPFII). Time-weighted figure annualised over actual invested time. Past performance is not indicative of future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An integrated team, 20 years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In a world of specialists, a rare unit that has the operating experience to control the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8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61" y="2701747"/>
            <a:ext cx="7242229" cy="21674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1992</a:t>
            </a:r>
          </a:p>
        </p:txBody>
      </p:sp>
      <p:sp>
        <p:nvSpPr>
          <p:cNvPr id="11" name="Oval 10"/>
          <p:cNvSpPr/>
          <p:nvPr/>
        </p:nvSpPr>
        <p:spPr>
          <a:xfrm>
            <a:off x="110462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9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Öresund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99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1996</a:t>
            </a:r>
          </a:p>
        </p:txBody>
      </p:sp>
      <p:sp>
        <p:nvSpPr>
          <p:cNvPr id="14" name="Oval 13"/>
          <p:cNvSpPr/>
          <p:nvPr/>
        </p:nvSpPr>
        <p:spPr>
          <a:xfrm>
            <a:off x="3518699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9845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Custos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075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2006</a:t>
            </a:r>
          </a:p>
        </p:txBody>
      </p:sp>
      <p:sp>
        <p:nvSpPr>
          <p:cNvPr id="17" name="Oval 16"/>
          <p:cNvSpPr/>
          <p:nvPr/>
        </p:nvSpPr>
        <p:spPr>
          <a:xfrm>
            <a:off x="5932775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921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Creades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115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2015</a:t>
            </a:r>
          </a:p>
        </p:txBody>
      </p:sp>
      <p:sp>
        <p:nvSpPr>
          <p:cNvPr id="20" name="Oval 19"/>
          <p:cNvSpPr/>
          <p:nvPr/>
        </p:nvSpPr>
        <p:spPr>
          <a:xfrm>
            <a:off x="834685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998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Athanase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53" y="351129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38 companies managed,</a:t>
            </a:r>
            <a:r>
              <a:rPr sz="1160">
                <a:solidFill>
                  <a:srgbClr val="0E1620"/>
                </a:solidFill>
                <a:latin typeface="Arial"/>
              </a:rPr>
              <a:t>  with a proven ability to tell a “strong core” from a “prestige trap”.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30+ public board seats</a:t>
            </a:r>
            <a:r>
              <a:rPr sz="1160">
                <a:solidFill>
                  <a:srgbClr val="0E1620"/>
                </a:solidFill>
                <a:latin typeface="Arial"/>
              </a:rPr>
              <a:t>  — real experience mandating pivots and protecting shareholder interests, not writing engagement letters.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A dual lens:</a:t>
            </a:r>
            <a:r>
              <a:rPr sz="1160">
                <a:solidFill>
                  <a:srgbClr val="0E1620"/>
                </a:solidFill>
                <a:latin typeface="Arial"/>
              </a:rPr>
              <a:t>  a forensic investing lens to find the value and a C-suite operating lens that understands the “how” of execution.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Skin in the game.</a:t>
            </a:r>
            <a:r>
              <a:rPr sz="1160">
                <a:solidFill>
                  <a:srgbClr val="0E1620"/>
                </a:solidFill>
                <a:latin typeface="Arial"/>
              </a:rPr>
              <a:t>  The team uses Athanase as its own investment vehicle and shares in the success economics.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Institutional memory.</a:t>
            </a:r>
            <a:r>
              <a:rPr sz="1160">
                <a:solidFill>
                  <a:srgbClr val="0E1620"/>
                </a:solidFill>
                <a:latin typeface="Arial"/>
              </a:rPr>
              <a:t>  Multiple market cycles together eliminate key-person risk and prevent repeating historical mistakes.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We don’t buy broken companies — we buy hidden 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classic objection to activism is adverse selection. Our model inverts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8184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critique.</a:t>
            </a:r>
            <a:r>
              <a:rPr sz="1080">
                <a:solidFill>
                  <a:srgbClr val="0E1620"/>
                </a:solidFill>
                <a:latin typeface="Arial"/>
              </a:rPr>
              <a:t>  Buy “cheap and troubled” and you select for lemons — worse than they look. The market discounted them for a reason.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Our precondition removes it.</a:t>
            </a:r>
            <a:r>
              <a:rPr sz="1080">
                <a:solidFill>
                  <a:srgbClr val="0E1620"/>
                </a:solidFill>
                <a:latin typeface="Arial"/>
              </a:rPr>
              <a:t>  We invest only where the core is a market leader earning high returns on capital — attractive even if we change nothing. No structurally-weak turnarounds.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real setup.</a:t>
            </a:r>
            <a:r>
              <a:rPr sz="1080">
                <a:solidFill>
                  <a:srgbClr val="0E1620"/>
                </a:solidFill>
                <a:latin typeface="Arial"/>
              </a:rPr>
              <a:t>  Profitable leaders whose management pivoted into weak adjacencies — chasing growth as the core matured. A capital-allocation overlay on a good asset, not a bad asset.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inversion.</a:t>
            </a:r>
            <a:r>
              <a:rPr sz="1080">
                <a:solidFill>
                  <a:srgbClr val="0E1620"/>
                </a:solidFill>
                <a:latin typeface="Arial"/>
              </a:rPr>
              <a:t>  Blended results make it look mediocre, so it is priced mediocre. The appearance understates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229" y="2243328"/>
            <a:ext cx="3950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Figure 2  ·  SUM-OF-THE-PARTS (ILLUSTRATIVE · CONSTANT MULTIPLE)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306" y="3706368"/>
            <a:ext cx="1170461" cy="1658112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306" y="3355238"/>
            <a:ext cx="1170461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691" y="5462016"/>
            <a:ext cx="1755691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Market price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(blended optics)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305" y="3043123"/>
            <a:ext cx="1170461" cy="232135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4305" y="2691993"/>
            <a:ext cx="1170461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690" y="5462016"/>
            <a:ext cx="1755691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Core alone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(high ROIIC)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306" y="3706368"/>
            <a:ext cx="2487230" cy="16256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1882" y="3043123"/>
            <a:ext cx="20320" cy="6632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3082137"/>
            <a:ext cx="263353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+40% hidden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76" y="6291072"/>
            <a:ext cx="8778459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The +40% is pure earnings and mix — the same multiple on a cleaner, higher-ROIIC core. Any re-rating is upside we underwrite at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Ownership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ownership playbook, honed over 38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repeatable sequence that turns a board seat into operational value — refocusing a good core, then growing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861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07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Secure the board seat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Often a precondition to invest — the nomination committee proposes an AIP director.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77222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668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Align the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9168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Collaborate with management and stakeholders to agree where the value is and what must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3644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4583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2029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Refocus to drive 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529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Cut overhead and admin, optimise the footprint, exit loss-making “growth-trap”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9861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307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Reallocate to winners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807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Redeploy freed-up capital into the profitable core and its strongest adjacencies; lift R&amp;D where it pays.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6283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77222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668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Grow by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9168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Add complementary products, geographies or scale through value-accretive bolt-ons.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3644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54583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2029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6529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Realise via M&amp;A or in the equity market once the core is refocused and compounding.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22" y="6339840"/>
            <a:ext cx="892476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same playbook across 38 companies — value created by fixing capital allocation, not by financial engineering or leverage.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Quality-core constructivism — how we differ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Even Hohn (TCI) and Loeb (Third Point) pivoted to quality — we capture quality at a discount, with a catalyst in our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719115" cy="409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572807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21461" y="2292096"/>
            <a:ext cx="3547960" cy="40965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09245" y="2292096"/>
            <a:ext cx="3401653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Large generalist activists (e.g. Elliott)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421" y="2292096"/>
            <a:ext cx="3621114" cy="40965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57206" y="2292096"/>
            <a:ext cx="3474806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Athanase — quality-core constructivism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46" y="2701747"/>
            <a:ext cx="1719115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0130" y="2701747"/>
            <a:ext cx="1572807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Entry precondition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1461" y="2701747"/>
            <a:ext cx="3547960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09245" y="2701747"/>
            <a:ext cx="3401653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Wide range of situations — breakups, credit, event-driven; business quality often secondary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421" y="2701747"/>
            <a:ext cx="3621114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57206" y="2701747"/>
            <a:ext cx="3474806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Only a market-leading, high-ROIIC core — “attractive even if we change nothing”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46" y="3423513"/>
            <a:ext cx="1719115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0130" y="3423513"/>
            <a:ext cx="1572807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Source of return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61" y="3423513"/>
            <a:ext cx="3547960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09245" y="3423513"/>
            <a:ext cx="3401653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Financial / transactional pressure: force a sale, return cash, exit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421" y="3423513"/>
            <a:ext cx="3621114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57206" y="3423513"/>
            <a:ext cx="3474806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Operational refocus of a genuinely good business, from a board seat, over years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46" y="4145280"/>
            <a:ext cx="1719115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0130" y="4145280"/>
            <a:ext cx="1572807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What gets fixed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1461" y="4145280"/>
            <a:ext cx="3547960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09245" y="4145280"/>
            <a:ext cx="3401653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price, the structure, the outcome of a contest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421" y="4145280"/>
            <a:ext cx="3621114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57206" y="4145280"/>
            <a:ext cx="3474806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The capital-allocation overlay — the core already works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867046"/>
            <a:ext cx="1719115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30" y="4867046"/>
            <a:ext cx="1572807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Margin of safety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21461" y="4867046"/>
            <a:ext cx="3547960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09245" y="4867046"/>
            <a:ext cx="3401653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Winning the campaign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421" y="4867046"/>
            <a:ext cx="3621114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57206" y="4867046"/>
            <a:ext cx="3474806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The core’s proven high-ROIIC economics — the hard floor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46" y="5588812"/>
            <a:ext cx="1719115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0130" y="5588812"/>
            <a:ext cx="1572807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Cadence &amp; style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61" y="5588812"/>
            <a:ext cx="3547960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09245" y="5588812"/>
            <a:ext cx="3401653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Many simultaneous campaigns, leverage, often confrontational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421" y="5588812"/>
            <a:ext cx="3621114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57206" y="5588812"/>
            <a:ext cx="3474806" cy="7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~one deal a year, constructive, board-led, mid-cap surgical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46" y="6447129"/>
            <a:ext cx="892476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The megacap activists left mid-cap surgical engagements behind as they scaled. That hidden-core niche is our lane.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the specialist, not the household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Recommending Athanase over a brand name is a choice for structural alpha over institutional inertia.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463076" cy="409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61" y="2292096"/>
            <a:ext cx="1272876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65422" y="2292096"/>
            <a:ext cx="3694268" cy="40965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7838" y="2292096"/>
            <a:ext cx="350406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The household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691" y="2292096"/>
            <a:ext cx="3694268" cy="40965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2106" y="2292096"/>
            <a:ext cx="350406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Athanase — the specialist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46" y="2701747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61" y="2701747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Scale &amp; influence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65422" y="2701747"/>
            <a:ext cx="3694268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7838" y="2701747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$10bn+ AUM forces them into large- and mega-caps, where one owner rarely shifts the agenda and growth is incremental.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9691" y="2701747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2106" y="2701747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Mid-market (€50m–€3bn), where a single board seat changes the outcome — the high-return, low-competition lane the giants left behind.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46" y="3579571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61" y="3579571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Return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65422" y="3579571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7838" y="3579571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Large buyouts are leveraged beta — ~0.89 correlated to small/mid equities once de-smoothed; driven by GDP, rates and multiples.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59691" y="3579571"/>
            <a:ext cx="3694268" cy="87782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2106" y="3579571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Idiosyncratic, event-driven alpha at 0.44 correlation — a genuine diversifier, not a duplicate of your equity book.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46" y="4457395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4761" y="4457395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Entry &amp; 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65422" y="4457395"/>
            <a:ext cx="3694268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67838" y="4457395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A ~40% control premium up front, a 10-year blind-pool lock-up, and fees on undeployed dry powder.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59691" y="4457395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2106" y="4457395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Entry at “shareholder exhaustion” — the turnaround effectively for free — with daily liquidity and zero capital-call liability.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5335219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4761" y="5335219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What you’re buying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65422" y="5335219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67838" y="5335219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A brand — but brand recognition does not compound capital.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59691" y="5335219"/>
            <a:ext cx="3694268" cy="87782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2106" y="5335219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Asymmetric capture (93% up / 43% down) and a validated 16.3% net, +7% worst-entry record — institutional process, not a logo.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46" y="6330086"/>
            <a:ext cx="8851613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53" y="6330086"/>
            <a:ext cx="8558998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Brand recognition does not compound capital — asymmetric capture does. The edge is the very lane the household names had to abandon as they scaled.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46" y="7003084"/>
            <a:ext cx="9217382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De-smoothed large-buyout correlation to small/mid-cap equities ~0.89 (Two Sigma / Venn, 2024; Couts, Gonçalves &amp; Rossi, 2020; Boyer et al., 2018). Athanase correlation 0.44 (real). See references.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 complement to global equities, not a duplicate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a global-equity holder asks of a new manager: do you keep up in rallies, lose less in selloffs, and add something the index can’t?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13</a:t>
            </a:r>
          </a:p>
        </p:txBody>
      </p:sp>
      <p:pic>
        <p:nvPicPr>
          <p:cNvPr id="10" name="Picture 9" descr="mc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3627489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91575" y="224332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2514" y="236037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CAPTURE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514" y="2594457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93% up  /  43%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514" y="296509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Keeps pace with rallies but takes less than half of selloffs — the essence of the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575" y="3530803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2514" y="3647846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DIVERSIFICATION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514" y="3881932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correlation  ·  0.73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514" y="4252569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Low correlation to your existing equity book — a genuine diversifier, not levered beta.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575" y="481827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2514" y="493532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RELIABILITY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514" y="5169408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Beat MSCI in 90% of 5-yr and 100% of 7-yr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514" y="554004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Over every rolling 7-year holding period in 20 years, Athanase out-returned the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Athanase captures 93% of the market’s upside but only 43% of its downside — at 0.44 correlation, it improves the whole portfolio, not just one line of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Capture = compounded Athanase return in the market’s up/down months ÷ the market’s. Past performance is not indicative of future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Lower downside risk compounds into better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Athanase carries higher total volatility than the market — but its downside volatility is lower, which is what protects compounding.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30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ANNUALISED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30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6.2%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16.3%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2591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TOTAL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591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16.3%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27.0%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3644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9952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DOWNSIDE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9952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11.5%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360" y="3579571"/>
            <a:ext cx="2889576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152130"/>
                </a:solidFill>
                <a:latin typeface="Arial"/>
              </a:rPr>
              <a:t>↑ Athanase downside volatility is LOWER than the market’s.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22" y="3901440"/>
            <a:ext cx="8778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EXPECTED VALUE OF 100 INVESTED, BY HOLDING PERIOD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94048"/>
            <a:ext cx="2560384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6707" y="419404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99307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87091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8148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5933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6990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4775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35832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23617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years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22" y="4535424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6707" y="453542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Median outcome — MSCI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9307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72460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8148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51302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6990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0144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35832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08986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22" y="4876800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6707" y="4876800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Median outcome — Athanase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307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2460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8148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51302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6990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0144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35832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08986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452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22" y="5218176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6707" y="5218176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Adverse case* — MSCI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99307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72460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99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8148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51302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56990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0144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35832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08986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22" y="5559552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6707" y="5559552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Adverse case* — Athanase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99307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72460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8148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51302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56990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0144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35832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808986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335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22" y="5900928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26707" y="590092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Chance of a loss — MSCI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99307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072460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8148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651302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56990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30144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35832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08986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22" y="6242304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26707" y="624230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Chance of a loss — Athanase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99307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72460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8148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651302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6990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30144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35832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808986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8922" y="6661708"/>
            <a:ext cx="8873559" cy="37063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70599" y="6661708"/>
            <a:ext cx="8632151" cy="370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1">
                <a:solidFill>
                  <a:srgbClr val="FFFFFF"/>
                </a:solidFill>
                <a:latin typeface="Arial"/>
              </a:rPr>
              <a:t>Even in the adverse case, Athanase’s lower downside volatility leaves an investor ahead at every horizon — and the gap widens with time.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22" y="7110374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*Adverse case = one downside-deviation outcome (≈1-in-6), narrowing with horizon as dd/√T. Illustrative; past performance is not indicative of future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Portfolio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 drawdown you can actually defend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fear is defending a halved position in a live crisis review. The arithmetic — and the down-capture — make this the line item you point to with relief, not apology.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4279499" cy="41452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41452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807" y="2467660"/>
            <a:ext cx="3950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THE FULL-FUND 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2877312"/>
            <a:ext cx="3950306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 spc="-90">
                <a:solidFill>
                  <a:srgbClr val="314359"/>
                </a:solidFill>
                <a:latin typeface="Times New Roman"/>
              </a:rPr>
              <a:t>≈ 1% of the fund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807" y="3540556"/>
            <a:ext cx="3950306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is what a 50% drawdown in a 2% sleeve costs at the total-fund level — inside a normal month’s equity noise.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807" y="4291582"/>
            <a:ext cx="3950306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≈ 1.5% at a 3% sleeve — recoverable, and small.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807" y="4925568"/>
            <a:ext cx="3950306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Sized so that no single name — and no sleeve-wide drawdown — can move the fund’s outcome. The position is liquid and daily-priced, so the committee can exit at will: it is never locked in defending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614" y="2292096"/>
            <a:ext cx="4352652" cy="414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WHY IT CUSHIONS, NOT AMPLIFIES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At 43% down-capture, in a macro selloff the sleeve falls roughly half as much as the equity book — it softens the crisis, it doesn’t add to it.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Down months average ~1.5% versus the market’s ~3.8%.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Daily marks and zero capital calls — no forced selling of good assets at the bottom (the denominator effect that traps PE allocators).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000" b="0" i="0">
                <a:solidFill>
                  <a:srgbClr val="0E1620"/>
                </a:solidFill>
                <a:latin typeface="Arial"/>
              </a:rPr>
              <a:t>The two ~50% episodes were idiosyncratic and fully recovered (2010, 2020); Sortino 2.40.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22" y="6300825"/>
            <a:ext cx="8895505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30" y="6300825"/>
            <a:ext cx="8632151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1">
                <a:solidFill>
                  <a:srgbClr val="FFFFFF"/>
                </a:solidFill>
                <a:latin typeface="Arial"/>
              </a:rPr>
              <a:t>A 50% drawdown on a small, liquid, low-down-capture sleeve is a ~1% fund event you can exit at will — not a career-defining hole you are locked into. The PE alternative is also down ~50%, but invisible and illiquid.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Portfolio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it does to an allocator’s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Illustrative: redirecting a sleeve into Athanase rather than a long-only global fund or another activist.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22" y="2340864"/>
          <a:ext cx="4901306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3526014" y="2896819"/>
            <a:ext cx="12192" cy="292608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94476" y="2643225"/>
            <a:ext cx="1463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Down-market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537" y="4392177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Athanase: 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537" y="5248689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Long-only: −19%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575" y="2828544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575" y="4584192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271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575" y="5169408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883" y="2340864"/>
            <a:ext cx="3365076" cy="536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Table 15.  Annual uplift to TOTAL-portfolio return (bps), by sleeve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8883" y="2896819"/>
            <a:ext cx="1097307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2896819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Sleeve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6190" y="2896819"/>
            <a:ext cx="1133884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344" y="2896819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Long-only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0075" y="2896819"/>
            <a:ext cx="1426499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93228" y="2896819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Other activist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8883" y="3345484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62037" y="3345484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86190" y="3345484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344" y="3345484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+31 bps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0075" y="3345484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228" y="3345484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+23 bps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8883" y="3794150"/>
            <a:ext cx="1097307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2037" y="3794150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6190" y="3794150"/>
            <a:ext cx="1133884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9344" y="3794150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+52 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0075" y="3794150"/>
            <a:ext cx="1426499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93228" y="3794150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+38 bps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883" y="4242816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62037" y="4242816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190" y="4242816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59344" y="4242816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+83 bps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0075" y="4242816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93228" y="4242816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+60 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8883" y="4847539"/>
            <a:ext cx="3365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HOW THE PATH IS 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88883" y="5140147"/>
            <a:ext cx="3365076" cy="2145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smooth line is not won by chasing rallies. On average monthly returns (p.17), Athanase roughly matches the market up (1.2% vs 1.3%) but protects sharply down (+0.2% vs −1.7%).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Losing less in the down months — not winning more up — is what compounds the lines apart: a steadier path, not just a higher 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22" y="6973824"/>
            <a:ext cx="651069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Illustrative only; not a projection. Athanase 18% (headline net IRR); other activist 10.5%; long-only 7.6% (MSCI IMI). Uplift = sleeve × return spread; growth = annual compounding. Past performance ≠ future results.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 blend does to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Adding Athanase to a global-equity book moves the portfolio up and to the left — more return for less downside risk, thanks to low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17</a:t>
            </a:r>
          </a:p>
        </p:txBody>
      </p:sp>
      <p:pic>
        <p:nvPicPr>
          <p:cNvPr id="10" name="Picture 9" descr="mc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6002145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10690" y="2262835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1629" y="2379878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ALL GLOBAL EQUITIES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1629" y="2633472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6.1%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11.5% downside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629" y="3062630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100% MSCI World IMI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690" y="3569817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1629" y="3686860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ADD A PRUDENT 8% SLEEVE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629" y="3940454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7.3%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11.1% downside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629" y="4369612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92% MSCI  /  8% Athanase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690" y="4896307"/>
            <a:ext cx="281642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HOW TO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690" y="5169408"/>
            <a:ext cx="2816422" cy="1853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Every blend on the curve beats holding equities alone, and the benefit keeps building until past half the portfolio (downside risk bottoms near 60%). That is a directional case to size up — within prudent limits — not a target: a 59% position would breach concentration, liquidity and the 3–8% sizing discipline. Even an 8% sleeve already moves the portfolio the right 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The blend is not a trade-off: every allocation raises return and lowers downside risk — so to a committee this is a mathematical risk-reduction tool, not a risky bet, sized within prudent 3–8%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(2006–2025), monthly rebalanced blends. The minimum-risk point is in-sample and shown for shape, not as advice. Illustrative; past performance is not indicative of future results.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Proof: outperformance with downside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2076" y="1901952"/>
          <a:ext cx="5193921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25460" y="1999488"/>
            <a:ext cx="3365076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What downside protection means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In the market’s down months Athanase fell ~1.5% on average versus the market’s ~3.8% — losing less than half as much when it matters.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Positive when the market wasn’t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Across the six worst years for global equities, Athanase outperformed in five — and stayed positive in two: +9% in 2015 and +0.3% in 2022, while the market fell −6% and −20%.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Why it compounds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Losing less in drawdowns leaves more capital working in the recovery — the engine behind 18× growth of capital vs 3.2× for the market since 2006.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AIP Fund II — transactions (2015–present)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Each position shown against its benchmark; invested capital weighted MOIC of 2.2x.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414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7176" y="2292096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2730" y="2292096"/>
            <a:ext cx="1463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21253" y="229209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Holding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806" y="2292096"/>
            <a:ext cx="1243615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4329" y="229209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421" y="2292096"/>
            <a:ext cx="1243615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27944" y="229209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MOIC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13036" y="2292096"/>
            <a:ext cx="1463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71560" y="229209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vs 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53" y="2498871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7176" y="2498871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Bufab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62730" y="2498871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21253" y="2498871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25806" y="2498871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4329" y="2498871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421" y="2498871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27944" y="2498871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2.0x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3036" y="2498871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1560" y="2498871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53" y="2705646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7176" y="2705646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DistIt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2730" y="2705646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21253" y="270564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5806" y="2705646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4329" y="270564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421" y="2705646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27944" y="270564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13036" y="2705646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71560" y="270564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-1%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53" y="2912422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7176" y="2912422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Ngex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2730" y="2912422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21253" y="2912422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25806" y="2912422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4329" y="2912422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69%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421" y="2912422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27944" y="2912422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6.2x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13036" y="2912422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71560" y="2912422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+59%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53" y="3119197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7176" y="3119197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Alcadon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62730" y="3119197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21253" y="3119197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25806" y="3119197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84329" y="3119197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421" y="3119197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27944" y="3119197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1.7x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3036" y="3119197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971560" y="3119197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+65%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53" y="3325973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7176" y="3325973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Tempest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62730" y="3325973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021253" y="3325973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25806" y="3325973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84329" y="3325973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12%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421" y="3325973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27944" y="3325973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13036" y="3325973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971560" y="3325973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+3%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53" y="3532748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7176" y="3532748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Zalaris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62730" y="3532748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021253" y="353274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25806" y="3532748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84329" y="353274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421" y="3532748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27944" y="353274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13036" y="3532748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971560" y="353274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+16%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53" y="3739524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07176" y="3739524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Zutec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62730" y="3739524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021253" y="3739524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5806" y="3739524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484329" y="3739524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38%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421" y="3739524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727944" y="3739524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2.8x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13036" y="3739524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971560" y="3739524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53" y="3946299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7176" y="3946299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Roko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62730" y="3946299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021253" y="3946299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2019-2025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25806" y="3946299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484329" y="3946299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28%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421" y="3946299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727944" y="3946299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5.1x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13036" y="3946299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971560" y="3946299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+18%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53" y="4153075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7176" y="4153075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Catella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62730" y="4153075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021253" y="4153075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2020-2025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425806" y="4153075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484329" y="4153075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12%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9421" y="4153075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727944" y="4153075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13036" y="4153075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971560" y="4153075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53" y="4359850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07176" y="4359850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962730" y="4359850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3021253" y="4359850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2020-2025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425806" y="4359850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484329" y="4359850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69421" y="4359850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727944" y="4359850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5.4x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913036" y="4359850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971560" y="4359850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8653" y="4566626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07176" y="4566626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Renold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962730" y="4566626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021253" y="456662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2024-2025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425806" y="4566626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484329" y="456662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220%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421" y="4566626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727944" y="456662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913036" y="4566626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971560" y="456662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+211%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53" y="4773401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07176" y="4773401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Actic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62730" y="4773401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021253" y="4773401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2017-2023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25806" y="4773401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84329" y="4773401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-27%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669421" y="4773401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727944" y="4773401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0.4x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913036" y="4773401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971560" y="4773401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-33%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48653" y="4980177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07176" y="4980177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Haldex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62730" y="4980177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021253" y="4980177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2019-2022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25806" y="4980177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484329" y="4980177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669421" y="4980177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727944" y="4980177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913036" y="4980177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971560" y="4980177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+33%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8653" y="5186952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07176" y="5186952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Robit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962730" y="5186952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021253" y="5186952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425806" y="5186952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484329" y="5186952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14%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669421" y="5186952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5727944" y="5186952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1.4x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913036" y="5186952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6971560" y="5186952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+8%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8653" y="5393728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07176" y="5393728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Kitron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962730" y="539372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021253" y="539372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2016-2018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425806" y="539372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484329" y="539372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40%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669421" y="539372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727944" y="539372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1.5x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913036" y="539372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971560" y="539372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+16%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48653" y="5600503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07176" y="5600503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Sandvik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962730" y="5600503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3021253" y="5600503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2015-2017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425806" y="5600503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484329" y="5600503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49%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669421" y="5600503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727944" y="5600503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913036" y="5600503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971560" y="5600503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+43%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48653" y="5807278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07176" y="5807278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Transcom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962730" y="580727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021253" y="580727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2015-2016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425806" y="580727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484329" y="580727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80%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669421" y="580727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5727944" y="580727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1.7x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913036" y="580727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971560" y="580727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+80%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48653" y="6111590"/>
            <a:ext cx="7827459" cy="33162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58384" y="6111590"/>
            <a:ext cx="7607998" cy="3316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Arial"/>
              </a:rPr>
              <a:t>deals   ·   weighted MOIC 2.2x   ·   ex best/worst IRR 41% vs index ~9%   ·   35 of 38 deals profitable since 2006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48653" y="6521241"/>
            <a:ext cx="8632151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IRR/MOIC net of the position; “n.m.” where short holding periods make annualised figures not meaningful. Capital in SEK.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Independent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Independently validated: 20 years, net of every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prospective LP’s investment committee reconciled the security-level (StatPro) data against the LP-level NET return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5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+1,743%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cumulative NET return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over 19.3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836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836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+16.3%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NET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(net of all fees)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808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808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+10 pts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alpha,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net, vs the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779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779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5.8×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the relevant equity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4291582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Two full cycles, survived.</a:t>
            </a:r>
            <a:r>
              <a:rPr sz="1120">
                <a:solidFill>
                  <a:srgbClr val="0E1620"/>
                </a:solidFill>
                <a:latin typeface="Arial"/>
              </a:rPr>
              <a:t>  Drawdowns of −52.8% (2008, recovered by 2010) and −45.9% (2017–2020, recovered by Sep 2020) — navigated live with the same philosophy, not back-tested.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Top-tier downside-adjusted return.</a:t>
            </a:r>
            <a:r>
              <a:rPr sz="1120">
                <a:solidFill>
                  <a:srgbClr val="0E1620"/>
                </a:solidFill>
                <a:latin typeface="Arial"/>
              </a:rPr>
              <a:t>  20-year Sortino 1.54; AIPFII Sortino 2.40, with upside volatility 3.9× the downside.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Realised cash, not marks.</a:t>
            </a:r>
            <a:r>
              <a:rPr sz="1120">
                <a:solidFill>
                  <a:srgbClr val="0E1620"/>
                </a:solidFill>
                <a:latin typeface="Arial"/>
              </a:rPr>
              <a:t>  The largest contributors are realised LP cash — removing the mark-to-model objection.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6778752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Source: independent institutional due-diligence review, May 2026, on StatPro security-level data and LP-level NET monthly returns (2006–2026).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27318a-0826-4810-8988-cc3e5c2e3a20">
      <Terms xmlns="http://schemas.microsoft.com/office/infopath/2007/PartnerControls"/>
    </lcf76f155ced4ddcb4097134ff3c332f>
    <TaxCatchAll xmlns="4124b31e-6573-4802-b7ef-311f4d2627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310709CD82A6741BE5E8B9BFA41D3C0" ma:contentTypeVersion="13" ma:contentTypeDescription="Skapa ett nytt dokument." ma:contentTypeScope="" ma:versionID="ea70554b132df1325a42697029f21ce4">
  <xsd:schema xmlns:xsd="http://www.w3.org/2001/XMLSchema" xmlns:xs="http://www.w3.org/2001/XMLSchema" xmlns:p="http://schemas.microsoft.com/office/2006/metadata/properties" xmlns:ns2="5e27318a-0826-4810-8988-cc3e5c2e3a20" xmlns:ns3="4124b31e-6573-4802-b7ef-311f4d26277d" targetNamespace="http://schemas.microsoft.com/office/2006/metadata/properties" ma:root="true" ma:fieldsID="cc21193230fc81558174baefa7095284" ns2:_="" ns3:_="">
    <xsd:import namespace="5e27318a-0826-4810-8988-cc3e5c2e3a20"/>
    <xsd:import namespace="4124b31e-6573-4802-b7ef-311f4d2627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7318a-0826-4810-8988-cc3e5c2e3a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eringar" ma:readOnly="false" ma:fieldId="{5cf76f15-5ced-4ddc-b409-7134ff3c332f}" ma:taxonomyMulti="true" ma:sspId="7f99c0e0-a277-4309-9e70-fff5b915c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24b31e-6573-4802-b7ef-311f4d26277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70a8ef-2ce6-4f9b-a60c-abb7e201e7ac}" ma:internalName="TaxCatchAll" ma:showField="CatchAllData" ma:web="4124b31e-6573-4802-b7ef-311f4d2627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9CEDA-D96E-4DE0-BD69-05CF6CA08BCA}">
  <ds:schemaRefs>
    <ds:schemaRef ds:uri="http://schemas.microsoft.com/office/2006/metadata/properties"/>
    <ds:schemaRef ds:uri="http://schemas.microsoft.com/office/infopath/2007/PartnerControls"/>
    <ds:schemaRef ds:uri="5e27318a-0826-4810-8988-cc3e5c2e3a20"/>
    <ds:schemaRef ds:uri="4124b31e-6573-4802-b7ef-311f4d26277d"/>
  </ds:schemaRefs>
</ds:datastoreItem>
</file>

<file path=customXml/itemProps2.xml><?xml version="1.0" encoding="utf-8"?>
<ds:datastoreItem xmlns:ds="http://schemas.openxmlformats.org/officeDocument/2006/customXml" ds:itemID="{2B94E596-B65B-4BD7-8F65-8C8EB76BB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B4E500-B9BC-47AF-8F6B-49D89CFF5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27318a-0826-4810-8988-cc3e5c2e3a20"/>
    <ds:schemaRef ds:uri="4124b31e-6573-4802-b7ef-311f4d2627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20734</Words>
  <Application>Microsoft Office PowerPoint</Application>
  <PresentationFormat>Custom</PresentationFormat>
  <Paragraphs>1785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Stefan Charette</cp:lastModifiedBy>
  <cp:revision>1</cp:revision>
  <dcterms:created xsi:type="dcterms:W3CDTF">2013-01-27T09:14:16Z</dcterms:created>
  <dcterms:modified xsi:type="dcterms:W3CDTF">2026-06-09T08:13:39Z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0x0101006310709CD82A6741BE5E8B9BFA41D3C0</vt:lpwstr>
  </property>
</Properties>
</file>