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52130"/>
                </a:solidFill>
                <a:latin typeface="Arial"/>
              </a:rPr>
              <a:t>R&amp;D intensity (% of sales)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R&amp;D % of sales</c:v>
                </c:pt>
              </c:strCache>
            </c:strRef>
          </c:tx>
          <c:spPr>
            <a:solidFill>
              <a:srgbClr val="556A83"/>
            </a:solidFill>
          </c:spPr>
          <c:dPt>
            <c:idx val="0"/>
            <c:spPr>
              <a:solidFill>
                <a:srgbClr val="833C00"/>
              </a:solidFill>
            </c:spPr>
          </c:dPt>
          <c:cat>
            <c:strRef>
              <c:f>Sheet1!$A$2:$A$10</c:f>
              <c:strCache>
                <c:ptCount val="9"/>
                <c:pt idx="0">
                  <c:v>TBK</c:v>
                </c:pt>
                <c:pt idx="1">
                  <c:v>Akebono</c:v>
                </c:pt>
                <c:pt idx="2">
                  <c:v>Cummins</c:v>
                </c:pt>
                <c:pt idx="3">
                  <c:v>Aisin</c:v>
                </c:pt>
                <c:pt idx="4">
                  <c:v>Mahle</c:v>
                </c:pt>
                <c:pt idx="5">
                  <c:v>Mikuni</c:v>
                </c:pt>
                <c:pt idx="6">
                  <c:v>Brembo</c:v>
                </c:pt>
                <c:pt idx="7">
                  <c:v>Knorr-Bremse</c:v>
                </c:pt>
                <c:pt idx="8">
                  <c:v>ZF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2.2</c:v>
                </c:pt>
                <c:pt idx="1">
                  <c:v>4.3</c:v>
                </c:pt>
                <c:pt idx="2">
                  <c:v>4.3</c:v>
                </c:pt>
                <c:pt idx="3">
                  <c:v>4.8</c:v>
                </c:pt>
                <c:pt idx="4">
                  <c:v>5.4</c:v>
                </c:pt>
                <c:pt idx="5">
                  <c:v>5.9</c:v>
                </c:pt>
                <c:pt idx="6">
                  <c:v>6.1</c:v>
                </c:pt>
                <c:pt idx="7">
                  <c:v>6.8</c:v>
                </c:pt>
                <c:pt idx="8">
                  <c:v>8.6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000"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52130"/>
                </a:solidFill>
                <a:latin typeface="Arial"/>
              </a:rPr>
              <a:t>Accumulated R&amp;D / knowledge stock, US$M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Knowledge stock ($M)</c:v>
                </c:pt>
              </c:strCache>
            </c:strRef>
          </c:tx>
          <c:spPr>
            <a:solidFill>
              <a:srgbClr val="556A83"/>
            </a:solidFill>
          </c:spPr>
          <c:dPt>
            <c:idx val="0"/>
            <c:spPr>
              <a:solidFill>
                <a:srgbClr val="833C00"/>
              </a:solidFill>
            </c:spPr>
          </c:dPt>
          <c:cat>
            <c:strRef>
              <c:f>Sheet1!$A$2:$A$5</c:f>
              <c:strCache>
                <c:ptCount val="4"/>
                <c:pt idx="0">
                  <c:v>TBK</c:v>
                </c:pt>
                <c:pt idx="1">
                  <c:v>Akebono</c:v>
                </c:pt>
                <c:pt idx="2">
                  <c:v>SAF-Holland</c:v>
                </c:pt>
                <c:pt idx="3">
                  <c:v>Mikuni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43</c:v>
                </c:pt>
                <c:pt idx="1">
                  <c:v>123</c:v>
                </c:pt>
                <c:pt idx="2">
                  <c:v>131</c:v>
                </c:pt>
                <c:pt idx="3">
                  <c:v>194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100"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52130"/>
                </a:solidFill>
                <a:latin typeface="Arial"/>
              </a:rPr>
              <a:t>What different customers pay TBK for its products (contribution 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Contribution margin %</c:v>
                </c:pt>
              </c:strCache>
            </c:strRef>
          </c:tx>
          <c:spPr>
            <a:solidFill>
              <a:srgbClr val="6F8990"/>
            </a:solidFill>
          </c:spPr>
          <c:dPt>
            <c:idx val="0"/>
            <c:spPr>
              <a:solidFill>
                <a:srgbClr val="833C00"/>
              </a:solidFill>
            </c:spPr>
          </c:dPt>
          <c:cat>
            <c:strRef>
              <c:f>Sheet1!$A$2:$A$7</c:f>
              <c:strCache>
                <c:ptCount val="6"/>
                <c:pt idx="0">
                  <c:v>Keiretsu OEMs
(blended)</c:v>
                </c:pt>
                <c:pt idx="1">
                  <c:v>Hino</c:v>
                </c:pt>
                <c:pt idx="2">
                  <c:v>Aftermarket</c:v>
                </c:pt>
                <c:pt idx="3">
                  <c:v>Komatsu</c:v>
                </c:pt>
                <c:pt idx="4">
                  <c:v>Toho</c:v>
                </c:pt>
                <c:pt idx="5">
                  <c:v>Cummins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17.0</c:v>
                </c:pt>
                <c:pt idx="1">
                  <c:v>21.0</c:v>
                </c:pt>
                <c:pt idx="2">
                  <c:v>30.2</c:v>
                </c:pt>
                <c:pt idx="3">
                  <c:v>32.6</c:v>
                </c:pt>
                <c:pt idx="4">
                  <c:v>43.5</c:v>
                </c:pt>
                <c:pt idx="5">
                  <c:v>79.8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000"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52130"/>
                </a:solidFill>
                <a:latin typeface="Arial"/>
              </a:rPr>
              <a:t>Our flagship SAW drum brake: contribution margin %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Contribution margin %</c:v>
                </c:pt>
              </c:strCache>
            </c:strRef>
          </c:tx>
          <c:spPr>
            <a:solidFill>
              <a:srgbClr val="6F8990"/>
            </a:solidFill>
          </c:spPr>
          <c:dPt>
            <c:idx val="0"/>
            <c:spPr>
              <a:solidFill>
                <a:srgbClr val="833C00"/>
              </a:solidFill>
            </c:spPr>
          </c:dPt>
          <c:dPt>
            <c:idx val="1"/>
            <c:spPr>
              <a:solidFill>
                <a:srgbClr val="334E57"/>
              </a:solidFill>
            </c:spPr>
          </c:dPt>
          <c:cat>
            <c:strRef>
              <c:f>Sheet1!$A$2:$A$4</c:f>
              <c:strCache>
                <c:ptCount val="3"/>
                <c:pt idx="0">
                  <c:v>SAW today
(keiretsu price)</c:v>
                </c:pt>
                <c:pt idx="1">
                  <c:v>SAW at
market price</c:v>
                </c:pt>
                <c:pt idx="2">
                  <c:v>Peer core
products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19.5</c:v>
                </c:pt>
                <c:pt idx="1">
                  <c:v>41.0</c:v>
                </c:pt>
                <c:pt idx="2">
                  <c:v>42.0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100"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52130"/>
                </a:solidFill>
                <a:latin typeface="Arial"/>
              </a:rPr>
              <a:t>Operating margin trajectory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Operating margin %</c:v>
                </c:pt>
              </c:strCache>
            </c:strRef>
          </c:tx>
          <c:spPr>
            <a:solidFill>
              <a:srgbClr val="556A83"/>
            </a:solidFill>
          </c:spPr>
          <c:dPt>
            <c:idx val="0"/>
            <c:spPr>
              <a:solidFill>
                <a:srgbClr val="833C00"/>
              </a:solidFill>
            </c:spPr>
          </c:dPt>
          <c:dPt>
            <c:idx val="1"/>
            <c:spPr>
              <a:solidFill>
                <a:srgbClr val="334E57"/>
              </a:solidFill>
            </c:spPr>
          </c:dPt>
          <c:dPt>
            <c:idx val="2"/>
            <c:spPr>
              <a:solidFill>
                <a:srgbClr val="6F8990"/>
              </a:solidFill>
            </c:spPr>
          </c:dPt>
          <c:cat>
            <c:strRef>
              <c:f>Sheet1!$A$2:$A$4</c:f>
              <c:strCache>
                <c:ptCount val="3"/>
                <c:pt idx="0">
                  <c:v>Today</c:v>
                </c:pt>
                <c:pt idx="1">
                  <c:v>18 months
(Phase 1)</c:v>
                </c:pt>
                <c:pt idx="2">
                  <c:v>Steady state
(Phase 2)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2.7</c:v>
                </c:pt>
                <c:pt idx="1">
                  <c:v>10.6</c:v>
                </c:pt>
                <c:pt idx="2">
                  <c:v>15.0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200"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2130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pic>
        <p:nvPicPr>
          <p:cNvPr id="3" name="Picture 2" descr="athanase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640080"/>
            <a:ext cx="2377440" cy="49113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19456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0">
                <a:solidFill>
                  <a:srgbClr val="FFFFFF"/>
                </a:solidFill>
                <a:latin typeface="Times New Roman"/>
              </a:rPr>
              <a:t>We built world-class products.</a:t>
            </a:r>
          </a:p>
          <a:p>
            <a:pPr algn="l"/>
            <a:r>
              <a:rPr sz="4200" b="0">
                <a:solidFill>
                  <a:srgbClr val="FFFFFF"/>
                </a:solidFill>
                <a:latin typeface="Times New Roman"/>
              </a:rPr>
              <a:t>Now let's capture their value.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0624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E2E5E9"/>
                </a:solidFill>
                <a:latin typeface="Arial"/>
              </a:rPr>
              <a:t>TBK Co., Ltd. — a management case for acting now to secure our next 75 years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0350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8B8C8"/>
                </a:solidFill>
                <a:latin typeface="Arial"/>
              </a:rPr>
              <a:t>Prepared with Athanase Industrial Partner  | 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97840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>
                <a:solidFill>
                  <a:srgbClr val="152130"/>
                </a:solidFill>
                <a:latin typeface="Times New Roman"/>
              </a:rPr>
              <a:t>Start from strength: 75 years of engineering excellence</a:t>
            </a:r>
          </a:p>
        </p:txBody>
      </p:sp>
      <p:pic>
        <p:nvPicPr>
          <p:cNvPr id="3" name="Picture 2" descr="athanase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292608"/>
            <a:ext cx="1325880" cy="27390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850392"/>
            <a:ext cx="11274552" cy="18288"/>
          </a:xfrm>
          <a:prstGeom prst="rect">
            <a:avLst/>
          </a:prstGeom>
          <a:solidFill>
            <a:srgbClr val="E2E5E9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556A83"/>
                </a:solidFill>
                <a:latin typeface="Arial"/>
              </a:rPr>
              <a:t>TBK is not a struggling company — it is an exceptional engineering company that has been too modest about its own value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2743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52130"/>
                </a:solidFill>
                <a:latin typeface="Times New Roman"/>
              </a:rPr>
              <a:t>75 yrs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67712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556A83"/>
                </a:solidFill>
                <a:latin typeface="Arial"/>
              </a:rPr>
              <a:t>supplying Japan's most demanding truck makers — Isuzu, Fuso, Hino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20440" y="1554480"/>
            <a:ext cx="2743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334E57"/>
                </a:solidFill>
                <a:latin typeface="Times New Roman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0440" y="2267712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556A83"/>
                </a:solidFill>
                <a:latin typeface="Arial"/>
              </a:rPr>
              <a:t>findable recalls or quality scandals in that entire history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554480"/>
            <a:ext cx="2743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52130"/>
                </a:solidFill>
                <a:latin typeface="Times New Roman"/>
              </a:rPr>
              <a:t>~70-90%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267712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556A83"/>
                </a:solidFill>
                <a:latin typeface="Arial"/>
              </a:rPr>
              <a:t>domestic share in truck water &amp; oil pumps; #1 in CV brakes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0" y="1554480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334E57"/>
                </a:solidFill>
                <a:latin typeface="Times New Roman"/>
              </a:rPr>
              <a:t>1960s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0" y="2267712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556A83"/>
                </a:solidFill>
                <a:latin typeface="Arial"/>
              </a:rPr>
              <a:t>pioneering retarders — decades ahead of the electrification need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566160"/>
            <a:ext cx="5486400" cy="2788920"/>
          </a:xfrm>
          <a:prstGeom prst="rect">
            <a:avLst/>
          </a:prstGeom>
          <a:solidFill>
            <a:srgbClr val="F6F7F9"/>
          </a:solidFill>
          <a:ln w="15875">
            <a:solidFill>
              <a:srgbClr val="334E57"/>
            </a:solidFill>
          </a:ln>
        </p:spPr>
        <p:txBody>
          <a:bodyPr wrap="square" lIns="137160" rIns="137160" tIns="109728">
            <a:spAutoFit/>
          </a:bodyPr>
          <a:lstStyle/>
          <a:p>
            <a:r>
              <a:rPr sz="1450" b="1">
                <a:solidFill>
                  <a:srgbClr val="334E57"/>
                </a:solidFill>
                <a:latin typeface="Arial"/>
              </a:rPr>
              <a:t>Products that lead their class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52130"/>
                </a:solidFill>
                <a:latin typeface="Arial"/>
              </a:rPr>
              <a:t>SAW drum brake — the leading drum brake in stopping distance, energy saving and weight, TODAY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52130"/>
                </a:solidFill>
                <a:latin typeface="Arial"/>
              </a:rPr>
              <a:t>Co-authored commercial-vehicle disc-brake research with Isuzu in 1990 (SAE 902200) — before discs were mainstream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52130"/>
                </a:solidFill>
                <a:latin typeface="Arial"/>
              </a:rPr>
              <a:t>Electromagnetic &amp; regenerative retarders since the 1960s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52130"/>
                </a:solidFill>
                <a:latin typeface="Arial"/>
              </a:rPr>
              <a:t>Electric water/oil pumps and a thermal control unit already in development for the EV era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3566160"/>
            <a:ext cx="5440680" cy="2788920"/>
          </a:xfrm>
          <a:prstGeom prst="rect">
            <a:avLst/>
          </a:prstGeom>
          <a:solidFill>
            <a:srgbClr val="E2E5E9"/>
          </a:solidFill>
          <a:ln w="15875">
            <a:solidFill>
              <a:srgbClr val="152130"/>
            </a:solidFill>
          </a:ln>
        </p:spPr>
        <p:txBody>
          <a:bodyPr wrap="square" lIns="137160" rIns="137160" tIns="109728">
            <a:spAutoFit/>
          </a:bodyPr>
          <a:lstStyle/>
          <a:p>
            <a:r>
              <a:rPr sz="1450" b="1">
                <a:solidFill>
                  <a:srgbClr val="152130"/>
                </a:solidFill>
                <a:latin typeface="Arial"/>
              </a:rPr>
              <a:t>The one thing we have never mastered: charging for it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52130"/>
                </a:solidFill>
                <a:latin typeface="Arial"/>
              </a:rPr>
              <a:t>The engineering has never been the problem. For 75 years TBK has built products good enough to lead — and priced them as if they were ordinary.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52130"/>
                </a:solidFill>
                <a:latin typeface="Arial"/>
              </a:rPr>
              <a:t>This deck is about one fixable gap: turning world-class engineering into world-class economics.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52130"/>
                </a:solidFill>
                <a:latin typeface="Arial"/>
              </a:rPr>
              <a:t>Everything that follows is within our control.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465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52130"/>
                </a:solidFill>
                <a:latin typeface="Arial"/>
              </a:rPr>
              <a:t>The challenge ahead is not technical — it is commercial. And commercial problems are the ones we can fix ourselves.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97840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>
                <a:solidFill>
                  <a:srgbClr val="152130"/>
                </a:solidFill>
                <a:latin typeface="Times New Roman"/>
              </a:rPr>
              <a:t>The market is shifting toward exactly what we can build</a:t>
            </a:r>
          </a:p>
        </p:txBody>
      </p:sp>
      <p:pic>
        <p:nvPicPr>
          <p:cNvPr id="3" name="Picture 2" descr="athanase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292608"/>
            <a:ext cx="1325880" cy="27390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850392"/>
            <a:ext cx="11274552" cy="18288"/>
          </a:xfrm>
          <a:prstGeom prst="rect">
            <a:avLst/>
          </a:prstGeom>
          <a:solidFill>
            <a:srgbClr val="E2E5E9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556A83"/>
                </a:solidFill>
                <a:latin typeface="Arial"/>
              </a:rPr>
              <a:t>Two transitions are reshaping our industry — both play to TBK's engineering heritage, if we are ready in 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5440680" cy="2194560"/>
          </a:xfrm>
          <a:prstGeom prst="rect">
            <a:avLst/>
          </a:prstGeom>
          <a:solidFill>
            <a:srgbClr val="F6F7F9"/>
          </a:solidFill>
          <a:ln w="15875">
            <a:solidFill>
              <a:srgbClr val="334E57"/>
            </a:solidFill>
          </a:ln>
        </p:spPr>
        <p:txBody>
          <a:bodyPr wrap="square" lIns="137160" rIns="137160" tIns="109728">
            <a:spAutoFit/>
          </a:bodyPr>
          <a:lstStyle/>
          <a:p>
            <a:r>
              <a:rPr sz="1450" b="1">
                <a:solidFill>
                  <a:srgbClr val="334E57"/>
                </a:solidFill>
                <a:latin typeface="Arial"/>
              </a:rPr>
              <a:t>Brakes: drum → air disc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52130"/>
                </a:solidFill>
                <a:latin typeface="Arial"/>
              </a:rPr>
              <a:t>Europe converted by ~2000; North America crossed 50% in 2023-24; Japan is the last drum market — but the flip is coming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52130"/>
                </a:solidFill>
                <a:latin typeface="Arial"/>
              </a:rPr>
              <a:t>UD already all-disc; the new Giga tractor all-disc; Isuzu's export heavies all-disc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52130"/>
                </a:solidFill>
                <a:latin typeface="Arial"/>
              </a:rPr>
              <a:t>We co-invented CV disc brakes in 1990 — this is our home turf to reclaim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1554480"/>
            <a:ext cx="5577840" cy="2194560"/>
          </a:xfrm>
          <a:prstGeom prst="rect">
            <a:avLst/>
          </a:prstGeom>
          <a:solidFill>
            <a:srgbClr val="F6F7F9"/>
          </a:solidFill>
          <a:ln w="15875">
            <a:solidFill>
              <a:srgbClr val="334E57"/>
            </a:solidFill>
          </a:ln>
        </p:spPr>
        <p:txBody>
          <a:bodyPr wrap="square" lIns="137160" rIns="137160" tIns="109728">
            <a:spAutoFit/>
          </a:bodyPr>
          <a:lstStyle/>
          <a:p>
            <a:r>
              <a:rPr sz="1450" b="1">
                <a:solidFill>
                  <a:srgbClr val="334E57"/>
                </a:solidFill>
                <a:latin typeface="Arial"/>
              </a:rPr>
              <a:t>Pumps: mechanical → electric thermal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52130"/>
                </a:solidFill>
                <a:latin typeface="Arial"/>
              </a:rPr>
              <a:t>Electrification MULTIPLIES pump content per vehicle 8-30x (battery, motor, inverter, fuel-cell cooling loops)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52130"/>
                </a:solidFill>
                <a:latin typeface="Arial"/>
              </a:rPr>
              <a:t>Our pump franchise is on the RIGHT side of this shift — the category grows, it does not shrink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52130"/>
                </a:solidFill>
                <a:latin typeface="Arial"/>
              </a:rPr>
              <a:t>Mikuni already ships an e-oil pump for a Japanese BEV truck; we have the e-pump + TCU in development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931920"/>
            <a:ext cx="11155680" cy="2286000"/>
          </a:xfrm>
          <a:prstGeom prst="rect">
            <a:avLst/>
          </a:prstGeom>
          <a:solidFill>
            <a:srgbClr val="E2E5E9"/>
          </a:solidFill>
          <a:ln w="15875">
            <a:solidFill>
              <a:srgbClr val="152130"/>
            </a:solidFill>
          </a:ln>
        </p:spPr>
        <p:txBody>
          <a:bodyPr wrap="square" lIns="137160" rIns="137160" tIns="109728">
            <a:spAutoFit/>
          </a:bodyPr>
          <a:lstStyle/>
          <a:p>
            <a:r>
              <a:rPr sz="1450" b="1">
                <a:solidFill>
                  <a:srgbClr val="152130"/>
                </a:solidFill>
                <a:latin typeface="Arial"/>
              </a:rPr>
              <a:t>This is an opportunity, not a threat — on one condition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152130"/>
                </a:solidFill>
                <a:latin typeface="Arial"/>
              </a:rPr>
              <a:t>Both transitions reward the supplier who arrives first with qualified, homologated products. The window is open now and our customers are beginning to choose their next-generation partners.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152130"/>
                </a:solidFill>
                <a:latin typeface="Arial"/>
              </a:rPr>
              <a:t>TBK has the engineering DNA to win both. What we need is the capital to finish the products and the margin to fund them — which today we give away at the negotiating table.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152130"/>
                </a:solidFill>
                <a:latin typeface="Arial"/>
              </a:rPr>
              <a:t>The rest of this case shows how to free that capital from what we already own, and turn these two shifts into the foundation of a leading niche player.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97840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152130"/>
                </a:solidFill>
                <a:latin typeface="Times New Roman"/>
              </a:rPr>
              <a:t>Our competitors are investing to win the future — we are not yet</a:t>
            </a:r>
          </a:p>
        </p:txBody>
      </p:sp>
      <p:pic>
        <p:nvPicPr>
          <p:cNvPr id="3" name="Picture 2" descr="athanase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292608"/>
            <a:ext cx="1325880" cy="27390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850392"/>
            <a:ext cx="11274552" cy="18288"/>
          </a:xfrm>
          <a:prstGeom prst="rect">
            <a:avLst/>
          </a:prstGeom>
          <a:solidFill>
            <a:srgbClr val="E2E5E9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556A83"/>
                </a:solidFill>
                <a:latin typeface="Arial"/>
              </a:rPr>
              <a:t>R&amp;D as % of sales, latest year. The companies that will be ready when our customers flip platforms are spending 2-4x what we do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508760"/>
          <a:ext cx="7040880" cy="4114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680960" y="1508760"/>
            <a:ext cx="4069080" cy="4114800"/>
          </a:xfrm>
          <a:prstGeom prst="rect">
            <a:avLst/>
          </a:prstGeom>
          <a:solidFill>
            <a:srgbClr val="F6F7F9"/>
          </a:solidFill>
          <a:ln w="15875">
            <a:solidFill>
              <a:srgbClr val="833C00"/>
            </a:solidFill>
          </a:ln>
        </p:spPr>
        <p:txBody>
          <a:bodyPr wrap="square" lIns="137160" rIns="137160" tIns="109728">
            <a:spAutoFit/>
          </a:bodyPr>
          <a:lstStyle/>
          <a:p>
            <a:r>
              <a:rPr sz="1450" b="1">
                <a:solidFill>
                  <a:srgbClr val="833C00"/>
                </a:solidFill>
                <a:latin typeface="Arial"/>
              </a:rPr>
              <a:t>What this buys them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152130"/>
                </a:solidFill>
                <a:latin typeface="Arial"/>
              </a:rPr>
              <a:t>Brake systems players: 6-9% — funding disc-brake electronics, brake-by-wire, ADAS integration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152130"/>
                </a:solidFill>
                <a:latin typeface="Arial"/>
              </a:rPr>
              <a:t>Pump/thermal players: 4-6% — funding e-pumps and BEV thermal modules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152130"/>
                </a:solidFill>
                <a:latin typeface="Arial"/>
              </a:rPr>
              <a:t>Even Akebono, in financial distress, now spends 4.3% to develop electro-mechanical brakes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152130"/>
                </a:solidFill>
                <a:latin typeface="Arial"/>
              </a:rPr>
              <a:t>TBK at 2.2% is funding the smallest future in the peer group — while sitting on the engineering to do more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8064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52130"/>
                </a:solidFill>
                <a:latin typeface="Arial"/>
              </a:rPr>
              <a:t>This is not a criticism of our engineers — it is a capital-allocation choice. We have been spending at half the industry rate, and the gap compounds every year we wait.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97840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152130"/>
                </a:solidFill>
                <a:latin typeface="Times New Roman"/>
              </a:rPr>
              <a:t>The gap compounds: our knowledge base is falling behind peers our size</a:t>
            </a:r>
          </a:p>
        </p:txBody>
      </p:sp>
      <p:pic>
        <p:nvPicPr>
          <p:cNvPr id="3" name="Picture 2" descr="athanase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292608"/>
            <a:ext cx="1325880" cy="27390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850392"/>
            <a:ext cx="11274552" cy="18288"/>
          </a:xfrm>
          <a:prstGeom prst="rect">
            <a:avLst/>
          </a:prstGeom>
          <a:solidFill>
            <a:srgbClr val="E2E5E9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556A83"/>
                </a:solidFill>
                <a:latin typeface="Arial"/>
              </a:rPr>
              <a:t>Capitalized R&amp;D (accumulated know-how), size-class peers. A decade of under-spending has left us with the thinnest knowledge stock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508760"/>
          <a:ext cx="6400800" cy="4114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040880" y="1508760"/>
            <a:ext cx="4709160" cy="1965960"/>
          </a:xfrm>
          <a:prstGeom prst="rect">
            <a:avLst/>
          </a:prstGeom>
          <a:solidFill>
            <a:srgbClr val="F6F7F9"/>
          </a:solidFill>
          <a:ln w="15875">
            <a:solidFill>
              <a:srgbClr val="833C00"/>
            </a:solidFill>
          </a:ln>
        </p:spPr>
        <p:txBody>
          <a:bodyPr wrap="square" lIns="137160" rIns="137160" tIns="109728">
            <a:spAutoFit/>
          </a:bodyPr>
          <a:lstStyle/>
          <a:p>
            <a:r>
              <a:rPr sz="1450" b="1">
                <a:solidFill>
                  <a:srgbClr val="833C00"/>
                </a:solidFill>
                <a:latin typeface="Arial"/>
              </a:rPr>
              <a:t>Mikuni — our size — holds 4.5x our stock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152130"/>
                </a:solidFill>
                <a:latin typeface="Arial"/>
              </a:rPr>
              <a:t>Mikuni is a domestic peer in adjacent products at ~2x our revenue — yet carries 4.5x our knowledge base. Even distressed Akebono holds 3x. This is not a scale excuse; it is a spending choice.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0" y="3611880"/>
            <a:ext cx="4709160" cy="2011680"/>
          </a:xfrm>
          <a:prstGeom prst="rect">
            <a:avLst/>
          </a:prstGeom>
          <a:solidFill>
            <a:srgbClr val="F6F7F9"/>
          </a:solidFill>
          <a:ln w="15875">
            <a:solidFill>
              <a:srgbClr val="334E57"/>
            </a:solidFill>
          </a:ln>
        </p:spPr>
        <p:txBody>
          <a:bodyPr wrap="square" lIns="137160" rIns="137160" tIns="109728">
            <a:spAutoFit/>
          </a:bodyPr>
          <a:lstStyle/>
          <a:p>
            <a:r>
              <a:rPr sz="1450" b="1">
                <a:solidFill>
                  <a:srgbClr val="334E57"/>
                </a:solidFill>
                <a:latin typeface="Arial"/>
              </a:rPr>
              <a:t>~$100M cumulative R&amp;D deficit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152130"/>
                </a:solidFill>
                <a:latin typeface="Arial"/>
              </a:rPr>
              <a:t>Over the past decade we have under-invested by roughly $100M versus a normal peer rate. The good news: this is recoverable — and the next pages show the money is already inside the company, waiting to be freed.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8064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52130"/>
                </a:solidFill>
                <a:latin typeface="Arial"/>
              </a:rPr>
              <a:t>Closing this gap is not optional — it is how we stay qualified when our customers choose their next-generation suppliers. The question is only how to fund 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97840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152130"/>
                </a:solidFill>
                <a:latin typeface="Times New Roman"/>
              </a:rPr>
              <a:t>The loyalty illusion: our partnerships are more transactional than they feel</a:t>
            </a:r>
          </a:p>
        </p:txBody>
      </p:sp>
      <p:pic>
        <p:nvPicPr>
          <p:cNvPr id="3" name="Picture 2" descr="athanase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292608"/>
            <a:ext cx="1325880" cy="27390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850392"/>
            <a:ext cx="11274552" cy="18288"/>
          </a:xfrm>
          <a:prstGeom prst="rect">
            <a:avLst/>
          </a:prstGeom>
          <a:solidFill>
            <a:srgbClr val="E2E5E9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556A83"/>
                </a:solidFill>
                <a:latin typeface="Arial"/>
              </a:rPr>
              <a:t>The same products earn very different margins depending on who is buying — the keiretsu relationship is, in the numbers, a discount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508760"/>
          <a:ext cx="6766560" cy="4114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406640" y="1508760"/>
            <a:ext cx="4343400" cy="4114800"/>
          </a:xfrm>
          <a:prstGeom prst="rect">
            <a:avLst/>
          </a:prstGeom>
          <a:solidFill>
            <a:srgbClr val="F6F7F9"/>
          </a:solidFill>
          <a:ln w="15875">
            <a:solidFill>
              <a:srgbClr val="833C00"/>
            </a:solidFill>
          </a:ln>
        </p:spPr>
        <p:txBody>
          <a:bodyPr wrap="square" lIns="137160" rIns="137160" tIns="109728">
            <a:spAutoFit/>
          </a:bodyPr>
          <a:lstStyle/>
          <a:p>
            <a:r>
              <a:rPr sz="1450" b="1">
                <a:solidFill>
                  <a:srgbClr val="833C00"/>
                </a:solidFill>
                <a:latin typeface="Arial"/>
              </a:rPr>
              <a:t>We are subsidizing our largest partners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152130"/>
                </a:solidFill>
                <a:latin typeface="Arial"/>
              </a:rPr>
              <a:t>Non-keiretsu buyers pay roughly 2x what our keiretsu partners pay for identical parts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152130"/>
                </a:solidFill>
                <a:latin typeface="Arial"/>
              </a:rPr>
              <a:t>TBK's blended gross margin is 12.5% — while Isuzu earns ~19% and Hino ~17%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152130"/>
                </a:solidFill>
                <a:latin typeface="Arial"/>
              </a:rPr>
              <a:t>We earn LESS than our own customers — the reverse of a healthy specialist supplier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152130"/>
                </a:solidFill>
                <a:latin typeface="Arial"/>
              </a:rPr>
              <a:t>Every yen of discount to a partner is a yen we cannot spend on the products they will need tomorrow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8064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52130"/>
                </a:solidFill>
                <a:latin typeface="Arial"/>
              </a:rPr>
              <a:t>True partnership is mutual. A partner who values our supply security and our roadmap will accept fair pricing — because they need us to be healthy enough to build their future.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97840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152130"/>
                </a:solidFill>
                <a:latin typeface="Times New Roman"/>
              </a:rPr>
              <a:t>When we fall behind on technology, loyalty does not save us</a:t>
            </a:r>
          </a:p>
        </p:txBody>
      </p:sp>
      <p:pic>
        <p:nvPicPr>
          <p:cNvPr id="3" name="Picture 2" descr="athanase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292608"/>
            <a:ext cx="1325880" cy="27390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850392"/>
            <a:ext cx="11274552" cy="18288"/>
          </a:xfrm>
          <a:prstGeom prst="rect">
            <a:avLst/>
          </a:prstGeom>
          <a:solidFill>
            <a:srgbClr val="E2E5E9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556A83"/>
                </a:solidFill>
                <a:latin typeface="Arial"/>
              </a:rPr>
              <a:t>The evidence is already on the table — we do not have to guess what happens when a keiretsu customer flips platforms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5440680" cy="2834640"/>
          </a:xfrm>
          <a:prstGeom prst="rect">
            <a:avLst/>
          </a:prstGeom>
          <a:solidFill>
            <a:srgbClr val="F6F7F9"/>
          </a:solidFill>
          <a:ln w="15875">
            <a:solidFill>
              <a:srgbClr val="833C00"/>
            </a:solidFill>
          </a:ln>
        </p:spPr>
        <p:txBody>
          <a:bodyPr wrap="square" lIns="137160" rIns="137160" tIns="109728">
            <a:spAutoFit/>
          </a:bodyPr>
          <a:lstStyle/>
          <a:p>
            <a:r>
              <a:rPr sz="1450" b="1">
                <a:solidFill>
                  <a:srgbClr val="833C00"/>
                </a:solidFill>
                <a:latin typeface="Arial"/>
              </a:rPr>
              <a:t>The UD Trucks precedent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152130"/>
                </a:solidFill>
                <a:latin typeface="Arial"/>
              </a:rPr>
              <a:t>UD Trucks flipped to an all-disc-brake platform.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152130"/>
                </a:solidFill>
                <a:latin typeface="Arial"/>
              </a:rPr>
              <a:t>TBK was not positioned with a qualified air disc brake.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152130"/>
                </a:solidFill>
                <a:latin typeface="Arial"/>
              </a:rPr>
              <a:t>Result: TBK holds ZERO cells at UD today — every brake and pump position is held by a competitor.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152130"/>
                </a:solidFill>
                <a:latin typeface="Arial"/>
              </a:rPr>
              <a:t>Loyalty did not protect the business. Readiness would have.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1600200"/>
            <a:ext cx="5577840" cy="2834640"/>
          </a:xfrm>
          <a:prstGeom prst="rect">
            <a:avLst/>
          </a:prstGeom>
          <a:solidFill>
            <a:srgbClr val="E2E5E9"/>
          </a:solidFill>
          <a:ln w="15875">
            <a:solidFill>
              <a:srgbClr val="152130"/>
            </a:solidFill>
          </a:ln>
        </p:spPr>
        <p:txBody>
          <a:bodyPr wrap="square" lIns="137160" rIns="137160" tIns="109728">
            <a:spAutoFit/>
          </a:bodyPr>
          <a:lstStyle/>
          <a:p>
            <a:r>
              <a:rPr sz="1450" b="1">
                <a:solidFill>
                  <a:srgbClr val="152130"/>
                </a:solidFill>
                <a:latin typeface="Arial"/>
              </a:rPr>
              <a:t>Now scale that risk to Isuzu and Fuso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152130"/>
                </a:solidFill>
                <a:latin typeface="Arial"/>
              </a:rPr>
              <a:t>Isuzu alone is ~22% of our sales. When Isuzu and Fuso flip to ADB and require e-pumps for their EV programs, they will buy from whoever is ready.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152130"/>
                </a:solidFill>
                <a:latin typeface="Arial"/>
              </a:rPr>
              <a:t>If that is Knorr-Bremse or Mikuni instead of TBK, we do not lose a contract — we lose the franchise.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152130"/>
                </a:solidFill>
                <a:latin typeface="Arial"/>
              </a:rPr>
              <a:t>The transition is sticky until it happens, then it is abrupt.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572000"/>
            <a:ext cx="11155680" cy="1691640"/>
          </a:xfrm>
          <a:prstGeom prst="rect">
            <a:avLst/>
          </a:prstGeom>
          <a:solidFill>
            <a:srgbClr val="F6F7F9"/>
          </a:solidFill>
          <a:ln w="15875">
            <a:solidFill>
              <a:srgbClr val="334E57"/>
            </a:solidFill>
          </a:ln>
        </p:spPr>
        <p:txBody>
          <a:bodyPr wrap="square" lIns="137160" rIns="137160" tIns="109728">
            <a:spAutoFit/>
          </a:bodyPr>
          <a:lstStyle/>
          <a:p>
            <a:r>
              <a:rPr sz="1450" b="1">
                <a:solidFill>
                  <a:srgbClr val="334E57"/>
                </a:solidFill>
                <a:latin typeface="Arial"/>
              </a:rPr>
              <a:t>The window is open now — and it will not stay open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152130"/>
                </a:solidFill>
                <a:latin typeface="Arial"/>
              </a:rPr>
              <a:t>Our customers are choosing their next-generation partners over the next few product cycles. The supplier who arrives first with a qualified, homologated ADB and e-pump wins the platform for a decade. We have the engineering to be that supplier — but only if we fund it now, while we still hold the incumbency that gets us in the room.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97840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152130"/>
                </a:solidFill>
                <a:latin typeface="Times New Roman"/>
              </a:rPr>
              <a:t>The good news: the value is already ours — we simply give it away</a:t>
            </a:r>
          </a:p>
        </p:txBody>
      </p:sp>
      <p:pic>
        <p:nvPicPr>
          <p:cNvPr id="3" name="Picture 2" descr="athanase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292608"/>
            <a:ext cx="1325880" cy="27390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850392"/>
            <a:ext cx="11274552" cy="18288"/>
          </a:xfrm>
          <a:prstGeom prst="rect">
            <a:avLst/>
          </a:prstGeom>
          <a:solidFill>
            <a:srgbClr val="E2E5E9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556A83"/>
                </a:solidFill>
                <a:latin typeface="Arial"/>
              </a:rPr>
              <a:t>We do not need to invent anything new to start. Our best products already earn world-class margins when we price them properly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508760"/>
          <a:ext cx="6035040" cy="4114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766560" y="1508760"/>
            <a:ext cx="4983480" cy="4114800"/>
          </a:xfrm>
          <a:prstGeom prst="rect">
            <a:avLst/>
          </a:prstGeom>
          <a:solidFill>
            <a:srgbClr val="F6F7F9"/>
          </a:solidFill>
          <a:ln w="15875">
            <a:solidFill>
              <a:srgbClr val="334E57"/>
            </a:solidFill>
          </a:ln>
        </p:spPr>
        <p:txBody>
          <a:bodyPr wrap="square" lIns="137160" rIns="137160" tIns="109728">
            <a:spAutoFit/>
          </a:bodyPr>
          <a:lstStyle/>
          <a:p>
            <a:r>
              <a:rPr sz="1450" b="1">
                <a:solidFill>
                  <a:srgbClr val="334E57"/>
                </a:solidFill>
                <a:latin typeface="Arial"/>
              </a:rPr>
              <a:t>Our best product, priced ~30% below market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152130"/>
                </a:solidFill>
                <a:latin typeface="Arial"/>
              </a:rPr>
              <a:t>SAW leads its class in stopping, energy and weight — yet earns just 19.5% contribution because we sell it ~30% below market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152130"/>
                </a:solidFill>
                <a:latin typeface="Arial"/>
              </a:rPr>
              <a:t>At market price it earns 38-44% — exactly what the world's best brake and pump makers earn on their core products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152130"/>
                </a:solidFill>
                <a:latin typeface="Arial"/>
              </a:rPr>
              <a:t>Same product. Same factory. Same engineering. Only the price changes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152130"/>
                </a:solidFill>
                <a:latin typeface="Arial"/>
              </a:rPr>
              <a:t>We own the design (confirmed) — the value is ours to capture, in Japan, in exports, and in the aftermarket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8064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52130"/>
                </a:solidFill>
                <a:latin typeface="Arial"/>
              </a:rPr>
              <a:t>This is the most hopeful number in the whole analysis: our path to peer-level economics runs through products we have ALREADY built.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97840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>
                <a:solidFill>
                  <a:srgbClr val="152130"/>
                </a:solidFill>
                <a:latin typeface="Times New Roman"/>
              </a:rPr>
              <a:t>Lever 1 — Price to the value we create</a:t>
            </a:r>
          </a:p>
        </p:txBody>
      </p:sp>
      <p:pic>
        <p:nvPicPr>
          <p:cNvPr id="3" name="Picture 2" descr="athanase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292608"/>
            <a:ext cx="1325880" cy="27390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850392"/>
            <a:ext cx="11274552" cy="18288"/>
          </a:xfrm>
          <a:prstGeom prst="rect">
            <a:avLst/>
          </a:prstGeom>
          <a:solidFill>
            <a:srgbClr val="E2E5E9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556A83"/>
                </a:solidFill>
                <a:latin typeface="Arial"/>
              </a:rPr>
              <a:t>Not a confrontation — a long-overdue correction, paired with something our customers want even more than a discount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3657600" cy="4206240"/>
          </a:xfrm>
          <a:prstGeom prst="rect">
            <a:avLst/>
          </a:prstGeom>
          <a:solidFill>
            <a:srgbClr val="F6F7F9"/>
          </a:solidFill>
          <a:ln w="15875">
            <a:solidFill>
              <a:srgbClr val="152130"/>
            </a:solidFill>
          </a:ln>
        </p:spPr>
        <p:txBody>
          <a:bodyPr wrap="square" lIns="137160" rIns="137160" tIns="109728">
            <a:spAutoFit/>
          </a:bodyPr>
          <a:lstStyle/>
          <a:p>
            <a:r>
              <a:rPr sz="1450" b="1">
                <a:solidFill>
                  <a:srgbClr val="152130"/>
                </a:solidFill>
                <a:latin typeface="Arial"/>
              </a:rPr>
              <a:t>What we do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52130"/>
                </a:solidFill>
                <a:latin typeface="Arial"/>
              </a:rPr>
              <a:t>Reprice toward market over contract-renewal cycles, starting where we are sole-source</a:t>
            </a:r>
          </a:p>
          <a:p>
            <a:pPr>
              <a:spcBef>
                <a:spcPts val="400"/>
              </a:spcBef>
            </a:pP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52130"/>
                </a:solidFill>
                <a:latin typeface="Arial"/>
              </a:rPr>
              <a:t>Raise aftermarket prices now (+10%) — a market-priced channel we already control</a:t>
            </a:r>
          </a:p>
          <a:p>
            <a:pPr>
              <a:spcBef>
                <a:spcPts val="400"/>
              </a:spcBef>
            </a:pP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52130"/>
                </a:solidFill>
                <a:latin typeface="Arial"/>
              </a:rPr>
              <a:t>Sell SAW-class products at market price into exports and India via the Brakes India alliance</a:t>
            </a:r>
          </a:p>
          <a:p>
            <a:pPr>
              <a:spcBef>
                <a:spcPts val="400"/>
              </a:spcBef>
            </a:pP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52130"/>
                </a:solidFill>
                <a:latin typeface="Arial"/>
              </a:rPr>
              <a:t>Stop or reprice the loss-making lines we should never have accepted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600200"/>
            <a:ext cx="3657600" cy="4206240"/>
          </a:xfrm>
          <a:prstGeom prst="rect">
            <a:avLst/>
          </a:prstGeom>
          <a:solidFill>
            <a:srgbClr val="E2E5E9"/>
          </a:solidFill>
          <a:ln w="15875">
            <a:solidFill>
              <a:srgbClr val="334E57"/>
            </a:solidFill>
          </a:ln>
        </p:spPr>
        <p:txBody>
          <a:bodyPr wrap="square" lIns="137160" rIns="137160" tIns="109728">
            <a:spAutoFit/>
          </a:bodyPr>
          <a:lstStyle/>
          <a:p>
            <a:r>
              <a:rPr sz="1450" b="1">
                <a:solidFill>
                  <a:srgbClr val="334E57"/>
                </a:solidFill>
                <a:latin typeface="Arial"/>
              </a:rPr>
              <a:t>How we keep it a partnership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52130"/>
                </a:solidFill>
                <a:latin typeface="Arial"/>
              </a:rPr>
              <a:t>Pair every price increase with our committed ADB / e-pump technology roadmap</a:t>
            </a:r>
          </a:p>
          <a:p>
            <a:pPr>
              <a:spcBef>
                <a:spcPts val="400"/>
              </a:spcBef>
            </a:pP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52130"/>
                </a:solidFill>
                <a:latin typeface="Arial"/>
              </a:rPr>
              <a:t>Offer supply security and future technology in exchange for fair pricing — not price for nothing</a:t>
            </a:r>
          </a:p>
          <a:p>
            <a:pPr>
              <a:spcBef>
                <a:spcPts val="400"/>
              </a:spcBef>
            </a:pP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52130"/>
                </a:solidFill>
                <a:latin typeface="Arial"/>
              </a:rPr>
              <a:t>Frame it honestly: we need fair margins to build the products you will require tomorrow</a:t>
            </a:r>
          </a:p>
          <a:p>
            <a:pPr>
              <a:spcBef>
                <a:spcPts val="400"/>
              </a:spcBef>
            </a:pP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52130"/>
                </a:solidFill>
                <a:latin typeface="Arial"/>
              </a:rPr>
              <a:t>A healthy TBK is in our customers' own interest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1600200"/>
            <a:ext cx="3657600" cy="4206240"/>
          </a:xfrm>
          <a:prstGeom prst="rect">
            <a:avLst/>
          </a:prstGeom>
          <a:solidFill>
            <a:srgbClr val="F6F7F9"/>
          </a:solidFill>
          <a:ln w="15875">
            <a:solidFill>
              <a:srgbClr val="334E57"/>
            </a:solidFill>
          </a:ln>
        </p:spPr>
        <p:txBody>
          <a:bodyPr wrap="square" lIns="137160" rIns="137160" tIns="109728">
            <a:spAutoFit/>
          </a:bodyPr>
          <a:lstStyle/>
          <a:p>
            <a:r>
              <a:rPr sz="1450" b="1">
                <a:solidFill>
                  <a:srgbClr val="334E57"/>
                </a:solidFill>
                <a:latin typeface="Arial"/>
              </a:rPr>
              <a:t>What it is worth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52130"/>
                </a:solidFill>
                <a:latin typeface="Arial"/>
              </a:rPr>
              <a:t>Closing the margin gap to peer levels: +$22-24M gross profit per year</a:t>
            </a:r>
          </a:p>
          <a:p>
            <a:pPr>
              <a:spcBef>
                <a:spcPts val="400"/>
              </a:spcBef>
            </a:pP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52130"/>
                </a:solidFill>
                <a:latin typeface="Arial"/>
              </a:rPr>
              <a:t>Phase 1 needs only ~1/3 of the full pricing gap — a deliberately modest, achievable ask</a:t>
            </a:r>
          </a:p>
          <a:p>
            <a:pPr>
              <a:spcBef>
                <a:spcPts val="400"/>
              </a:spcBef>
            </a:pP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52130"/>
                </a:solidFill>
                <a:latin typeface="Arial"/>
              </a:rPr>
              <a:t>Every point of margin flows almost entirely to the bottom line and to R&amp;D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9436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52130"/>
                </a:solidFill>
                <a:latin typeface="Arial"/>
              </a:rPr>
              <a:t>We are not asking customers to overpay. We are asking them to stop underpaying for products that lead their class.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97840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>
                <a:solidFill>
                  <a:srgbClr val="152130"/>
                </a:solidFill>
                <a:latin typeface="Times New Roman"/>
              </a:rPr>
              <a:t>Lever 2 — Right-size the factory footprint</a:t>
            </a:r>
          </a:p>
        </p:txBody>
      </p:sp>
      <p:pic>
        <p:nvPicPr>
          <p:cNvPr id="3" name="Picture 2" descr="athanase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292608"/>
            <a:ext cx="1325880" cy="27390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850392"/>
            <a:ext cx="11274552" cy="18288"/>
          </a:xfrm>
          <a:prstGeom prst="rect">
            <a:avLst/>
          </a:prstGeom>
          <a:solidFill>
            <a:srgbClr val="E2E5E9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556A83"/>
                </a:solidFill>
                <a:latin typeface="Arial"/>
              </a:rPr>
              <a:t>The hidden burden is not in our overheads — it is in our underused factories, and fixing it frees cash immediately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2743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833C00"/>
                </a:solidFill>
                <a:latin typeface="Times New Roman"/>
              </a:rPr>
              <a:t>39%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67712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556A83"/>
                </a:solidFill>
                <a:latin typeface="Arial"/>
              </a:rPr>
              <a:t>of sales tied up in property, plant &amp; equipment — vs ~12% at a profitable peer (Concentric)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20440" y="1554480"/>
            <a:ext cx="2743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833C00"/>
                </a:solidFill>
                <a:latin typeface="Times New Roman"/>
              </a:rPr>
              <a:t>5.3%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0440" y="2267712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556A83"/>
                </a:solidFill>
                <a:latin typeface="Arial"/>
              </a:rPr>
              <a:t>of every sales yen consumed by depreciation alone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554480"/>
            <a:ext cx="2743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833C00"/>
                </a:solidFill>
                <a:latin typeface="Times New Roman"/>
              </a:rPr>
              <a:t>2 yrs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267712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556A83"/>
                </a:solidFill>
                <a:latin typeface="Arial"/>
              </a:rPr>
              <a:t>of losses in our China segment — depreciation there is 12.8% of segment sales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0" y="1554480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833C00"/>
                </a:solidFill>
                <a:latin typeface="Times New Roman"/>
              </a:rPr>
              <a:t>¥2.2bn+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0" y="2267712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556A83"/>
                </a:solidFill>
                <a:latin typeface="Arial"/>
              </a:rPr>
              <a:t>of impairments &amp; restructuring already absorbed in two years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566160"/>
            <a:ext cx="5486400" cy="2697480"/>
          </a:xfrm>
          <a:prstGeom prst="rect">
            <a:avLst/>
          </a:prstGeom>
          <a:solidFill>
            <a:srgbClr val="F6F7F9"/>
          </a:solidFill>
          <a:ln w="15875">
            <a:solidFill>
              <a:srgbClr val="833C00"/>
            </a:solidFill>
          </a:ln>
        </p:spPr>
        <p:txBody>
          <a:bodyPr wrap="square" lIns="137160" rIns="137160" tIns="109728">
            <a:spAutoFit/>
          </a:bodyPr>
          <a:lstStyle/>
          <a:p>
            <a:r>
              <a:rPr sz="1450" b="1">
                <a:solidFill>
                  <a:srgbClr val="833C00"/>
                </a:solidFill>
                <a:latin typeface="Arial"/>
              </a:rPr>
              <a:t>Our OPEX looks lean — but that is the illusion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52130"/>
                </a:solidFill>
                <a:latin typeface="Arial"/>
              </a:rPr>
              <a:t>Reported operating expense is only 9.7% of sales, so the company looks efficient. It is not where the burden sits.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52130"/>
                </a:solidFill>
                <a:latin typeface="Arial"/>
              </a:rPr>
              <a:t>Under our accounting, factory overhead, depreciation and idle capacity sit in COST OF SALES — which is exactly why our gross margin is half our peers'.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52130"/>
                </a:solidFill>
                <a:latin typeface="Arial"/>
              </a:rPr>
              <a:t>The cost problem and the margin problem are the same problem.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3566160"/>
            <a:ext cx="5440680" cy="2697480"/>
          </a:xfrm>
          <a:prstGeom prst="rect">
            <a:avLst/>
          </a:prstGeom>
          <a:solidFill>
            <a:srgbClr val="E2E5E9"/>
          </a:solidFill>
          <a:ln w="15875">
            <a:solidFill>
              <a:srgbClr val="334E57"/>
            </a:solidFill>
          </a:ln>
        </p:spPr>
        <p:txBody>
          <a:bodyPr wrap="square" lIns="137160" rIns="137160" tIns="109728">
            <a:spAutoFit/>
          </a:bodyPr>
          <a:lstStyle/>
          <a:p>
            <a:r>
              <a:rPr sz="1450" b="1">
                <a:solidFill>
                  <a:srgbClr val="334E57"/>
                </a:solidFill>
                <a:latin typeface="Arial"/>
              </a:rPr>
              <a:t>Consolidation frees cash now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52130"/>
                </a:solidFill>
                <a:latin typeface="Arial"/>
              </a:rPr>
              <a:t>Reorganizing and consolidating the underloaded footprint, fixing or exiting China, and monetizing dormant assets frees cash in the near term.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52130"/>
                </a:solidFill>
                <a:latin typeface="Arial"/>
              </a:rPr>
              <a:t>This is the immediate funding lever — it does not wait for new products or new prices.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52130"/>
                </a:solidFill>
                <a:latin typeface="Arial"/>
              </a:rPr>
              <a:t>FY3/2026 already proved it works: we cut cost of sales ¥0.7bn and lifted margin from 10.6% to 12.5% in a single year.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52130"/>
                </a:solidFill>
                <a:latin typeface="Arial"/>
              </a:rPr>
              <a:t>We have started. The turn in last year's numbers shows the plan works — now we accelerate it.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97840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>
                <a:solidFill>
                  <a:srgbClr val="152130"/>
                </a:solidFill>
                <a:latin typeface="Times New Roman"/>
              </a:rPr>
              <a:t>The self-funding flywheel: no outside capital required</a:t>
            </a:r>
          </a:p>
        </p:txBody>
      </p:sp>
      <p:pic>
        <p:nvPicPr>
          <p:cNvPr id="3" name="Picture 2" descr="athanase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292608"/>
            <a:ext cx="1325880" cy="27390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850392"/>
            <a:ext cx="11274552" cy="18288"/>
          </a:xfrm>
          <a:prstGeom prst="rect">
            <a:avLst/>
          </a:prstGeom>
          <a:solidFill>
            <a:srgbClr val="E2E5E9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556A83"/>
                </a:solidFill>
                <a:latin typeface="Arial"/>
              </a:rPr>
              <a:t>Each lever funds the next — this is an offensive growth strategy, not a defensive cost exercise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2157984" cy="3383280"/>
          </a:xfrm>
          <a:prstGeom prst="rect">
            <a:avLst/>
          </a:prstGeom>
          <a:solidFill>
            <a:srgbClr val="F6F7F9"/>
          </a:solidFill>
          <a:ln w="15875">
            <a:solidFill>
              <a:srgbClr val="833C00"/>
            </a:solidFill>
          </a:ln>
        </p:spPr>
        <p:txBody>
          <a:bodyPr wrap="square" lIns="137160" rIns="137160" tIns="109728">
            <a:spAutoFit/>
          </a:bodyPr>
          <a:lstStyle/>
          <a:p>
            <a:r>
              <a:rPr sz="1450" b="1">
                <a:solidFill>
                  <a:srgbClr val="833C00"/>
                </a:solidFill>
                <a:latin typeface="Arial"/>
              </a:rPr>
              <a:t>1. Fix the footprint</a:t>
            </a:r>
          </a:p>
          <a:p>
            <a:pPr>
              <a:spcBef>
                <a:spcPts val="400"/>
              </a:spcBef>
            </a:pP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52130"/>
                </a:solidFill>
                <a:latin typeface="Arial"/>
              </a:rPr>
              <a:t>Consolidate underused plants, fix China, monetize dormant assets — frees cash immediately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88336" y="310896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556A83"/>
                </a:solidFill>
                <a:latin typeface="Arial"/>
              </a:rP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16352" y="1737360"/>
            <a:ext cx="2157984" cy="3383280"/>
          </a:xfrm>
          <a:prstGeom prst="rect">
            <a:avLst/>
          </a:prstGeom>
          <a:solidFill>
            <a:srgbClr val="F6F7F9"/>
          </a:solidFill>
          <a:ln w="15875">
            <a:solidFill>
              <a:srgbClr val="334E57"/>
            </a:solidFill>
          </a:ln>
        </p:spPr>
        <p:txBody>
          <a:bodyPr wrap="square" lIns="137160" rIns="137160" tIns="109728">
            <a:spAutoFit/>
          </a:bodyPr>
          <a:lstStyle/>
          <a:p>
            <a:r>
              <a:rPr sz="1450" b="1">
                <a:solidFill>
                  <a:srgbClr val="334E57"/>
                </a:solidFill>
                <a:latin typeface="Arial"/>
              </a:rPr>
              <a:t>2. Price to value</a:t>
            </a:r>
          </a:p>
          <a:p>
            <a:pPr>
              <a:spcBef>
                <a:spcPts val="400"/>
              </a:spcBef>
            </a:pP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52130"/>
                </a:solidFill>
                <a:latin typeface="Arial"/>
              </a:rPr>
              <a:t>Reprice toward market + aftermarket — +$22-24M gross profit per year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56048" y="310896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556A83"/>
                </a:solidFill>
                <a:latin typeface="Arial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84064" y="1737360"/>
            <a:ext cx="2157984" cy="3383280"/>
          </a:xfrm>
          <a:prstGeom prst="rect">
            <a:avLst/>
          </a:prstGeom>
          <a:solidFill>
            <a:srgbClr val="F6F7F9"/>
          </a:solidFill>
          <a:ln w="15875">
            <a:solidFill>
              <a:srgbClr val="334E57"/>
            </a:solidFill>
          </a:ln>
        </p:spPr>
        <p:txBody>
          <a:bodyPr wrap="square" lIns="137160" rIns="137160" tIns="109728">
            <a:spAutoFit/>
          </a:bodyPr>
          <a:lstStyle/>
          <a:p>
            <a:r>
              <a:rPr sz="1450" b="1">
                <a:solidFill>
                  <a:srgbClr val="334E57"/>
                </a:solidFill>
                <a:latin typeface="Arial"/>
              </a:rPr>
              <a:t>3. Fund the future</a:t>
            </a:r>
          </a:p>
          <a:p>
            <a:pPr>
              <a:spcBef>
                <a:spcPts val="400"/>
              </a:spcBef>
            </a:pP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52130"/>
                </a:solidFill>
                <a:latin typeface="Arial"/>
              </a:rPr>
              <a:t>Self-fund the ~$27M/yr R&amp;D catch-up — ADB, e-pumps, thermal — no outside capital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0" y="310896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556A83"/>
                </a:solidFill>
                <a:latin typeface="Arial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51776" y="1737360"/>
            <a:ext cx="2157984" cy="3383280"/>
          </a:xfrm>
          <a:prstGeom prst="rect">
            <a:avLst/>
          </a:prstGeom>
          <a:solidFill>
            <a:srgbClr val="F6F7F9"/>
          </a:solidFill>
          <a:ln w="15875">
            <a:solidFill>
              <a:srgbClr val="6F8990"/>
            </a:solidFill>
          </a:ln>
        </p:spPr>
        <p:txBody>
          <a:bodyPr wrap="square" lIns="137160" rIns="137160" tIns="109728">
            <a:spAutoFit/>
          </a:bodyPr>
          <a:lstStyle/>
          <a:p>
            <a:r>
              <a:rPr sz="1450" b="1">
                <a:solidFill>
                  <a:srgbClr val="6F8990"/>
                </a:solidFill>
                <a:latin typeface="Arial"/>
              </a:rPr>
              <a:t>4. Win the sockets</a:t>
            </a:r>
          </a:p>
          <a:p>
            <a:pPr>
              <a:spcBef>
                <a:spcPts val="400"/>
              </a:spcBef>
            </a:pP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52130"/>
                </a:solidFill>
                <a:latin typeface="Arial"/>
              </a:rPr>
              <a:t>Arrive first with qualified ADB &amp; e-pumps — secure Isuzu/Fuso/Hino platforms for a decade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91472" y="310896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556A83"/>
                </a:solidFill>
                <a:latin typeface="Arial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19488" y="1737360"/>
            <a:ext cx="2157984" cy="3383280"/>
          </a:xfrm>
          <a:prstGeom prst="rect">
            <a:avLst/>
          </a:prstGeom>
          <a:solidFill>
            <a:srgbClr val="F6F7F9"/>
          </a:solidFill>
          <a:ln w="15875">
            <a:solidFill>
              <a:srgbClr val="6F8990"/>
            </a:solidFill>
          </a:ln>
        </p:spPr>
        <p:txBody>
          <a:bodyPr wrap="square" lIns="137160" rIns="137160" tIns="109728">
            <a:spAutoFit/>
          </a:bodyPr>
          <a:lstStyle/>
          <a:p>
            <a:r>
              <a:rPr sz="1450" b="1">
                <a:solidFill>
                  <a:srgbClr val="6F8990"/>
                </a:solidFill>
                <a:latin typeface="Arial"/>
              </a:rPr>
              <a:t>5. Earn premium margins</a:t>
            </a:r>
          </a:p>
          <a:p>
            <a:pPr>
              <a:spcBef>
                <a:spcPts val="400"/>
              </a:spcBef>
            </a:pP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52130"/>
                </a:solidFill>
                <a:latin typeface="Arial"/>
              </a:rPr>
              <a:t>Class-leading products, priced fairly, on the right side of electrification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394960"/>
            <a:ext cx="11183112" cy="914400"/>
          </a:xfrm>
          <a:prstGeom prst="rect">
            <a:avLst/>
          </a:prstGeom>
          <a:solidFill>
            <a:srgbClr val="E2E5E9"/>
          </a:solidFill>
          <a:ln w="15875">
            <a:solidFill>
              <a:srgbClr val="152130"/>
            </a:solidFill>
          </a:ln>
        </p:spPr>
        <p:txBody>
          <a:bodyPr wrap="square" lIns="137160" rIns="137160" tIns="109728">
            <a:spAutoFit/>
          </a:bodyPr>
          <a:lstStyle/>
          <a:p>
            <a:r>
              <a:rPr sz="1450" b="1">
                <a:solidFill>
                  <a:srgbClr val="152130"/>
                </a:solidFill>
                <a:latin typeface="Arial"/>
              </a:rPr>
              <a:t>And it compounds back to the start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52130"/>
                </a:solidFill>
                <a:latin typeface="Arial"/>
              </a:rPr>
              <a:t>Premium margins generate more cash, which funds more R&amp;D, which wins more sockets — the same flywheel that turned Concentric (the former Haldex hydraulics arm) into a 25%-gross-margin niche leader. We are not inventing a new playbook; we are running a proven one with products we already own.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97840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>
                <a:solidFill>
                  <a:srgbClr val="152130"/>
                </a:solidFill>
                <a:latin typeface="Times New Roman"/>
              </a:rPr>
              <a:t>The destination: a leading niche player again</a:t>
            </a:r>
          </a:p>
        </p:txBody>
      </p:sp>
      <p:pic>
        <p:nvPicPr>
          <p:cNvPr id="3" name="Picture 2" descr="athanase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292608"/>
            <a:ext cx="1325880" cy="27390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850392"/>
            <a:ext cx="11274552" cy="18288"/>
          </a:xfrm>
          <a:prstGeom prst="rect">
            <a:avLst/>
          </a:prstGeom>
          <a:solidFill>
            <a:srgbClr val="E2E5E9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556A83"/>
                </a:solidFill>
                <a:latin typeface="Arial"/>
              </a:rPr>
              <a:t>Where these two levers take us — operating margin to peer levels, on a credible 18-month path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508760"/>
          <a:ext cx="6035040" cy="4114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766560" y="1508760"/>
            <a:ext cx="4983480" cy="1965960"/>
          </a:xfrm>
          <a:prstGeom prst="rect">
            <a:avLst/>
          </a:prstGeom>
          <a:solidFill>
            <a:srgbClr val="F6F7F9"/>
          </a:solidFill>
          <a:ln w="15875">
            <a:solidFill>
              <a:srgbClr val="334E57"/>
            </a:solidFill>
          </a:ln>
        </p:spPr>
        <p:txBody>
          <a:bodyPr wrap="square" lIns="137160" rIns="137160" tIns="109728">
            <a:spAutoFit/>
          </a:bodyPr>
          <a:lstStyle/>
          <a:p>
            <a:r>
              <a:rPr sz="1450" b="1">
                <a:solidFill>
                  <a:srgbClr val="334E57"/>
                </a:solidFill>
                <a:latin typeface="Arial"/>
              </a:rPr>
              <a:t>Operating profit: ¥1.5bn → ¥6.3bn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152130"/>
                </a:solidFill>
                <a:latin typeface="Arial"/>
              </a:rPr>
              <a:t>Phase 1 (18 months): ~10% operating margin, captured from our existing book — no new customers, no new products required, full R&amp;D already absorbed in the number.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3611880"/>
            <a:ext cx="4983480" cy="2011680"/>
          </a:xfrm>
          <a:prstGeom prst="rect">
            <a:avLst/>
          </a:prstGeom>
          <a:solidFill>
            <a:srgbClr val="F6F7F9"/>
          </a:solidFill>
          <a:ln w="15875">
            <a:solidFill>
              <a:srgbClr val="334E57"/>
            </a:solidFill>
          </a:ln>
        </p:spPr>
        <p:txBody>
          <a:bodyPr wrap="square" lIns="137160" rIns="137160" tIns="109728">
            <a:spAutoFit/>
          </a:bodyPr>
          <a:lstStyle/>
          <a:p>
            <a:r>
              <a:rPr sz="1450" b="1">
                <a:solidFill>
                  <a:srgbClr val="334E57"/>
                </a:solidFill>
                <a:latin typeface="Arial"/>
              </a:rPr>
              <a:t>From survivor to compounder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152130"/>
                </a:solidFill>
                <a:latin typeface="Arial"/>
              </a:rPr>
              <a:t>On the moat framework, this moves TBK from 5.4 toward the 6.5+ 'Watchlist' band — the level of Concentric (6.98), the niche-leader benchmark. A focused, high-margin, electrification-ready specialist: what our engineering always deserved.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8064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52130"/>
                </a:solidFill>
                <a:latin typeface="Arial"/>
              </a:rPr>
              <a:t>This is not a rescue. It is TBK becoming the company its engineering has always been capable of being.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2130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pic>
        <p:nvPicPr>
          <p:cNvPr id="3" name="Picture 2" descr="athanase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502920"/>
            <a:ext cx="1554480" cy="3211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64008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FFFFFF"/>
                </a:solidFill>
                <a:latin typeface="Times New Roman"/>
              </a:rPr>
              <a:t>Why now — and what we start this quarter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5212080" cy="4114800"/>
          </a:xfrm>
          <a:prstGeom prst="rect">
            <a:avLst/>
          </a:prstGeom>
          <a:solidFill>
            <a:srgbClr val="314359"/>
          </a:solidFill>
          <a:ln w="15875">
            <a:solidFill>
              <a:srgbClr val="FFFFFF"/>
            </a:solidFill>
          </a:ln>
        </p:spPr>
        <p:txBody>
          <a:bodyPr wrap="square" lIns="137160" rIns="137160" tIns="109728">
            <a:spAutoFit/>
          </a:bodyPr>
          <a:lstStyle/>
          <a:p>
            <a:r>
              <a:rPr sz="1450" b="1">
                <a:solidFill>
                  <a:srgbClr val="FFFFFF"/>
                </a:solidFill>
                <a:latin typeface="Arial"/>
              </a:rPr>
              <a:t>Why the clock matters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152130"/>
                </a:solidFill>
                <a:latin typeface="Arial"/>
              </a:rPr>
              <a:t>Every year at 2.2% R&amp;D, the knowledge gap compounds</a:t>
            </a:r>
          </a:p>
          <a:p>
            <a:pPr>
              <a:spcBef>
                <a:spcPts val="400"/>
              </a:spcBef>
            </a:pP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152130"/>
                </a:solidFill>
                <a:latin typeface="Arial"/>
              </a:rPr>
              <a:t>Our customers are choosing their next-generation partners NOW — the UD outcome is what waiting looks like</a:t>
            </a:r>
          </a:p>
          <a:p>
            <a:pPr>
              <a:spcBef>
                <a:spcPts val="400"/>
              </a:spcBef>
            </a:pP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152130"/>
                </a:solidFill>
                <a:latin typeface="Arial"/>
              </a:rPr>
              <a:t>The funding is already inside the company — under-priced products and under-used factories — it costs us nothing to start, and everything to wait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72200" y="1737360"/>
            <a:ext cx="5166360" cy="4114800"/>
          </a:xfrm>
          <a:prstGeom prst="rect">
            <a:avLst/>
          </a:prstGeom>
          <a:solidFill>
            <a:srgbClr val="314359"/>
          </a:solidFill>
          <a:ln w="15875">
            <a:solidFill>
              <a:srgbClr val="FFFFFF"/>
            </a:solidFill>
          </a:ln>
        </p:spPr>
        <p:txBody>
          <a:bodyPr wrap="square" lIns="137160" rIns="137160" tIns="109728">
            <a:spAutoFit/>
          </a:bodyPr>
          <a:lstStyle/>
          <a:p>
            <a:r>
              <a:rPr sz="1450" b="1">
                <a:solidFill>
                  <a:srgbClr val="FFFFFF"/>
                </a:solidFill>
                <a:latin typeface="Arial"/>
              </a:rPr>
              <a:t>The first 180 days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52130"/>
                </a:solidFill>
                <a:latin typeface="Arial"/>
              </a:rPr>
              <a:t>Days 0-30: lock the target; map every contract; assemble the SAW pricing evidence</a:t>
            </a:r>
          </a:p>
          <a:p>
            <a:pPr>
              <a:spcBef>
                <a:spcPts val="400"/>
              </a:spcBef>
            </a:pP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52130"/>
                </a:solidFill>
                <a:latin typeface="Arial"/>
              </a:rPr>
              <a:t>Days 31-60: aftermarket +10% now; open SAW repricing with Isuzu &amp; Fuso paired with our roadmap; approve the footprint plan</a:t>
            </a:r>
          </a:p>
          <a:p>
            <a:pPr>
              <a:spcBef>
                <a:spcPts val="400"/>
              </a:spcBef>
            </a:pP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52130"/>
                </a:solidFill>
                <a:latin typeface="Arial"/>
              </a:rPr>
              <a:t>Days 61-180: first repricings land; footprint consolidation begins; R&amp;D ramps; first ADB/e-pump sockets pursued</a:t>
            </a:r>
          </a:p>
          <a:p>
            <a:pPr>
              <a:spcBef>
                <a:spcPts val="400"/>
              </a:spcBef>
            </a:pP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52130"/>
                </a:solidFill>
                <a:latin typeface="Arial"/>
              </a:rPr>
              <a:t>Day 180 goal: operating profit run-rate already doubled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080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We have the products. We have the customers. We have the cash inside the business. What we need is the decision to act.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