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9753904" cy="73152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8.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753904" cy="7315200"/>
          </a:xfrm>
          <a:prstGeom prst="rect">
            <a:avLst/>
          </a:prstGeom>
          <a:solidFill>
            <a:srgbClr val="152130"/>
          </a:solidFill>
          <a:ln>
            <a:noFill/>
          </a:ln>
          <a:effectLst/>
        </p:spPr>
        <p:txBody>
          <a:bodyPr rtlCol="0" anchor="ctr"/>
          <a:lstStyle/>
          <a:p>
            <a:pPr algn="ctr"/>
          </a:p>
        </p:txBody>
      </p:sp>
      <p:pic>
        <p:nvPicPr>
          <p:cNvPr id="3" name="Picture 2" descr="logo_white.png"/>
          <p:cNvPicPr>
            <a:picLocks noChangeAspect="1"/>
          </p:cNvPicPr>
          <p:nvPr/>
        </p:nvPicPr>
        <p:blipFill>
          <a:blip r:embed="rId2"/>
          <a:stretch>
            <a:fillRect/>
          </a:stretch>
        </p:blipFill>
        <p:spPr>
          <a:xfrm>
            <a:off x="548640" y="502920"/>
            <a:ext cx="2635081" cy="566928"/>
          </a:xfrm>
          <a:prstGeom prst="rect">
            <a:avLst/>
          </a:prstGeom>
        </p:spPr>
      </p:pic>
      <p:sp>
        <p:nvSpPr>
          <p:cNvPr id="4" name="Rectangle 3"/>
          <p:cNvSpPr/>
          <p:nvPr/>
        </p:nvSpPr>
        <p:spPr>
          <a:xfrm>
            <a:off x="566928" y="4892040"/>
            <a:ext cx="457200" cy="27940"/>
          </a:xfrm>
          <a:prstGeom prst="rect">
            <a:avLst/>
          </a:prstGeom>
          <a:solidFill>
            <a:srgbClr val="556A83"/>
          </a:solidFill>
          <a:ln>
            <a:noFill/>
          </a:ln>
          <a:effectLst/>
        </p:spPr>
        <p:txBody>
          <a:bodyPr rtlCol="0" anchor="ctr"/>
          <a:lstStyle/>
          <a:p>
            <a:pPr algn="ctr"/>
          </a:p>
        </p:txBody>
      </p:sp>
      <p:sp>
        <p:nvSpPr>
          <p:cNvPr id="5" name="TextBox 4"/>
          <p:cNvSpPr txBox="1"/>
          <p:nvPr/>
        </p:nvSpPr>
        <p:spPr>
          <a:xfrm>
            <a:off x="548640" y="5074920"/>
            <a:ext cx="8229600" cy="1280160"/>
          </a:xfrm>
          <a:prstGeom prst="rect">
            <a:avLst/>
          </a:prstGeom>
          <a:noFill/>
        </p:spPr>
        <p:txBody>
          <a:bodyPr wrap="square" anchor="t" lIns="0" rIns="0" tIns="0" bIns="0">
            <a:spAutoFit/>
          </a:bodyPr>
          <a:lstStyle/>
          <a:p>
            <a:pPr algn="l">
              <a:lnSpc>
                <a:spcPct val="110000"/>
              </a:lnSpc>
              <a:spcAft>
                <a:spcPts val="200"/>
              </a:spcAft>
            </a:pPr>
            <a:r>
              <a:rPr sz="4600" b="0" i="0" spc="-138">
                <a:solidFill>
                  <a:srgbClr val="FFFFFF"/>
                </a:solidFill>
                <a:latin typeface="Times New Roman"/>
              </a:rPr>
              <a:t>Case studies</a:t>
            </a:r>
          </a:p>
          <a:p>
            <a:pPr algn="l">
              <a:lnSpc>
                <a:spcPct val="110000"/>
              </a:lnSpc>
              <a:spcAft>
                <a:spcPts val="0"/>
              </a:spcAft>
            </a:pPr>
            <a:r>
              <a:rPr sz="1500" b="0" i="1">
                <a:solidFill>
                  <a:srgbClr val="E2E5E9"/>
                </a:solidFill>
                <a:latin typeface="Times New Roman"/>
              </a:rPr>
              <a:t>Selected investments across three decades of engaged ownership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753904" cy="7315200"/>
          </a:xfrm>
          <a:prstGeom prst="rect">
            <a:avLst/>
          </a:prstGeom>
          <a:solidFill>
            <a:srgbClr val="FFFFFF"/>
          </a:solidFill>
          <a:ln>
            <a:noFill/>
          </a:ln>
          <a:effectLst/>
        </p:spPr>
        <p:txBody>
          <a:bodyPr rtlCol="0" anchor="ctr"/>
          <a:lstStyle/>
          <a:p>
            <a:pPr algn="ctr"/>
          </a:p>
        </p:txBody>
      </p:sp>
      <p:pic>
        <p:nvPicPr>
          <p:cNvPr id="3" name="Picture 2" descr="mark_dark.png"/>
          <p:cNvPicPr>
            <a:picLocks noChangeAspect="1"/>
          </p:cNvPicPr>
          <p:nvPr/>
        </p:nvPicPr>
        <p:blipFill>
          <a:blip r:embed="rId2"/>
          <a:stretch>
            <a:fillRect/>
          </a:stretch>
        </p:blipFill>
        <p:spPr>
          <a:xfrm>
            <a:off x="457200" y="365760"/>
            <a:ext cx="323088" cy="274320"/>
          </a:xfrm>
          <a:prstGeom prst="rect">
            <a:avLst/>
          </a:prstGeom>
        </p:spPr>
      </p:pic>
      <p:sp>
        <p:nvSpPr>
          <p:cNvPr id="4" name="TextBox 3"/>
          <p:cNvSpPr txBox="1"/>
          <p:nvPr/>
        </p:nvSpPr>
        <p:spPr>
          <a:xfrm>
            <a:off x="502920" y="868680"/>
            <a:ext cx="8229600" cy="640080"/>
          </a:xfrm>
          <a:prstGeom prst="rect">
            <a:avLst/>
          </a:prstGeom>
          <a:noFill/>
        </p:spPr>
        <p:txBody>
          <a:bodyPr wrap="square" anchor="t" lIns="0" rIns="0" tIns="0" bIns="0">
            <a:spAutoFit/>
          </a:bodyPr>
          <a:lstStyle/>
          <a:p>
            <a:pPr algn="l">
              <a:lnSpc>
                <a:spcPct val="110000"/>
              </a:lnSpc>
              <a:spcAft>
                <a:spcPts val="0"/>
              </a:spcAft>
            </a:pPr>
            <a:r>
              <a:rPr sz="3000" b="0" i="0" spc="-90">
                <a:solidFill>
                  <a:srgbClr val="314359"/>
                </a:solidFill>
                <a:latin typeface="Times New Roman"/>
              </a:rPr>
              <a:t>Disclaimer</a:t>
            </a:r>
          </a:p>
        </p:txBody>
      </p:sp>
      <p:sp>
        <p:nvSpPr>
          <p:cNvPr id="5" name="TextBox 4"/>
          <p:cNvSpPr txBox="1"/>
          <p:nvPr/>
        </p:nvSpPr>
        <p:spPr>
          <a:xfrm>
            <a:off x="502920" y="1783080"/>
            <a:ext cx="4160520" cy="4937760"/>
          </a:xfrm>
          <a:prstGeom prst="rect">
            <a:avLst/>
          </a:prstGeom>
          <a:noFill/>
        </p:spPr>
        <p:txBody>
          <a:bodyPr wrap="square" anchor="t" lIns="0" rIns="0" tIns="0" bIns="0">
            <a:spAutoFit/>
          </a:bodyPr>
          <a:lstStyle/>
          <a:p>
            <a:pPr algn="l">
              <a:lnSpc>
                <a:spcPct val="112000"/>
              </a:lnSpc>
              <a:spcAft>
                <a:spcPts val="700"/>
              </a:spcAft>
            </a:pPr>
            <a:r>
              <a:rPr sz="850" b="0" i="0">
                <a:solidFill>
                  <a:srgbClr val="0E1620"/>
                </a:solidFill>
                <a:latin typeface="Arial"/>
              </a:rPr>
              <a:t>This document has been prepared by Athanase Industrial Partner (‘AIP’) solely for the information of the person to whom it has been delivered. The information contained herein is strictly confidential and is only for the use of the person to whom it is sent. The information contained herein may not be reproduced, distributed or published by any recipient for any purpose without the prior written consent of AIP. The information herein is for general guidance only, and it is the responsibility of any person or persons in possession of this document to inform themselves of, and to observe, all applicable laws and regulations of any relevant jurisdiction.</a:t>
            </a:r>
          </a:p>
          <a:p>
            <a:pPr algn="l">
              <a:lnSpc>
                <a:spcPct val="112000"/>
              </a:lnSpc>
              <a:spcAft>
                <a:spcPts val="700"/>
              </a:spcAft>
            </a:pPr>
            <a:r>
              <a:rPr sz="850" b="0" i="0">
                <a:solidFill>
                  <a:srgbClr val="0E1620"/>
                </a:solidFill>
                <a:latin typeface="Arial"/>
              </a:rPr>
              <a:t>The information regarding Athanase Industrial Partners Fund II (the “Fund”) is not intended to provide and should not be relied upon for accounting, legal or tax advice or investment recommendations. You should consult your tax, legal, accounting or other advisors about the issues discussed herein. Material terms of the Fund are subject to change. Any prospective investor will be provided with a copy of the Fund’s offering memorandum and an opportunity to review the documentation relating to the offering.</a:t>
            </a:r>
          </a:p>
          <a:p>
            <a:pPr algn="l">
              <a:lnSpc>
                <a:spcPct val="112000"/>
              </a:lnSpc>
              <a:spcAft>
                <a:spcPts val="700"/>
              </a:spcAft>
            </a:pPr>
            <a:r>
              <a:rPr sz="850" b="0" i="0">
                <a:solidFill>
                  <a:srgbClr val="0E1620"/>
                </a:solidFill>
                <a:latin typeface="Arial"/>
              </a:rPr>
              <a:t>This document is not intended as an offer or solicitation with respect to the purchase or sale of any security. This document is not intended for distribution to, or use by, any person or entity in any jurisdiction or country where such distribution or use would be contrary to local law or regulation.</a:t>
            </a:r>
          </a:p>
        </p:txBody>
      </p:sp>
      <p:sp>
        <p:nvSpPr>
          <p:cNvPr id="6" name="TextBox 5"/>
          <p:cNvSpPr txBox="1"/>
          <p:nvPr/>
        </p:nvSpPr>
        <p:spPr>
          <a:xfrm>
            <a:off x="5074920" y="1783080"/>
            <a:ext cx="4160520" cy="4937760"/>
          </a:xfrm>
          <a:prstGeom prst="rect">
            <a:avLst/>
          </a:prstGeom>
          <a:noFill/>
        </p:spPr>
        <p:txBody>
          <a:bodyPr wrap="square" anchor="t" lIns="0" rIns="0" tIns="0" bIns="0">
            <a:spAutoFit/>
          </a:bodyPr>
          <a:lstStyle/>
          <a:p>
            <a:pPr algn="l">
              <a:lnSpc>
                <a:spcPct val="112000"/>
              </a:lnSpc>
              <a:spcAft>
                <a:spcPts val="700"/>
              </a:spcAft>
            </a:pPr>
            <a:r>
              <a:rPr sz="850" b="0" i="0">
                <a:solidFill>
                  <a:srgbClr val="0E1620"/>
                </a:solidFill>
                <a:latin typeface="Arial"/>
              </a:rPr>
              <a:t>Any subscription may only be made on the terms of the offering memorandum and subject to completion of a subscription agreement. The Fund will not be registered under the Securities Act or the securities laws of any of the states of the United States and interests therein may not be offered, sold or delivered directly or indirectly into the United States, or to or for the account or benefit of any US person.</a:t>
            </a:r>
          </a:p>
          <a:p>
            <a:pPr algn="l">
              <a:lnSpc>
                <a:spcPct val="112000"/>
              </a:lnSpc>
              <a:spcAft>
                <a:spcPts val="700"/>
              </a:spcAft>
            </a:pPr>
            <a:r>
              <a:rPr sz="850" b="0" i="0">
                <a:solidFill>
                  <a:srgbClr val="0E1620"/>
                </a:solidFill>
                <a:latin typeface="Arial"/>
              </a:rPr>
              <a:t>No reliance may be placed for any purpose on the information and opinions contained in this document or their accuracy or completeness. No representation, warranty or undertaking, expressed or implied, is given as to the accuracy or completeness of the information or opinions contained in this document by any of AIP, its officers, employees or affiliates, and nothing contained herein shall be relied upon as a promise or representation whether as to past or future performance. Past performance is not indicative of future results.</a:t>
            </a:r>
          </a:p>
          <a:p>
            <a:pPr algn="l">
              <a:lnSpc>
                <a:spcPct val="112000"/>
              </a:lnSpc>
              <a:spcAft>
                <a:spcPts val="700"/>
              </a:spcAft>
            </a:pPr>
            <a:r>
              <a:rPr sz="850" b="0" i="0">
                <a:solidFill>
                  <a:srgbClr val="0E1620"/>
                </a:solidFill>
                <a:latin typeface="Arial"/>
              </a:rPr>
              <a:t>Notice to Swedish Residents — The Fund is authorized by the Finansinspektionen (‘FI’) in accordance with the Law on Managers of Alternative Investment Funds (Sw. Lag om Förvaltare av Alternativa Investeringsfonder, LAIF (2013:561)) for marketing to investors in Sweden that qualify as Professional Investors under the Swedish LAIF (2013:561).</a:t>
            </a:r>
          </a:p>
        </p:txBody>
      </p:sp>
      <p:sp>
        <p:nvSpPr>
          <p:cNvPr id="7" name="TextBox 6"/>
          <p:cNvSpPr txBox="1"/>
          <p:nvPr/>
        </p:nvSpPr>
        <p:spPr>
          <a:xfrm>
            <a:off x="5486400" y="6967728"/>
            <a:ext cx="4023360" cy="274320"/>
          </a:xfrm>
          <a:prstGeom prst="rect">
            <a:avLst/>
          </a:prstGeom>
          <a:noFill/>
        </p:spPr>
        <p:txBody>
          <a:bodyPr wrap="square" anchor="t" lIns="0" rIns="0" tIns="0" bIns="0">
            <a:spAutoFit/>
          </a:bodyPr>
          <a:lstStyle/>
          <a:p>
            <a:pPr algn="r">
              <a:lnSpc>
                <a:spcPct val="110000"/>
              </a:lnSpc>
              <a:spcAft>
                <a:spcPts val="0"/>
              </a:spcAft>
            </a:pPr>
            <a:r>
              <a:rPr sz="850" b="0" i="0">
                <a:solidFill>
                  <a:srgbClr val="556A83"/>
                </a:solidFill>
                <a:latin typeface="Arial"/>
              </a:rPr>
              <a:t>Strictly confidential          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753904" cy="7315200"/>
          </a:xfrm>
          <a:prstGeom prst="rect">
            <a:avLst/>
          </a:prstGeom>
          <a:solidFill>
            <a:srgbClr val="FFFFFF"/>
          </a:solidFill>
          <a:ln>
            <a:noFill/>
          </a:ln>
          <a:effectLst/>
        </p:spPr>
        <p:txBody>
          <a:bodyPr rtlCol="0" anchor="ctr"/>
          <a:lstStyle/>
          <a:p>
            <a:pPr algn="ctr"/>
          </a:p>
        </p:txBody>
      </p:sp>
      <p:pic>
        <p:nvPicPr>
          <p:cNvPr id="3" name="Picture 2" descr="mark_dark.png"/>
          <p:cNvPicPr>
            <a:picLocks noChangeAspect="1"/>
          </p:cNvPicPr>
          <p:nvPr/>
        </p:nvPicPr>
        <p:blipFill>
          <a:blip r:embed="rId2"/>
          <a:stretch>
            <a:fillRect/>
          </a:stretch>
        </p:blipFill>
        <p:spPr>
          <a:xfrm>
            <a:off x="457200" y="219456"/>
            <a:ext cx="280009" cy="237744"/>
          </a:xfrm>
          <a:prstGeom prst="rect">
            <a:avLst/>
          </a:prstGeom>
        </p:spPr>
      </p:pic>
      <p:sp>
        <p:nvSpPr>
          <p:cNvPr id="4" name="TextBox 3"/>
          <p:cNvSpPr txBox="1"/>
          <p:nvPr/>
        </p:nvSpPr>
        <p:spPr>
          <a:xfrm>
            <a:off x="841248" y="246888"/>
            <a:ext cx="5486400" cy="274320"/>
          </a:xfrm>
          <a:prstGeom prst="rect">
            <a:avLst/>
          </a:prstGeom>
          <a:noFill/>
        </p:spPr>
        <p:txBody>
          <a:bodyPr wrap="square" anchor="t" lIns="0" rIns="0" tIns="0" bIns="0">
            <a:spAutoFit/>
          </a:bodyPr>
          <a:lstStyle/>
          <a:p>
            <a:pPr algn="l">
              <a:lnSpc>
                <a:spcPct val="110000"/>
              </a:lnSpc>
              <a:spcAft>
                <a:spcPts val="0"/>
              </a:spcAft>
            </a:pPr>
            <a:r>
              <a:rPr sz="1100" b="0" i="0">
                <a:solidFill>
                  <a:srgbClr val="556A83"/>
                </a:solidFill>
                <a:latin typeface="Arial"/>
              </a:rPr>
              <a:t>Overview</a:t>
            </a:r>
          </a:p>
        </p:txBody>
      </p:sp>
      <p:sp>
        <p:nvSpPr>
          <p:cNvPr id="5" name="Rectangle 4"/>
          <p:cNvSpPr/>
          <p:nvPr/>
        </p:nvSpPr>
        <p:spPr>
          <a:xfrm>
            <a:off x="0" y="566928"/>
            <a:ext cx="9753904" cy="914400"/>
          </a:xfrm>
          <a:prstGeom prst="rect">
            <a:avLst/>
          </a:prstGeom>
          <a:solidFill>
            <a:srgbClr val="F6F7F9"/>
          </a:solidFill>
          <a:ln>
            <a:noFill/>
          </a:ln>
          <a:effectLst/>
        </p:spPr>
        <p:txBody>
          <a:bodyPr rtlCol="0" anchor="ctr"/>
          <a:lstStyle/>
          <a:p>
            <a:pPr algn="ctr"/>
          </a:p>
        </p:txBody>
      </p:sp>
      <p:sp>
        <p:nvSpPr>
          <p:cNvPr id="6" name="TextBox 5"/>
          <p:cNvSpPr txBox="1"/>
          <p:nvPr/>
        </p:nvSpPr>
        <p:spPr>
          <a:xfrm>
            <a:off x="502920" y="713232"/>
            <a:ext cx="8778240" cy="640080"/>
          </a:xfrm>
          <a:prstGeom prst="rect">
            <a:avLst/>
          </a:prstGeom>
          <a:noFill/>
        </p:spPr>
        <p:txBody>
          <a:bodyPr wrap="square" anchor="t" lIns="0" rIns="0" tIns="0" bIns="0">
            <a:spAutoFit/>
          </a:bodyPr>
          <a:lstStyle/>
          <a:p>
            <a:pPr algn="l">
              <a:lnSpc>
                <a:spcPct val="110000"/>
              </a:lnSpc>
              <a:spcAft>
                <a:spcPts val="0"/>
              </a:spcAft>
            </a:pPr>
            <a:r>
              <a:rPr sz="2600" b="0" i="0" spc="-78">
                <a:solidFill>
                  <a:srgbClr val="314359"/>
                </a:solidFill>
                <a:latin typeface="Times New Roman"/>
              </a:rPr>
              <a:t>Selected case studies</a:t>
            </a:r>
          </a:p>
        </p:txBody>
      </p:sp>
      <p:sp>
        <p:nvSpPr>
          <p:cNvPr id="7" name="TextBox 6"/>
          <p:cNvSpPr txBox="1"/>
          <p:nvPr/>
        </p:nvSpPr>
        <p:spPr>
          <a:xfrm>
            <a:off x="5486400" y="6967728"/>
            <a:ext cx="4023360" cy="274320"/>
          </a:xfrm>
          <a:prstGeom prst="rect">
            <a:avLst/>
          </a:prstGeom>
          <a:noFill/>
        </p:spPr>
        <p:txBody>
          <a:bodyPr wrap="square" anchor="t" lIns="0" rIns="0" tIns="0" bIns="0">
            <a:spAutoFit/>
          </a:bodyPr>
          <a:lstStyle/>
          <a:p>
            <a:pPr algn="r">
              <a:lnSpc>
                <a:spcPct val="110000"/>
              </a:lnSpc>
              <a:spcAft>
                <a:spcPts val="0"/>
              </a:spcAft>
            </a:pPr>
            <a:r>
              <a:rPr sz="850" b="0" i="0">
                <a:solidFill>
                  <a:srgbClr val="556A83"/>
                </a:solidFill>
                <a:latin typeface="Arial"/>
              </a:rPr>
              <a:t>Strictly confidential          2</a:t>
            </a:r>
          </a:p>
        </p:txBody>
      </p:sp>
      <p:sp>
        <p:nvSpPr>
          <p:cNvPr id="8" name="TextBox 7"/>
          <p:cNvSpPr txBox="1"/>
          <p:nvPr/>
        </p:nvSpPr>
        <p:spPr>
          <a:xfrm>
            <a:off x="502920" y="1627632"/>
            <a:ext cx="8778240" cy="365760"/>
          </a:xfrm>
          <a:prstGeom prst="rect">
            <a:avLst/>
          </a:prstGeom>
          <a:noFill/>
        </p:spPr>
        <p:txBody>
          <a:bodyPr wrap="square" anchor="t" lIns="0" rIns="0" tIns="0" bIns="0">
            <a:spAutoFit/>
          </a:bodyPr>
          <a:lstStyle/>
          <a:p>
            <a:pPr algn="l">
              <a:lnSpc>
                <a:spcPct val="110000"/>
              </a:lnSpc>
              <a:spcAft>
                <a:spcPts val="0"/>
              </a:spcAft>
            </a:pPr>
            <a:r>
              <a:rPr sz="1100" b="0" i="1">
                <a:solidFill>
                  <a:srgbClr val="556A83"/>
                </a:solidFill>
                <a:latin typeface="Arial"/>
              </a:rPr>
              <a:t>Transactions where the team acted as an engaged owner and implemented operational, structural and financial change. IRR is unleveraged and net of all costs.</a:t>
            </a:r>
          </a:p>
        </p:txBody>
      </p:sp>
      <p:sp>
        <p:nvSpPr>
          <p:cNvPr id="9" name="TextBox 8"/>
          <p:cNvSpPr txBox="1"/>
          <p:nvPr/>
        </p:nvSpPr>
        <p:spPr>
          <a:xfrm>
            <a:off x="502920" y="2148840"/>
            <a:ext cx="4160520" cy="274320"/>
          </a:xfrm>
          <a:prstGeom prst="rect">
            <a:avLst/>
          </a:prstGeom>
          <a:noFill/>
        </p:spPr>
        <p:txBody>
          <a:bodyPr wrap="square" anchor="t" lIns="0" rIns="0" tIns="0" bIns="0">
            <a:spAutoFit/>
          </a:bodyPr>
          <a:lstStyle/>
          <a:p>
            <a:pPr algn="l">
              <a:lnSpc>
                <a:spcPct val="110000"/>
              </a:lnSpc>
              <a:spcAft>
                <a:spcPts val="0"/>
              </a:spcAft>
            </a:pPr>
            <a:r>
              <a:rPr sz="1300" b="1" i="0">
                <a:solidFill>
                  <a:srgbClr val="314359"/>
                </a:solidFill>
                <a:latin typeface="Times New Roman"/>
              </a:rPr>
              <a:t>AIP — fund-era investment cases</a:t>
            </a:r>
          </a:p>
        </p:txBody>
      </p:sp>
      <p:sp>
        <p:nvSpPr>
          <p:cNvPr id="10" name="Rectangle 9"/>
          <p:cNvSpPr/>
          <p:nvPr/>
        </p:nvSpPr>
        <p:spPr>
          <a:xfrm>
            <a:off x="502920" y="2487168"/>
            <a:ext cx="2240280" cy="274320"/>
          </a:xfrm>
          <a:prstGeom prst="rect">
            <a:avLst/>
          </a:prstGeom>
          <a:solidFill>
            <a:srgbClr val="314359"/>
          </a:solidFill>
          <a:ln>
            <a:noFill/>
          </a:ln>
          <a:effectLst/>
        </p:spPr>
        <p:txBody>
          <a:bodyPr rtlCol="0" anchor="ctr"/>
          <a:lstStyle/>
          <a:p>
            <a:pPr algn="ctr"/>
          </a:p>
        </p:txBody>
      </p:sp>
      <p:sp>
        <p:nvSpPr>
          <p:cNvPr id="11" name="TextBox 10"/>
          <p:cNvSpPr txBox="1"/>
          <p:nvPr/>
        </p:nvSpPr>
        <p:spPr>
          <a:xfrm>
            <a:off x="557784" y="2487168"/>
            <a:ext cx="2148840" cy="274320"/>
          </a:xfrm>
          <a:prstGeom prst="rect">
            <a:avLst/>
          </a:prstGeom>
          <a:noFill/>
        </p:spPr>
        <p:txBody>
          <a:bodyPr wrap="square" anchor="ctr" lIns="0" rIns="0" tIns="0" bIns="0">
            <a:spAutoFit/>
          </a:bodyPr>
          <a:lstStyle/>
          <a:p>
            <a:pPr algn="l">
              <a:lnSpc>
                <a:spcPct val="110000"/>
              </a:lnSpc>
              <a:spcAft>
                <a:spcPts val="0"/>
              </a:spcAft>
            </a:pPr>
            <a:r>
              <a:rPr sz="900" b="1" i="0">
                <a:solidFill>
                  <a:srgbClr val="FFFFFF"/>
                </a:solidFill>
                <a:latin typeface="Arial"/>
              </a:rPr>
              <a:t>Company</a:t>
            </a:r>
          </a:p>
        </p:txBody>
      </p:sp>
      <p:sp>
        <p:nvSpPr>
          <p:cNvPr id="12" name="Rectangle 11"/>
          <p:cNvSpPr/>
          <p:nvPr/>
        </p:nvSpPr>
        <p:spPr>
          <a:xfrm>
            <a:off x="2743200" y="2487168"/>
            <a:ext cx="960120" cy="274320"/>
          </a:xfrm>
          <a:prstGeom prst="rect">
            <a:avLst/>
          </a:prstGeom>
          <a:solidFill>
            <a:srgbClr val="314359"/>
          </a:solidFill>
          <a:ln>
            <a:noFill/>
          </a:ln>
          <a:effectLst/>
        </p:spPr>
        <p:txBody>
          <a:bodyPr rtlCol="0" anchor="ctr"/>
          <a:lstStyle/>
          <a:p>
            <a:pPr algn="ctr"/>
          </a:p>
        </p:txBody>
      </p:sp>
      <p:sp>
        <p:nvSpPr>
          <p:cNvPr id="13" name="TextBox 12"/>
          <p:cNvSpPr txBox="1"/>
          <p:nvPr/>
        </p:nvSpPr>
        <p:spPr>
          <a:xfrm>
            <a:off x="2798064" y="2487168"/>
            <a:ext cx="868680" cy="274320"/>
          </a:xfrm>
          <a:prstGeom prst="rect">
            <a:avLst/>
          </a:prstGeom>
          <a:noFill/>
        </p:spPr>
        <p:txBody>
          <a:bodyPr wrap="square" anchor="ctr" lIns="0" rIns="0" tIns="0" bIns="0">
            <a:spAutoFit/>
          </a:bodyPr>
          <a:lstStyle/>
          <a:p>
            <a:pPr algn="r">
              <a:lnSpc>
                <a:spcPct val="110000"/>
              </a:lnSpc>
              <a:spcAft>
                <a:spcPts val="0"/>
              </a:spcAft>
            </a:pPr>
            <a:r>
              <a:rPr sz="900" b="1" i="0">
                <a:solidFill>
                  <a:srgbClr val="FFFFFF"/>
                </a:solidFill>
                <a:latin typeface="Arial"/>
              </a:rPr>
              <a:t>IRR</a:t>
            </a:r>
          </a:p>
        </p:txBody>
      </p:sp>
      <p:sp>
        <p:nvSpPr>
          <p:cNvPr id="14" name="Rectangle 13"/>
          <p:cNvSpPr/>
          <p:nvPr/>
        </p:nvSpPr>
        <p:spPr>
          <a:xfrm>
            <a:off x="3703320" y="2487168"/>
            <a:ext cx="960120" cy="274320"/>
          </a:xfrm>
          <a:prstGeom prst="rect">
            <a:avLst/>
          </a:prstGeom>
          <a:solidFill>
            <a:srgbClr val="314359"/>
          </a:solidFill>
          <a:ln>
            <a:noFill/>
          </a:ln>
          <a:effectLst/>
        </p:spPr>
        <p:txBody>
          <a:bodyPr rtlCol="0" anchor="ctr"/>
          <a:lstStyle/>
          <a:p>
            <a:pPr algn="ctr"/>
          </a:p>
        </p:txBody>
      </p:sp>
      <p:sp>
        <p:nvSpPr>
          <p:cNvPr id="15" name="TextBox 14"/>
          <p:cNvSpPr txBox="1"/>
          <p:nvPr/>
        </p:nvSpPr>
        <p:spPr>
          <a:xfrm>
            <a:off x="3758184" y="2487168"/>
            <a:ext cx="868680" cy="274320"/>
          </a:xfrm>
          <a:prstGeom prst="rect">
            <a:avLst/>
          </a:prstGeom>
          <a:noFill/>
        </p:spPr>
        <p:txBody>
          <a:bodyPr wrap="square" anchor="ctr" lIns="0" rIns="0" tIns="0" bIns="0">
            <a:spAutoFit/>
          </a:bodyPr>
          <a:lstStyle/>
          <a:p>
            <a:pPr algn="r">
              <a:lnSpc>
                <a:spcPct val="110000"/>
              </a:lnSpc>
              <a:spcAft>
                <a:spcPts val="0"/>
              </a:spcAft>
            </a:pPr>
            <a:r>
              <a:rPr sz="900" b="1" i="0">
                <a:solidFill>
                  <a:srgbClr val="FFFFFF"/>
                </a:solidFill>
                <a:latin typeface="Arial"/>
              </a:rPr>
              <a:t>Money multiple</a:t>
            </a:r>
          </a:p>
        </p:txBody>
      </p:sp>
      <p:sp>
        <p:nvSpPr>
          <p:cNvPr id="16" name="Rectangle 15"/>
          <p:cNvSpPr/>
          <p:nvPr/>
        </p:nvSpPr>
        <p:spPr>
          <a:xfrm>
            <a:off x="502920" y="2761488"/>
            <a:ext cx="2240280" cy="274320"/>
          </a:xfrm>
          <a:prstGeom prst="rect">
            <a:avLst/>
          </a:prstGeom>
          <a:solidFill>
            <a:srgbClr val="F6F7F9"/>
          </a:solidFill>
          <a:ln>
            <a:noFill/>
          </a:ln>
          <a:effectLst/>
        </p:spPr>
        <p:txBody>
          <a:bodyPr rtlCol="0" anchor="ctr"/>
          <a:lstStyle/>
          <a:p>
            <a:pPr algn="ctr"/>
          </a:p>
        </p:txBody>
      </p:sp>
      <p:sp>
        <p:nvSpPr>
          <p:cNvPr id="17" name="TextBox 16"/>
          <p:cNvSpPr txBox="1"/>
          <p:nvPr/>
        </p:nvSpPr>
        <p:spPr>
          <a:xfrm>
            <a:off x="557784" y="2761488"/>
            <a:ext cx="2148840" cy="274320"/>
          </a:xfrm>
          <a:prstGeom prst="rect">
            <a:avLst/>
          </a:prstGeom>
          <a:noFill/>
        </p:spPr>
        <p:txBody>
          <a:bodyPr wrap="square" anchor="ctr" lIns="0" rIns="0" tIns="0" bIns="0">
            <a:spAutoFit/>
          </a:bodyPr>
          <a:lstStyle/>
          <a:p>
            <a:pPr algn="l">
              <a:lnSpc>
                <a:spcPct val="110000"/>
              </a:lnSpc>
              <a:spcAft>
                <a:spcPts val="0"/>
              </a:spcAft>
            </a:pPr>
            <a:r>
              <a:rPr sz="869" b="1" i="0">
                <a:solidFill>
                  <a:srgbClr val="314359"/>
                </a:solidFill>
                <a:latin typeface="Arial"/>
              </a:rPr>
              <a:t>Haldex AB</a:t>
            </a:r>
          </a:p>
        </p:txBody>
      </p:sp>
      <p:sp>
        <p:nvSpPr>
          <p:cNvPr id="18" name="Rectangle 17"/>
          <p:cNvSpPr/>
          <p:nvPr/>
        </p:nvSpPr>
        <p:spPr>
          <a:xfrm>
            <a:off x="2743200" y="2761488"/>
            <a:ext cx="960120" cy="274320"/>
          </a:xfrm>
          <a:prstGeom prst="rect">
            <a:avLst/>
          </a:prstGeom>
          <a:solidFill>
            <a:srgbClr val="F6F7F9"/>
          </a:solidFill>
          <a:ln>
            <a:noFill/>
          </a:ln>
          <a:effectLst/>
        </p:spPr>
        <p:txBody>
          <a:bodyPr rtlCol="0" anchor="ctr"/>
          <a:lstStyle/>
          <a:p>
            <a:pPr algn="ctr"/>
          </a:p>
        </p:txBody>
      </p:sp>
      <p:sp>
        <p:nvSpPr>
          <p:cNvPr id="19" name="TextBox 18"/>
          <p:cNvSpPr txBox="1"/>
          <p:nvPr/>
        </p:nvSpPr>
        <p:spPr>
          <a:xfrm>
            <a:off x="2798064" y="2761488"/>
            <a:ext cx="868680" cy="274320"/>
          </a:xfrm>
          <a:prstGeom prst="rect">
            <a:avLst/>
          </a:prstGeom>
          <a:noFill/>
        </p:spPr>
        <p:txBody>
          <a:bodyPr wrap="square" anchor="ctr" lIns="0" rIns="0" tIns="0" bIns="0">
            <a:spAutoFit/>
          </a:bodyPr>
          <a:lstStyle/>
          <a:p>
            <a:pPr algn="r">
              <a:lnSpc>
                <a:spcPct val="110000"/>
              </a:lnSpc>
              <a:spcAft>
                <a:spcPts val="0"/>
              </a:spcAft>
            </a:pPr>
            <a:r>
              <a:rPr sz="869" b="0" i="0">
                <a:solidFill>
                  <a:srgbClr val="0E1620"/>
                </a:solidFill>
                <a:latin typeface="Arial"/>
              </a:rPr>
              <a:t>64%</a:t>
            </a:r>
          </a:p>
        </p:txBody>
      </p:sp>
      <p:sp>
        <p:nvSpPr>
          <p:cNvPr id="20" name="Rectangle 19"/>
          <p:cNvSpPr/>
          <p:nvPr/>
        </p:nvSpPr>
        <p:spPr>
          <a:xfrm>
            <a:off x="3703320" y="2761488"/>
            <a:ext cx="960120" cy="274320"/>
          </a:xfrm>
          <a:prstGeom prst="rect">
            <a:avLst/>
          </a:prstGeom>
          <a:solidFill>
            <a:srgbClr val="F6F7F9"/>
          </a:solidFill>
          <a:ln>
            <a:noFill/>
          </a:ln>
          <a:effectLst/>
        </p:spPr>
        <p:txBody>
          <a:bodyPr rtlCol="0" anchor="ctr"/>
          <a:lstStyle/>
          <a:p>
            <a:pPr algn="ctr"/>
          </a:p>
        </p:txBody>
      </p:sp>
      <p:sp>
        <p:nvSpPr>
          <p:cNvPr id="21" name="TextBox 20"/>
          <p:cNvSpPr txBox="1"/>
          <p:nvPr/>
        </p:nvSpPr>
        <p:spPr>
          <a:xfrm>
            <a:off x="3758184" y="2761488"/>
            <a:ext cx="868680" cy="274320"/>
          </a:xfrm>
          <a:prstGeom prst="rect">
            <a:avLst/>
          </a:prstGeom>
          <a:noFill/>
        </p:spPr>
        <p:txBody>
          <a:bodyPr wrap="square" anchor="ctr" lIns="0" rIns="0" tIns="0" bIns="0">
            <a:spAutoFit/>
          </a:bodyPr>
          <a:lstStyle/>
          <a:p>
            <a:pPr algn="r">
              <a:lnSpc>
                <a:spcPct val="110000"/>
              </a:lnSpc>
              <a:spcAft>
                <a:spcPts val="0"/>
              </a:spcAft>
            </a:pPr>
            <a:r>
              <a:rPr sz="869" b="0" i="0">
                <a:solidFill>
                  <a:srgbClr val="0E1620"/>
                </a:solidFill>
                <a:latin typeface="Arial"/>
              </a:rPr>
              <a:t>4.1×</a:t>
            </a:r>
          </a:p>
        </p:txBody>
      </p:sp>
      <p:sp>
        <p:nvSpPr>
          <p:cNvPr id="22" name="Rectangle 21"/>
          <p:cNvSpPr/>
          <p:nvPr/>
        </p:nvSpPr>
        <p:spPr>
          <a:xfrm>
            <a:off x="502920" y="3035808"/>
            <a:ext cx="2240280" cy="274320"/>
          </a:xfrm>
          <a:prstGeom prst="rect">
            <a:avLst/>
          </a:prstGeom>
          <a:solidFill>
            <a:srgbClr val="FFFFFF"/>
          </a:solidFill>
          <a:ln>
            <a:noFill/>
          </a:ln>
          <a:effectLst/>
        </p:spPr>
        <p:txBody>
          <a:bodyPr rtlCol="0" anchor="ctr"/>
          <a:lstStyle/>
          <a:p>
            <a:pPr algn="ctr"/>
          </a:p>
        </p:txBody>
      </p:sp>
      <p:sp>
        <p:nvSpPr>
          <p:cNvPr id="23" name="TextBox 22"/>
          <p:cNvSpPr txBox="1"/>
          <p:nvPr/>
        </p:nvSpPr>
        <p:spPr>
          <a:xfrm>
            <a:off x="557784" y="3035808"/>
            <a:ext cx="2148840" cy="274320"/>
          </a:xfrm>
          <a:prstGeom prst="rect">
            <a:avLst/>
          </a:prstGeom>
          <a:noFill/>
        </p:spPr>
        <p:txBody>
          <a:bodyPr wrap="square" anchor="ctr" lIns="0" rIns="0" tIns="0" bIns="0">
            <a:spAutoFit/>
          </a:bodyPr>
          <a:lstStyle/>
          <a:p>
            <a:pPr algn="l">
              <a:lnSpc>
                <a:spcPct val="110000"/>
              </a:lnSpc>
              <a:spcAft>
                <a:spcPts val="0"/>
              </a:spcAft>
            </a:pPr>
            <a:r>
              <a:rPr sz="869" b="1" i="0">
                <a:solidFill>
                  <a:srgbClr val="314359"/>
                </a:solidFill>
                <a:latin typeface="Arial"/>
              </a:rPr>
              <a:t>Haldex AB (2nd)</a:t>
            </a:r>
          </a:p>
        </p:txBody>
      </p:sp>
      <p:sp>
        <p:nvSpPr>
          <p:cNvPr id="24" name="Rectangle 23"/>
          <p:cNvSpPr/>
          <p:nvPr/>
        </p:nvSpPr>
        <p:spPr>
          <a:xfrm>
            <a:off x="2743200" y="3035808"/>
            <a:ext cx="960120" cy="274320"/>
          </a:xfrm>
          <a:prstGeom prst="rect">
            <a:avLst/>
          </a:prstGeom>
          <a:solidFill>
            <a:srgbClr val="FFFFFF"/>
          </a:solidFill>
          <a:ln>
            <a:noFill/>
          </a:ln>
          <a:effectLst/>
        </p:spPr>
        <p:txBody>
          <a:bodyPr rtlCol="0" anchor="ctr"/>
          <a:lstStyle/>
          <a:p>
            <a:pPr algn="ctr"/>
          </a:p>
        </p:txBody>
      </p:sp>
      <p:sp>
        <p:nvSpPr>
          <p:cNvPr id="25" name="TextBox 24"/>
          <p:cNvSpPr txBox="1"/>
          <p:nvPr/>
        </p:nvSpPr>
        <p:spPr>
          <a:xfrm>
            <a:off x="2798064" y="3035808"/>
            <a:ext cx="868680" cy="274320"/>
          </a:xfrm>
          <a:prstGeom prst="rect">
            <a:avLst/>
          </a:prstGeom>
          <a:noFill/>
        </p:spPr>
        <p:txBody>
          <a:bodyPr wrap="square" anchor="ctr" lIns="0" rIns="0" tIns="0" bIns="0">
            <a:spAutoFit/>
          </a:bodyPr>
          <a:lstStyle/>
          <a:p>
            <a:pPr algn="r">
              <a:lnSpc>
                <a:spcPct val="110000"/>
              </a:lnSpc>
              <a:spcAft>
                <a:spcPts val="0"/>
              </a:spcAft>
            </a:pPr>
            <a:r>
              <a:rPr sz="869" b="0" i="0">
                <a:solidFill>
                  <a:srgbClr val="0E1620"/>
                </a:solidFill>
                <a:latin typeface="Arial"/>
              </a:rPr>
              <a:t>100%</a:t>
            </a:r>
          </a:p>
        </p:txBody>
      </p:sp>
      <p:sp>
        <p:nvSpPr>
          <p:cNvPr id="26" name="Rectangle 25"/>
          <p:cNvSpPr/>
          <p:nvPr/>
        </p:nvSpPr>
        <p:spPr>
          <a:xfrm>
            <a:off x="3703320" y="3035808"/>
            <a:ext cx="960120" cy="274320"/>
          </a:xfrm>
          <a:prstGeom prst="rect">
            <a:avLst/>
          </a:prstGeom>
          <a:solidFill>
            <a:srgbClr val="FFFFFF"/>
          </a:solidFill>
          <a:ln>
            <a:noFill/>
          </a:ln>
          <a:effectLst/>
        </p:spPr>
        <p:txBody>
          <a:bodyPr rtlCol="0" anchor="ctr"/>
          <a:lstStyle/>
          <a:p>
            <a:pPr algn="ctr"/>
          </a:p>
        </p:txBody>
      </p:sp>
      <p:sp>
        <p:nvSpPr>
          <p:cNvPr id="27" name="TextBox 26"/>
          <p:cNvSpPr txBox="1"/>
          <p:nvPr/>
        </p:nvSpPr>
        <p:spPr>
          <a:xfrm>
            <a:off x="3758184" y="3035808"/>
            <a:ext cx="868680" cy="274320"/>
          </a:xfrm>
          <a:prstGeom prst="rect">
            <a:avLst/>
          </a:prstGeom>
          <a:noFill/>
        </p:spPr>
        <p:txBody>
          <a:bodyPr wrap="square" anchor="ctr" lIns="0" rIns="0" tIns="0" bIns="0">
            <a:spAutoFit/>
          </a:bodyPr>
          <a:lstStyle/>
          <a:p>
            <a:pPr algn="r">
              <a:lnSpc>
                <a:spcPct val="110000"/>
              </a:lnSpc>
              <a:spcAft>
                <a:spcPts val="0"/>
              </a:spcAft>
            </a:pPr>
            <a:r>
              <a:rPr sz="869" b="0" i="0">
                <a:solidFill>
                  <a:srgbClr val="0E1620"/>
                </a:solidFill>
                <a:latin typeface="Arial"/>
              </a:rPr>
              <a:t>2.0×</a:t>
            </a:r>
          </a:p>
        </p:txBody>
      </p:sp>
      <p:sp>
        <p:nvSpPr>
          <p:cNvPr id="28" name="Rectangle 27"/>
          <p:cNvSpPr/>
          <p:nvPr/>
        </p:nvSpPr>
        <p:spPr>
          <a:xfrm>
            <a:off x="502920" y="3310128"/>
            <a:ext cx="2240280" cy="274320"/>
          </a:xfrm>
          <a:prstGeom prst="rect">
            <a:avLst/>
          </a:prstGeom>
          <a:solidFill>
            <a:srgbClr val="F6F7F9"/>
          </a:solidFill>
          <a:ln>
            <a:noFill/>
          </a:ln>
          <a:effectLst/>
        </p:spPr>
        <p:txBody>
          <a:bodyPr rtlCol="0" anchor="ctr"/>
          <a:lstStyle/>
          <a:p>
            <a:pPr algn="ctr"/>
          </a:p>
        </p:txBody>
      </p:sp>
      <p:sp>
        <p:nvSpPr>
          <p:cNvPr id="29" name="TextBox 28"/>
          <p:cNvSpPr txBox="1"/>
          <p:nvPr/>
        </p:nvSpPr>
        <p:spPr>
          <a:xfrm>
            <a:off x="557784" y="3310128"/>
            <a:ext cx="2148840" cy="274320"/>
          </a:xfrm>
          <a:prstGeom prst="rect">
            <a:avLst/>
          </a:prstGeom>
          <a:noFill/>
        </p:spPr>
        <p:txBody>
          <a:bodyPr wrap="square" anchor="ctr" lIns="0" rIns="0" tIns="0" bIns="0">
            <a:spAutoFit/>
          </a:bodyPr>
          <a:lstStyle/>
          <a:p>
            <a:pPr algn="l">
              <a:lnSpc>
                <a:spcPct val="110000"/>
              </a:lnSpc>
              <a:spcAft>
                <a:spcPts val="0"/>
              </a:spcAft>
            </a:pPr>
            <a:r>
              <a:rPr sz="869" b="1" i="0">
                <a:solidFill>
                  <a:srgbClr val="314359"/>
                </a:solidFill>
                <a:latin typeface="Arial"/>
              </a:rPr>
              <a:t>Kitron ASA</a:t>
            </a:r>
          </a:p>
        </p:txBody>
      </p:sp>
      <p:sp>
        <p:nvSpPr>
          <p:cNvPr id="30" name="Rectangle 29"/>
          <p:cNvSpPr/>
          <p:nvPr/>
        </p:nvSpPr>
        <p:spPr>
          <a:xfrm>
            <a:off x="2743200" y="3310128"/>
            <a:ext cx="960120" cy="274320"/>
          </a:xfrm>
          <a:prstGeom prst="rect">
            <a:avLst/>
          </a:prstGeom>
          <a:solidFill>
            <a:srgbClr val="F6F7F9"/>
          </a:solidFill>
          <a:ln>
            <a:noFill/>
          </a:ln>
          <a:effectLst/>
        </p:spPr>
        <p:txBody>
          <a:bodyPr rtlCol="0" anchor="ctr"/>
          <a:lstStyle/>
          <a:p>
            <a:pPr algn="ctr"/>
          </a:p>
        </p:txBody>
      </p:sp>
      <p:sp>
        <p:nvSpPr>
          <p:cNvPr id="31" name="TextBox 30"/>
          <p:cNvSpPr txBox="1"/>
          <p:nvPr/>
        </p:nvSpPr>
        <p:spPr>
          <a:xfrm>
            <a:off x="2798064" y="3310128"/>
            <a:ext cx="868680" cy="274320"/>
          </a:xfrm>
          <a:prstGeom prst="rect">
            <a:avLst/>
          </a:prstGeom>
          <a:noFill/>
        </p:spPr>
        <p:txBody>
          <a:bodyPr wrap="square" anchor="ctr" lIns="0" rIns="0" tIns="0" bIns="0">
            <a:spAutoFit/>
          </a:bodyPr>
          <a:lstStyle/>
          <a:p>
            <a:pPr algn="r">
              <a:lnSpc>
                <a:spcPct val="110000"/>
              </a:lnSpc>
              <a:spcAft>
                <a:spcPts val="0"/>
              </a:spcAft>
            </a:pPr>
            <a:r>
              <a:rPr sz="869" b="0" i="0">
                <a:solidFill>
                  <a:srgbClr val="0E1620"/>
                </a:solidFill>
                <a:latin typeface="Arial"/>
              </a:rPr>
              <a:t>49%</a:t>
            </a:r>
          </a:p>
        </p:txBody>
      </p:sp>
      <p:sp>
        <p:nvSpPr>
          <p:cNvPr id="32" name="Rectangle 31"/>
          <p:cNvSpPr/>
          <p:nvPr/>
        </p:nvSpPr>
        <p:spPr>
          <a:xfrm>
            <a:off x="3703320" y="3310128"/>
            <a:ext cx="960120" cy="274320"/>
          </a:xfrm>
          <a:prstGeom prst="rect">
            <a:avLst/>
          </a:prstGeom>
          <a:solidFill>
            <a:srgbClr val="F6F7F9"/>
          </a:solidFill>
          <a:ln>
            <a:noFill/>
          </a:ln>
          <a:effectLst/>
        </p:spPr>
        <p:txBody>
          <a:bodyPr rtlCol="0" anchor="ctr"/>
          <a:lstStyle/>
          <a:p>
            <a:pPr algn="ctr"/>
          </a:p>
        </p:txBody>
      </p:sp>
      <p:sp>
        <p:nvSpPr>
          <p:cNvPr id="33" name="TextBox 32"/>
          <p:cNvSpPr txBox="1"/>
          <p:nvPr/>
        </p:nvSpPr>
        <p:spPr>
          <a:xfrm>
            <a:off x="3758184" y="3310128"/>
            <a:ext cx="868680" cy="274320"/>
          </a:xfrm>
          <a:prstGeom prst="rect">
            <a:avLst/>
          </a:prstGeom>
          <a:noFill/>
        </p:spPr>
        <p:txBody>
          <a:bodyPr wrap="square" anchor="ctr" lIns="0" rIns="0" tIns="0" bIns="0">
            <a:spAutoFit/>
          </a:bodyPr>
          <a:lstStyle/>
          <a:p>
            <a:pPr algn="r">
              <a:lnSpc>
                <a:spcPct val="110000"/>
              </a:lnSpc>
              <a:spcAft>
                <a:spcPts val="0"/>
              </a:spcAft>
            </a:pPr>
            <a:r>
              <a:rPr sz="869" b="0" i="0">
                <a:solidFill>
                  <a:srgbClr val="0E1620"/>
                </a:solidFill>
                <a:latin typeface="Arial"/>
              </a:rPr>
              <a:t>1.6×</a:t>
            </a:r>
          </a:p>
        </p:txBody>
      </p:sp>
      <p:sp>
        <p:nvSpPr>
          <p:cNvPr id="34" name="Rectangle 33"/>
          <p:cNvSpPr/>
          <p:nvPr/>
        </p:nvSpPr>
        <p:spPr>
          <a:xfrm>
            <a:off x="502920" y="3584448"/>
            <a:ext cx="2240280" cy="274320"/>
          </a:xfrm>
          <a:prstGeom prst="rect">
            <a:avLst/>
          </a:prstGeom>
          <a:solidFill>
            <a:srgbClr val="FFFFFF"/>
          </a:solidFill>
          <a:ln>
            <a:noFill/>
          </a:ln>
          <a:effectLst/>
        </p:spPr>
        <p:txBody>
          <a:bodyPr rtlCol="0" anchor="ctr"/>
          <a:lstStyle/>
          <a:p>
            <a:pPr algn="ctr"/>
          </a:p>
        </p:txBody>
      </p:sp>
      <p:sp>
        <p:nvSpPr>
          <p:cNvPr id="35" name="TextBox 34"/>
          <p:cNvSpPr txBox="1"/>
          <p:nvPr/>
        </p:nvSpPr>
        <p:spPr>
          <a:xfrm>
            <a:off x="557784" y="3584448"/>
            <a:ext cx="2148840" cy="274320"/>
          </a:xfrm>
          <a:prstGeom prst="rect">
            <a:avLst/>
          </a:prstGeom>
          <a:noFill/>
        </p:spPr>
        <p:txBody>
          <a:bodyPr wrap="square" anchor="ctr" lIns="0" rIns="0" tIns="0" bIns="0">
            <a:spAutoFit/>
          </a:bodyPr>
          <a:lstStyle/>
          <a:p>
            <a:pPr algn="l">
              <a:lnSpc>
                <a:spcPct val="110000"/>
              </a:lnSpc>
              <a:spcAft>
                <a:spcPts val="0"/>
              </a:spcAft>
            </a:pPr>
            <a:r>
              <a:rPr sz="869" b="1" i="0">
                <a:solidFill>
                  <a:srgbClr val="314359"/>
                </a:solidFill>
                <a:latin typeface="Arial"/>
              </a:rPr>
              <a:t>Note AB</a:t>
            </a:r>
          </a:p>
        </p:txBody>
      </p:sp>
      <p:sp>
        <p:nvSpPr>
          <p:cNvPr id="36" name="Rectangle 35"/>
          <p:cNvSpPr/>
          <p:nvPr/>
        </p:nvSpPr>
        <p:spPr>
          <a:xfrm>
            <a:off x="2743200" y="3584448"/>
            <a:ext cx="960120" cy="274320"/>
          </a:xfrm>
          <a:prstGeom prst="rect">
            <a:avLst/>
          </a:prstGeom>
          <a:solidFill>
            <a:srgbClr val="FFFFFF"/>
          </a:solidFill>
          <a:ln>
            <a:noFill/>
          </a:ln>
          <a:effectLst/>
        </p:spPr>
        <p:txBody>
          <a:bodyPr rtlCol="0" anchor="ctr"/>
          <a:lstStyle/>
          <a:p>
            <a:pPr algn="ctr"/>
          </a:p>
        </p:txBody>
      </p:sp>
      <p:sp>
        <p:nvSpPr>
          <p:cNvPr id="37" name="TextBox 36"/>
          <p:cNvSpPr txBox="1"/>
          <p:nvPr/>
        </p:nvSpPr>
        <p:spPr>
          <a:xfrm>
            <a:off x="2798064" y="3584448"/>
            <a:ext cx="868680" cy="274320"/>
          </a:xfrm>
          <a:prstGeom prst="rect">
            <a:avLst/>
          </a:prstGeom>
          <a:noFill/>
        </p:spPr>
        <p:txBody>
          <a:bodyPr wrap="square" anchor="ctr" lIns="0" rIns="0" tIns="0" bIns="0">
            <a:spAutoFit/>
          </a:bodyPr>
          <a:lstStyle/>
          <a:p>
            <a:pPr algn="r">
              <a:lnSpc>
                <a:spcPct val="110000"/>
              </a:lnSpc>
              <a:spcAft>
                <a:spcPts val="0"/>
              </a:spcAft>
            </a:pPr>
            <a:r>
              <a:rPr sz="869" b="0" i="0">
                <a:solidFill>
                  <a:srgbClr val="0E1620"/>
                </a:solidFill>
                <a:latin typeface="Arial"/>
              </a:rPr>
              <a:t>33%</a:t>
            </a:r>
          </a:p>
        </p:txBody>
      </p:sp>
      <p:sp>
        <p:nvSpPr>
          <p:cNvPr id="38" name="Rectangle 37"/>
          <p:cNvSpPr/>
          <p:nvPr/>
        </p:nvSpPr>
        <p:spPr>
          <a:xfrm>
            <a:off x="3703320" y="3584448"/>
            <a:ext cx="960120" cy="274320"/>
          </a:xfrm>
          <a:prstGeom prst="rect">
            <a:avLst/>
          </a:prstGeom>
          <a:solidFill>
            <a:srgbClr val="FFFFFF"/>
          </a:solidFill>
          <a:ln>
            <a:noFill/>
          </a:ln>
          <a:effectLst/>
        </p:spPr>
        <p:txBody>
          <a:bodyPr rtlCol="0" anchor="ctr"/>
          <a:lstStyle/>
          <a:p>
            <a:pPr algn="ctr"/>
          </a:p>
        </p:txBody>
      </p:sp>
      <p:sp>
        <p:nvSpPr>
          <p:cNvPr id="39" name="TextBox 38"/>
          <p:cNvSpPr txBox="1"/>
          <p:nvPr/>
        </p:nvSpPr>
        <p:spPr>
          <a:xfrm>
            <a:off x="3758184" y="3584448"/>
            <a:ext cx="868680" cy="274320"/>
          </a:xfrm>
          <a:prstGeom prst="rect">
            <a:avLst/>
          </a:prstGeom>
          <a:noFill/>
        </p:spPr>
        <p:txBody>
          <a:bodyPr wrap="square" anchor="ctr" lIns="0" rIns="0" tIns="0" bIns="0">
            <a:spAutoFit/>
          </a:bodyPr>
          <a:lstStyle/>
          <a:p>
            <a:pPr algn="r">
              <a:lnSpc>
                <a:spcPct val="110000"/>
              </a:lnSpc>
              <a:spcAft>
                <a:spcPts val="0"/>
              </a:spcAft>
            </a:pPr>
            <a:r>
              <a:rPr sz="869" b="0" i="0">
                <a:solidFill>
                  <a:srgbClr val="0E1620"/>
                </a:solidFill>
                <a:latin typeface="Arial"/>
              </a:rPr>
              <a:t>5.1×</a:t>
            </a:r>
          </a:p>
        </p:txBody>
      </p:sp>
      <p:sp>
        <p:nvSpPr>
          <p:cNvPr id="40" name="Rectangle 39"/>
          <p:cNvSpPr/>
          <p:nvPr/>
        </p:nvSpPr>
        <p:spPr>
          <a:xfrm>
            <a:off x="502920" y="3858768"/>
            <a:ext cx="2240280" cy="274320"/>
          </a:xfrm>
          <a:prstGeom prst="rect">
            <a:avLst/>
          </a:prstGeom>
          <a:solidFill>
            <a:srgbClr val="F6F7F9"/>
          </a:solidFill>
          <a:ln>
            <a:noFill/>
          </a:ln>
          <a:effectLst/>
        </p:spPr>
        <p:txBody>
          <a:bodyPr rtlCol="0" anchor="ctr"/>
          <a:lstStyle/>
          <a:p>
            <a:pPr algn="ctr"/>
          </a:p>
        </p:txBody>
      </p:sp>
      <p:sp>
        <p:nvSpPr>
          <p:cNvPr id="41" name="TextBox 40"/>
          <p:cNvSpPr txBox="1"/>
          <p:nvPr/>
        </p:nvSpPr>
        <p:spPr>
          <a:xfrm>
            <a:off x="557784" y="3858768"/>
            <a:ext cx="2148840" cy="274320"/>
          </a:xfrm>
          <a:prstGeom prst="rect">
            <a:avLst/>
          </a:prstGeom>
          <a:noFill/>
        </p:spPr>
        <p:txBody>
          <a:bodyPr wrap="square" anchor="ctr" lIns="0" rIns="0" tIns="0" bIns="0">
            <a:spAutoFit/>
          </a:bodyPr>
          <a:lstStyle/>
          <a:p>
            <a:pPr algn="l">
              <a:lnSpc>
                <a:spcPct val="110000"/>
              </a:lnSpc>
              <a:spcAft>
                <a:spcPts val="0"/>
              </a:spcAft>
            </a:pPr>
            <a:r>
              <a:rPr sz="869" b="1" i="0">
                <a:solidFill>
                  <a:srgbClr val="314359"/>
                </a:solidFill>
                <a:latin typeface="Arial"/>
              </a:rPr>
              <a:t>Lindab AB</a:t>
            </a:r>
          </a:p>
        </p:txBody>
      </p:sp>
      <p:sp>
        <p:nvSpPr>
          <p:cNvPr id="42" name="Rectangle 41"/>
          <p:cNvSpPr/>
          <p:nvPr/>
        </p:nvSpPr>
        <p:spPr>
          <a:xfrm>
            <a:off x="2743200" y="3858768"/>
            <a:ext cx="960120" cy="274320"/>
          </a:xfrm>
          <a:prstGeom prst="rect">
            <a:avLst/>
          </a:prstGeom>
          <a:solidFill>
            <a:srgbClr val="F6F7F9"/>
          </a:solidFill>
          <a:ln>
            <a:noFill/>
          </a:ln>
          <a:effectLst/>
        </p:spPr>
        <p:txBody>
          <a:bodyPr rtlCol="0" anchor="ctr"/>
          <a:lstStyle/>
          <a:p>
            <a:pPr algn="ctr"/>
          </a:p>
        </p:txBody>
      </p:sp>
      <p:sp>
        <p:nvSpPr>
          <p:cNvPr id="43" name="TextBox 42"/>
          <p:cNvSpPr txBox="1"/>
          <p:nvPr/>
        </p:nvSpPr>
        <p:spPr>
          <a:xfrm>
            <a:off x="2798064" y="3858768"/>
            <a:ext cx="868680" cy="274320"/>
          </a:xfrm>
          <a:prstGeom prst="rect">
            <a:avLst/>
          </a:prstGeom>
          <a:noFill/>
        </p:spPr>
        <p:txBody>
          <a:bodyPr wrap="square" anchor="ctr" lIns="0" rIns="0" tIns="0" bIns="0">
            <a:spAutoFit/>
          </a:bodyPr>
          <a:lstStyle/>
          <a:p>
            <a:pPr algn="r">
              <a:lnSpc>
                <a:spcPct val="110000"/>
              </a:lnSpc>
              <a:spcAft>
                <a:spcPts val="0"/>
              </a:spcAft>
            </a:pPr>
            <a:r>
              <a:rPr sz="869" b="0" i="0">
                <a:solidFill>
                  <a:srgbClr val="0E1620"/>
                </a:solidFill>
                <a:latin typeface="Arial"/>
              </a:rPr>
              <a:t>32%</a:t>
            </a:r>
          </a:p>
        </p:txBody>
      </p:sp>
      <p:sp>
        <p:nvSpPr>
          <p:cNvPr id="44" name="Rectangle 43"/>
          <p:cNvSpPr/>
          <p:nvPr/>
        </p:nvSpPr>
        <p:spPr>
          <a:xfrm>
            <a:off x="3703320" y="3858768"/>
            <a:ext cx="960120" cy="274320"/>
          </a:xfrm>
          <a:prstGeom prst="rect">
            <a:avLst/>
          </a:prstGeom>
          <a:solidFill>
            <a:srgbClr val="F6F7F9"/>
          </a:solidFill>
          <a:ln>
            <a:noFill/>
          </a:ln>
          <a:effectLst/>
        </p:spPr>
        <p:txBody>
          <a:bodyPr rtlCol="0" anchor="ctr"/>
          <a:lstStyle/>
          <a:p>
            <a:pPr algn="ctr"/>
          </a:p>
        </p:txBody>
      </p:sp>
      <p:sp>
        <p:nvSpPr>
          <p:cNvPr id="45" name="TextBox 44"/>
          <p:cNvSpPr txBox="1"/>
          <p:nvPr/>
        </p:nvSpPr>
        <p:spPr>
          <a:xfrm>
            <a:off x="3758184" y="3858768"/>
            <a:ext cx="868680" cy="274320"/>
          </a:xfrm>
          <a:prstGeom prst="rect">
            <a:avLst/>
          </a:prstGeom>
          <a:noFill/>
        </p:spPr>
        <p:txBody>
          <a:bodyPr wrap="square" anchor="ctr" lIns="0" rIns="0" tIns="0" bIns="0">
            <a:spAutoFit/>
          </a:bodyPr>
          <a:lstStyle/>
          <a:p>
            <a:pPr algn="r">
              <a:lnSpc>
                <a:spcPct val="110000"/>
              </a:lnSpc>
              <a:spcAft>
                <a:spcPts val="0"/>
              </a:spcAft>
            </a:pPr>
            <a:r>
              <a:rPr sz="869" b="0" i="0">
                <a:solidFill>
                  <a:srgbClr val="0E1620"/>
                </a:solidFill>
                <a:latin typeface="Arial"/>
              </a:rPr>
              <a:t>1.6×</a:t>
            </a:r>
          </a:p>
        </p:txBody>
      </p:sp>
      <p:sp>
        <p:nvSpPr>
          <p:cNvPr id="46" name="Rectangle 45"/>
          <p:cNvSpPr/>
          <p:nvPr/>
        </p:nvSpPr>
        <p:spPr>
          <a:xfrm>
            <a:off x="502920" y="4133088"/>
            <a:ext cx="2240280" cy="274320"/>
          </a:xfrm>
          <a:prstGeom prst="rect">
            <a:avLst/>
          </a:prstGeom>
          <a:solidFill>
            <a:srgbClr val="FFFFFF"/>
          </a:solidFill>
          <a:ln>
            <a:noFill/>
          </a:ln>
          <a:effectLst/>
        </p:spPr>
        <p:txBody>
          <a:bodyPr rtlCol="0" anchor="ctr"/>
          <a:lstStyle/>
          <a:p>
            <a:pPr algn="ctr"/>
          </a:p>
        </p:txBody>
      </p:sp>
      <p:sp>
        <p:nvSpPr>
          <p:cNvPr id="47" name="TextBox 46"/>
          <p:cNvSpPr txBox="1"/>
          <p:nvPr/>
        </p:nvSpPr>
        <p:spPr>
          <a:xfrm>
            <a:off x="557784" y="4133088"/>
            <a:ext cx="2148840" cy="274320"/>
          </a:xfrm>
          <a:prstGeom prst="rect">
            <a:avLst/>
          </a:prstGeom>
          <a:noFill/>
        </p:spPr>
        <p:txBody>
          <a:bodyPr wrap="square" anchor="ctr" lIns="0" rIns="0" tIns="0" bIns="0">
            <a:spAutoFit/>
          </a:bodyPr>
          <a:lstStyle/>
          <a:p>
            <a:pPr algn="l">
              <a:lnSpc>
                <a:spcPct val="110000"/>
              </a:lnSpc>
              <a:spcAft>
                <a:spcPts val="0"/>
              </a:spcAft>
            </a:pPr>
            <a:r>
              <a:rPr sz="869" b="1" i="0">
                <a:solidFill>
                  <a:srgbClr val="314359"/>
                </a:solidFill>
                <a:latin typeface="Arial"/>
              </a:rPr>
              <a:t>Transcom SA</a:t>
            </a:r>
          </a:p>
        </p:txBody>
      </p:sp>
      <p:sp>
        <p:nvSpPr>
          <p:cNvPr id="48" name="Rectangle 47"/>
          <p:cNvSpPr/>
          <p:nvPr/>
        </p:nvSpPr>
        <p:spPr>
          <a:xfrm>
            <a:off x="2743200" y="4133088"/>
            <a:ext cx="960120" cy="274320"/>
          </a:xfrm>
          <a:prstGeom prst="rect">
            <a:avLst/>
          </a:prstGeom>
          <a:solidFill>
            <a:srgbClr val="FFFFFF"/>
          </a:solidFill>
          <a:ln>
            <a:noFill/>
          </a:ln>
          <a:effectLst/>
        </p:spPr>
        <p:txBody>
          <a:bodyPr rtlCol="0" anchor="ctr"/>
          <a:lstStyle/>
          <a:p>
            <a:pPr algn="ctr"/>
          </a:p>
        </p:txBody>
      </p:sp>
      <p:sp>
        <p:nvSpPr>
          <p:cNvPr id="49" name="TextBox 48"/>
          <p:cNvSpPr txBox="1"/>
          <p:nvPr/>
        </p:nvSpPr>
        <p:spPr>
          <a:xfrm>
            <a:off x="2798064" y="4133088"/>
            <a:ext cx="868680" cy="274320"/>
          </a:xfrm>
          <a:prstGeom prst="rect">
            <a:avLst/>
          </a:prstGeom>
          <a:noFill/>
        </p:spPr>
        <p:txBody>
          <a:bodyPr wrap="square" anchor="ctr" lIns="0" rIns="0" tIns="0" bIns="0">
            <a:spAutoFit/>
          </a:bodyPr>
          <a:lstStyle/>
          <a:p>
            <a:pPr algn="r">
              <a:lnSpc>
                <a:spcPct val="110000"/>
              </a:lnSpc>
              <a:spcAft>
                <a:spcPts val="0"/>
              </a:spcAft>
            </a:pPr>
            <a:r>
              <a:rPr sz="869" b="0" i="0">
                <a:solidFill>
                  <a:srgbClr val="0E1620"/>
                </a:solidFill>
                <a:latin typeface="Arial"/>
              </a:rPr>
              <a:t>30%</a:t>
            </a:r>
          </a:p>
        </p:txBody>
      </p:sp>
      <p:sp>
        <p:nvSpPr>
          <p:cNvPr id="50" name="Rectangle 49"/>
          <p:cNvSpPr/>
          <p:nvPr/>
        </p:nvSpPr>
        <p:spPr>
          <a:xfrm>
            <a:off x="3703320" y="4133088"/>
            <a:ext cx="960120" cy="274320"/>
          </a:xfrm>
          <a:prstGeom prst="rect">
            <a:avLst/>
          </a:prstGeom>
          <a:solidFill>
            <a:srgbClr val="FFFFFF"/>
          </a:solidFill>
          <a:ln>
            <a:noFill/>
          </a:ln>
          <a:effectLst/>
        </p:spPr>
        <p:txBody>
          <a:bodyPr rtlCol="0" anchor="ctr"/>
          <a:lstStyle/>
          <a:p>
            <a:pPr algn="ctr"/>
          </a:p>
        </p:txBody>
      </p:sp>
      <p:sp>
        <p:nvSpPr>
          <p:cNvPr id="51" name="TextBox 50"/>
          <p:cNvSpPr txBox="1"/>
          <p:nvPr/>
        </p:nvSpPr>
        <p:spPr>
          <a:xfrm>
            <a:off x="3758184" y="4133088"/>
            <a:ext cx="868680" cy="274320"/>
          </a:xfrm>
          <a:prstGeom prst="rect">
            <a:avLst/>
          </a:prstGeom>
          <a:noFill/>
        </p:spPr>
        <p:txBody>
          <a:bodyPr wrap="square" anchor="ctr" lIns="0" rIns="0" tIns="0" bIns="0">
            <a:spAutoFit/>
          </a:bodyPr>
          <a:lstStyle/>
          <a:p>
            <a:pPr algn="r">
              <a:lnSpc>
                <a:spcPct val="110000"/>
              </a:lnSpc>
              <a:spcAft>
                <a:spcPts val="0"/>
              </a:spcAft>
            </a:pPr>
            <a:r>
              <a:rPr sz="869" b="0" i="0">
                <a:solidFill>
                  <a:srgbClr val="0E1620"/>
                </a:solidFill>
                <a:latin typeface="Arial"/>
              </a:rPr>
              <a:t>3.0×</a:t>
            </a:r>
          </a:p>
        </p:txBody>
      </p:sp>
      <p:sp>
        <p:nvSpPr>
          <p:cNvPr id="52" name="Rectangle 51"/>
          <p:cNvSpPr/>
          <p:nvPr/>
        </p:nvSpPr>
        <p:spPr>
          <a:xfrm>
            <a:off x="502920" y="4407408"/>
            <a:ext cx="2240280" cy="274320"/>
          </a:xfrm>
          <a:prstGeom prst="rect">
            <a:avLst/>
          </a:prstGeom>
          <a:solidFill>
            <a:srgbClr val="F6F7F9"/>
          </a:solidFill>
          <a:ln>
            <a:noFill/>
          </a:ln>
          <a:effectLst/>
        </p:spPr>
        <p:txBody>
          <a:bodyPr rtlCol="0" anchor="ctr"/>
          <a:lstStyle/>
          <a:p>
            <a:pPr algn="ctr"/>
          </a:p>
        </p:txBody>
      </p:sp>
      <p:sp>
        <p:nvSpPr>
          <p:cNvPr id="53" name="TextBox 52"/>
          <p:cNvSpPr txBox="1"/>
          <p:nvPr/>
        </p:nvSpPr>
        <p:spPr>
          <a:xfrm>
            <a:off x="557784" y="4407408"/>
            <a:ext cx="2148840" cy="274320"/>
          </a:xfrm>
          <a:prstGeom prst="rect">
            <a:avLst/>
          </a:prstGeom>
          <a:noFill/>
        </p:spPr>
        <p:txBody>
          <a:bodyPr wrap="square" anchor="ctr" lIns="0" rIns="0" tIns="0" bIns="0">
            <a:spAutoFit/>
          </a:bodyPr>
          <a:lstStyle/>
          <a:p>
            <a:pPr algn="l">
              <a:lnSpc>
                <a:spcPct val="110000"/>
              </a:lnSpc>
              <a:spcAft>
                <a:spcPts val="0"/>
              </a:spcAft>
            </a:pPr>
            <a:r>
              <a:rPr sz="869" b="1" i="0">
                <a:solidFill>
                  <a:srgbClr val="314359"/>
                </a:solidFill>
                <a:latin typeface="Arial"/>
              </a:rPr>
              <a:t>DistIt / Alcadon</a:t>
            </a:r>
          </a:p>
        </p:txBody>
      </p:sp>
      <p:sp>
        <p:nvSpPr>
          <p:cNvPr id="54" name="Rectangle 53"/>
          <p:cNvSpPr/>
          <p:nvPr/>
        </p:nvSpPr>
        <p:spPr>
          <a:xfrm>
            <a:off x="2743200" y="4407408"/>
            <a:ext cx="960120" cy="274320"/>
          </a:xfrm>
          <a:prstGeom prst="rect">
            <a:avLst/>
          </a:prstGeom>
          <a:solidFill>
            <a:srgbClr val="F6F7F9"/>
          </a:solidFill>
          <a:ln>
            <a:noFill/>
          </a:ln>
          <a:effectLst/>
        </p:spPr>
        <p:txBody>
          <a:bodyPr rtlCol="0" anchor="ctr"/>
          <a:lstStyle/>
          <a:p>
            <a:pPr algn="ctr"/>
          </a:p>
        </p:txBody>
      </p:sp>
      <p:sp>
        <p:nvSpPr>
          <p:cNvPr id="55" name="TextBox 54"/>
          <p:cNvSpPr txBox="1"/>
          <p:nvPr/>
        </p:nvSpPr>
        <p:spPr>
          <a:xfrm>
            <a:off x="2798064" y="4407408"/>
            <a:ext cx="868680" cy="274320"/>
          </a:xfrm>
          <a:prstGeom prst="rect">
            <a:avLst/>
          </a:prstGeom>
          <a:noFill/>
        </p:spPr>
        <p:txBody>
          <a:bodyPr wrap="square" anchor="ctr" lIns="0" rIns="0" tIns="0" bIns="0">
            <a:spAutoFit/>
          </a:bodyPr>
          <a:lstStyle/>
          <a:p>
            <a:pPr algn="r">
              <a:lnSpc>
                <a:spcPct val="110000"/>
              </a:lnSpc>
              <a:spcAft>
                <a:spcPts val="0"/>
              </a:spcAft>
            </a:pPr>
            <a:r>
              <a:rPr sz="869" b="0" i="0">
                <a:solidFill>
                  <a:srgbClr val="0E1620"/>
                </a:solidFill>
                <a:latin typeface="Arial"/>
              </a:rPr>
              <a:t>—</a:t>
            </a:r>
          </a:p>
        </p:txBody>
      </p:sp>
      <p:sp>
        <p:nvSpPr>
          <p:cNvPr id="56" name="Rectangle 55"/>
          <p:cNvSpPr/>
          <p:nvPr/>
        </p:nvSpPr>
        <p:spPr>
          <a:xfrm>
            <a:off x="3703320" y="4407408"/>
            <a:ext cx="960120" cy="274320"/>
          </a:xfrm>
          <a:prstGeom prst="rect">
            <a:avLst/>
          </a:prstGeom>
          <a:solidFill>
            <a:srgbClr val="F6F7F9"/>
          </a:solidFill>
          <a:ln>
            <a:noFill/>
          </a:ln>
          <a:effectLst/>
        </p:spPr>
        <p:txBody>
          <a:bodyPr rtlCol="0" anchor="ctr"/>
          <a:lstStyle/>
          <a:p>
            <a:pPr algn="ctr"/>
          </a:p>
        </p:txBody>
      </p:sp>
      <p:sp>
        <p:nvSpPr>
          <p:cNvPr id="57" name="TextBox 56"/>
          <p:cNvSpPr txBox="1"/>
          <p:nvPr/>
        </p:nvSpPr>
        <p:spPr>
          <a:xfrm>
            <a:off x="3758184" y="4407408"/>
            <a:ext cx="868680" cy="274320"/>
          </a:xfrm>
          <a:prstGeom prst="rect">
            <a:avLst/>
          </a:prstGeom>
          <a:noFill/>
        </p:spPr>
        <p:txBody>
          <a:bodyPr wrap="square" anchor="ctr" lIns="0" rIns="0" tIns="0" bIns="0">
            <a:spAutoFit/>
          </a:bodyPr>
          <a:lstStyle/>
          <a:p>
            <a:pPr algn="r">
              <a:lnSpc>
                <a:spcPct val="110000"/>
              </a:lnSpc>
              <a:spcAft>
                <a:spcPts val="0"/>
              </a:spcAft>
            </a:pPr>
            <a:r>
              <a:rPr sz="869" b="0" i="0">
                <a:solidFill>
                  <a:srgbClr val="0E1620"/>
                </a:solidFill>
                <a:latin typeface="Arial"/>
              </a:rPr>
              <a:t>—</a:t>
            </a:r>
          </a:p>
        </p:txBody>
      </p:sp>
      <p:sp>
        <p:nvSpPr>
          <p:cNvPr id="58" name="TextBox 57"/>
          <p:cNvSpPr txBox="1"/>
          <p:nvPr/>
        </p:nvSpPr>
        <p:spPr>
          <a:xfrm>
            <a:off x="5074920" y="2148840"/>
            <a:ext cx="4160520" cy="274320"/>
          </a:xfrm>
          <a:prstGeom prst="rect">
            <a:avLst/>
          </a:prstGeom>
          <a:noFill/>
        </p:spPr>
        <p:txBody>
          <a:bodyPr wrap="square" anchor="t" lIns="0" rIns="0" tIns="0" bIns="0">
            <a:spAutoFit/>
          </a:bodyPr>
          <a:lstStyle/>
          <a:p>
            <a:pPr algn="l">
              <a:lnSpc>
                <a:spcPct val="110000"/>
              </a:lnSpc>
              <a:spcAft>
                <a:spcPts val="0"/>
              </a:spcAft>
            </a:pPr>
            <a:r>
              <a:rPr sz="1300" b="1" i="0">
                <a:solidFill>
                  <a:srgbClr val="314359"/>
                </a:solidFill>
                <a:latin typeface="Times New Roman"/>
              </a:rPr>
              <a:t>Earlier track record — Investment AB Öresund</a:t>
            </a:r>
          </a:p>
        </p:txBody>
      </p:sp>
      <p:sp>
        <p:nvSpPr>
          <p:cNvPr id="59" name="Rectangle 58"/>
          <p:cNvSpPr/>
          <p:nvPr/>
        </p:nvSpPr>
        <p:spPr>
          <a:xfrm>
            <a:off x="5074920" y="2487168"/>
            <a:ext cx="2240280" cy="274320"/>
          </a:xfrm>
          <a:prstGeom prst="rect">
            <a:avLst/>
          </a:prstGeom>
          <a:solidFill>
            <a:srgbClr val="314359"/>
          </a:solidFill>
          <a:ln>
            <a:noFill/>
          </a:ln>
          <a:effectLst/>
        </p:spPr>
        <p:txBody>
          <a:bodyPr rtlCol="0" anchor="ctr"/>
          <a:lstStyle/>
          <a:p>
            <a:pPr algn="ctr"/>
          </a:p>
        </p:txBody>
      </p:sp>
      <p:sp>
        <p:nvSpPr>
          <p:cNvPr id="60" name="TextBox 59"/>
          <p:cNvSpPr txBox="1"/>
          <p:nvPr/>
        </p:nvSpPr>
        <p:spPr>
          <a:xfrm>
            <a:off x="5129784" y="2487168"/>
            <a:ext cx="2148840" cy="274320"/>
          </a:xfrm>
          <a:prstGeom prst="rect">
            <a:avLst/>
          </a:prstGeom>
          <a:noFill/>
        </p:spPr>
        <p:txBody>
          <a:bodyPr wrap="square" anchor="ctr" lIns="0" rIns="0" tIns="0" bIns="0">
            <a:spAutoFit/>
          </a:bodyPr>
          <a:lstStyle/>
          <a:p>
            <a:pPr algn="l">
              <a:lnSpc>
                <a:spcPct val="110000"/>
              </a:lnSpc>
              <a:spcAft>
                <a:spcPts val="0"/>
              </a:spcAft>
            </a:pPr>
            <a:r>
              <a:rPr sz="900" b="1" i="0">
                <a:solidFill>
                  <a:srgbClr val="FFFFFF"/>
                </a:solidFill>
                <a:latin typeface="Arial"/>
              </a:rPr>
              <a:t>Company</a:t>
            </a:r>
          </a:p>
        </p:txBody>
      </p:sp>
      <p:sp>
        <p:nvSpPr>
          <p:cNvPr id="61" name="Rectangle 60"/>
          <p:cNvSpPr/>
          <p:nvPr/>
        </p:nvSpPr>
        <p:spPr>
          <a:xfrm>
            <a:off x="7315200" y="2487168"/>
            <a:ext cx="960120" cy="274320"/>
          </a:xfrm>
          <a:prstGeom prst="rect">
            <a:avLst/>
          </a:prstGeom>
          <a:solidFill>
            <a:srgbClr val="314359"/>
          </a:solidFill>
          <a:ln>
            <a:noFill/>
          </a:ln>
          <a:effectLst/>
        </p:spPr>
        <p:txBody>
          <a:bodyPr rtlCol="0" anchor="ctr"/>
          <a:lstStyle/>
          <a:p>
            <a:pPr algn="ctr"/>
          </a:p>
        </p:txBody>
      </p:sp>
      <p:sp>
        <p:nvSpPr>
          <p:cNvPr id="62" name="TextBox 61"/>
          <p:cNvSpPr txBox="1"/>
          <p:nvPr/>
        </p:nvSpPr>
        <p:spPr>
          <a:xfrm>
            <a:off x="7370064" y="2487168"/>
            <a:ext cx="868680" cy="274320"/>
          </a:xfrm>
          <a:prstGeom prst="rect">
            <a:avLst/>
          </a:prstGeom>
          <a:noFill/>
        </p:spPr>
        <p:txBody>
          <a:bodyPr wrap="square" anchor="ctr" lIns="0" rIns="0" tIns="0" bIns="0">
            <a:spAutoFit/>
          </a:bodyPr>
          <a:lstStyle/>
          <a:p>
            <a:pPr algn="r">
              <a:lnSpc>
                <a:spcPct val="110000"/>
              </a:lnSpc>
              <a:spcAft>
                <a:spcPts val="0"/>
              </a:spcAft>
            </a:pPr>
            <a:r>
              <a:rPr sz="900" b="1" i="0">
                <a:solidFill>
                  <a:srgbClr val="FFFFFF"/>
                </a:solidFill>
                <a:latin typeface="Arial"/>
              </a:rPr>
              <a:t>IRR</a:t>
            </a:r>
          </a:p>
        </p:txBody>
      </p:sp>
      <p:sp>
        <p:nvSpPr>
          <p:cNvPr id="63" name="Rectangle 62"/>
          <p:cNvSpPr/>
          <p:nvPr/>
        </p:nvSpPr>
        <p:spPr>
          <a:xfrm>
            <a:off x="8275320" y="2487168"/>
            <a:ext cx="960120" cy="274320"/>
          </a:xfrm>
          <a:prstGeom prst="rect">
            <a:avLst/>
          </a:prstGeom>
          <a:solidFill>
            <a:srgbClr val="314359"/>
          </a:solidFill>
          <a:ln>
            <a:noFill/>
          </a:ln>
          <a:effectLst/>
        </p:spPr>
        <p:txBody>
          <a:bodyPr rtlCol="0" anchor="ctr"/>
          <a:lstStyle/>
          <a:p>
            <a:pPr algn="ctr"/>
          </a:p>
        </p:txBody>
      </p:sp>
      <p:sp>
        <p:nvSpPr>
          <p:cNvPr id="64" name="TextBox 63"/>
          <p:cNvSpPr txBox="1"/>
          <p:nvPr/>
        </p:nvSpPr>
        <p:spPr>
          <a:xfrm>
            <a:off x="8330184" y="2487168"/>
            <a:ext cx="868680" cy="274320"/>
          </a:xfrm>
          <a:prstGeom prst="rect">
            <a:avLst/>
          </a:prstGeom>
          <a:noFill/>
        </p:spPr>
        <p:txBody>
          <a:bodyPr wrap="square" anchor="ctr" lIns="0" rIns="0" tIns="0" bIns="0">
            <a:spAutoFit/>
          </a:bodyPr>
          <a:lstStyle/>
          <a:p>
            <a:pPr algn="r">
              <a:lnSpc>
                <a:spcPct val="110000"/>
              </a:lnSpc>
              <a:spcAft>
                <a:spcPts val="0"/>
              </a:spcAft>
            </a:pPr>
            <a:r>
              <a:rPr sz="900" b="1" i="0">
                <a:solidFill>
                  <a:srgbClr val="FFFFFF"/>
                </a:solidFill>
                <a:latin typeface="Arial"/>
              </a:rPr>
              <a:t>Period</a:t>
            </a:r>
          </a:p>
        </p:txBody>
      </p:sp>
      <p:sp>
        <p:nvSpPr>
          <p:cNvPr id="65" name="Rectangle 64"/>
          <p:cNvSpPr/>
          <p:nvPr/>
        </p:nvSpPr>
        <p:spPr>
          <a:xfrm>
            <a:off x="5074920" y="2761488"/>
            <a:ext cx="2240280" cy="274320"/>
          </a:xfrm>
          <a:prstGeom prst="rect">
            <a:avLst/>
          </a:prstGeom>
          <a:solidFill>
            <a:srgbClr val="F6F7F9"/>
          </a:solidFill>
          <a:ln>
            <a:noFill/>
          </a:ln>
          <a:effectLst/>
        </p:spPr>
        <p:txBody>
          <a:bodyPr rtlCol="0" anchor="ctr"/>
          <a:lstStyle/>
          <a:p>
            <a:pPr algn="ctr"/>
          </a:p>
        </p:txBody>
      </p:sp>
      <p:sp>
        <p:nvSpPr>
          <p:cNvPr id="66" name="TextBox 65"/>
          <p:cNvSpPr txBox="1"/>
          <p:nvPr/>
        </p:nvSpPr>
        <p:spPr>
          <a:xfrm>
            <a:off x="5129784" y="2761488"/>
            <a:ext cx="2148840" cy="274320"/>
          </a:xfrm>
          <a:prstGeom prst="rect">
            <a:avLst/>
          </a:prstGeom>
          <a:noFill/>
        </p:spPr>
        <p:txBody>
          <a:bodyPr wrap="square" anchor="ctr" lIns="0" rIns="0" tIns="0" bIns="0">
            <a:spAutoFit/>
          </a:bodyPr>
          <a:lstStyle/>
          <a:p>
            <a:pPr algn="l">
              <a:lnSpc>
                <a:spcPct val="110000"/>
              </a:lnSpc>
              <a:spcAft>
                <a:spcPts val="0"/>
              </a:spcAft>
            </a:pPr>
            <a:r>
              <a:rPr sz="869" b="1" i="0">
                <a:solidFill>
                  <a:srgbClr val="314359"/>
                </a:solidFill>
                <a:latin typeface="Arial"/>
              </a:rPr>
              <a:t>J&amp;W</a:t>
            </a:r>
          </a:p>
        </p:txBody>
      </p:sp>
      <p:sp>
        <p:nvSpPr>
          <p:cNvPr id="67" name="Rectangle 66"/>
          <p:cNvSpPr/>
          <p:nvPr/>
        </p:nvSpPr>
        <p:spPr>
          <a:xfrm>
            <a:off x="7315200" y="2761488"/>
            <a:ext cx="960120" cy="274320"/>
          </a:xfrm>
          <a:prstGeom prst="rect">
            <a:avLst/>
          </a:prstGeom>
          <a:solidFill>
            <a:srgbClr val="F6F7F9"/>
          </a:solidFill>
          <a:ln>
            <a:noFill/>
          </a:ln>
          <a:effectLst/>
        </p:spPr>
        <p:txBody>
          <a:bodyPr rtlCol="0" anchor="ctr"/>
          <a:lstStyle/>
          <a:p>
            <a:pPr algn="ctr"/>
          </a:p>
        </p:txBody>
      </p:sp>
      <p:sp>
        <p:nvSpPr>
          <p:cNvPr id="68" name="TextBox 67"/>
          <p:cNvSpPr txBox="1"/>
          <p:nvPr/>
        </p:nvSpPr>
        <p:spPr>
          <a:xfrm>
            <a:off x="7370064" y="2761488"/>
            <a:ext cx="868680" cy="274320"/>
          </a:xfrm>
          <a:prstGeom prst="rect">
            <a:avLst/>
          </a:prstGeom>
          <a:noFill/>
        </p:spPr>
        <p:txBody>
          <a:bodyPr wrap="square" anchor="ctr" lIns="0" rIns="0" tIns="0" bIns="0">
            <a:spAutoFit/>
          </a:bodyPr>
          <a:lstStyle/>
          <a:p>
            <a:pPr algn="r">
              <a:lnSpc>
                <a:spcPct val="110000"/>
              </a:lnSpc>
              <a:spcAft>
                <a:spcPts val="0"/>
              </a:spcAft>
            </a:pPr>
            <a:r>
              <a:rPr sz="869" b="0" i="0">
                <a:solidFill>
                  <a:srgbClr val="0E1620"/>
                </a:solidFill>
                <a:latin typeface="Arial"/>
              </a:rPr>
              <a:t>94.4%</a:t>
            </a:r>
          </a:p>
        </p:txBody>
      </p:sp>
      <p:sp>
        <p:nvSpPr>
          <p:cNvPr id="69" name="Rectangle 68"/>
          <p:cNvSpPr/>
          <p:nvPr/>
        </p:nvSpPr>
        <p:spPr>
          <a:xfrm>
            <a:off x="8275320" y="2761488"/>
            <a:ext cx="960120" cy="274320"/>
          </a:xfrm>
          <a:prstGeom prst="rect">
            <a:avLst/>
          </a:prstGeom>
          <a:solidFill>
            <a:srgbClr val="F6F7F9"/>
          </a:solidFill>
          <a:ln>
            <a:noFill/>
          </a:ln>
          <a:effectLst/>
        </p:spPr>
        <p:txBody>
          <a:bodyPr rtlCol="0" anchor="ctr"/>
          <a:lstStyle/>
          <a:p>
            <a:pPr algn="ctr"/>
          </a:p>
        </p:txBody>
      </p:sp>
      <p:sp>
        <p:nvSpPr>
          <p:cNvPr id="70" name="TextBox 69"/>
          <p:cNvSpPr txBox="1"/>
          <p:nvPr/>
        </p:nvSpPr>
        <p:spPr>
          <a:xfrm>
            <a:off x="8330184" y="2761488"/>
            <a:ext cx="868680" cy="274320"/>
          </a:xfrm>
          <a:prstGeom prst="rect">
            <a:avLst/>
          </a:prstGeom>
          <a:noFill/>
        </p:spPr>
        <p:txBody>
          <a:bodyPr wrap="square" anchor="ctr" lIns="0" rIns="0" tIns="0" bIns="0">
            <a:spAutoFit/>
          </a:bodyPr>
          <a:lstStyle/>
          <a:p>
            <a:pPr algn="r">
              <a:lnSpc>
                <a:spcPct val="110000"/>
              </a:lnSpc>
              <a:spcAft>
                <a:spcPts val="0"/>
              </a:spcAft>
            </a:pPr>
            <a:r>
              <a:rPr sz="869" b="0" i="0">
                <a:solidFill>
                  <a:srgbClr val="0E1620"/>
                </a:solidFill>
                <a:latin typeface="Arial"/>
              </a:rPr>
              <a:t>2000–01</a:t>
            </a:r>
          </a:p>
        </p:txBody>
      </p:sp>
      <p:sp>
        <p:nvSpPr>
          <p:cNvPr id="71" name="Rectangle 70"/>
          <p:cNvSpPr/>
          <p:nvPr/>
        </p:nvSpPr>
        <p:spPr>
          <a:xfrm>
            <a:off x="5074920" y="3035808"/>
            <a:ext cx="2240280" cy="274320"/>
          </a:xfrm>
          <a:prstGeom prst="rect">
            <a:avLst/>
          </a:prstGeom>
          <a:solidFill>
            <a:srgbClr val="FFFFFF"/>
          </a:solidFill>
          <a:ln>
            <a:noFill/>
          </a:ln>
          <a:effectLst/>
        </p:spPr>
        <p:txBody>
          <a:bodyPr rtlCol="0" anchor="ctr"/>
          <a:lstStyle/>
          <a:p>
            <a:pPr algn="ctr"/>
          </a:p>
        </p:txBody>
      </p:sp>
      <p:sp>
        <p:nvSpPr>
          <p:cNvPr id="72" name="TextBox 71"/>
          <p:cNvSpPr txBox="1"/>
          <p:nvPr/>
        </p:nvSpPr>
        <p:spPr>
          <a:xfrm>
            <a:off x="5129784" y="3035808"/>
            <a:ext cx="2148840" cy="274320"/>
          </a:xfrm>
          <a:prstGeom prst="rect">
            <a:avLst/>
          </a:prstGeom>
          <a:noFill/>
        </p:spPr>
        <p:txBody>
          <a:bodyPr wrap="square" anchor="ctr" lIns="0" rIns="0" tIns="0" bIns="0">
            <a:spAutoFit/>
          </a:bodyPr>
          <a:lstStyle/>
          <a:p>
            <a:pPr algn="l">
              <a:lnSpc>
                <a:spcPct val="110000"/>
              </a:lnSpc>
              <a:spcAft>
                <a:spcPts val="0"/>
              </a:spcAft>
            </a:pPr>
            <a:r>
              <a:rPr sz="869" b="1" i="0">
                <a:solidFill>
                  <a:srgbClr val="314359"/>
                </a:solidFill>
                <a:latin typeface="Arial"/>
              </a:rPr>
              <a:t>Custos</a:t>
            </a:r>
          </a:p>
        </p:txBody>
      </p:sp>
      <p:sp>
        <p:nvSpPr>
          <p:cNvPr id="73" name="Rectangle 72"/>
          <p:cNvSpPr/>
          <p:nvPr/>
        </p:nvSpPr>
        <p:spPr>
          <a:xfrm>
            <a:off x="7315200" y="3035808"/>
            <a:ext cx="960120" cy="274320"/>
          </a:xfrm>
          <a:prstGeom prst="rect">
            <a:avLst/>
          </a:prstGeom>
          <a:solidFill>
            <a:srgbClr val="FFFFFF"/>
          </a:solidFill>
          <a:ln>
            <a:noFill/>
          </a:ln>
          <a:effectLst/>
        </p:spPr>
        <p:txBody>
          <a:bodyPr rtlCol="0" anchor="ctr"/>
          <a:lstStyle/>
          <a:p>
            <a:pPr algn="ctr"/>
          </a:p>
        </p:txBody>
      </p:sp>
      <p:sp>
        <p:nvSpPr>
          <p:cNvPr id="74" name="TextBox 73"/>
          <p:cNvSpPr txBox="1"/>
          <p:nvPr/>
        </p:nvSpPr>
        <p:spPr>
          <a:xfrm>
            <a:off x="7370064" y="3035808"/>
            <a:ext cx="868680" cy="274320"/>
          </a:xfrm>
          <a:prstGeom prst="rect">
            <a:avLst/>
          </a:prstGeom>
          <a:noFill/>
        </p:spPr>
        <p:txBody>
          <a:bodyPr wrap="square" anchor="ctr" lIns="0" rIns="0" tIns="0" bIns="0">
            <a:spAutoFit/>
          </a:bodyPr>
          <a:lstStyle/>
          <a:p>
            <a:pPr algn="r">
              <a:lnSpc>
                <a:spcPct val="110000"/>
              </a:lnSpc>
              <a:spcAft>
                <a:spcPts val="0"/>
              </a:spcAft>
            </a:pPr>
            <a:r>
              <a:rPr sz="869" b="0" i="0">
                <a:solidFill>
                  <a:srgbClr val="0E1620"/>
                </a:solidFill>
                <a:latin typeface="Arial"/>
              </a:rPr>
              <a:t>58.9%</a:t>
            </a:r>
          </a:p>
        </p:txBody>
      </p:sp>
      <p:sp>
        <p:nvSpPr>
          <p:cNvPr id="75" name="Rectangle 74"/>
          <p:cNvSpPr/>
          <p:nvPr/>
        </p:nvSpPr>
        <p:spPr>
          <a:xfrm>
            <a:off x="8275320" y="3035808"/>
            <a:ext cx="960120" cy="274320"/>
          </a:xfrm>
          <a:prstGeom prst="rect">
            <a:avLst/>
          </a:prstGeom>
          <a:solidFill>
            <a:srgbClr val="FFFFFF"/>
          </a:solidFill>
          <a:ln>
            <a:noFill/>
          </a:ln>
          <a:effectLst/>
        </p:spPr>
        <p:txBody>
          <a:bodyPr rtlCol="0" anchor="ctr"/>
          <a:lstStyle/>
          <a:p>
            <a:pPr algn="ctr"/>
          </a:p>
        </p:txBody>
      </p:sp>
      <p:sp>
        <p:nvSpPr>
          <p:cNvPr id="76" name="TextBox 75"/>
          <p:cNvSpPr txBox="1"/>
          <p:nvPr/>
        </p:nvSpPr>
        <p:spPr>
          <a:xfrm>
            <a:off x="8330184" y="3035808"/>
            <a:ext cx="868680" cy="274320"/>
          </a:xfrm>
          <a:prstGeom prst="rect">
            <a:avLst/>
          </a:prstGeom>
          <a:noFill/>
        </p:spPr>
        <p:txBody>
          <a:bodyPr wrap="square" anchor="ctr" lIns="0" rIns="0" tIns="0" bIns="0">
            <a:spAutoFit/>
          </a:bodyPr>
          <a:lstStyle/>
          <a:p>
            <a:pPr algn="r">
              <a:lnSpc>
                <a:spcPct val="110000"/>
              </a:lnSpc>
              <a:spcAft>
                <a:spcPts val="0"/>
              </a:spcAft>
            </a:pPr>
            <a:r>
              <a:rPr sz="869" b="0" i="0">
                <a:solidFill>
                  <a:srgbClr val="0E1620"/>
                </a:solidFill>
                <a:latin typeface="Arial"/>
              </a:rPr>
              <a:t>2000–04</a:t>
            </a:r>
          </a:p>
        </p:txBody>
      </p:sp>
      <p:sp>
        <p:nvSpPr>
          <p:cNvPr id="77" name="Rectangle 76"/>
          <p:cNvSpPr/>
          <p:nvPr/>
        </p:nvSpPr>
        <p:spPr>
          <a:xfrm>
            <a:off x="5074920" y="3310128"/>
            <a:ext cx="2240280" cy="274320"/>
          </a:xfrm>
          <a:prstGeom prst="rect">
            <a:avLst/>
          </a:prstGeom>
          <a:solidFill>
            <a:srgbClr val="F6F7F9"/>
          </a:solidFill>
          <a:ln>
            <a:noFill/>
          </a:ln>
          <a:effectLst/>
        </p:spPr>
        <p:txBody>
          <a:bodyPr rtlCol="0" anchor="ctr"/>
          <a:lstStyle/>
          <a:p>
            <a:pPr algn="ctr"/>
          </a:p>
        </p:txBody>
      </p:sp>
      <p:sp>
        <p:nvSpPr>
          <p:cNvPr id="78" name="TextBox 77"/>
          <p:cNvSpPr txBox="1"/>
          <p:nvPr/>
        </p:nvSpPr>
        <p:spPr>
          <a:xfrm>
            <a:off x="5129784" y="3310128"/>
            <a:ext cx="2148840" cy="274320"/>
          </a:xfrm>
          <a:prstGeom prst="rect">
            <a:avLst/>
          </a:prstGeom>
          <a:noFill/>
        </p:spPr>
        <p:txBody>
          <a:bodyPr wrap="square" anchor="ctr" lIns="0" rIns="0" tIns="0" bIns="0">
            <a:spAutoFit/>
          </a:bodyPr>
          <a:lstStyle/>
          <a:p>
            <a:pPr algn="l">
              <a:lnSpc>
                <a:spcPct val="110000"/>
              </a:lnSpc>
              <a:spcAft>
                <a:spcPts val="0"/>
              </a:spcAft>
            </a:pPr>
            <a:r>
              <a:rPr sz="869" b="1" i="0">
                <a:solidFill>
                  <a:srgbClr val="314359"/>
                </a:solidFill>
                <a:latin typeface="Arial"/>
              </a:rPr>
              <a:t>HQ / Avanza</a:t>
            </a:r>
          </a:p>
        </p:txBody>
      </p:sp>
      <p:sp>
        <p:nvSpPr>
          <p:cNvPr id="79" name="Rectangle 78"/>
          <p:cNvSpPr/>
          <p:nvPr/>
        </p:nvSpPr>
        <p:spPr>
          <a:xfrm>
            <a:off x="7315200" y="3310128"/>
            <a:ext cx="960120" cy="274320"/>
          </a:xfrm>
          <a:prstGeom prst="rect">
            <a:avLst/>
          </a:prstGeom>
          <a:solidFill>
            <a:srgbClr val="F6F7F9"/>
          </a:solidFill>
          <a:ln>
            <a:noFill/>
          </a:ln>
          <a:effectLst/>
        </p:spPr>
        <p:txBody>
          <a:bodyPr rtlCol="0" anchor="ctr"/>
          <a:lstStyle/>
          <a:p>
            <a:pPr algn="ctr"/>
          </a:p>
        </p:txBody>
      </p:sp>
      <p:sp>
        <p:nvSpPr>
          <p:cNvPr id="80" name="TextBox 79"/>
          <p:cNvSpPr txBox="1"/>
          <p:nvPr/>
        </p:nvSpPr>
        <p:spPr>
          <a:xfrm>
            <a:off x="7370064" y="3310128"/>
            <a:ext cx="868680" cy="274320"/>
          </a:xfrm>
          <a:prstGeom prst="rect">
            <a:avLst/>
          </a:prstGeom>
          <a:noFill/>
        </p:spPr>
        <p:txBody>
          <a:bodyPr wrap="square" anchor="ctr" lIns="0" rIns="0" tIns="0" bIns="0">
            <a:spAutoFit/>
          </a:bodyPr>
          <a:lstStyle/>
          <a:p>
            <a:pPr algn="r">
              <a:lnSpc>
                <a:spcPct val="110000"/>
              </a:lnSpc>
              <a:spcAft>
                <a:spcPts val="0"/>
              </a:spcAft>
            </a:pPr>
            <a:r>
              <a:rPr sz="869" b="0" i="0">
                <a:solidFill>
                  <a:srgbClr val="0E1620"/>
                </a:solidFill>
                <a:latin typeface="Arial"/>
              </a:rPr>
              <a:t>37.8%</a:t>
            </a:r>
          </a:p>
        </p:txBody>
      </p:sp>
      <p:sp>
        <p:nvSpPr>
          <p:cNvPr id="81" name="Rectangle 80"/>
          <p:cNvSpPr/>
          <p:nvPr/>
        </p:nvSpPr>
        <p:spPr>
          <a:xfrm>
            <a:off x="8275320" y="3310128"/>
            <a:ext cx="960120" cy="274320"/>
          </a:xfrm>
          <a:prstGeom prst="rect">
            <a:avLst/>
          </a:prstGeom>
          <a:solidFill>
            <a:srgbClr val="F6F7F9"/>
          </a:solidFill>
          <a:ln>
            <a:noFill/>
          </a:ln>
          <a:effectLst/>
        </p:spPr>
        <p:txBody>
          <a:bodyPr rtlCol="0" anchor="ctr"/>
          <a:lstStyle/>
          <a:p>
            <a:pPr algn="ctr"/>
          </a:p>
        </p:txBody>
      </p:sp>
      <p:sp>
        <p:nvSpPr>
          <p:cNvPr id="82" name="TextBox 81"/>
          <p:cNvSpPr txBox="1"/>
          <p:nvPr/>
        </p:nvSpPr>
        <p:spPr>
          <a:xfrm>
            <a:off x="8330184" y="3310128"/>
            <a:ext cx="868680" cy="274320"/>
          </a:xfrm>
          <a:prstGeom prst="rect">
            <a:avLst/>
          </a:prstGeom>
          <a:noFill/>
        </p:spPr>
        <p:txBody>
          <a:bodyPr wrap="square" anchor="ctr" lIns="0" rIns="0" tIns="0" bIns="0">
            <a:spAutoFit/>
          </a:bodyPr>
          <a:lstStyle/>
          <a:p>
            <a:pPr algn="r">
              <a:lnSpc>
                <a:spcPct val="110000"/>
              </a:lnSpc>
              <a:spcAft>
                <a:spcPts val="0"/>
              </a:spcAft>
            </a:pPr>
            <a:r>
              <a:rPr sz="869" b="0" i="0">
                <a:solidFill>
                  <a:srgbClr val="0E1620"/>
                </a:solidFill>
                <a:latin typeface="Arial"/>
              </a:rPr>
              <a:t>2000–</a:t>
            </a:r>
          </a:p>
        </p:txBody>
      </p:sp>
      <p:sp>
        <p:nvSpPr>
          <p:cNvPr id="83" name="Rectangle 82"/>
          <p:cNvSpPr/>
          <p:nvPr/>
        </p:nvSpPr>
        <p:spPr>
          <a:xfrm>
            <a:off x="5074920" y="3584448"/>
            <a:ext cx="2240280" cy="274320"/>
          </a:xfrm>
          <a:prstGeom prst="rect">
            <a:avLst/>
          </a:prstGeom>
          <a:solidFill>
            <a:srgbClr val="FFFFFF"/>
          </a:solidFill>
          <a:ln>
            <a:noFill/>
          </a:ln>
          <a:effectLst/>
        </p:spPr>
        <p:txBody>
          <a:bodyPr rtlCol="0" anchor="ctr"/>
          <a:lstStyle/>
          <a:p>
            <a:pPr algn="ctr"/>
          </a:p>
        </p:txBody>
      </p:sp>
      <p:sp>
        <p:nvSpPr>
          <p:cNvPr id="84" name="TextBox 83"/>
          <p:cNvSpPr txBox="1"/>
          <p:nvPr/>
        </p:nvSpPr>
        <p:spPr>
          <a:xfrm>
            <a:off x="5129784" y="3584448"/>
            <a:ext cx="2148840" cy="274320"/>
          </a:xfrm>
          <a:prstGeom prst="rect">
            <a:avLst/>
          </a:prstGeom>
          <a:noFill/>
        </p:spPr>
        <p:txBody>
          <a:bodyPr wrap="square" anchor="ctr" lIns="0" rIns="0" tIns="0" bIns="0">
            <a:spAutoFit/>
          </a:bodyPr>
          <a:lstStyle/>
          <a:p>
            <a:pPr algn="l">
              <a:lnSpc>
                <a:spcPct val="110000"/>
              </a:lnSpc>
              <a:spcAft>
                <a:spcPts val="0"/>
              </a:spcAft>
            </a:pPr>
            <a:r>
              <a:rPr sz="869" b="1" i="0">
                <a:solidFill>
                  <a:srgbClr val="314359"/>
                </a:solidFill>
                <a:latin typeface="Arial"/>
              </a:rPr>
              <a:t>Johnson Pump</a:t>
            </a:r>
          </a:p>
        </p:txBody>
      </p:sp>
      <p:sp>
        <p:nvSpPr>
          <p:cNvPr id="85" name="Rectangle 84"/>
          <p:cNvSpPr/>
          <p:nvPr/>
        </p:nvSpPr>
        <p:spPr>
          <a:xfrm>
            <a:off x="7315200" y="3584448"/>
            <a:ext cx="960120" cy="274320"/>
          </a:xfrm>
          <a:prstGeom prst="rect">
            <a:avLst/>
          </a:prstGeom>
          <a:solidFill>
            <a:srgbClr val="FFFFFF"/>
          </a:solidFill>
          <a:ln>
            <a:noFill/>
          </a:ln>
          <a:effectLst/>
        </p:spPr>
        <p:txBody>
          <a:bodyPr rtlCol="0" anchor="ctr"/>
          <a:lstStyle/>
          <a:p>
            <a:pPr algn="ctr"/>
          </a:p>
        </p:txBody>
      </p:sp>
      <p:sp>
        <p:nvSpPr>
          <p:cNvPr id="86" name="TextBox 85"/>
          <p:cNvSpPr txBox="1"/>
          <p:nvPr/>
        </p:nvSpPr>
        <p:spPr>
          <a:xfrm>
            <a:off x="7370064" y="3584448"/>
            <a:ext cx="868680" cy="274320"/>
          </a:xfrm>
          <a:prstGeom prst="rect">
            <a:avLst/>
          </a:prstGeom>
          <a:noFill/>
        </p:spPr>
        <p:txBody>
          <a:bodyPr wrap="square" anchor="ctr" lIns="0" rIns="0" tIns="0" bIns="0">
            <a:spAutoFit/>
          </a:bodyPr>
          <a:lstStyle/>
          <a:p>
            <a:pPr algn="r">
              <a:lnSpc>
                <a:spcPct val="110000"/>
              </a:lnSpc>
              <a:spcAft>
                <a:spcPts val="0"/>
              </a:spcAft>
            </a:pPr>
            <a:r>
              <a:rPr sz="869" b="0" i="0">
                <a:solidFill>
                  <a:srgbClr val="0E1620"/>
                </a:solidFill>
                <a:latin typeface="Arial"/>
              </a:rPr>
              <a:t>34.4%</a:t>
            </a:r>
          </a:p>
        </p:txBody>
      </p:sp>
      <p:sp>
        <p:nvSpPr>
          <p:cNvPr id="87" name="Rectangle 86"/>
          <p:cNvSpPr/>
          <p:nvPr/>
        </p:nvSpPr>
        <p:spPr>
          <a:xfrm>
            <a:off x="8275320" y="3584448"/>
            <a:ext cx="960120" cy="274320"/>
          </a:xfrm>
          <a:prstGeom prst="rect">
            <a:avLst/>
          </a:prstGeom>
          <a:solidFill>
            <a:srgbClr val="FFFFFF"/>
          </a:solidFill>
          <a:ln>
            <a:noFill/>
          </a:ln>
          <a:effectLst/>
        </p:spPr>
        <p:txBody>
          <a:bodyPr rtlCol="0" anchor="ctr"/>
          <a:lstStyle/>
          <a:p>
            <a:pPr algn="ctr"/>
          </a:p>
        </p:txBody>
      </p:sp>
      <p:sp>
        <p:nvSpPr>
          <p:cNvPr id="88" name="TextBox 87"/>
          <p:cNvSpPr txBox="1"/>
          <p:nvPr/>
        </p:nvSpPr>
        <p:spPr>
          <a:xfrm>
            <a:off x="8330184" y="3584448"/>
            <a:ext cx="868680" cy="274320"/>
          </a:xfrm>
          <a:prstGeom prst="rect">
            <a:avLst/>
          </a:prstGeom>
          <a:noFill/>
        </p:spPr>
        <p:txBody>
          <a:bodyPr wrap="square" anchor="ctr" lIns="0" rIns="0" tIns="0" bIns="0">
            <a:spAutoFit/>
          </a:bodyPr>
          <a:lstStyle/>
          <a:p>
            <a:pPr algn="r">
              <a:lnSpc>
                <a:spcPct val="110000"/>
              </a:lnSpc>
              <a:spcAft>
                <a:spcPts val="0"/>
              </a:spcAft>
            </a:pPr>
            <a:r>
              <a:rPr sz="869" b="0" i="0">
                <a:solidFill>
                  <a:srgbClr val="0E1620"/>
                </a:solidFill>
                <a:latin typeface="Arial"/>
              </a:rPr>
              <a:t>2002–06</a:t>
            </a:r>
          </a:p>
        </p:txBody>
      </p:sp>
      <p:sp>
        <p:nvSpPr>
          <p:cNvPr id="89" name="Rectangle 88"/>
          <p:cNvSpPr/>
          <p:nvPr/>
        </p:nvSpPr>
        <p:spPr>
          <a:xfrm>
            <a:off x="5074920" y="3858768"/>
            <a:ext cx="2240280" cy="274320"/>
          </a:xfrm>
          <a:prstGeom prst="rect">
            <a:avLst/>
          </a:prstGeom>
          <a:solidFill>
            <a:srgbClr val="F6F7F9"/>
          </a:solidFill>
          <a:ln>
            <a:noFill/>
          </a:ln>
          <a:effectLst/>
        </p:spPr>
        <p:txBody>
          <a:bodyPr rtlCol="0" anchor="ctr"/>
          <a:lstStyle/>
          <a:p>
            <a:pPr algn="ctr"/>
          </a:p>
        </p:txBody>
      </p:sp>
      <p:sp>
        <p:nvSpPr>
          <p:cNvPr id="90" name="TextBox 89"/>
          <p:cNvSpPr txBox="1"/>
          <p:nvPr/>
        </p:nvSpPr>
        <p:spPr>
          <a:xfrm>
            <a:off x="5129784" y="3858768"/>
            <a:ext cx="2148840" cy="274320"/>
          </a:xfrm>
          <a:prstGeom prst="rect">
            <a:avLst/>
          </a:prstGeom>
          <a:noFill/>
        </p:spPr>
        <p:txBody>
          <a:bodyPr wrap="square" anchor="ctr" lIns="0" rIns="0" tIns="0" bIns="0">
            <a:spAutoFit/>
          </a:bodyPr>
          <a:lstStyle/>
          <a:p>
            <a:pPr algn="l">
              <a:lnSpc>
                <a:spcPct val="110000"/>
              </a:lnSpc>
              <a:spcAft>
                <a:spcPts val="0"/>
              </a:spcAft>
            </a:pPr>
            <a:r>
              <a:rPr sz="869" b="1" i="0">
                <a:solidFill>
                  <a:srgbClr val="314359"/>
                </a:solidFill>
                <a:latin typeface="Arial"/>
              </a:rPr>
              <a:t>Nobia</a:t>
            </a:r>
          </a:p>
        </p:txBody>
      </p:sp>
      <p:sp>
        <p:nvSpPr>
          <p:cNvPr id="91" name="Rectangle 90"/>
          <p:cNvSpPr/>
          <p:nvPr/>
        </p:nvSpPr>
        <p:spPr>
          <a:xfrm>
            <a:off x="7315200" y="3858768"/>
            <a:ext cx="960120" cy="274320"/>
          </a:xfrm>
          <a:prstGeom prst="rect">
            <a:avLst/>
          </a:prstGeom>
          <a:solidFill>
            <a:srgbClr val="F6F7F9"/>
          </a:solidFill>
          <a:ln>
            <a:noFill/>
          </a:ln>
          <a:effectLst/>
        </p:spPr>
        <p:txBody>
          <a:bodyPr rtlCol="0" anchor="ctr"/>
          <a:lstStyle/>
          <a:p>
            <a:pPr algn="ctr"/>
          </a:p>
        </p:txBody>
      </p:sp>
      <p:sp>
        <p:nvSpPr>
          <p:cNvPr id="92" name="TextBox 91"/>
          <p:cNvSpPr txBox="1"/>
          <p:nvPr/>
        </p:nvSpPr>
        <p:spPr>
          <a:xfrm>
            <a:off x="7370064" y="3858768"/>
            <a:ext cx="868680" cy="274320"/>
          </a:xfrm>
          <a:prstGeom prst="rect">
            <a:avLst/>
          </a:prstGeom>
          <a:noFill/>
        </p:spPr>
        <p:txBody>
          <a:bodyPr wrap="square" anchor="ctr" lIns="0" rIns="0" tIns="0" bIns="0">
            <a:spAutoFit/>
          </a:bodyPr>
          <a:lstStyle/>
          <a:p>
            <a:pPr algn="r">
              <a:lnSpc>
                <a:spcPct val="110000"/>
              </a:lnSpc>
              <a:spcAft>
                <a:spcPts val="0"/>
              </a:spcAft>
            </a:pPr>
            <a:r>
              <a:rPr sz="869" b="0" i="0">
                <a:solidFill>
                  <a:srgbClr val="0E1620"/>
                </a:solidFill>
                <a:latin typeface="Arial"/>
              </a:rPr>
              <a:t>33.1%</a:t>
            </a:r>
          </a:p>
        </p:txBody>
      </p:sp>
      <p:sp>
        <p:nvSpPr>
          <p:cNvPr id="93" name="Rectangle 92"/>
          <p:cNvSpPr/>
          <p:nvPr/>
        </p:nvSpPr>
        <p:spPr>
          <a:xfrm>
            <a:off x="8275320" y="3858768"/>
            <a:ext cx="960120" cy="274320"/>
          </a:xfrm>
          <a:prstGeom prst="rect">
            <a:avLst/>
          </a:prstGeom>
          <a:solidFill>
            <a:srgbClr val="F6F7F9"/>
          </a:solidFill>
          <a:ln>
            <a:noFill/>
          </a:ln>
          <a:effectLst/>
        </p:spPr>
        <p:txBody>
          <a:bodyPr rtlCol="0" anchor="ctr"/>
          <a:lstStyle/>
          <a:p>
            <a:pPr algn="ctr"/>
          </a:p>
        </p:txBody>
      </p:sp>
      <p:sp>
        <p:nvSpPr>
          <p:cNvPr id="94" name="TextBox 93"/>
          <p:cNvSpPr txBox="1"/>
          <p:nvPr/>
        </p:nvSpPr>
        <p:spPr>
          <a:xfrm>
            <a:off x="8330184" y="3858768"/>
            <a:ext cx="868680" cy="274320"/>
          </a:xfrm>
          <a:prstGeom prst="rect">
            <a:avLst/>
          </a:prstGeom>
          <a:noFill/>
        </p:spPr>
        <p:txBody>
          <a:bodyPr wrap="square" anchor="ctr" lIns="0" rIns="0" tIns="0" bIns="0">
            <a:spAutoFit/>
          </a:bodyPr>
          <a:lstStyle/>
          <a:p>
            <a:pPr algn="r">
              <a:lnSpc>
                <a:spcPct val="110000"/>
              </a:lnSpc>
              <a:spcAft>
                <a:spcPts val="0"/>
              </a:spcAft>
            </a:pPr>
            <a:r>
              <a:rPr sz="869" b="0" i="0">
                <a:solidFill>
                  <a:srgbClr val="0E1620"/>
                </a:solidFill>
                <a:latin typeface="Arial"/>
              </a:rPr>
              <a:t>2002–</a:t>
            </a:r>
          </a:p>
        </p:txBody>
      </p:sp>
      <p:sp>
        <p:nvSpPr>
          <p:cNvPr id="95" name="Rectangle 94"/>
          <p:cNvSpPr/>
          <p:nvPr/>
        </p:nvSpPr>
        <p:spPr>
          <a:xfrm>
            <a:off x="5074920" y="4133088"/>
            <a:ext cx="2240280" cy="274320"/>
          </a:xfrm>
          <a:prstGeom prst="rect">
            <a:avLst/>
          </a:prstGeom>
          <a:solidFill>
            <a:srgbClr val="FFFFFF"/>
          </a:solidFill>
          <a:ln>
            <a:noFill/>
          </a:ln>
          <a:effectLst/>
        </p:spPr>
        <p:txBody>
          <a:bodyPr rtlCol="0" anchor="ctr"/>
          <a:lstStyle/>
          <a:p>
            <a:pPr algn="ctr"/>
          </a:p>
        </p:txBody>
      </p:sp>
      <p:sp>
        <p:nvSpPr>
          <p:cNvPr id="96" name="TextBox 95"/>
          <p:cNvSpPr txBox="1"/>
          <p:nvPr/>
        </p:nvSpPr>
        <p:spPr>
          <a:xfrm>
            <a:off x="5129784" y="4133088"/>
            <a:ext cx="2148840" cy="274320"/>
          </a:xfrm>
          <a:prstGeom prst="rect">
            <a:avLst/>
          </a:prstGeom>
          <a:noFill/>
        </p:spPr>
        <p:txBody>
          <a:bodyPr wrap="square" anchor="ctr" lIns="0" rIns="0" tIns="0" bIns="0">
            <a:spAutoFit/>
          </a:bodyPr>
          <a:lstStyle/>
          <a:p>
            <a:pPr algn="l">
              <a:lnSpc>
                <a:spcPct val="110000"/>
              </a:lnSpc>
              <a:spcAft>
                <a:spcPts val="0"/>
              </a:spcAft>
            </a:pPr>
            <a:r>
              <a:rPr sz="869" b="1" i="0">
                <a:solidFill>
                  <a:srgbClr val="314359"/>
                </a:solidFill>
                <a:latin typeface="Arial"/>
              </a:rPr>
              <a:t>SkiStar</a:t>
            </a:r>
          </a:p>
        </p:txBody>
      </p:sp>
      <p:sp>
        <p:nvSpPr>
          <p:cNvPr id="97" name="Rectangle 96"/>
          <p:cNvSpPr/>
          <p:nvPr/>
        </p:nvSpPr>
        <p:spPr>
          <a:xfrm>
            <a:off x="7315200" y="4133088"/>
            <a:ext cx="960120" cy="274320"/>
          </a:xfrm>
          <a:prstGeom prst="rect">
            <a:avLst/>
          </a:prstGeom>
          <a:solidFill>
            <a:srgbClr val="FFFFFF"/>
          </a:solidFill>
          <a:ln>
            <a:noFill/>
          </a:ln>
          <a:effectLst/>
        </p:spPr>
        <p:txBody>
          <a:bodyPr rtlCol="0" anchor="ctr"/>
          <a:lstStyle/>
          <a:p>
            <a:pPr algn="ctr"/>
          </a:p>
        </p:txBody>
      </p:sp>
      <p:sp>
        <p:nvSpPr>
          <p:cNvPr id="98" name="TextBox 97"/>
          <p:cNvSpPr txBox="1"/>
          <p:nvPr/>
        </p:nvSpPr>
        <p:spPr>
          <a:xfrm>
            <a:off x="7370064" y="4133088"/>
            <a:ext cx="868680" cy="274320"/>
          </a:xfrm>
          <a:prstGeom prst="rect">
            <a:avLst/>
          </a:prstGeom>
          <a:noFill/>
        </p:spPr>
        <p:txBody>
          <a:bodyPr wrap="square" anchor="ctr" lIns="0" rIns="0" tIns="0" bIns="0">
            <a:spAutoFit/>
          </a:bodyPr>
          <a:lstStyle/>
          <a:p>
            <a:pPr algn="r">
              <a:lnSpc>
                <a:spcPct val="110000"/>
              </a:lnSpc>
              <a:spcAft>
                <a:spcPts val="0"/>
              </a:spcAft>
            </a:pPr>
            <a:r>
              <a:rPr sz="869" b="0" i="0">
                <a:solidFill>
                  <a:srgbClr val="0E1620"/>
                </a:solidFill>
                <a:latin typeface="Arial"/>
              </a:rPr>
              <a:t>33.0%</a:t>
            </a:r>
          </a:p>
        </p:txBody>
      </p:sp>
      <p:sp>
        <p:nvSpPr>
          <p:cNvPr id="99" name="Rectangle 98"/>
          <p:cNvSpPr/>
          <p:nvPr/>
        </p:nvSpPr>
        <p:spPr>
          <a:xfrm>
            <a:off x="8275320" y="4133088"/>
            <a:ext cx="960120" cy="274320"/>
          </a:xfrm>
          <a:prstGeom prst="rect">
            <a:avLst/>
          </a:prstGeom>
          <a:solidFill>
            <a:srgbClr val="FFFFFF"/>
          </a:solidFill>
          <a:ln>
            <a:noFill/>
          </a:ln>
          <a:effectLst/>
        </p:spPr>
        <p:txBody>
          <a:bodyPr rtlCol="0" anchor="ctr"/>
          <a:lstStyle/>
          <a:p>
            <a:pPr algn="ctr"/>
          </a:p>
        </p:txBody>
      </p:sp>
      <p:sp>
        <p:nvSpPr>
          <p:cNvPr id="100" name="TextBox 99"/>
          <p:cNvSpPr txBox="1"/>
          <p:nvPr/>
        </p:nvSpPr>
        <p:spPr>
          <a:xfrm>
            <a:off x="8330184" y="4133088"/>
            <a:ext cx="868680" cy="274320"/>
          </a:xfrm>
          <a:prstGeom prst="rect">
            <a:avLst/>
          </a:prstGeom>
          <a:noFill/>
        </p:spPr>
        <p:txBody>
          <a:bodyPr wrap="square" anchor="ctr" lIns="0" rIns="0" tIns="0" bIns="0">
            <a:spAutoFit/>
          </a:bodyPr>
          <a:lstStyle/>
          <a:p>
            <a:pPr algn="r">
              <a:lnSpc>
                <a:spcPct val="110000"/>
              </a:lnSpc>
              <a:spcAft>
                <a:spcPts val="0"/>
              </a:spcAft>
            </a:pPr>
            <a:r>
              <a:rPr sz="869" b="0" i="0">
                <a:solidFill>
                  <a:srgbClr val="0E1620"/>
                </a:solidFill>
                <a:latin typeface="Arial"/>
              </a:rPr>
              <a:t>2000–</a:t>
            </a:r>
          </a:p>
        </p:txBody>
      </p:sp>
      <p:sp>
        <p:nvSpPr>
          <p:cNvPr id="101" name="Rectangle 100"/>
          <p:cNvSpPr/>
          <p:nvPr/>
        </p:nvSpPr>
        <p:spPr>
          <a:xfrm>
            <a:off x="5074920" y="4407408"/>
            <a:ext cx="2240280" cy="274320"/>
          </a:xfrm>
          <a:prstGeom prst="rect">
            <a:avLst/>
          </a:prstGeom>
          <a:solidFill>
            <a:srgbClr val="F6F7F9"/>
          </a:solidFill>
          <a:ln>
            <a:noFill/>
          </a:ln>
          <a:effectLst/>
        </p:spPr>
        <p:txBody>
          <a:bodyPr rtlCol="0" anchor="ctr"/>
          <a:lstStyle/>
          <a:p>
            <a:pPr algn="ctr"/>
          </a:p>
        </p:txBody>
      </p:sp>
      <p:sp>
        <p:nvSpPr>
          <p:cNvPr id="102" name="TextBox 101"/>
          <p:cNvSpPr txBox="1"/>
          <p:nvPr/>
        </p:nvSpPr>
        <p:spPr>
          <a:xfrm>
            <a:off x="5129784" y="4407408"/>
            <a:ext cx="2148840" cy="274320"/>
          </a:xfrm>
          <a:prstGeom prst="rect">
            <a:avLst/>
          </a:prstGeom>
          <a:noFill/>
        </p:spPr>
        <p:txBody>
          <a:bodyPr wrap="square" anchor="ctr" lIns="0" rIns="0" tIns="0" bIns="0">
            <a:spAutoFit/>
          </a:bodyPr>
          <a:lstStyle/>
          <a:p>
            <a:pPr algn="l">
              <a:lnSpc>
                <a:spcPct val="110000"/>
              </a:lnSpc>
              <a:spcAft>
                <a:spcPts val="0"/>
              </a:spcAft>
            </a:pPr>
            <a:r>
              <a:rPr sz="869" b="1" i="0">
                <a:solidFill>
                  <a:srgbClr val="314359"/>
                </a:solidFill>
                <a:latin typeface="Arial"/>
              </a:rPr>
              <a:t>Wihlborgs / Drott</a:t>
            </a:r>
          </a:p>
        </p:txBody>
      </p:sp>
      <p:sp>
        <p:nvSpPr>
          <p:cNvPr id="103" name="Rectangle 102"/>
          <p:cNvSpPr/>
          <p:nvPr/>
        </p:nvSpPr>
        <p:spPr>
          <a:xfrm>
            <a:off x="7315200" y="4407408"/>
            <a:ext cx="960120" cy="274320"/>
          </a:xfrm>
          <a:prstGeom prst="rect">
            <a:avLst/>
          </a:prstGeom>
          <a:solidFill>
            <a:srgbClr val="F6F7F9"/>
          </a:solidFill>
          <a:ln>
            <a:noFill/>
          </a:ln>
          <a:effectLst/>
        </p:spPr>
        <p:txBody>
          <a:bodyPr rtlCol="0" anchor="ctr"/>
          <a:lstStyle/>
          <a:p>
            <a:pPr algn="ctr"/>
          </a:p>
        </p:txBody>
      </p:sp>
      <p:sp>
        <p:nvSpPr>
          <p:cNvPr id="104" name="TextBox 103"/>
          <p:cNvSpPr txBox="1"/>
          <p:nvPr/>
        </p:nvSpPr>
        <p:spPr>
          <a:xfrm>
            <a:off x="7370064" y="4407408"/>
            <a:ext cx="868680" cy="274320"/>
          </a:xfrm>
          <a:prstGeom prst="rect">
            <a:avLst/>
          </a:prstGeom>
          <a:noFill/>
        </p:spPr>
        <p:txBody>
          <a:bodyPr wrap="square" anchor="ctr" lIns="0" rIns="0" tIns="0" bIns="0">
            <a:spAutoFit/>
          </a:bodyPr>
          <a:lstStyle/>
          <a:p>
            <a:pPr algn="r">
              <a:lnSpc>
                <a:spcPct val="110000"/>
              </a:lnSpc>
              <a:spcAft>
                <a:spcPts val="0"/>
              </a:spcAft>
            </a:pPr>
            <a:r>
              <a:rPr sz="869" b="0" i="0">
                <a:solidFill>
                  <a:srgbClr val="0E1620"/>
                </a:solidFill>
                <a:latin typeface="Arial"/>
              </a:rPr>
              <a:t>31.0%</a:t>
            </a:r>
          </a:p>
        </p:txBody>
      </p:sp>
      <p:sp>
        <p:nvSpPr>
          <p:cNvPr id="105" name="Rectangle 104"/>
          <p:cNvSpPr/>
          <p:nvPr/>
        </p:nvSpPr>
        <p:spPr>
          <a:xfrm>
            <a:off x="8275320" y="4407408"/>
            <a:ext cx="960120" cy="274320"/>
          </a:xfrm>
          <a:prstGeom prst="rect">
            <a:avLst/>
          </a:prstGeom>
          <a:solidFill>
            <a:srgbClr val="F6F7F9"/>
          </a:solidFill>
          <a:ln>
            <a:noFill/>
          </a:ln>
          <a:effectLst/>
        </p:spPr>
        <p:txBody>
          <a:bodyPr rtlCol="0" anchor="ctr"/>
          <a:lstStyle/>
          <a:p>
            <a:pPr algn="ctr"/>
          </a:p>
        </p:txBody>
      </p:sp>
      <p:sp>
        <p:nvSpPr>
          <p:cNvPr id="106" name="TextBox 105"/>
          <p:cNvSpPr txBox="1"/>
          <p:nvPr/>
        </p:nvSpPr>
        <p:spPr>
          <a:xfrm>
            <a:off x="8330184" y="4407408"/>
            <a:ext cx="868680" cy="274320"/>
          </a:xfrm>
          <a:prstGeom prst="rect">
            <a:avLst/>
          </a:prstGeom>
          <a:noFill/>
        </p:spPr>
        <p:txBody>
          <a:bodyPr wrap="square" anchor="ctr" lIns="0" rIns="0" tIns="0" bIns="0">
            <a:spAutoFit/>
          </a:bodyPr>
          <a:lstStyle/>
          <a:p>
            <a:pPr algn="r">
              <a:lnSpc>
                <a:spcPct val="110000"/>
              </a:lnSpc>
              <a:spcAft>
                <a:spcPts val="0"/>
              </a:spcAft>
            </a:pPr>
            <a:r>
              <a:rPr sz="869" b="0" i="0">
                <a:solidFill>
                  <a:srgbClr val="0E1620"/>
                </a:solidFill>
                <a:latin typeface="Arial"/>
              </a:rPr>
              <a:t>2002–04</a:t>
            </a:r>
          </a:p>
        </p:txBody>
      </p:sp>
      <p:sp>
        <p:nvSpPr>
          <p:cNvPr id="107" name="Rectangle 106"/>
          <p:cNvSpPr/>
          <p:nvPr/>
        </p:nvSpPr>
        <p:spPr>
          <a:xfrm>
            <a:off x="5074920" y="4681728"/>
            <a:ext cx="2240280" cy="274320"/>
          </a:xfrm>
          <a:prstGeom prst="rect">
            <a:avLst/>
          </a:prstGeom>
          <a:solidFill>
            <a:srgbClr val="FFFFFF"/>
          </a:solidFill>
          <a:ln>
            <a:noFill/>
          </a:ln>
          <a:effectLst/>
        </p:spPr>
        <p:txBody>
          <a:bodyPr rtlCol="0" anchor="ctr"/>
          <a:lstStyle/>
          <a:p>
            <a:pPr algn="ctr"/>
          </a:p>
        </p:txBody>
      </p:sp>
      <p:sp>
        <p:nvSpPr>
          <p:cNvPr id="108" name="TextBox 107"/>
          <p:cNvSpPr txBox="1"/>
          <p:nvPr/>
        </p:nvSpPr>
        <p:spPr>
          <a:xfrm>
            <a:off x="5129784" y="4681728"/>
            <a:ext cx="2148840" cy="274320"/>
          </a:xfrm>
          <a:prstGeom prst="rect">
            <a:avLst/>
          </a:prstGeom>
          <a:noFill/>
        </p:spPr>
        <p:txBody>
          <a:bodyPr wrap="square" anchor="ctr" lIns="0" rIns="0" tIns="0" bIns="0">
            <a:spAutoFit/>
          </a:bodyPr>
          <a:lstStyle/>
          <a:p>
            <a:pPr algn="l">
              <a:lnSpc>
                <a:spcPct val="110000"/>
              </a:lnSpc>
              <a:spcAft>
                <a:spcPts val="0"/>
              </a:spcAft>
            </a:pPr>
            <a:r>
              <a:rPr sz="869" b="1" i="0">
                <a:solidFill>
                  <a:srgbClr val="314359"/>
                </a:solidFill>
                <a:latin typeface="Arial"/>
              </a:rPr>
              <a:t>Bilia</a:t>
            </a:r>
          </a:p>
        </p:txBody>
      </p:sp>
      <p:sp>
        <p:nvSpPr>
          <p:cNvPr id="109" name="Rectangle 108"/>
          <p:cNvSpPr/>
          <p:nvPr/>
        </p:nvSpPr>
        <p:spPr>
          <a:xfrm>
            <a:off x="7315200" y="4681728"/>
            <a:ext cx="960120" cy="274320"/>
          </a:xfrm>
          <a:prstGeom prst="rect">
            <a:avLst/>
          </a:prstGeom>
          <a:solidFill>
            <a:srgbClr val="FFFFFF"/>
          </a:solidFill>
          <a:ln>
            <a:noFill/>
          </a:ln>
          <a:effectLst/>
        </p:spPr>
        <p:txBody>
          <a:bodyPr rtlCol="0" anchor="ctr"/>
          <a:lstStyle/>
          <a:p>
            <a:pPr algn="ctr"/>
          </a:p>
        </p:txBody>
      </p:sp>
      <p:sp>
        <p:nvSpPr>
          <p:cNvPr id="110" name="TextBox 109"/>
          <p:cNvSpPr txBox="1"/>
          <p:nvPr/>
        </p:nvSpPr>
        <p:spPr>
          <a:xfrm>
            <a:off x="7370064" y="4681728"/>
            <a:ext cx="868680" cy="274320"/>
          </a:xfrm>
          <a:prstGeom prst="rect">
            <a:avLst/>
          </a:prstGeom>
          <a:noFill/>
        </p:spPr>
        <p:txBody>
          <a:bodyPr wrap="square" anchor="ctr" lIns="0" rIns="0" tIns="0" bIns="0">
            <a:spAutoFit/>
          </a:bodyPr>
          <a:lstStyle/>
          <a:p>
            <a:pPr algn="r">
              <a:lnSpc>
                <a:spcPct val="110000"/>
              </a:lnSpc>
              <a:spcAft>
                <a:spcPts val="0"/>
              </a:spcAft>
            </a:pPr>
            <a:r>
              <a:rPr sz="869" b="0" i="0">
                <a:solidFill>
                  <a:srgbClr val="0E1620"/>
                </a:solidFill>
                <a:latin typeface="Arial"/>
              </a:rPr>
              <a:t>26.0%</a:t>
            </a:r>
          </a:p>
        </p:txBody>
      </p:sp>
      <p:sp>
        <p:nvSpPr>
          <p:cNvPr id="111" name="Rectangle 110"/>
          <p:cNvSpPr/>
          <p:nvPr/>
        </p:nvSpPr>
        <p:spPr>
          <a:xfrm>
            <a:off x="8275320" y="4681728"/>
            <a:ext cx="960120" cy="274320"/>
          </a:xfrm>
          <a:prstGeom prst="rect">
            <a:avLst/>
          </a:prstGeom>
          <a:solidFill>
            <a:srgbClr val="FFFFFF"/>
          </a:solidFill>
          <a:ln>
            <a:noFill/>
          </a:ln>
          <a:effectLst/>
        </p:spPr>
        <p:txBody>
          <a:bodyPr rtlCol="0" anchor="ctr"/>
          <a:lstStyle/>
          <a:p>
            <a:pPr algn="ctr"/>
          </a:p>
        </p:txBody>
      </p:sp>
      <p:sp>
        <p:nvSpPr>
          <p:cNvPr id="112" name="TextBox 111"/>
          <p:cNvSpPr txBox="1"/>
          <p:nvPr/>
        </p:nvSpPr>
        <p:spPr>
          <a:xfrm>
            <a:off x="8330184" y="4681728"/>
            <a:ext cx="868680" cy="274320"/>
          </a:xfrm>
          <a:prstGeom prst="rect">
            <a:avLst/>
          </a:prstGeom>
          <a:noFill/>
        </p:spPr>
        <p:txBody>
          <a:bodyPr wrap="square" anchor="ctr" lIns="0" rIns="0" tIns="0" bIns="0">
            <a:spAutoFit/>
          </a:bodyPr>
          <a:lstStyle/>
          <a:p>
            <a:pPr algn="r">
              <a:lnSpc>
                <a:spcPct val="110000"/>
              </a:lnSpc>
              <a:spcAft>
                <a:spcPts val="0"/>
              </a:spcAft>
            </a:pPr>
            <a:r>
              <a:rPr sz="869" b="0" i="0">
                <a:solidFill>
                  <a:srgbClr val="0E1620"/>
                </a:solidFill>
                <a:latin typeface="Arial"/>
              </a:rPr>
              <a:t>2003–</a:t>
            </a:r>
          </a:p>
        </p:txBody>
      </p:sp>
      <p:sp>
        <p:nvSpPr>
          <p:cNvPr id="113" name="TextBox 112"/>
          <p:cNvSpPr txBox="1"/>
          <p:nvPr/>
        </p:nvSpPr>
        <p:spPr>
          <a:xfrm>
            <a:off x="502920" y="6967728"/>
            <a:ext cx="4846320" cy="274320"/>
          </a:xfrm>
          <a:prstGeom prst="rect">
            <a:avLst/>
          </a:prstGeom>
          <a:noFill/>
        </p:spPr>
        <p:txBody>
          <a:bodyPr wrap="square" anchor="t" lIns="0" rIns="0" tIns="0" bIns="0">
            <a:spAutoFit/>
          </a:bodyPr>
          <a:lstStyle/>
          <a:p>
            <a:pPr algn="l">
              <a:lnSpc>
                <a:spcPct val="100000"/>
              </a:lnSpc>
              <a:spcAft>
                <a:spcPts val="0"/>
              </a:spcAft>
            </a:pPr>
            <a:r>
              <a:rPr sz="750" b="0" i="1">
                <a:solidFill>
                  <a:srgbClr val="556A83"/>
                </a:solidFill>
                <a:latin typeface="Arial"/>
              </a:rPr>
              <a:t>Past performance is not indicative of future results. Öresund-era cases were executed by members of the team at Investment AB Öresund (1994–2007).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753904" cy="7315200"/>
          </a:xfrm>
          <a:prstGeom prst="rect">
            <a:avLst/>
          </a:prstGeom>
          <a:solidFill>
            <a:srgbClr val="152130"/>
          </a:solidFill>
          <a:ln>
            <a:noFill/>
          </a:ln>
          <a:effectLst/>
        </p:spPr>
        <p:txBody>
          <a:bodyPr rtlCol="0" anchor="ctr"/>
          <a:lstStyle/>
          <a:p>
            <a:pPr algn="ctr"/>
          </a:p>
        </p:txBody>
      </p:sp>
      <p:pic>
        <p:nvPicPr>
          <p:cNvPr id="3" name="Picture 2" descr="logo_white.png"/>
          <p:cNvPicPr>
            <a:picLocks noChangeAspect="1"/>
          </p:cNvPicPr>
          <p:nvPr/>
        </p:nvPicPr>
        <p:blipFill>
          <a:blip r:embed="rId2"/>
          <a:stretch>
            <a:fillRect/>
          </a:stretch>
        </p:blipFill>
        <p:spPr>
          <a:xfrm>
            <a:off x="548640" y="502920"/>
            <a:ext cx="2337572" cy="502920"/>
          </a:xfrm>
          <a:prstGeom prst="rect">
            <a:avLst/>
          </a:prstGeom>
        </p:spPr>
      </p:pic>
      <p:sp>
        <p:nvSpPr>
          <p:cNvPr id="4" name="Rectangle 3"/>
          <p:cNvSpPr/>
          <p:nvPr/>
        </p:nvSpPr>
        <p:spPr>
          <a:xfrm>
            <a:off x="566928" y="2788920"/>
            <a:ext cx="457200" cy="27940"/>
          </a:xfrm>
          <a:prstGeom prst="rect">
            <a:avLst/>
          </a:prstGeom>
          <a:solidFill>
            <a:srgbClr val="556A83"/>
          </a:solidFill>
          <a:ln>
            <a:noFill/>
          </a:ln>
          <a:effectLst/>
        </p:spPr>
        <p:txBody>
          <a:bodyPr rtlCol="0" anchor="ctr"/>
          <a:lstStyle/>
          <a:p>
            <a:pPr algn="ctr"/>
          </a:p>
        </p:txBody>
      </p:sp>
      <p:sp>
        <p:nvSpPr>
          <p:cNvPr id="5" name="TextBox 4"/>
          <p:cNvSpPr txBox="1"/>
          <p:nvPr/>
        </p:nvSpPr>
        <p:spPr>
          <a:xfrm>
            <a:off x="548640" y="2971800"/>
            <a:ext cx="8686800" cy="457200"/>
          </a:xfrm>
          <a:prstGeom prst="rect">
            <a:avLst/>
          </a:prstGeom>
          <a:noFill/>
        </p:spPr>
        <p:txBody>
          <a:bodyPr wrap="square" anchor="t" lIns="0" rIns="0" tIns="0" bIns="0">
            <a:spAutoFit/>
          </a:bodyPr>
          <a:lstStyle/>
          <a:p>
            <a:pPr algn="l">
              <a:lnSpc>
                <a:spcPct val="110000"/>
              </a:lnSpc>
              <a:spcAft>
                <a:spcPts val="0"/>
              </a:spcAft>
            </a:pPr>
            <a:r>
              <a:rPr sz="1300" b="0" i="0">
                <a:solidFill>
                  <a:srgbClr val="556A83"/>
                </a:solidFill>
                <a:latin typeface="Arial"/>
              </a:rPr>
              <a:t>PART I · AIP — FUND ERA</a:t>
            </a:r>
          </a:p>
        </p:txBody>
      </p:sp>
      <p:sp>
        <p:nvSpPr>
          <p:cNvPr id="6" name="TextBox 5"/>
          <p:cNvSpPr txBox="1"/>
          <p:nvPr/>
        </p:nvSpPr>
        <p:spPr>
          <a:xfrm>
            <a:off x="548640" y="3291840"/>
            <a:ext cx="8686800" cy="1280160"/>
          </a:xfrm>
          <a:prstGeom prst="rect">
            <a:avLst/>
          </a:prstGeom>
          <a:noFill/>
        </p:spPr>
        <p:txBody>
          <a:bodyPr wrap="square" anchor="t" lIns="0" rIns="0" tIns="0" bIns="0">
            <a:spAutoFit/>
          </a:bodyPr>
          <a:lstStyle/>
          <a:p>
            <a:pPr algn="l">
              <a:lnSpc>
                <a:spcPct val="110000"/>
              </a:lnSpc>
              <a:spcAft>
                <a:spcPts val="0"/>
              </a:spcAft>
            </a:pPr>
            <a:r>
              <a:rPr sz="3400" b="0" i="1" spc="-102">
                <a:solidFill>
                  <a:srgbClr val="E2E5E9"/>
                </a:solidFill>
                <a:latin typeface="Times New Roman"/>
              </a:rPr>
              <a:t>Investment cases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753904" cy="7315200"/>
          </a:xfrm>
          <a:prstGeom prst="rect">
            <a:avLst/>
          </a:prstGeom>
          <a:solidFill>
            <a:srgbClr val="FFFFFF"/>
          </a:solidFill>
          <a:ln>
            <a:noFill/>
          </a:ln>
          <a:effectLst/>
        </p:spPr>
        <p:txBody>
          <a:bodyPr rtlCol="0" anchor="ctr"/>
          <a:lstStyle/>
          <a:p>
            <a:pPr algn="ctr"/>
          </a:p>
        </p:txBody>
      </p:sp>
      <p:pic>
        <p:nvPicPr>
          <p:cNvPr id="3" name="Picture 2" descr="mark_dark.png"/>
          <p:cNvPicPr>
            <a:picLocks noChangeAspect="1"/>
          </p:cNvPicPr>
          <p:nvPr/>
        </p:nvPicPr>
        <p:blipFill>
          <a:blip r:embed="rId2"/>
          <a:stretch>
            <a:fillRect/>
          </a:stretch>
        </p:blipFill>
        <p:spPr>
          <a:xfrm>
            <a:off x="457200" y="219456"/>
            <a:ext cx="280009" cy="237744"/>
          </a:xfrm>
          <a:prstGeom prst="rect">
            <a:avLst/>
          </a:prstGeom>
        </p:spPr>
      </p:pic>
      <p:sp>
        <p:nvSpPr>
          <p:cNvPr id="4" name="TextBox 3"/>
          <p:cNvSpPr txBox="1"/>
          <p:nvPr/>
        </p:nvSpPr>
        <p:spPr>
          <a:xfrm>
            <a:off x="841248" y="246888"/>
            <a:ext cx="5486400" cy="274320"/>
          </a:xfrm>
          <a:prstGeom prst="rect">
            <a:avLst/>
          </a:prstGeom>
          <a:noFill/>
        </p:spPr>
        <p:txBody>
          <a:bodyPr wrap="square" anchor="t" lIns="0" rIns="0" tIns="0" bIns="0">
            <a:spAutoFit/>
          </a:bodyPr>
          <a:lstStyle/>
          <a:p>
            <a:pPr algn="l">
              <a:lnSpc>
                <a:spcPct val="110000"/>
              </a:lnSpc>
              <a:spcAft>
                <a:spcPts val="0"/>
              </a:spcAft>
            </a:pPr>
            <a:r>
              <a:rPr sz="1100" b="0" i="0">
                <a:solidFill>
                  <a:srgbClr val="556A83"/>
                </a:solidFill>
                <a:latin typeface="Arial"/>
              </a:rPr>
              <a:t>Case · AIP fund era</a:t>
            </a:r>
          </a:p>
        </p:txBody>
      </p:sp>
      <p:sp>
        <p:nvSpPr>
          <p:cNvPr id="5" name="Rectangle 4"/>
          <p:cNvSpPr/>
          <p:nvPr/>
        </p:nvSpPr>
        <p:spPr>
          <a:xfrm>
            <a:off x="0" y="566928"/>
            <a:ext cx="9753904" cy="914400"/>
          </a:xfrm>
          <a:prstGeom prst="rect">
            <a:avLst/>
          </a:prstGeom>
          <a:solidFill>
            <a:srgbClr val="F6F7F9"/>
          </a:solidFill>
          <a:ln>
            <a:noFill/>
          </a:ln>
          <a:effectLst/>
        </p:spPr>
        <p:txBody>
          <a:bodyPr rtlCol="0" anchor="ctr"/>
          <a:lstStyle/>
          <a:p>
            <a:pPr algn="ctr"/>
          </a:p>
        </p:txBody>
      </p:sp>
      <p:sp>
        <p:nvSpPr>
          <p:cNvPr id="6" name="TextBox 5"/>
          <p:cNvSpPr txBox="1"/>
          <p:nvPr/>
        </p:nvSpPr>
        <p:spPr>
          <a:xfrm>
            <a:off x="502920" y="713232"/>
            <a:ext cx="8778240" cy="640080"/>
          </a:xfrm>
          <a:prstGeom prst="rect">
            <a:avLst/>
          </a:prstGeom>
          <a:noFill/>
        </p:spPr>
        <p:txBody>
          <a:bodyPr wrap="square" anchor="t" lIns="0" rIns="0" tIns="0" bIns="0">
            <a:spAutoFit/>
          </a:bodyPr>
          <a:lstStyle/>
          <a:p>
            <a:pPr algn="l">
              <a:lnSpc>
                <a:spcPct val="110000"/>
              </a:lnSpc>
              <a:spcAft>
                <a:spcPts val="0"/>
              </a:spcAft>
            </a:pPr>
            <a:r>
              <a:rPr sz="2600" b="0" i="0" spc="-78">
                <a:solidFill>
                  <a:srgbClr val="314359"/>
                </a:solidFill>
                <a:latin typeface="Times New Roman"/>
              </a:rPr>
              <a:t>Investment case study: Haldex AB</a:t>
            </a:r>
          </a:p>
        </p:txBody>
      </p:sp>
      <p:sp>
        <p:nvSpPr>
          <p:cNvPr id="7" name="TextBox 6"/>
          <p:cNvSpPr txBox="1"/>
          <p:nvPr/>
        </p:nvSpPr>
        <p:spPr>
          <a:xfrm>
            <a:off x="5486400" y="6967728"/>
            <a:ext cx="4023360" cy="274320"/>
          </a:xfrm>
          <a:prstGeom prst="rect">
            <a:avLst/>
          </a:prstGeom>
          <a:noFill/>
        </p:spPr>
        <p:txBody>
          <a:bodyPr wrap="square" anchor="t" lIns="0" rIns="0" tIns="0" bIns="0">
            <a:spAutoFit/>
          </a:bodyPr>
          <a:lstStyle/>
          <a:p>
            <a:pPr algn="r">
              <a:lnSpc>
                <a:spcPct val="110000"/>
              </a:lnSpc>
              <a:spcAft>
                <a:spcPts val="0"/>
              </a:spcAft>
            </a:pPr>
            <a:r>
              <a:rPr sz="850" b="0" i="0">
                <a:solidFill>
                  <a:srgbClr val="556A83"/>
                </a:solidFill>
                <a:latin typeface="Arial"/>
              </a:rPr>
              <a:t>Strictly confidential          3</a:t>
            </a:r>
          </a:p>
        </p:txBody>
      </p:sp>
      <p:sp>
        <p:nvSpPr>
          <p:cNvPr id="8" name="TextBox 7"/>
          <p:cNvSpPr txBox="1"/>
          <p:nvPr/>
        </p:nvSpPr>
        <p:spPr>
          <a:xfrm>
            <a:off x="502920" y="1783080"/>
            <a:ext cx="4160520" cy="5120640"/>
          </a:xfrm>
          <a:prstGeom prst="rect">
            <a:avLst/>
          </a:prstGeom>
          <a:noFill/>
        </p:spPr>
        <p:txBody>
          <a:bodyPr wrap="square" anchor="t" lIns="0" rIns="0" tIns="0" bIns="0">
            <a:spAutoFit/>
          </a:bodyPr>
          <a:lstStyle/>
          <a:p>
            <a:pPr algn="l">
              <a:lnSpc>
                <a:spcPct val="110000"/>
              </a:lnSpc>
              <a:spcBef>
                <a:spcPts val="0"/>
              </a:spcBef>
              <a:spcAft>
                <a:spcPts val="250"/>
              </a:spcAft>
            </a:pPr>
            <a:r>
              <a:rPr sz="1100" b="1" i="0">
                <a:solidFill>
                  <a:srgbClr val="314359"/>
                </a:solidFill>
                <a:latin typeface="Times New Roman"/>
              </a:rPr>
              <a:t>Company description</a:t>
            </a:r>
          </a:p>
          <a:p>
            <a:pPr algn="l">
              <a:lnSpc>
                <a:spcPct val="108000"/>
              </a:lnSpc>
              <a:spcAft>
                <a:spcPts val="200"/>
              </a:spcAft>
            </a:pPr>
            <a:r>
              <a:rPr sz="869" b="0" i="0">
                <a:solidFill>
                  <a:srgbClr val="0E1620"/>
                </a:solidFill>
                <a:latin typeface="Arial"/>
              </a:rPr>
              <a:t>Haldex was a conglomerate with four separate, non-integrated divisions: CVS — components for airbrake systems to trucks and trailers (50% of sales); Concentric — pumps for diesel engines and the secondary hydraulic system (25%); Traction Systems — four-wheel-drive systems for passenger cars (13%); and Wire Systems — spring wires for combustion engines and transmissions (12%).</a:t>
            </a:r>
          </a:p>
          <a:p>
            <a:pPr algn="l">
              <a:lnSpc>
                <a:spcPct val="110000"/>
              </a:lnSpc>
              <a:spcBef>
                <a:spcPts val="700"/>
              </a:spcBef>
              <a:spcAft>
                <a:spcPts val="250"/>
              </a:spcAft>
            </a:pPr>
            <a:r>
              <a:rPr sz="1100" b="1" i="0">
                <a:solidFill>
                  <a:srgbClr val="314359"/>
                </a:solidFill>
                <a:latin typeface="Times New Roman"/>
              </a:rPr>
              <a:t>Recognized opportunities</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All divisions had a profitable core, growing and holding strong market positions</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Three product groups within CVS were hiding overall profitability</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Higher operating costs than peers — cost-saving opportunities</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No structural integration between divisions</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Market price significantly lower than assets and earnings power</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High correlation with GDP — early cycle</a:t>
            </a:r>
          </a:p>
          <a:p>
            <a:pPr algn="l">
              <a:lnSpc>
                <a:spcPct val="110000"/>
              </a:lnSpc>
              <a:spcBef>
                <a:spcPts val="700"/>
              </a:spcBef>
              <a:spcAft>
                <a:spcPts val="250"/>
              </a:spcAft>
            </a:pPr>
            <a:r>
              <a:rPr sz="1100" b="1" i="0">
                <a:solidFill>
                  <a:srgbClr val="314359"/>
                </a:solidFill>
                <a:latin typeface="Times New Roman"/>
              </a:rPr>
              <a:t>Initial plan</a:t>
            </a:r>
          </a:p>
          <a:p>
            <a:pPr algn="l">
              <a:lnSpc>
                <a:spcPct val="108000"/>
              </a:lnSpc>
              <a:spcAft>
                <a:spcPts val="200"/>
              </a:spcAft>
            </a:pPr>
            <a:r>
              <a:rPr sz="869" b="0" i="0">
                <a:solidFill>
                  <a:srgbClr val="0E1620"/>
                </a:solidFill>
                <a:latin typeface="Arial"/>
              </a:rPr>
              <a:t>1) Change the board to support restructuring; 2) rights issue to secure the competitive position; 3) split divisions into separate companies (sell/spin-off); 4) reduce overhead and consolidate factories; 5) exit or fix unprofitable products; 6) reinvest capital in leading products.</a:t>
            </a:r>
          </a:p>
          <a:p>
            <a:pPr algn="l">
              <a:lnSpc>
                <a:spcPct val="110000"/>
              </a:lnSpc>
              <a:spcBef>
                <a:spcPts val="700"/>
              </a:spcBef>
              <a:spcAft>
                <a:spcPts val="250"/>
              </a:spcAft>
            </a:pPr>
            <a:r>
              <a:rPr sz="1100" b="1" i="0">
                <a:solidFill>
                  <a:srgbClr val="314359"/>
                </a:solidFill>
                <a:latin typeface="Times New Roman"/>
              </a:rPr>
              <a:t>Results</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Changed board and management; exited unprofitable products</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Spun off and listed Concentric as a separate company</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Consolidated the factory footprint; focused R&amp;D on winners</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Introduced new products, entered new markets, improved tax structure</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Ran a two-track process — sold to BorgWarner for 17× EBIT</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SEK 30/share redemption; sold Wire Systems to Suzuki Metal</a:t>
            </a:r>
          </a:p>
        </p:txBody>
      </p:sp>
      <p:pic>
        <p:nvPicPr>
          <p:cNvPr id="9" name="Picture 8" descr="col_haldex.png"/>
          <p:cNvPicPr>
            <a:picLocks noChangeAspect="1"/>
          </p:cNvPicPr>
          <p:nvPr/>
        </p:nvPicPr>
        <p:blipFill>
          <a:blip r:embed="rId3"/>
          <a:stretch>
            <a:fillRect/>
          </a:stretch>
        </p:blipFill>
        <p:spPr>
          <a:xfrm>
            <a:off x="5084146" y="1783080"/>
            <a:ext cx="4096347" cy="5074920"/>
          </a:xfrm>
          <a:prstGeom prst="rect">
            <a:avLst/>
          </a:prstGeom>
        </p:spPr>
      </p:pic>
      <p:sp>
        <p:nvSpPr>
          <p:cNvPr id="10" name="TextBox 9"/>
          <p:cNvSpPr txBox="1"/>
          <p:nvPr/>
        </p:nvSpPr>
        <p:spPr>
          <a:xfrm>
            <a:off x="502920" y="6967728"/>
            <a:ext cx="4846320" cy="274320"/>
          </a:xfrm>
          <a:prstGeom prst="rect">
            <a:avLst/>
          </a:prstGeom>
          <a:noFill/>
        </p:spPr>
        <p:txBody>
          <a:bodyPr wrap="square" anchor="t" lIns="0" rIns="0" tIns="0" bIns="0">
            <a:spAutoFit/>
          </a:bodyPr>
          <a:lstStyle/>
          <a:p>
            <a:pPr algn="l">
              <a:lnSpc>
                <a:spcPct val="100000"/>
              </a:lnSpc>
              <a:spcAft>
                <a:spcPts val="0"/>
              </a:spcAft>
            </a:pPr>
            <a:r>
              <a:rPr sz="750" b="0" i="1">
                <a:solidFill>
                  <a:srgbClr val="556A83"/>
                </a:solidFill>
                <a:latin typeface="Arial"/>
              </a:rPr>
              <a:t>Note: share price re-based to 100 at investment and includes dividends; benchmark OMXS30 / MSCI. Past performance is not indicative of future results.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753904" cy="7315200"/>
          </a:xfrm>
          <a:prstGeom prst="rect">
            <a:avLst/>
          </a:prstGeom>
          <a:solidFill>
            <a:srgbClr val="FFFFFF"/>
          </a:solidFill>
          <a:ln>
            <a:noFill/>
          </a:ln>
          <a:effectLst/>
        </p:spPr>
        <p:txBody>
          <a:bodyPr rtlCol="0" anchor="ctr"/>
          <a:lstStyle/>
          <a:p>
            <a:pPr algn="ctr"/>
          </a:p>
        </p:txBody>
      </p:sp>
      <p:pic>
        <p:nvPicPr>
          <p:cNvPr id="3" name="Picture 2" descr="mark_dark.png"/>
          <p:cNvPicPr>
            <a:picLocks noChangeAspect="1"/>
          </p:cNvPicPr>
          <p:nvPr/>
        </p:nvPicPr>
        <p:blipFill>
          <a:blip r:embed="rId2"/>
          <a:stretch>
            <a:fillRect/>
          </a:stretch>
        </p:blipFill>
        <p:spPr>
          <a:xfrm>
            <a:off x="457200" y="219456"/>
            <a:ext cx="280009" cy="237744"/>
          </a:xfrm>
          <a:prstGeom prst="rect">
            <a:avLst/>
          </a:prstGeom>
        </p:spPr>
      </p:pic>
      <p:sp>
        <p:nvSpPr>
          <p:cNvPr id="4" name="TextBox 3"/>
          <p:cNvSpPr txBox="1"/>
          <p:nvPr/>
        </p:nvSpPr>
        <p:spPr>
          <a:xfrm>
            <a:off x="841248" y="246888"/>
            <a:ext cx="5486400" cy="274320"/>
          </a:xfrm>
          <a:prstGeom prst="rect">
            <a:avLst/>
          </a:prstGeom>
          <a:noFill/>
        </p:spPr>
        <p:txBody>
          <a:bodyPr wrap="square" anchor="t" lIns="0" rIns="0" tIns="0" bIns="0">
            <a:spAutoFit/>
          </a:bodyPr>
          <a:lstStyle/>
          <a:p>
            <a:pPr algn="l">
              <a:lnSpc>
                <a:spcPct val="110000"/>
              </a:lnSpc>
              <a:spcAft>
                <a:spcPts val="0"/>
              </a:spcAft>
            </a:pPr>
            <a:r>
              <a:rPr sz="1100" b="0" i="0">
                <a:solidFill>
                  <a:srgbClr val="556A83"/>
                </a:solidFill>
                <a:latin typeface="Arial"/>
              </a:rPr>
              <a:t>Case · AIP fund era</a:t>
            </a:r>
          </a:p>
        </p:txBody>
      </p:sp>
      <p:sp>
        <p:nvSpPr>
          <p:cNvPr id="5" name="Rectangle 4"/>
          <p:cNvSpPr/>
          <p:nvPr/>
        </p:nvSpPr>
        <p:spPr>
          <a:xfrm>
            <a:off x="0" y="566928"/>
            <a:ext cx="9753904" cy="914400"/>
          </a:xfrm>
          <a:prstGeom prst="rect">
            <a:avLst/>
          </a:prstGeom>
          <a:solidFill>
            <a:srgbClr val="F6F7F9"/>
          </a:solidFill>
          <a:ln>
            <a:noFill/>
          </a:ln>
          <a:effectLst/>
        </p:spPr>
        <p:txBody>
          <a:bodyPr rtlCol="0" anchor="ctr"/>
          <a:lstStyle/>
          <a:p>
            <a:pPr algn="ctr"/>
          </a:p>
        </p:txBody>
      </p:sp>
      <p:sp>
        <p:nvSpPr>
          <p:cNvPr id="6" name="TextBox 5"/>
          <p:cNvSpPr txBox="1"/>
          <p:nvPr/>
        </p:nvSpPr>
        <p:spPr>
          <a:xfrm>
            <a:off x="502920" y="713232"/>
            <a:ext cx="8778240" cy="640080"/>
          </a:xfrm>
          <a:prstGeom prst="rect">
            <a:avLst/>
          </a:prstGeom>
          <a:noFill/>
        </p:spPr>
        <p:txBody>
          <a:bodyPr wrap="square" anchor="t" lIns="0" rIns="0" tIns="0" bIns="0">
            <a:spAutoFit/>
          </a:bodyPr>
          <a:lstStyle/>
          <a:p>
            <a:pPr algn="l">
              <a:lnSpc>
                <a:spcPct val="110000"/>
              </a:lnSpc>
              <a:spcAft>
                <a:spcPts val="0"/>
              </a:spcAft>
            </a:pPr>
            <a:r>
              <a:rPr sz="2600" b="0" i="0" spc="-78">
                <a:solidFill>
                  <a:srgbClr val="314359"/>
                </a:solidFill>
                <a:latin typeface="Times New Roman"/>
              </a:rPr>
              <a:t>Investment case study: Haldex AB — second investment</a:t>
            </a:r>
          </a:p>
        </p:txBody>
      </p:sp>
      <p:sp>
        <p:nvSpPr>
          <p:cNvPr id="7" name="TextBox 6"/>
          <p:cNvSpPr txBox="1"/>
          <p:nvPr/>
        </p:nvSpPr>
        <p:spPr>
          <a:xfrm>
            <a:off x="5486400" y="6967728"/>
            <a:ext cx="4023360" cy="274320"/>
          </a:xfrm>
          <a:prstGeom prst="rect">
            <a:avLst/>
          </a:prstGeom>
          <a:noFill/>
        </p:spPr>
        <p:txBody>
          <a:bodyPr wrap="square" anchor="t" lIns="0" rIns="0" tIns="0" bIns="0">
            <a:spAutoFit/>
          </a:bodyPr>
          <a:lstStyle/>
          <a:p>
            <a:pPr algn="r">
              <a:lnSpc>
                <a:spcPct val="110000"/>
              </a:lnSpc>
              <a:spcAft>
                <a:spcPts val="0"/>
              </a:spcAft>
            </a:pPr>
            <a:r>
              <a:rPr sz="850" b="0" i="0">
                <a:solidFill>
                  <a:srgbClr val="556A83"/>
                </a:solidFill>
                <a:latin typeface="Arial"/>
              </a:rPr>
              <a:t>Strictly confidential          4</a:t>
            </a:r>
          </a:p>
        </p:txBody>
      </p:sp>
      <p:sp>
        <p:nvSpPr>
          <p:cNvPr id="8" name="TextBox 7"/>
          <p:cNvSpPr txBox="1"/>
          <p:nvPr/>
        </p:nvSpPr>
        <p:spPr>
          <a:xfrm>
            <a:off x="502920" y="1783080"/>
            <a:ext cx="4160520" cy="5120640"/>
          </a:xfrm>
          <a:prstGeom prst="rect">
            <a:avLst/>
          </a:prstGeom>
          <a:noFill/>
        </p:spPr>
        <p:txBody>
          <a:bodyPr wrap="square" anchor="t" lIns="0" rIns="0" tIns="0" bIns="0">
            <a:spAutoFit/>
          </a:bodyPr>
          <a:lstStyle/>
          <a:p>
            <a:pPr algn="l">
              <a:lnSpc>
                <a:spcPct val="110000"/>
              </a:lnSpc>
              <a:spcBef>
                <a:spcPts val="0"/>
              </a:spcBef>
              <a:spcAft>
                <a:spcPts val="250"/>
              </a:spcAft>
            </a:pPr>
            <a:r>
              <a:rPr sz="1100" b="1" i="0">
                <a:solidFill>
                  <a:srgbClr val="314359"/>
                </a:solidFill>
                <a:latin typeface="Times New Roman"/>
              </a:rPr>
              <a:t>Company description</a:t>
            </a:r>
          </a:p>
          <a:p>
            <a:pPr algn="l">
              <a:lnSpc>
                <a:spcPct val="108000"/>
              </a:lnSpc>
              <a:spcAft>
                <a:spcPts val="200"/>
              </a:spcAft>
            </a:pPr>
            <a:r>
              <a:rPr sz="869" b="0" i="0">
                <a:solidFill>
                  <a:srgbClr val="0E1620"/>
                </a:solidFill>
                <a:latin typeface="Arial"/>
              </a:rPr>
              <a:t>Industrial company manufacturing and selling braking products for on-highway trucks and trailers. AIP re-invested by buying shares at a discount during the COVID crisis, after a takeover bid from competitor Knorr-Bremse had been blocked by the EU and US authorities.</a:t>
            </a:r>
          </a:p>
          <a:p>
            <a:pPr algn="l">
              <a:lnSpc>
                <a:spcPct val="110000"/>
              </a:lnSpc>
              <a:spcBef>
                <a:spcPts val="700"/>
              </a:spcBef>
              <a:spcAft>
                <a:spcPts val="250"/>
              </a:spcAft>
            </a:pPr>
            <a:r>
              <a:rPr sz="1100" b="1" i="0">
                <a:solidFill>
                  <a:srgbClr val="314359"/>
                </a:solidFill>
                <a:latin typeface="Times New Roman"/>
              </a:rPr>
              <a:t>Recognized opportunities</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Company in limbo after the blocked Knorr-Bremse takeover</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Subsequent poor management decisions and bad capital allocation</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Loss-making products with growing revenue eroded the balance sheet</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Key management was leaving due to lack of leadership</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Inexperienced board consisting of consultants</a:t>
            </a:r>
          </a:p>
          <a:p>
            <a:pPr algn="l">
              <a:lnSpc>
                <a:spcPct val="110000"/>
              </a:lnSpc>
              <a:spcBef>
                <a:spcPts val="700"/>
              </a:spcBef>
              <a:spcAft>
                <a:spcPts val="250"/>
              </a:spcAft>
            </a:pPr>
            <a:r>
              <a:rPr sz="1100" b="1" i="0">
                <a:solidFill>
                  <a:srgbClr val="314359"/>
                </a:solidFill>
                <a:latin typeface="Times New Roman"/>
              </a:rPr>
              <a:t>Initial plan</a:t>
            </a:r>
          </a:p>
          <a:p>
            <a:pPr algn="l">
              <a:lnSpc>
                <a:spcPct val="108000"/>
              </a:lnSpc>
              <a:spcAft>
                <a:spcPts val="200"/>
              </a:spcAft>
            </a:pPr>
            <a:r>
              <a:rPr sz="869" b="0" i="0">
                <a:solidFill>
                  <a:srgbClr val="0E1620"/>
                </a:solidFill>
                <a:latin typeface="Arial"/>
              </a:rPr>
              <a:t>Change the board to members with industrial experience rather than lawyers and bankers; change the management team to an experienced team. Two large institutions (AP4 and AMF) and AIP jointly decided that Stefan Charette should take the board chair.</a:t>
            </a:r>
          </a:p>
          <a:p>
            <a:pPr algn="l">
              <a:lnSpc>
                <a:spcPct val="110000"/>
              </a:lnSpc>
              <a:spcBef>
                <a:spcPts val="700"/>
              </a:spcBef>
              <a:spcAft>
                <a:spcPts val="250"/>
              </a:spcAft>
            </a:pPr>
            <a:r>
              <a:rPr sz="1100" b="1" i="0">
                <a:solidFill>
                  <a:srgbClr val="314359"/>
                </a:solidFill>
                <a:latin typeface="Times New Roman"/>
              </a:rPr>
              <a:t>Results</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Changed the whole board and management</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Supported management in renegotiating disc-brake contracts</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Significantly reduced product costs and overhead; focused R&amp;D</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Exited unprofitable products</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Company sold to SAFHolland one year later</a:t>
            </a:r>
          </a:p>
        </p:txBody>
      </p:sp>
      <p:sp>
        <p:nvSpPr>
          <p:cNvPr id="9" name="Rounded Rectangle 8"/>
          <p:cNvSpPr/>
          <p:nvPr/>
        </p:nvSpPr>
        <p:spPr>
          <a:xfrm>
            <a:off x="4983480" y="1783080"/>
            <a:ext cx="4297680" cy="384048"/>
          </a:xfrm>
          <a:prstGeom prst="roundRect">
            <a:avLst/>
          </a:prstGeom>
          <a:solidFill>
            <a:srgbClr val="F6F7F9"/>
          </a:solidFill>
          <a:ln>
            <a:noFill/>
          </a:ln>
          <a:effectLst/>
        </p:spPr>
        <p:txBody>
          <a:bodyPr rtlCol="0" anchor="ctr"/>
          <a:lstStyle/>
          <a:p>
            <a:pPr algn="ctr"/>
          </a:p>
        </p:txBody>
      </p:sp>
      <p:sp>
        <p:nvSpPr>
          <p:cNvPr id="10" name="TextBox 9"/>
          <p:cNvSpPr txBox="1"/>
          <p:nvPr/>
        </p:nvSpPr>
        <p:spPr>
          <a:xfrm>
            <a:off x="4983480" y="1783080"/>
            <a:ext cx="4297680" cy="384048"/>
          </a:xfrm>
          <a:prstGeom prst="rect">
            <a:avLst/>
          </a:prstGeom>
          <a:noFill/>
        </p:spPr>
        <p:txBody>
          <a:bodyPr wrap="square" anchor="ctr" lIns="0" rIns="0" tIns="0" bIns="0">
            <a:spAutoFit/>
          </a:bodyPr>
          <a:lstStyle/>
          <a:p>
            <a:pPr algn="ctr">
              <a:lnSpc>
                <a:spcPct val="110000"/>
              </a:lnSpc>
              <a:spcAft>
                <a:spcPts val="0"/>
              </a:spcAft>
            </a:pPr>
            <a:r>
              <a:rPr sz="1250" b="1" i="0">
                <a:solidFill>
                  <a:srgbClr val="314359"/>
                </a:solidFill>
                <a:latin typeface="Times New Roman"/>
              </a:rPr>
              <a:t>IRR 100% · Money multiple 2.0×</a:t>
            </a:r>
          </a:p>
        </p:txBody>
      </p:sp>
      <p:sp>
        <p:nvSpPr>
          <p:cNvPr id="11" name="TextBox 10"/>
          <p:cNvSpPr txBox="1"/>
          <p:nvPr/>
        </p:nvSpPr>
        <p:spPr>
          <a:xfrm>
            <a:off x="4983480" y="3291840"/>
            <a:ext cx="4297680" cy="1463040"/>
          </a:xfrm>
          <a:prstGeom prst="rect">
            <a:avLst/>
          </a:prstGeom>
          <a:noFill/>
        </p:spPr>
        <p:txBody>
          <a:bodyPr wrap="square" anchor="ctr" lIns="0" rIns="0" tIns="0" bIns="0">
            <a:spAutoFit/>
          </a:bodyPr>
          <a:lstStyle/>
          <a:p>
            <a:pPr algn="ctr">
              <a:lnSpc>
                <a:spcPct val="110000"/>
              </a:lnSpc>
              <a:spcAft>
                <a:spcPts val="0"/>
              </a:spcAft>
            </a:pPr>
            <a:r>
              <a:rPr sz="1900" b="0" i="1">
                <a:solidFill>
                  <a:srgbClr val="314359"/>
                </a:solidFill>
                <a:latin typeface="Times New Roman"/>
              </a:rPr>
              <a:t>“Our investment returned 100% within a one-year time period.”</a:t>
            </a:r>
          </a:p>
        </p:txBody>
      </p:sp>
      <p:sp>
        <p:nvSpPr>
          <p:cNvPr id="12" name="TextBox 11"/>
          <p:cNvSpPr txBox="1"/>
          <p:nvPr/>
        </p:nvSpPr>
        <p:spPr>
          <a:xfrm>
            <a:off x="502920" y="6967728"/>
            <a:ext cx="4846320" cy="274320"/>
          </a:xfrm>
          <a:prstGeom prst="rect">
            <a:avLst/>
          </a:prstGeom>
          <a:noFill/>
        </p:spPr>
        <p:txBody>
          <a:bodyPr wrap="square" anchor="t" lIns="0" rIns="0" tIns="0" bIns="0">
            <a:spAutoFit/>
          </a:bodyPr>
          <a:lstStyle/>
          <a:p>
            <a:pPr algn="l">
              <a:lnSpc>
                <a:spcPct val="100000"/>
              </a:lnSpc>
              <a:spcAft>
                <a:spcPts val="0"/>
              </a:spcAft>
            </a:pPr>
            <a:r>
              <a:rPr sz="750" b="0" i="1">
                <a:solidFill>
                  <a:srgbClr val="556A83"/>
                </a:solidFill>
                <a:latin typeface="Arial"/>
              </a:rPr>
              <a:t>Note: share price re-based to 100 at investment and includes dividends; benchmark OMXS30 / MSCI. Past performance is not indicative of future results.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753904" cy="7315200"/>
          </a:xfrm>
          <a:prstGeom prst="rect">
            <a:avLst/>
          </a:prstGeom>
          <a:solidFill>
            <a:srgbClr val="FFFFFF"/>
          </a:solidFill>
          <a:ln>
            <a:noFill/>
          </a:ln>
          <a:effectLst/>
        </p:spPr>
        <p:txBody>
          <a:bodyPr rtlCol="0" anchor="ctr"/>
          <a:lstStyle/>
          <a:p>
            <a:pPr algn="ctr"/>
          </a:p>
        </p:txBody>
      </p:sp>
      <p:pic>
        <p:nvPicPr>
          <p:cNvPr id="3" name="Picture 2" descr="mark_dark.png"/>
          <p:cNvPicPr>
            <a:picLocks noChangeAspect="1"/>
          </p:cNvPicPr>
          <p:nvPr/>
        </p:nvPicPr>
        <p:blipFill>
          <a:blip r:embed="rId2"/>
          <a:stretch>
            <a:fillRect/>
          </a:stretch>
        </p:blipFill>
        <p:spPr>
          <a:xfrm>
            <a:off x="457200" y="219456"/>
            <a:ext cx="280009" cy="237744"/>
          </a:xfrm>
          <a:prstGeom prst="rect">
            <a:avLst/>
          </a:prstGeom>
        </p:spPr>
      </p:pic>
      <p:sp>
        <p:nvSpPr>
          <p:cNvPr id="4" name="TextBox 3"/>
          <p:cNvSpPr txBox="1"/>
          <p:nvPr/>
        </p:nvSpPr>
        <p:spPr>
          <a:xfrm>
            <a:off x="841248" y="246888"/>
            <a:ext cx="5486400" cy="274320"/>
          </a:xfrm>
          <a:prstGeom prst="rect">
            <a:avLst/>
          </a:prstGeom>
          <a:noFill/>
        </p:spPr>
        <p:txBody>
          <a:bodyPr wrap="square" anchor="t" lIns="0" rIns="0" tIns="0" bIns="0">
            <a:spAutoFit/>
          </a:bodyPr>
          <a:lstStyle/>
          <a:p>
            <a:pPr algn="l">
              <a:lnSpc>
                <a:spcPct val="110000"/>
              </a:lnSpc>
              <a:spcAft>
                <a:spcPts val="0"/>
              </a:spcAft>
            </a:pPr>
            <a:r>
              <a:rPr sz="1100" b="0" i="0">
                <a:solidFill>
                  <a:srgbClr val="556A83"/>
                </a:solidFill>
                <a:latin typeface="Arial"/>
              </a:rPr>
              <a:t>Case · AIP fund era</a:t>
            </a:r>
          </a:p>
        </p:txBody>
      </p:sp>
      <p:sp>
        <p:nvSpPr>
          <p:cNvPr id="5" name="Rectangle 4"/>
          <p:cNvSpPr/>
          <p:nvPr/>
        </p:nvSpPr>
        <p:spPr>
          <a:xfrm>
            <a:off x="0" y="566928"/>
            <a:ext cx="9753904" cy="914400"/>
          </a:xfrm>
          <a:prstGeom prst="rect">
            <a:avLst/>
          </a:prstGeom>
          <a:solidFill>
            <a:srgbClr val="F6F7F9"/>
          </a:solidFill>
          <a:ln>
            <a:noFill/>
          </a:ln>
          <a:effectLst/>
        </p:spPr>
        <p:txBody>
          <a:bodyPr rtlCol="0" anchor="ctr"/>
          <a:lstStyle/>
          <a:p>
            <a:pPr algn="ctr"/>
          </a:p>
        </p:txBody>
      </p:sp>
      <p:sp>
        <p:nvSpPr>
          <p:cNvPr id="6" name="TextBox 5"/>
          <p:cNvSpPr txBox="1"/>
          <p:nvPr/>
        </p:nvSpPr>
        <p:spPr>
          <a:xfrm>
            <a:off x="502920" y="713232"/>
            <a:ext cx="8778240" cy="640080"/>
          </a:xfrm>
          <a:prstGeom prst="rect">
            <a:avLst/>
          </a:prstGeom>
          <a:noFill/>
        </p:spPr>
        <p:txBody>
          <a:bodyPr wrap="square" anchor="t" lIns="0" rIns="0" tIns="0" bIns="0">
            <a:spAutoFit/>
          </a:bodyPr>
          <a:lstStyle/>
          <a:p>
            <a:pPr algn="l">
              <a:lnSpc>
                <a:spcPct val="110000"/>
              </a:lnSpc>
              <a:spcAft>
                <a:spcPts val="0"/>
              </a:spcAft>
            </a:pPr>
            <a:r>
              <a:rPr sz="2600" b="0" i="0" spc="-78">
                <a:solidFill>
                  <a:srgbClr val="314359"/>
                </a:solidFill>
                <a:latin typeface="Times New Roman"/>
              </a:rPr>
              <a:t>Investment case study: Lindab AB</a:t>
            </a:r>
          </a:p>
        </p:txBody>
      </p:sp>
      <p:sp>
        <p:nvSpPr>
          <p:cNvPr id="7" name="TextBox 6"/>
          <p:cNvSpPr txBox="1"/>
          <p:nvPr/>
        </p:nvSpPr>
        <p:spPr>
          <a:xfrm>
            <a:off x="5486400" y="6967728"/>
            <a:ext cx="4023360" cy="274320"/>
          </a:xfrm>
          <a:prstGeom prst="rect">
            <a:avLst/>
          </a:prstGeom>
          <a:noFill/>
        </p:spPr>
        <p:txBody>
          <a:bodyPr wrap="square" anchor="t" lIns="0" rIns="0" tIns="0" bIns="0">
            <a:spAutoFit/>
          </a:bodyPr>
          <a:lstStyle/>
          <a:p>
            <a:pPr algn="r">
              <a:lnSpc>
                <a:spcPct val="110000"/>
              </a:lnSpc>
              <a:spcAft>
                <a:spcPts val="0"/>
              </a:spcAft>
            </a:pPr>
            <a:r>
              <a:rPr sz="850" b="0" i="0">
                <a:solidFill>
                  <a:srgbClr val="556A83"/>
                </a:solidFill>
                <a:latin typeface="Arial"/>
              </a:rPr>
              <a:t>Strictly confidential          5</a:t>
            </a:r>
          </a:p>
        </p:txBody>
      </p:sp>
      <p:sp>
        <p:nvSpPr>
          <p:cNvPr id="8" name="TextBox 7"/>
          <p:cNvSpPr txBox="1"/>
          <p:nvPr/>
        </p:nvSpPr>
        <p:spPr>
          <a:xfrm>
            <a:off x="502920" y="1783080"/>
            <a:ext cx="4160520" cy="5120640"/>
          </a:xfrm>
          <a:prstGeom prst="rect">
            <a:avLst/>
          </a:prstGeom>
          <a:noFill/>
        </p:spPr>
        <p:txBody>
          <a:bodyPr wrap="square" anchor="t" lIns="0" rIns="0" tIns="0" bIns="0">
            <a:spAutoFit/>
          </a:bodyPr>
          <a:lstStyle/>
          <a:p>
            <a:pPr algn="l">
              <a:lnSpc>
                <a:spcPct val="110000"/>
              </a:lnSpc>
              <a:spcBef>
                <a:spcPts val="0"/>
              </a:spcBef>
              <a:spcAft>
                <a:spcPts val="250"/>
              </a:spcAft>
            </a:pPr>
            <a:r>
              <a:rPr sz="1100" b="1" i="0">
                <a:solidFill>
                  <a:srgbClr val="314359"/>
                </a:solidFill>
                <a:latin typeface="Times New Roman"/>
              </a:rPr>
              <a:t>Company description</a:t>
            </a:r>
          </a:p>
          <a:p>
            <a:pPr algn="l">
              <a:lnSpc>
                <a:spcPct val="108000"/>
              </a:lnSpc>
              <a:spcAft>
                <a:spcPts val="200"/>
              </a:spcAft>
            </a:pPr>
            <a:r>
              <a:rPr sz="869" b="0" i="0">
                <a:solidFill>
                  <a:srgbClr val="0E1620"/>
                </a:solidFill>
                <a:latin typeface="Arial"/>
              </a:rPr>
              <a:t>Lindab is an international company that develops, manufactures and distributes products and system solutions for simplified construction and improved indoor climate. It used to be a conglomerate with three divisions: Ventilation (indoor-climate products sold through own distribution centres); Components (roof, wall and floor systems — gutters, rivets, screws); and Building Systems (solutions for residential and commercial properties).</a:t>
            </a:r>
          </a:p>
          <a:p>
            <a:pPr algn="l">
              <a:lnSpc>
                <a:spcPct val="110000"/>
              </a:lnSpc>
              <a:spcBef>
                <a:spcPts val="700"/>
              </a:spcBef>
              <a:spcAft>
                <a:spcPts val="250"/>
              </a:spcAft>
            </a:pPr>
            <a:r>
              <a:rPr sz="1100" b="1" i="0">
                <a:solidFill>
                  <a:srgbClr val="314359"/>
                </a:solidFill>
                <a:latin typeface="Times New Roman"/>
              </a:rPr>
              <a:t>Recognized opportunities</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All three divisions had a profitable, growing core with strong market positions</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Poor historical cost management — savings opportunities</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Scalable by adding more distribution centres without heavy capex</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No structural integration — break-up / consolidation upside</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Market price significantly lower than assets and earnings power</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Late-cycle company with exposure to Europe</a:t>
            </a:r>
          </a:p>
          <a:p>
            <a:pPr algn="l">
              <a:lnSpc>
                <a:spcPct val="110000"/>
              </a:lnSpc>
              <a:spcBef>
                <a:spcPts val="700"/>
              </a:spcBef>
              <a:spcAft>
                <a:spcPts val="250"/>
              </a:spcAft>
            </a:pPr>
            <a:r>
              <a:rPr sz="1100" b="1" i="0">
                <a:solidFill>
                  <a:srgbClr val="314359"/>
                </a:solidFill>
                <a:latin typeface="Times New Roman"/>
              </a:rPr>
              <a:t>Initial plan</a:t>
            </a:r>
          </a:p>
          <a:p>
            <a:pPr algn="l">
              <a:lnSpc>
                <a:spcPct val="108000"/>
              </a:lnSpc>
              <a:spcAft>
                <a:spcPts val="200"/>
              </a:spcAft>
            </a:pPr>
            <a:r>
              <a:rPr sz="869" b="0" i="0">
                <a:solidFill>
                  <a:srgbClr val="0E1620"/>
                </a:solidFill>
                <a:latin typeface="Arial"/>
              </a:rPr>
              <a:t>1) Change the board; 2) consolidate Ventilation and Components or divest Components; 3) reduce OPEX and logistics complexity; 4) grow sales through the distribution centres; 5) allocate capital to winning products and markets; 6) renegotiate financing and leases.</a:t>
            </a:r>
          </a:p>
          <a:p>
            <a:pPr algn="l">
              <a:lnSpc>
                <a:spcPct val="110000"/>
              </a:lnSpc>
              <a:spcBef>
                <a:spcPts val="700"/>
              </a:spcBef>
              <a:spcAft>
                <a:spcPts val="250"/>
              </a:spcAft>
            </a:pPr>
            <a:r>
              <a:rPr sz="1100" b="1" i="0">
                <a:solidFill>
                  <a:srgbClr val="314359"/>
                </a:solidFill>
                <a:latin typeface="Times New Roman"/>
              </a:rPr>
              <a:t>Results</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Refinanced debt and lease structure; changed board and management</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Consolidated the Ventilation &amp; Components business</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Significant profit potential through organic and acquired growth</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Identified ~22% EBIT uplift on current net sales via cost savings</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Opportunity to spin off or sell Building Systems</a:t>
            </a:r>
          </a:p>
        </p:txBody>
      </p:sp>
      <p:pic>
        <p:nvPicPr>
          <p:cNvPr id="9" name="Picture 8" descr="col_lindab.png"/>
          <p:cNvPicPr>
            <a:picLocks noChangeAspect="1"/>
          </p:cNvPicPr>
          <p:nvPr/>
        </p:nvPicPr>
        <p:blipFill>
          <a:blip r:embed="rId3"/>
          <a:stretch>
            <a:fillRect/>
          </a:stretch>
        </p:blipFill>
        <p:spPr>
          <a:xfrm>
            <a:off x="5084146" y="1783080"/>
            <a:ext cx="4096347" cy="5074920"/>
          </a:xfrm>
          <a:prstGeom prst="rect">
            <a:avLst/>
          </a:prstGeom>
        </p:spPr>
      </p:pic>
      <p:sp>
        <p:nvSpPr>
          <p:cNvPr id="10" name="TextBox 9"/>
          <p:cNvSpPr txBox="1"/>
          <p:nvPr/>
        </p:nvSpPr>
        <p:spPr>
          <a:xfrm>
            <a:off x="502920" y="6967728"/>
            <a:ext cx="4846320" cy="274320"/>
          </a:xfrm>
          <a:prstGeom prst="rect">
            <a:avLst/>
          </a:prstGeom>
          <a:noFill/>
        </p:spPr>
        <p:txBody>
          <a:bodyPr wrap="square" anchor="t" lIns="0" rIns="0" tIns="0" bIns="0">
            <a:spAutoFit/>
          </a:bodyPr>
          <a:lstStyle/>
          <a:p>
            <a:pPr algn="l">
              <a:lnSpc>
                <a:spcPct val="100000"/>
              </a:lnSpc>
              <a:spcAft>
                <a:spcPts val="0"/>
              </a:spcAft>
            </a:pPr>
            <a:r>
              <a:rPr sz="750" b="0" i="1">
                <a:solidFill>
                  <a:srgbClr val="556A83"/>
                </a:solidFill>
                <a:latin typeface="Arial"/>
              </a:rPr>
              <a:t>Note: share price re-based to 100 at investment and includes dividends; benchmark OMXS30 / MSCI. Past performance is not indicative of future results.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753904" cy="7315200"/>
          </a:xfrm>
          <a:prstGeom prst="rect">
            <a:avLst/>
          </a:prstGeom>
          <a:solidFill>
            <a:srgbClr val="FFFFFF"/>
          </a:solidFill>
          <a:ln>
            <a:noFill/>
          </a:ln>
          <a:effectLst/>
        </p:spPr>
        <p:txBody>
          <a:bodyPr rtlCol="0" anchor="ctr"/>
          <a:lstStyle/>
          <a:p>
            <a:pPr algn="ctr"/>
          </a:p>
        </p:txBody>
      </p:sp>
      <p:pic>
        <p:nvPicPr>
          <p:cNvPr id="3" name="Picture 2" descr="mark_dark.png"/>
          <p:cNvPicPr>
            <a:picLocks noChangeAspect="1"/>
          </p:cNvPicPr>
          <p:nvPr/>
        </p:nvPicPr>
        <p:blipFill>
          <a:blip r:embed="rId2"/>
          <a:stretch>
            <a:fillRect/>
          </a:stretch>
        </p:blipFill>
        <p:spPr>
          <a:xfrm>
            <a:off x="457200" y="219456"/>
            <a:ext cx="280009" cy="237744"/>
          </a:xfrm>
          <a:prstGeom prst="rect">
            <a:avLst/>
          </a:prstGeom>
        </p:spPr>
      </p:pic>
      <p:sp>
        <p:nvSpPr>
          <p:cNvPr id="4" name="TextBox 3"/>
          <p:cNvSpPr txBox="1"/>
          <p:nvPr/>
        </p:nvSpPr>
        <p:spPr>
          <a:xfrm>
            <a:off x="841248" y="246888"/>
            <a:ext cx="5486400" cy="274320"/>
          </a:xfrm>
          <a:prstGeom prst="rect">
            <a:avLst/>
          </a:prstGeom>
          <a:noFill/>
        </p:spPr>
        <p:txBody>
          <a:bodyPr wrap="square" anchor="t" lIns="0" rIns="0" tIns="0" bIns="0">
            <a:spAutoFit/>
          </a:bodyPr>
          <a:lstStyle/>
          <a:p>
            <a:pPr algn="l">
              <a:lnSpc>
                <a:spcPct val="110000"/>
              </a:lnSpc>
              <a:spcAft>
                <a:spcPts val="0"/>
              </a:spcAft>
            </a:pPr>
            <a:r>
              <a:rPr sz="1100" b="0" i="0">
                <a:solidFill>
                  <a:srgbClr val="556A83"/>
                </a:solidFill>
                <a:latin typeface="Arial"/>
              </a:rPr>
              <a:t>Case · AIP fund era</a:t>
            </a:r>
          </a:p>
        </p:txBody>
      </p:sp>
      <p:sp>
        <p:nvSpPr>
          <p:cNvPr id="5" name="Rectangle 4"/>
          <p:cNvSpPr/>
          <p:nvPr/>
        </p:nvSpPr>
        <p:spPr>
          <a:xfrm>
            <a:off x="0" y="566928"/>
            <a:ext cx="9753904" cy="914400"/>
          </a:xfrm>
          <a:prstGeom prst="rect">
            <a:avLst/>
          </a:prstGeom>
          <a:solidFill>
            <a:srgbClr val="F6F7F9"/>
          </a:solidFill>
          <a:ln>
            <a:noFill/>
          </a:ln>
          <a:effectLst/>
        </p:spPr>
        <p:txBody>
          <a:bodyPr rtlCol="0" anchor="ctr"/>
          <a:lstStyle/>
          <a:p>
            <a:pPr algn="ctr"/>
          </a:p>
        </p:txBody>
      </p:sp>
      <p:sp>
        <p:nvSpPr>
          <p:cNvPr id="6" name="TextBox 5"/>
          <p:cNvSpPr txBox="1"/>
          <p:nvPr/>
        </p:nvSpPr>
        <p:spPr>
          <a:xfrm>
            <a:off x="502920" y="713232"/>
            <a:ext cx="8778240" cy="640080"/>
          </a:xfrm>
          <a:prstGeom prst="rect">
            <a:avLst/>
          </a:prstGeom>
          <a:noFill/>
        </p:spPr>
        <p:txBody>
          <a:bodyPr wrap="square" anchor="t" lIns="0" rIns="0" tIns="0" bIns="0">
            <a:spAutoFit/>
          </a:bodyPr>
          <a:lstStyle/>
          <a:p>
            <a:pPr algn="l">
              <a:lnSpc>
                <a:spcPct val="110000"/>
              </a:lnSpc>
              <a:spcAft>
                <a:spcPts val="0"/>
              </a:spcAft>
            </a:pPr>
            <a:r>
              <a:rPr sz="2600" b="0" i="0" spc="-78">
                <a:solidFill>
                  <a:srgbClr val="314359"/>
                </a:solidFill>
                <a:latin typeface="Times New Roman"/>
              </a:rPr>
              <a:t>Investment case study: Transcom SA</a:t>
            </a:r>
          </a:p>
        </p:txBody>
      </p:sp>
      <p:sp>
        <p:nvSpPr>
          <p:cNvPr id="7" name="TextBox 6"/>
          <p:cNvSpPr txBox="1"/>
          <p:nvPr/>
        </p:nvSpPr>
        <p:spPr>
          <a:xfrm>
            <a:off x="5486400" y="6967728"/>
            <a:ext cx="4023360" cy="274320"/>
          </a:xfrm>
          <a:prstGeom prst="rect">
            <a:avLst/>
          </a:prstGeom>
          <a:noFill/>
        </p:spPr>
        <p:txBody>
          <a:bodyPr wrap="square" anchor="t" lIns="0" rIns="0" tIns="0" bIns="0">
            <a:spAutoFit/>
          </a:bodyPr>
          <a:lstStyle/>
          <a:p>
            <a:pPr algn="r">
              <a:lnSpc>
                <a:spcPct val="110000"/>
              </a:lnSpc>
              <a:spcAft>
                <a:spcPts val="0"/>
              </a:spcAft>
            </a:pPr>
            <a:r>
              <a:rPr sz="850" b="0" i="0">
                <a:solidFill>
                  <a:srgbClr val="556A83"/>
                </a:solidFill>
                <a:latin typeface="Arial"/>
              </a:rPr>
              <a:t>Strictly confidential          6</a:t>
            </a:r>
          </a:p>
        </p:txBody>
      </p:sp>
      <p:sp>
        <p:nvSpPr>
          <p:cNvPr id="8" name="TextBox 7"/>
          <p:cNvSpPr txBox="1"/>
          <p:nvPr/>
        </p:nvSpPr>
        <p:spPr>
          <a:xfrm>
            <a:off x="502920" y="1783080"/>
            <a:ext cx="4160520" cy="5120640"/>
          </a:xfrm>
          <a:prstGeom prst="rect">
            <a:avLst/>
          </a:prstGeom>
          <a:noFill/>
        </p:spPr>
        <p:txBody>
          <a:bodyPr wrap="square" anchor="t" lIns="0" rIns="0" tIns="0" bIns="0">
            <a:spAutoFit/>
          </a:bodyPr>
          <a:lstStyle/>
          <a:p>
            <a:pPr algn="l">
              <a:lnSpc>
                <a:spcPct val="110000"/>
              </a:lnSpc>
              <a:spcBef>
                <a:spcPts val="0"/>
              </a:spcBef>
              <a:spcAft>
                <a:spcPts val="250"/>
              </a:spcAft>
            </a:pPr>
            <a:r>
              <a:rPr sz="1100" b="1" i="0">
                <a:solidFill>
                  <a:srgbClr val="314359"/>
                </a:solidFill>
                <a:latin typeface="Times New Roman"/>
              </a:rPr>
              <a:t>Company description</a:t>
            </a:r>
          </a:p>
          <a:p>
            <a:pPr algn="l">
              <a:lnSpc>
                <a:spcPct val="108000"/>
              </a:lnSpc>
              <a:spcAft>
                <a:spcPts val="200"/>
              </a:spcAft>
            </a:pPr>
            <a:r>
              <a:rPr sz="869" b="0" i="0">
                <a:solidFill>
                  <a:srgbClr val="0E1620"/>
                </a:solidFill>
                <a:latin typeface="Arial"/>
              </a:rPr>
              <a:t>Transcom is a global customer-care company providing customer care, sales, technical support and credit-management services through an extensive network of contact centres and work-at-home agents. It also operated a credit-management (CMS) company across Europe.</a:t>
            </a:r>
          </a:p>
          <a:p>
            <a:pPr algn="l">
              <a:lnSpc>
                <a:spcPct val="110000"/>
              </a:lnSpc>
              <a:spcBef>
                <a:spcPts val="700"/>
              </a:spcBef>
              <a:spcAft>
                <a:spcPts val="250"/>
              </a:spcAft>
            </a:pPr>
            <a:r>
              <a:rPr sz="1100" b="1" i="0">
                <a:solidFill>
                  <a:srgbClr val="314359"/>
                </a:solidFill>
                <a:latin typeface="Times New Roman"/>
              </a:rPr>
              <a:t>Recognized opportunities</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Two separate businesses with limited integration — sale/spin-off of the CMS business</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Losses in France reduced operating profit to break-even</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Higher operating costs than peers — cost-saving opportunity</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Problems with transfer taxes, reporting and product quality</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Market price below earnings-power potential (incl. rights issue)</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Growth opportunities given strong customer relationships</a:t>
            </a:r>
          </a:p>
          <a:p>
            <a:pPr algn="l">
              <a:lnSpc>
                <a:spcPct val="110000"/>
              </a:lnSpc>
              <a:spcBef>
                <a:spcPts val="700"/>
              </a:spcBef>
              <a:spcAft>
                <a:spcPts val="250"/>
              </a:spcAft>
            </a:pPr>
            <a:r>
              <a:rPr sz="1100" b="1" i="0">
                <a:solidFill>
                  <a:srgbClr val="314359"/>
                </a:solidFill>
                <a:latin typeface="Times New Roman"/>
              </a:rPr>
              <a:t>Initial plan</a:t>
            </a:r>
          </a:p>
          <a:p>
            <a:pPr algn="l">
              <a:lnSpc>
                <a:spcPct val="108000"/>
              </a:lnSpc>
              <a:spcAft>
                <a:spcPts val="200"/>
              </a:spcAft>
            </a:pPr>
            <a:r>
              <a:rPr sz="869" b="0" i="0">
                <a:solidFill>
                  <a:srgbClr val="0E1620"/>
                </a:solidFill>
                <a:latin typeface="Arial"/>
              </a:rPr>
              <a:t>1) Call an EGM to gain a board seat; 2) close the French operation and settle the Italian tax claim; 3) rights issue; 4) spin off or sell the CMS business; 5) divest other assets; 6) exit loss-making sites; 7) reduce OPEX; 8) reinvest in IT to grow the non-voice product.</a:t>
            </a:r>
          </a:p>
          <a:p>
            <a:pPr algn="l">
              <a:lnSpc>
                <a:spcPct val="110000"/>
              </a:lnSpc>
              <a:spcBef>
                <a:spcPts val="700"/>
              </a:spcBef>
              <a:spcAft>
                <a:spcPts val="250"/>
              </a:spcAft>
            </a:pPr>
            <a:r>
              <a:rPr sz="1100" b="1" i="0">
                <a:solidFill>
                  <a:srgbClr val="314359"/>
                </a:solidFill>
                <a:latin typeface="Times New Roman"/>
              </a:rPr>
              <a:t>Results</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Changed board and management; rights issue and new financing</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Doubled EBIT potential at the same net sales — in line with peers</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Separated CMS with its own CEO; sold it in pieces to industrial and PE buyers</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Liquidated the French subsidiary far cheaper (€5M vs €20M)</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Negotiated Italian tax claims down to 3/5; won back the largest customer</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Closed unprofitable sites; introduced new non-voice products</a:t>
            </a:r>
          </a:p>
        </p:txBody>
      </p:sp>
      <p:pic>
        <p:nvPicPr>
          <p:cNvPr id="9" name="Picture 8" descr="col_transcom.png"/>
          <p:cNvPicPr>
            <a:picLocks noChangeAspect="1"/>
          </p:cNvPicPr>
          <p:nvPr/>
        </p:nvPicPr>
        <p:blipFill>
          <a:blip r:embed="rId3"/>
          <a:stretch>
            <a:fillRect/>
          </a:stretch>
        </p:blipFill>
        <p:spPr>
          <a:xfrm>
            <a:off x="5084146" y="1783080"/>
            <a:ext cx="4096347" cy="5074920"/>
          </a:xfrm>
          <a:prstGeom prst="rect">
            <a:avLst/>
          </a:prstGeom>
        </p:spPr>
      </p:pic>
      <p:sp>
        <p:nvSpPr>
          <p:cNvPr id="10" name="TextBox 9"/>
          <p:cNvSpPr txBox="1"/>
          <p:nvPr/>
        </p:nvSpPr>
        <p:spPr>
          <a:xfrm>
            <a:off x="502920" y="6967728"/>
            <a:ext cx="4846320" cy="274320"/>
          </a:xfrm>
          <a:prstGeom prst="rect">
            <a:avLst/>
          </a:prstGeom>
          <a:noFill/>
        </p:spPr>
        <p:txBody>
          <a:bodyPr wrap="square" anchor="t" lIns="0" rIns="0" tIns="0" bIns="0">
            <a:spAutoFit/>
          </a:bodyPr>
          <a:lstStyle/>
          <a:p>
            <a:pPr algn="l">
              <a:lnSpc>
                <a:spcPct val="100000"/>
              </a:lnSpc>
              <a:spcAft>
                <a:spcPts val="0"/>
              </a:spcAft>
            </a:pPr>
            <a:r>
              <a:rPr sz="750" b="0" i="1">
                <a:solidFill>
                  <a:srgbClr val="556A83"/>
                </a:solidFill>
                <a:latin typeface="Arial"/>
              </a:rPr>
              <a:t>Note: share price re-based to 100 at investment and includes dividends; benchmark OMXS30 / MSCI. Past performance is not indicative of future results.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753904" cy="7315200"/>
          </a:xfrm>
          <a:prstGeom prst="rect">
            <a:avLst/>
          </a:prstGeom>
          <a:solidFill>
            <a:srgbClr val="FFFFFF"/>
          </a:solidFill>
          <a:ln>
            <a:noFill/>
          </a:ln>
          <a:effectLst/>
        </p:spPr>
        <p:txBody>
          <a:bodyPr rtlCol="0" anchor="ctr"/>
          <a:lstStyle/>
          <a:p>
            <a:pPr algn="ctr"/>
          </a:p>
        </p:txBody>
      </p:sp>
      <p:pic>
        <p:nvPicPr>
          <p:cNvPr id="3" name="Picture 2" descr="mark_dark.png"/>
          <p:cNvPicPr>
            <a:picLocks noChangeAspect="1"/>
          </p:cNvPicPr>
          <p:nvPr/>
        </p:nvPicPr>
        <p:blipFill>
          <a:blip r:embed="rId2"/>
          <a:stretch>
            <a:fillRect/>
          </a:stretch>
        </p:blipFill>
        <p:spPr>
          <a:xfrm>
            <a:off x="457200" y="219456"/>
            <a:ext cx="280009" cy="237744"/>
          </a:xfrm>
          <a:prstGeom prst="rect">
            <a:avLst/>
          </a:prstGeom>
        </p:spPr>
      </p:pic>
      <p:sp>
        <p:nvSpPr>
          <p:cNvPr id="4" name="TextBox 3"/>
          <p:cNvSpPr txBox="1"/>
          <p:nvPr/>
        </p:nvSpPr>
        <p:spPr>
          <a:xfrm>
            <a:off x="841248" y="246888"/>
            <a:ext cx="5486400" cy="274320"/>
          </a:xfrm>
          <a:prstGeom prst="rect">
            <a:avLst/>
          </a:prstGeom>
          <a:noFill/>
        </p:spPr>
        <p:txBody>
          <a:bodyPr wrap="square" anchor="t" lIns="0" rIns="0" tIns="0" bIns="0">
            <a:spAutoFit/>
          </a:bodyPr>
          <a:lstStyle/>
          <a:p>
            <a:pPr algn="l">
              <a:lnSpc>
                <a:spcPct val="110000"/>
              </a:lnSpc>
              <a:spcAft>
                <a:spcPts val="0"/>
              </a:spcAft>
            </a:pPr>
            <a:r>
              <a:rPr sz="1100" b="0" i="0">
                <a:solidFill>
                  <a:srgbClr val="556A83"/>
                </a:solidFill>
                <a:latin typeface="Arial"/>
              </a:rPr>
              <a:t>Case · AIP fund era</a:t>
            </a:r>
          </a:p>
        </p:txBody>
      </p:sp>
      <p:sp>
        <p:nvSpPr>
          <p:cNvPr id="5" name="Rectangle 4"/>
          <p:cNvSpPr/>
          <p:nvPr/>
        </p:nvSpPr>
        <p:spPr>
          <a:xfrm>
            <a:off x="0" y="566928"/>
            <a:ext cx="9753904" cy="914400"/>
          </a:xfrm>
          <a:prstGeom prst="rect">
            <a:avLst/>
          </a:prstGeom>
          <a:solidFill>
            <a:srgbClr val="F6F7F9"/>
          </a:solidFill>
          <a:ln>
            <a:noFill/>
          </a:ln>
          <a:effectLst/>
        </p:spPr>
        <p:txBody>
          <a:bodyPr rtlCol="0" anchor="ctr"/>
          <a:lstStyle/>
          <a:p>
            <a:pPr algn="ctr"/>
          </a:p>
        </p:txBody>
      </p:sp>
      <p:sp>
        <p:nvSpPr>
          <p:cNvPr id="6" name="TextBox 5"/>
          <p:cNvSpPr txBox="1"/>
          <p:nvPr/>
        </p:nvSpPr>
        <p:spPr>
          <a:xfrm>
            <a:off x="502920" y="713232"/>
            <a:ext cx="8778240" cy="640080"/>
          </a:xfrm>
          <a:prstGeom prst="rect">
            <a:avLst/>
          </a:prstGeom>
          <a:noFill/>
        </p:spPr>
        <p:txBody>
          <a:bodyPr wrap="square" anchor="t" lIns="0" rIns="0" tIns="0" bIns="0">
            <a:spAutoFit/>
          </a:bodyPr>
          <a:lstStyle/>
          <a:p>
            <a:pPr algn="l">
              <a:lnSpc>
                <a:spcPct val="110000"/>
              </a:lnSpc>
              <a:spcAft>
                <a:spcPts val="0"/>
              </a:spcAft>
            </a:pPr>
            <a:r>
              <a:rPr sz="2600" b="0" i="0" spc="-78">
                <a:solidFill>
                  <a:srgbClr val="314359"/>
                </a:solidFill>
                <a:latin typeface="Times New Roman"/>
              </a:rPr>
              <a:t>Investment case study: Kitron ASA</a:t>
            </a:r>
          </a:p>
        </p:txBody>
      </p:sp>
      <p:sp>
        <p:nvSpPr>
          <p:cNvPr id="7" name="TextBox 6"/>
          <p:cNvSpPr txBox="1"/>
          <p:nvPr/>
        </p:nvSpPr>
        <p:spPr>
          <a:xfrm>
            <a:off x="5486400" y="6967728"/>
            <a:ext cx="4023360" cy="274320"/>
          </a:xfrm>
          <a:prstGeom prst="rect">
            <a:avLst/>
          </a:prstGeom>
          <a:noFill/>
        </p:spPr>
        <p:txBody>
          <a:bodyPr wrap="square" anchor="t" lIns="0" rIns="0" tIns="0" bIns="0">
            <a:spAutoFit/>
          </a:bodyPr>
          <a:lstStyle/>
          <a:p>
            <a:pPr algn="r">
              <a:lnSpc>
                <a:spcPct val="110000"/>
              </a:lnSpc>
              <a:spcAft>
                <a:spcPts val="0"/>
              </a:spcAft>
            </a:pPr>
            <a:r>
              <a:rPr sz="850" b="0" i="0">
                <a:solidFill>
                  <a:srgbClr val="556A83"/>
                </a:solidFill>
                <a:latin typeface="Arial"/>
              </a:rPr>
              <a:t>Strictly confidential          7</a:t>
            </a:r>
          </a:p>
        </p:txBody>
      </p:sp>
      <p:sp>
        <p:nvSpPr>
          <p:cNvPr id="8" name="TextBox 7"/>
          <p:cNvSpPr txBox="1"/>
          <p:nvPr/>
        </p:nvSpPr>
        <p:spPr>
          <a:xfrm>
            <a:off x="502920" y="1783080"/>
            <a:ext cx="4160520" cy="5120640"/>
          </a:xfrm>
          <a:prstGeom prst="rect">
            <a:avLst/>
          </a:prstGeom>
          <a:noFill/>
        </p:spPr>
        <p:txBody>
          <a:bodyPr wrap="square" anchor="t" lIns="0" rIns="0" tIns="0" bIns="0">
            <a:spAutoFit/>
          </a:bodyPr>
          <a:lstStyle/>
          <a:p>
            <a:pPr algn="l">
              <a:lnSpc>
                <a:spcPct val="110000"/>
              </a:lnSpc>
              <a:spcBef>
                <a:spcPts val="0"/>
              </a:spcBef>
              <a:spcAft>
                <a:spcPts val="250"/>
              </a:spcAft>
            </a:pPr>
            <a:r>
              <a:rPr sz="1100" b="1" i="0">
                <a:solidFill>
                  <a:srgbClr val="314359"/>
                </a:solidFill>
                <a:latin typeface="Times New Roman"/>
              </a:rPr>
              <a:t>Company description</a:t>
            </a:r>
          </a:p>
          <a:p>
            <a:pPr algn="l">
              <a:lnSpc>
                <a:spcPct val="108000"/>
              </a:lnSpc>
              <a:spcAft>
                <a:spcPts val="200"/>
              </a:spcAft>
            </a:pPr>
            <a:r>
              <a:rPr sz="869" b="0" i="0">
                <a:solidFill>
                  <a:srgbClr val="0E1620"/>
                </a:solidFill>
                <a:latin typeface="Arial"/>
              </a:rPr>
              <a:t>Kitron is one of the leading companies in Scandinavia specialising in the contract manufacturing of goods with electronics content, serving customers in Defence/Aerospace, Utilities, Industry, Medical Devices and Offshore/Marine. The company has operated since the 1960s.</a:t>
            </a:r>
          </a:p>
          <a:p>
            <a:pPr algn="l">
              <a:lnSpc>
                <a:spcPct val="110000"/>
              </a:lnSpc>
              <a:spcBef>
                <a:spcPts val="700"/>
              </a:spcBef>
              <a:spcAft>
                <a:spcPts val="250"/>
              </a:spcAft>
            </a:pPr>
            <a:r>
              <a:rPr sz="1100" b="1" i="0">
                <a:solidFill>
                  <a:srgbClr val="314359"/>
                </a:solidFill>
                <a:latin typeface="Times New Roman"/>
              </a:rPr>
              <a:t>Recognized opportunities</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Significant turn-around candidate</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Positive shift in industry outlook</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Stable customer base — defence, medical, utilities</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Cost-saving opportunities combined with strong growth in core areas</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Market price significantly lower than earnings power</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Offshore/Marine at an all-time low — additional turn-around upside</a:t>
            </a:r>
          </a:p>
          <a:p>
            <a:pPr algn="l">
              <a:lnSpc>
                <a:spcPct val="110000"/>
              </a:lnSpc>
              <a:spcBef>
                <a:spcPts val="700"/>
              </a:spcBef>
              <a:spcAft>
                <a:spcPts val="250"/>
              </a:spcAft>
            </a:pPr>
            <a:r>
              <a:rPr sz="1100" b="1" i="0">
                <a:solidFill>
                  <a:srgbClr val="314359"/>
                </a:solidFill>
                <a:latin typeface="Times New Roman"/>
              </a:rPr>
              <a:t>Initial plan</a:t>
            </a:r>
          </a:p>
          <a:p>
            <a:pPr algn="l">
              <a:lnSpc>
                <a:spcPct val="108000"/>
              </a:lnSpc>
              <a:spcAft>
                <a:spcPts val="200"/>
              </a:spcAft>
            </a:pPr>
            <a:r>
              <a:rPr sz="869" b="0" i="0">
                <a:solidFill>
                  <a:srgbClr val="0E1620"/>
                </a:solidFill>
                <a:latin typeface="Arial"/>
              </a:rPr>
              <a:t>1) Reduce costs in Sweden/Norway; 2) board seat through an EGM in early 2017; 3) continued investment in technology to reduce manual labour; 4) acquisition opportunities to build presence; 5) grow within existing customers.</a:t>
            </a:r>
          </a:p>
          <a:p>
            <a:pPr algn="l">
              <a:lnSpc>
                <a:spcPct val="110000"/>
              </a:lnSpc>
              <a:spcBef>
                <a:spcPts val="700"/>
              </a:spcBef>
              <a:spcAft>
                <a:spcPts val="250"/>
              </a:spcAft>
            </a:pPr>
            <a:r>
              <a:rPr sz="1100" b="1" i="0">
                <a:solidFill>
                  <a:srgbClr val="314359"/>
                </a:solidFill>
                <a:latin typeface="Times New Roman"/>
              </a:rPr>
              <a:t>Results</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Continued cost-savings plan in Sweden/Norway</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Reached a 7% operating margin in Q2 2017 — a company first</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Growing significantly with existing customers</a:t>
            </a:r>
          </a:p>
        </p:txBody>
      </p:sp>
      <p:pic>
        <p:nvPicPr>
          <p:cNvPr id="9" name="Picture 8" descr="col_kitron.png"/>
          <p:cNvPicPr>
            <a:picLocks noChangeAspect="1"/>
          </p:cNvPicPr>
          <p:nvPr/>
        </p:nvPicPr>
        <p:blipFill>
          <a:blip r:embed="rId3"/>
          <a:stretch>
            <a:fillRect/>
          </a:stretch>
        </p:blipFill>
        <p:spPr>
          <a:xfrm>
            <a:off x="5084146" y="1783080"/>
            <a:ext cx="4096347" cy="5074920"/>
          </a:xfrm>
          <a:prstGeom prst="rect">
            <a:avLst/>
          </a:prstGeom>
        </p:spPr>
      </p:pic>
      <p:sp>
        <p:nvSpPr>
          <p:cNvPr id="10" name="TextBox 9"/>
          <p:cNvSpPr txBox="1"/>
          <p:nvPr/>
        </p:nvSpPr>
        <p:spPr>
          <a:xfrm>
            <a:off x="502920" y="6967728"/>
            <a:ext cx="4846320" cy="274320"/>
          </a:xfrm>
          <a:prstGeom prst="rect">
            <a:avLst/>
          </a:prstGeom>
          <a:noFill/>
        </p:spPr>
        <p:txBody>
          <a:bodyPr wrap="square" anchor="t" lIns="0" rIns="0" tIns="0" bIns="0">
            <a:spAutoFit/>
          </a:bodyPr>
          <a:lstStyle/>
          <a:p>
            <a:pPr algn="l">
              <a:lnSpc>
                <a:spcPct val="100000"/>
              </a:lnSpc>
              <a:spcAft>
                <a:spcPts val="0"/>
              </a:spcAft>
            </a:pPr>
            <a:r>
              <a:rPr sz="750" b="0" i="1">
                <a:solidFill>
                  <a:srgbClr val="556A83"/>
                </a:solidFill>
                <a:latin typeface="Arial"/>
              </a:rPr>
              <a:t>Note: share price re-based to 100 at investment and includes dividends; benchmark OMXS30 / MSCI. Past performance is not indicative of future results.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753904" cy="7315200"/>
          </a:xfrm>
          <a:prstGeom prst="rect">
            <a:avLst/>
          </a:prstGeom>
          <a:solidFill>
            <a:srgbClr val="FFFFFF"/>
          </a:solidFill>
          <a:ln>
            <a:noFill/>
          </a:ln>
          <a:effectLst/>
        </p:spPr>
        <p:txBody>
          <a:bodyPr rtlCol="0" anchor="ctr"/>
          <a:lstStyle/>
          <a:p>
            <a:pPr algn="ctr"/>
          </a:p>
        </p:txBody>
      </p:sp>
      <p:pic>
        <p:nvPicPr>
          <p:cNvPr id="3" name="Picture 2" descr="mark_dark.png"/>
          <p:cNvPicPr>
            <a:picLocks noChangeAspect="1"/>
          </p:cNvPicPr>
          <p:nvPr/>
        </p:nvPicPr>
        <p:blipFill>
          <a:blip r:embed="rId2"/>
          <a:stretch>
            <a:fillRect/>
          </a:stretch>
        </p:blipFill>
        <p:spPr>
          <a:xfrm>
            <a:off x="457200" y="219456"/>
            <a:ext cx="280009" cy="237744"/>
          </a:xfrm>
          <a:prstGeom prst="rect">
            <a:avLst/>
          </a:prstGeom>
        </p:spPr>
      </p:pic>
      <p:sp>
        <p:nvSpPr>
          <p:cNvPr id="4" name="TextBox 3"/>
          <p:cNvSpPr txBox="1"/>
          <p:nvPr/>
        </p:nvSpPr>
        <p:spPr>
          <a:xfrm>
            <a:off x="841248" y="246888"/>
            <a:ext cx="5486400" cy="274320"/>
          </a:xfrm>
          <a:prstGeom prst="rect">
            <a:avLst/>
          </a:prstGeom>
          <a:noFill/>
        </p:spPr>
        <p:txBody>
          <a:bodyPr wrap="square" anchor="t" lIns="0" rIns="0" tIns="0" bIns="0">
            <a:spAutoFit/>
          </a:bodyPr>
          <a:lstStyle/>
          <a:p>
            <a:pPr algn="l">
              <a:lnSpc>
                <a:spcPct val="110000"/>
              </a:lnSpc>
              <a:spcAft>
                <a:spcPts val="0"/>
              </a:spcAft>
            </a:pPr>
            <a:r>
              <a:rPr sz="1100" b="0" i="0">
                <a:solidFill>
                  <a:srgbClr val="556A83"/>
                </a:solidFill>
                <a:latin typeface="Arial"/>
              </a:rPr>
              <a:t>Case · AIP fund era</a:t>
            </a:r>
          </a:p>
        </p:txBody>
      </p:sp>
      <p:sp>
        <p:nvSpPr>
          <p:cNvPr id="5" name="Rectangle 4"/>
          <p:cNvSpPr/>
          <p:nvPr/>
        </p:nvSpPr>
        <p:spPr>
          <a:xfrm>
            <a:off x="0" y="566928"/>
            <a:ext cx="9753904" cy="914400"/>
          </a:xfrm>
          <a:prstGeom prst="rect">
            <a:avLst/>
          </a:prstGeom>
          <a:solidFill>
            <a:srgbClr val="F6F7F9"/>
          </a:solidFill>
          <a:ln>
            <a:noFill/>
          </a:ln>
          <a:effectLst/>
        </p:spPr>
        <p:txBody>
          <a:bodyPr rtlCol="0" anchor="ctr"/>
          <a:lstStyle/>
          <a:p>
            <a:pPr algn="ctr"/>
          </a:p>
        </p:txBody>
      </p:sp>
      <p:sp>
        <p:nvSpPr>
          <p:cNvPr id="6" name="TextBox 5"/>
          <p:cNvSpPr txBox="1"/>
          <p:nvPr/>
        </p:nvSpPr>
        <p:spPr>
          <a:xfrm>
            <a:off x="502920" y="713232"/>
            <a:ext cx="8778240" cy="640080"/>
          </a:xfrm>
          <a:prstGeom prst="rect">
            <a:avLst/>
          </a:prstGeom>
          <a:noFill/>
        </p:spPr>
        <p:txBody>
          <a:bodyPr wrap="square" anchor="t" lIns="0" rIns="0" tIns="0" bIns="0">
            <a:spAutoFit/>
          </a:bodyPr>
          <a:lstStyle/>
          <a:p>
            <a:pPr algn="l">
              <a:lnSpc>
                <a:spcPct val="110000"/>
              </a:lnSpc>
              <a:spcAft>
                <a:spcPts val="0"/>
              </a:spcAft>
            </a:pPr>
            <a:r>
              <a:rPr sz="2600" b="0" i="0" spc="-78">
                <a:solidFill>
                  <a:srgbClr val="314359"/>
                </a:solidFill>
                <a:latin typeface="Times New Roman"/>
              </a:rPr>
              <a:t>Investment case study: Note AB</a:t>
            </a:r>
          </a:p>
        </p:txBody>
      </p:sp>
      <p:sp>
        <p:nvSpPr>
          <p:cNvPr id="7" name="TextBox 6"/>
          <p:cNvSpPr txBox="1"/>
          <p:nvPr/>
        </p:nvSpPr>
        <p:spPr>
          <a:xfrm>
            <a:off x="5486400" y="6967728"/>
            <a:ext cx="4023360" cy="274320"/>
          </a:xfrm>
          <a:prstGeom prst="rect">
            <a:avLst/>
          </a:prstGeom>
          <a:noFill/>
        </p:spPr>
        <p:txBody>
          <a:bodyPr wrap="square" anchor="t" lIns="0" rIns="0" tIns="0" bIns="0">
            <a:spAutoFit/>
          </a:bodyPr>
          <a:lstStyle/>
          <a:p>
            <a:pPr algn="r">
              <a:lnSpc>
                <a:spcPct val="110000"/>
              </a:lnSpc>
              <a:spcAft>
                <a:spcPts val="0"/>
              </a:spcAft>
            </a:pPr>
            <a:r>
              <a:rPr sz="850" b="0" i="0">
                <a:solidFill>
                  <a:srgbClr val="556A83"/>
                </a:solidFill>
                <a:latin typeface="Arial"/>
              </a:rPr>
              <a:t>Strictly confidential          8</a:t>
            </a:r>
          </a:p>
        </p:txBody>
      </p:sp>
      <p:sp>
        <p:nvSpPr>
          <p:cNvPr id="8" name="TextBox 7"/>
          <p:cNvSpPr txBox="1"/>
          <p:nvPr/>
        </p:nvSpPr>
        <p:spPr>
          <a:xfrm>
            <a:off x="502920" y="1783080"/>
            <a:ext cx="4160520" cy="5120640"/>
          </a:xfrm>
          <a:prstGeom prst="rect">
            <a:avLst/>
          </a:prstGeom>
          <a:noFill/>
        </p:spPr>
        <p:txBody>
          <a:bodyPr wrap="square" anchor="t" lIns="0" rIns="0" tIns="0" bIns="0">
            <a:spAutoFit/>
          </a:bodyPr>
          <a:lstStyle/>
          <a:p>
            <a:pPr algn="l">
              <a:lnSpc>
                <a:spcPct val="110000"/>
              </a:lnSpc>
              <a:spcBef>
                <a:spcPts val="0"/>
              </a:spcBef>
              <a:spcAft>
                <a:spcPts val="250"/>
              </a:spcAft>
            </a:pPr>
            <a:r>
              <a:rPr sz="1100" b="1" i="0">
                <a:solidFill>
                  <a:srgbClr val="314359"/>
                </a:solidFill>
                <a:latin typeface="Times New Roman"/>
              </a:rPr>
              <a:t>Company description</a:t>
            </a:r>
          </a:p>
          <a:p>
            <a:pPr algn="l">
              <a:lnSpc>
                <a:spcPct val="108000"/>
              </a:lnSpc>
              <a:spcAft>
                <a:spcPts val="200"/>
              </a:spcAft>
            </a:pPr>
            <a:r>
              <a:rPr sz="869" b="0" i="0">
                <a:solidFill>
                  <a:srgbClr val="0E1620"/>
                </a:solidFill>
                <a:latin typeface="Arial"/>
              </a:rPr>
              <a:t>Note is an electronics-manufacturing and logistics company with production plants near its main customer base in northern Europe, as well as low-cost plants in Eastern Europe and Asia. It focuses on small series with high variability and technology content.</a:t>
            </a:r>
          </a:p>
          <a:p>
            <a:pPr algn="l">
              <a:lnSpc>
                <a:spcPct val="110000"/>
              </a:lnSpc>
              <a:spcBef>
                <a:spcPts val="700"/>
              </a:spcBef>
              <a:spcAft>
                <a:spcPts val="250"/>
              </a:spcAft>
            </a:pPr>
            <a:r>
              <a:rPr sz="1100" b="1" i="0">
                <a:solidFill>
                  <a:srgbClr val="314359"/>
                </a:solidFill>
                <a:latin typeface="Times New Roman"/>
              </a:rPr>
              <a:t>Recognized opportunities</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Significant turn-around candidate with clear boundaries to losses</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The Polish purchasing business was a wrong strategic choice</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Higher operating costs than peers</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Significant mal-investments in the components database</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Market price significantly lower than earnings power</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Growth given strong customer relationships — high switching costs</a:t>
            </a:r>
          </a:p>
          <a:p>
            <a:pPr algn="l">
              <a:lnSpc>
                <a:spcPct val="110000"/>
              </a:lnSpc>
              <a:spcBef>
                <a:spcPts val="700"/>
              </a:spcBef>
              <a:spcAft>
                <a:spcPts val="250"/>
              </a:spcAft>
            </a:pPr>
            <a:r>
              <a:rPr sz="1100" b="1" i="0">
                <a:solidFill>
                  <a:srgbClr val="314359"/>
                </a:solidFill>
                <a:latin typeface="Times New Roman"/>
              </a:rPr>
              <a:t>Initial plan</a:t>
            </a:r>
          </a:p>
          <a:p>
            <a:pPr algn="l">
              <a:lnSpc>
                <a:spcPct val="108000"/>
              </a:lnSpc>
              <a:spcAft>
                <a:spcPts val="200"/>
              </a:spcAft>
            </a:pPr>
            <a:r>
              <a:rPr sz="869" b="0" i="0">
                <a:solidFill>
                  <a:srgbClr val="0E1620"/>
                </a:solidFill>
                <a:latin typeface="Arial"/>
              </a:rPr>
              <a:t>1) Change the board and elect SC as chairman; 2) close Polish purchasing and the components database and reduce overhead; 3) rights issue to support restructuring; 4) exit loss-making sites; 5) reduce OPEX; 6) grow within existing customers.</a:t>
            </a:r>
          </a:p>
          <a:p>
            <a:pPr algn="l">
              <a:lnSpc>
                <a:spcPct val="110000"/>
              </a:lnSpc>
              <a:spcBef>
                <a:spcPts val="700"/>
              </a:spcBef>
              <a:spcAft>
                <a:spcPts val="250"/>
              </a:spcAft>
            </a:pPr>
            <a:r>
              <a:rPr sz="1100" b="1" i="0">
                <a:solidFill>
                  <a:srgbClr val="314359"/>
                </a:solidFill>
                <a:latin typeface="Times New Roman"/>
              </a:rPr>
              <a:t>Results</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Reduced non-profitable sales by changing customers and closing plants</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Shifted out close to 40% of the initial purchase price in dividends</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EBIT improved from SEK (91)m in FY2009 to SEK 60m in FY2016</a:t>
            </a:r>
          </a:p>
        </p:txBody>
      </p:sp>
      <p:pic>
        <p:nvPicPr>
          <p:cNvPr id="9" name="Picture 8" descr="col_note.png"/>
          <p:cNvPicPr>
            <a:picLocks noChangeAspect="1"/>
          </p:cNvPicPr>
          <p:nvPr/>
        </p:nvPicPr>
        <p:blipFill>
          <a:blip r:embed="rId3"/>
          <a:stretch>
            <a:fillRect/>
          </a:stretch>
        </p:blipFill>
        <p:spPr>
          <a:xfrm>
            <a:off x="5084146" y="1783080"/>
            <a:ext cx="4096347" cy="5074920"/>
          </a:xfrm>
          <a:prstGeom prst="rect">
            <a:avLst/>
          </a:prstGeom>
        </p:spPr>
      </p:pic>
      <p:sp>
        <p:nvSpPr>
          <p:cNvPr id="10" name="TextBox 9"/>
          <p:cNvSpPr txBox="1"/>
          <p:nvPr/>
        </p:nvSpPr>
        <p:spPr>
          <a:xfrm>
            <a:off x="502920" y="6967728"/>
            <a:ext cx="4846320" cy="274320"/>
          </a:xfrm>
          <a:prstGeom prst="rect">
            <a:avLst/>
          </a:prstGeom>
          <a:noFill/>
        </p:spPr>
        <p:txBody>
          <a:bodyPr wrap="square" anchor="t" lIns="0" rIns="0" tIns="0" bIns="0">
            <a:spAutoFit/>
          </a:bodyPr>
          <a:lstStyle/>
          <a:p>
            <a:pPr algn="l">
              <a:lnSpc>
                <a:spcPct val="100000"/>
              </a:lnSpc>
              <a:spcAft>
                <a:spcPts val="0"/>
              </a:spcAft>
            </a:pPr>
            <a:r>
              <a:rPr sz="750" b="0" i="1">
                <a:solidFill>
                  <a:srgbClr val="556A83"/>
                </a:solidFill>
                <a:latin typeface="Arial"/>
              </a:rPr>
              <a:t>Note: share price re-based to 100 at investment and includes dividends; benchmark OMXS30 / MSCI. Past performance is not indicative of future results.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753904" cy="7315200"/>
          </a:xfrm>
          <a:prstGeom prst="rect">
            <a:avLst/>
          </a:prstGeom>
          <a:solidFill>
            <a:srgbClr val="FFFFFF"/>
          </a:solidFill>
          <a:ln>
            <a:noFill/>
          </a:ln>
          <a:effectLst/>
        </p:spPr>
        <p:txBody>
          <a:bodyPr rtlCol="0" anchor="ctr"/>
          <a:lstStyle/>
          <a:p>
            <a:pPr algn="ctr"/>
          </a:p>
        </p:txBody>
      </p:sp>
      <p:pic>
        <p:nvPicPr>
          <p:cNvPr id="3" name="Picture 2" descr="mark_dark.png"/>
          <p:cNvPicPr>
            <a:picLocks noChangeAspect="1"/>
          </p:cNvPicPr>
          <p:nvPr/>
        </p:nvPicPr>
        <p:blipFill>
          <a:blip r:embed="rId2"/>
          <a:stretch>
            <a:fillRect/>
          </a:stretch>
        </p:blipFill>
        <p:spPr>
          <a:xfrm>
            <a:off x="457200" y="219456"/>
            <a:ext cx="280009" cy="237744"/>
          </a:xfrm>
          <a:prstGeom prst="rect">
            <a:avLst/>
          </a:prstGeom>
        </p:spPr>
      </p:pic>
      <p:sp>
        <p:nvSpPr>
          <p:cNvPr id="4" name="TextBox 3"/>
          <p:cNvSpPr txBox="1"/>
          <p:nvPr/>
        </p:nvSpPr>
        <p:spPr>
          <a:xfrm>
            <a:off x="841248" y="246888"/>
            <a:ext cx="5486400" cy="274320"/>
          </a:xfrm>
          <a:prstGeom prst="rect">
            <a:avLst/>
          </a:prstGeom>
          <a:noFill/>
        </p:spPr>
        <p:txBody>
          <a:bodyPr wrap="square" anchor="t" lIns="0" rIns="0" tIns="0" bIns="0">
            <a:spAutoFit/>
          </a:bodyPr>
          <a:lstStyle/>
          <a:p>
            <a:pPr algn="l">
              <a:lnSpc>
                <a:spcPct val="110000"/>
              </a:lnSpc>
              <a:spcAft>
                <a:spcPts val="0"/>
              </a:spcAft>
            </a:pPr>
            <a:r>
              <a:rPr sz="1100" b="0" i="0">
                <a:solidFill>
                  <a:srgbClr val="556A83"/>
                </a:solidFill>
                <a:latin typeface="Arial"/>
              </a:rPr>
              <a:t>Case · AIP fund era</a:t>
            </a:r>
          </a:p>
        </p:txBody>
      </p:sp>
      <p:sp>
        <p:nvSpPr>
          <p:cNvPr id="5" name="Rectangle 4"/>
          <p:cNvSpPr/>
          <p:nvPr/>
        </p:nvSpPr>
        <p:spPr>
          <a:xfrm>
            <a:off x="0" y="566928"/>
            <a:ext cx="9753904" cy="914400"/>
          </a:xfrm>
          <a:prstGeom prst="rect">
            <a:avLst/>
          </a:prstGeom>
          <a:solidFill>
            <a:srgbClr val="F6F7F9"/>
          </a:solidFill>
          <a:ln>
            <a:noFill/>
          </a:ln>
          <a:effectLst/>
        </p:spPr>
        <p:txBody>
          <a:bodyPr rtlCol="0" anchor="ctr"/>
          <a:lstStyle/>
          <a:p>
            <a:pPr algn="ctr"/>
          </a:p>
        </p:txBody>
      </p:sp>
      <p:sp>
        <p:nvSpPr>
          <p:cNvPr id="6" name="TextBox 5"/>
          <p:cNvSpPr txBox="1"/>
          <p:nvPr/>
        </p:nvSpPr>
        <p:spPr>
          <a:xfrm>
            <a:off x="502920" y="713232"/>
            <a:ext cx="8778240" cy="640080"/>
          </a:xfrm>
          <a:prstGeom prst="rect">
            <a:avLst/>
          </a:prstGeom>
          <a:noFill/>
        </p:spPr>
        <p:txBody>
          <a:bodyPr wrap="square" anchor="t" lIns="0" rIns="0" tIns="0" bIns="0">
            <a:spAutoFit/>
          </a:bodyPr>
          <a:lstStyle/>
          <a:p>
            <a:pPr algn="l">
              <a:lnSpc>
                <a:spcPct val="110000"/>
              </a:lnSpc>
              <a:spcAft>
                <a:spcPts val="0"/>
              </a:spcAft>
            </a:pPr>
            <a:r>
              <a:rPr sz="2600" b="0" i="0" spc="-78">
                <a:solidFill>
                  <a:srgbClr val="314359"/>
                </a:solidFill>
                <a:latin typeface="Times New Roman"/>
              </a:rPr>
              <a:t>Investment case study: DistIt / Alcadon</a:t>
            </a:r>
          </a:p>
        </p:txBody>
      </p:sp>
      <p:sp>
        <p:nvSpPr>
          <p:cNvPr id="7" name="TextBox 6"/>
          <p:cNvSpPr txBox="1"/>
          <p:nvPr/>
        </p:nvSpPr>
        <p:spPr>
          <a:xfrm>
            <a:off x="5486400" y="6967728"/>
            <a:ext cx="4023360" cy="274320"/>
          </a:xfrm>
          <a:prstGeom prst="rect">
            <a:avLst/>
          </a:prstGeom>
          <a:noFill/>
        </p:spPr>
        <p:txBody>
          <a:bodyPr wrap="square" anchor="t" lIns="0" rIns="0" tIns="0" bIns="0">
            <a:spAutoFit/>
          </a:bodyPr>
          <a:lstStyle/>
          <a:p>
            <a:pPr algn="r">
              <a:lnSpc>
                <a:spcPct val="110000"/>
              </a:lnSpc>
              <a:spcAft>
                <a:spcPts val="0"/>
              </a:spcAft>
            </a:pPr>
            <a:r>
              <a:rPr sz="850" b="0" i="0">
                <a:solidFill>
                  <a:srgbClr val="556A83"/>
                </a:solidFill>
                <a:latin typeface="Arial"/>
              </a:rPr>
              <a:t>Strictly confidential          9</a:t>
            </a:r>
          </a:p>
        </p:txBody>
      </p:sp>
      <p:sp>
        <p:nvSpPr>
          <p:cNvPr id="8" name="TextBox 7"/>
          <p:cNvSpPr txBox="1"/>
          <p:nvPr/>
        </p:nvSpPr>
        <p:spPr>
          <a:xfrm>
            <a:off x="502920" y="1783080"/>
            <a:ext cx="4160520" cy="5120640"/>
          </a:xfrm>
          <a:prstGeom prst="rect">
            <a:avLst/>
          </a:prstGeom>
          <a:noFill/>
        </p:spPr>
        <p:txBody>
          <a:bodyPr wrap="square" anchor="t" lIns="0" rIns="0" tIns="0" bIns="0">
            <a:spAutoFit/>
          </a:bodyPr>
          <a:lstStyle/>
          <a:p>
            <a:pPr algn="l">
              <a:lnSpc>
                <a:spcPct val="110000"/>
              </a:lnSpc>
              <a:spcBef>
                <a:spcPts val="0"/>
              </a:spcBef>
              <a:spcAft>
                <a:spcPts val="250"/>
              </a:spcAft>
            </a:pPr>
            <a:r>
              <a:rPr sz="1100" b="1" i="0">
                <a:solidFill>
                  <a:srgbClr val="314359"/>
                </a:solidFill>
                <a:latin typeface="Times New Roman"/>
              </a:rPr>
              <a:t>Company description</a:t>
            </a:r>
          </a:p>
          <a:p>
            <a:pPr algn="l">
              <a:lnSpc>
                <a:spcPct val="108000"/>
              </a:lnSpc>
              <a:spcAft>
                <a:spcPts val="200"/>
              </a:spcAft>
            </a:pPr>
            <a:r>
              <a:rPr sz="869" b="0" i="0">
                <a:solidFill>
                  <a:srgbClr val="0E1620"/>
                </a:solidFill>
                <a:latin typeface="Arial"/>
              </a:rPr>
              <a:t>DistIt was a conglomerate of three distributors: Aurora Group (Danish, Nordic sales of IT, electronics and appliances); Alcadon (Swedish/Norwegian sales of active and passive fibre products); and Deltaco (Nordic sales of electronics and appliances).</a:t>
            </a:r>
          </a:p>
          <a:p>
            <a:pPr algn="l">
              <a:lnSpc>
                <a:spcPct val="110000"/>
              </a:lnSpc>
              <a:spcBef>
                <a:spcPts val="700"/>
              </a:spcBef>
              <a:spcAft>
                <a:spcPts val="250"/>
              </a:spcAft>
            </a:pPr>
            <a:r>
              <a:rPr sz="1100" b="1" i="0">
                <a:solidFill>
                  <a:srgbClr val="314359"/>
                </a:solidFill>
                <a:latin typeface="Times New Roman"/>
              </a:rPr>
              <a:t>Recognized opportunities</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No structural integration between divisions — structural upside</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Market price significantly lower than assets and earnings power</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Alcadon could benefit from being stand-alone — right in the cycle</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Extension opportunities within Aurora; Deltaco a well-known brand</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Never a loss-making year, even through downturns</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Stable management team with a strong cost-minimising culture</a:t>
            </a:r>
          </a:p>
          <a:p>
            <a:pPr algn="l">
              <a:lnSpc>
                <a:spcPct val="110000"/>
              </a:lnSpc>
              <a:spcBef>
                <a:spcPts val="700"/>
              </a:spcBef>
              <a:spcAft>
                <a:spcPts val="250"/>
              </a:spcAft>
            </a:pPr>
            <a:r>
              <a:rPr sz="1100" b="1" i="0">
                <a:solidFill>
                  <a:srgbClr val="314359"/>
                </a:solidFill>
                <a:latin typeface="Times New Roman"/>
              </a:rPr>
              <a:t>Initial plan</a:t>
            </a:r>
          </a:p>
          <a:p>
            <a:pPr algn="l">
              <a:lnSpc>
                <a:spcPct val="108000"/>
              </a:lnSpc>
              <a:spcAft>
                <a:spcPts val="200"/>
              </a:spcAft>
            </a:pPr>
            <a:r>
              <a:rPr sz="869" b="0" i="0">
                <a:solidFill>
                  <a:srgbClr val="0E1620"/>
                </a:solidFill>
                <a:latin typeface="Arial"/>
              </a:rPr>
              <a:t>1) Secure a board seat at the next AGM; 2) spin off Alcadon; 3) increase utilisation of the Aurora sales force through product extensions; 4) use 3PL in Deltaco to free up real-estate capital; 5) acquire more companies.</a:t>
            </a:r>
          </a:p>
          <a:p>
            <a:pPr algn="l">
              <a:lnSpc>
                <a:spcPct val="110000"/>
              </a:lnSpc>
              <a:spcBef>
                <a:spcPts val="700"/>
              </a:spcBef>
              <a:spcAft>
                <a:spcPts val="250"/>
              </a:spcAft>
            </a:pPr>
            <a:r>
              <a:rPr sz="1100" b="1" i="0">
                <a:solidFill>
                  <a:srgbClr val="314359"/>
                </a:solidFill>
                <a:latin typeface="Times New Roman"/>
              </a:rPr>
              <a:t>Results</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Changed the board; spun out and refinanced Alcadon — which then almost doubled in size through acquisition</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Aurora signed Duracell, P&amp;G and Oral-B to leverage the sales force</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Moved Deltaco's warehouse to 3PL, freeing the building</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Acquired Septon and Sominis, with another acquisition pending</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Real-time pricing software drove sales of mispriced products</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Reduced IT costs through outsourcing</a:t>
            </a:r>
          </a:p>
        </p:txBody>
      </p:sp>
      <p:sp>
        <p:nvSpPr>
          <p:cNvPr id="9" name="Rounded Rectangle 8"/>
          <p:cNvSpPr/>
          <p:nvPr/>
        </p:nvSpPr>
        <p:spPr>
          <a:xfrm>
            <a:off x="4983480" y="1783080"/>
            <a:ext cx="4297680" cy="384048"/>
          </a:xfrm>
          <a:prstGeom prst="roundRect">
            <a:avLst/>
          </a:prstGeom>
          <a:solidFill>
            <a:srgbClr val="F6F7F9"/>
          </a:solidFill>
          <a:ln>
            <a:noFill/>
          </a:ln>
          <a:effectLst/>
        </p:spPr>
        <p:txBody>
          <a:bodyPr rtlCol="0" anchor="ctr"/>
          <a:lstStyle/>
          <a:p>
            <a:pPr algn="ctr"/>
          </a:p>
        </p:txBody>
      </p:sp>
      <p:sp>
        <p:nvSpPr>
          <p:cNvPr id="10" name="TextBox 9"/>
          <p:cNvSpPr txBox="1"/>
          <p:nvPr/>
        </p:nvSpPr>
        <p:spPr>
          <a:xfrm>
            <a:off x="4983480" y="1783080"/>
            <a:ext cx="4297680" cy="384048"/>
          </a:xfrm>
          <a:prstGeom prst="rect">
            <a:avLst/>
          </a:prstGeom>
          <a:noFill/>
        </p:spPr>
        <p:txBody>
          <a:bodyPr wrap="square" anchor="ctr" lIns="0" rIns="0" tIns="0" bIns="0">
            <a:spAutoFit/>
          </a:bodyPr>
          <a:lstStyle/>
          <a:p>
            <a:pPr algn="ctr">
              <a:lnSpc>
                <a:spcPct val="110000"/>
              </a:lnSpc>
              <a:spcAft>
                <a:spcPts val="0"/>
              </a:spcAft>
            </a:pPr>
            <a:r>
              <a:rPr sz="1250" b="1" i="0">
                <a:solidFill>
                  <a:srgbClr val="314359"/>
                </a:solidFill>
                <a:latin typeface="Times New Roman"/>
              </a:rPr>
              <a:t>Investment 2015 – present</a:t>
            </a:r>
          </a:p>
        </p:txBody>
      </p:sp>
      <p:pic>
        <p:nvPicPr>
          <p:cNvPr id="11" name="Picture 10" descr="distit_line.png"/>
          <p:cNvPicPr>
            <a:picLocks noChangeAspect="1"/>
          </p:cNvPicPr>
          <p:nvPr/>
        </p:nvPicPr>
        <p:blipFill>
          <a:blip r:embed="rId3"/>
          <a:stretch>
            <a:fillRect/>
          </a:stretch>
        </p:blipFill>
        <p:spPr>
          <a:xfrm>
            <a:off x="5138223" y="2276856"/>
            <a:ext cx="3988194" cy="2244852"/>
          </a:xfrm>
          <a:prstGeom prst="rect">
            <a:avLst/>
          </a:prstGeom>
        </p:spPr>
      </p:pic>
      <p:pic>
        <p:nvPicPr>
          <p:cNvPr id="12" name="Picture 11" descr="distit_op.png"/>
          <p:cNvPicPr>
            <a:picLocks noChangeAspect="1"/>
          </p:cNvPicPr>
          <p:nvPr/>
        </p:nvPicPr>
        <p:blipFill>
          <a:blip r:embed="rId4"/>
          <a:stretch>
            <a:fillRect/>
          </a:stretch>
        </p:blipFill>
        <p:spPr>
          <a:xfrm>
            <a:off x="5595884" y="4613148"/>
            <a:ext cx="3072871" cy="2244852"/>
          </a:xfrm>
          <a:prstGeom prst="rect">
            <a:avLst/>
          </a:prstGeom>
        </p:spPr>
      </p:pic>
      <p:sp>
        <p:nvSpPr>
          <p:cNvPr id="13" name="TextBox 12"/>
          <p:cNvSpPr txBox="1"/>
          <p:nvPr/>
        </p:nvSpPr>
        <p:spPr>
          <a:xfrm>
            <a:off x="502920" y="6967728"/>
            <a:ext cx="4846320" cy="274320"/>
          </a:xfrm>
          <a:prstGeom prst="rect">
            <a:avLst/>
          </a:prstGeom>
          <a:noFill/>
        </p:spPr>
        <p:txBody>
          <a:bodyPr wrap="square" anchor="t" lIns="0" rIns="0" tIns="0" bIns="0">
            <a:spAutoFit/>
          </a:bodyPr>
          <a:lstStyle/>
          <a:p>
            <a:pPr algn="l">
              <a:lnSpc>
                <a:spcPct val="100000"/>
              </a:lnSpc>
              <a:spcAft>
                <a:spcPts val="0"/>
              </a:spcAft>
            </a:pPr>
            <a:r>
              <a:rPr sz="750" b="0" i="1">
                <a:solidFill>
                  <a:srgbClr val="556A83"/>
                </a:solidFill>
                <a:latin typeface="Arial"/>
              </a:rPr>
              <a:t>Note: share price re-based to 100 at investment and includes dividends; benchmark OMXS30 / MSCI. Past performance is not indicative of future results.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753904" cy="7315200"/>
          </a:xfrm>
          <a:prstGeom prst="rect">
            <a:avLst/>
          </a:prstGeom>
          <a:solidFill>
            <a:srgbClr val="152130"/>
          </a:solidFill>
          <a:ln>
            <a:noFill/>
          </a:ln>
          <a:effectLst/>
        </p:spPr>
        <p:txBody>
          <a:bodyPr rtlCol="0" anchor="ctr"/>
          <a:lstStyle/>
          <a:p>
            <a:pPr algn="ctr"/>
          </a:p>
        </p:txBody>
      </p:sp>
      <p:pic>
        <p:nvPicPr>
          <p:cNvPr id="3" name="Picture 2" descr="logo_white.png"/>
          <p:cNvPicPr>
            <a:picLocks noChangeAspect="1"/>
          </p:cNvPicPr>
          <p:nvPr/>
        </p:nvPicPr>
        <p:blipFill>
          <a:blip r:embed="rId2"/>
          <a:stretch>
            <a:fillRect/>
          </a:stretch>
        </p:blipFill>
        <p:spPr>
          <a:xfrm>
            <a:off x="548640" y="502920"/>
            <a:ext cx="2337572" cy="502920"/>
          </a:xfrm>
          <a:prstGeom prst="rect">
            <a:avLst/>
          </a:prstGeom>
        </p:spPr>
      </p:pic>
      <p:sp>
        <p:nvSpPr>
          <p:cNvPr id="4" name="Rectangle 3"/>
          <p:cNvSpPr/>
          <p:nvPr/>
        </p:nvSpPr>
        <p:spPr>
          <a:xfrm>
            <a:off x="566928" y="2788920"/>
            <a:ext cx="457200" cy="27940"/>
          </a:xfrm>
          <a:prstGeom prst="rect">
            <a:avLst/>
          </a:prstGeom>
          <a:solidFill>
            <a:srgbClr val="556A83"/>
          </a:solidFill>
          <a:ln>
            <a:noFill/>
          </a:ln>
          <a:effectLst/>
        </p:spPr>
        <p:txBody>
          <a:bodyPr rtlCol="0" anchor="ctr"/>
          <a:lstStyle/>
          <a:p>
            <a:pPr algn="ctr"/>
          </a:p>
        </p:txBody>
      </p:sp>
      <p:sp>
        <p:nvSpPr>
          <p:cNvPr id="5" name="TextBox 4"/>
          <p:cNvSpPr txBox="1"/>
          <p:nvPr/>
        </p:nvSpPr>
        <p:spPr>
          <a:xfrm>
            <a:off x="548640" y="2971800"/>
            <a:ext cx="8686800" cy="457200"/>
          </a:xfrm>
          <a:prstGeom prst="rect">
            <a:avLst/>
          </a:prstGeom>
          <a:noFill/>
        </p:spPr>
        <p:txBody>
          <a:bodyPr wrap="square" anchor="t" lIns="0" rIns="0" tIns="0" bIns="0">
            <a:spAutoFit/>
          </a:bodyPr>
          <a:lstStyle/>
          <a:p>
            <a:pPr algn="l">
              <a:lnSpc>
                <a:spcPct val="110000"/>
              </a:lnSpc>
              <a:spcAft>
                <a:spcPts val="0"/>
              </a:spcAft>
            </a:pPr>
            <a:r>
              <a:rPr sz="1300" b="0" i="0">
                <a:solidFill>
                  <a:srgbClr val="556A83"/>
                </a:solidFill>
                <a:latin typeface="Arial"/>
              </a:rPr>
              <a:t>PART II · INVESTMENT AB ÖRESUND (1994–2007)</a:t>
            </a:r>
          </a:p>
        </p:txBody>
      </p:sp>
      <p:sp>
        <p:nvSpPr>
          <p:cNvPr id="6" name="TextBox 5"/>
          <p:cNvSpPr txBox="1"/>
          <p:nvPr/>
        </p:nvSpPr>
        <p:spPr>
          <a:xfrm>
            <a:off x="548640" y="3291840"/>
            <a:ext cx="8686800" cy="1280160"/>
          </a:xfrm>
          <a:prstGeom prst="rect">
            <a:avLst/>
          </a:prstGeom>
          <a:noFill/>
        </p:spPr>
        <p:txBody>
          <a:bodyPr wrap="square" anchor="t" lIns="0" rIns="0" tIns="0" bIns="0">
            <a:spAutoFit/>
          </a:bodyPr>
          <a:lstStyle/>
          <a:p>
            <a:pPr algn="l">
              <a:lnSpc>
                <a:spcPct val="110000"/>
              </a:lnSpc>
              <a:spcAft>
                <a:spcPts val="0"/>
              </a:spcAft>
            </a:pPr>
            <a:r>
              <a:rPr sz="3400" b="0" i="1" spc="-102">
                <a:solidFill>
                  <a:srgbClr val="E2E5E9"/>
                </a:solidFill>
                <a:latin typeface="Times New Roman"/>
              </a:rPr>
              <a:t>Earlier track record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753904" cy="7315200"/>
          </a:xfrm>
          <a:prstGeom prst="rect">
            <a:avLst/>
          </a:prstGeom>
          <a:solidFill>
            <a:srgbClr val="FFFFFF"/>
          </a:solidFill>
          <a:ln>
            <a:noFill/>
          </a:ln>
          <a:effectLst/>
        </p:spPr>
        <p:txBody>
          <a:bodyPr rtlCol="0" anchor="ctr"/>
          <a:lstStyle/>
          <a:p>
            <a:pPr algn="ctr"/>
          </a:p>
        </p:txBody>
      </p:sp>
      <p:pic>
        <p:nvPicPr>
          <p:cNvPr id="3" name="Picture 2" descr="mark_dark.png"/>
          <p:cNvPicPr>
            <a:picLocks noChangeAspect="1"/>
          </p:cNvPicPr>
          <p:nvPr/>
        </p:nvPicPr>
        <p:blipFill>
          <a:blip r:embed="rId2"/>
          <a:stretch>
            <a:fillRect/>
          </a:stretch>
        </p:blipFill>
        <p:spPr>
          <a:xfrm>
            <a:off x="457200" y="219456"/>
            <a:ext cx="280009" cy="237744"/>
          </a:xfrm>
          <a:prstGeom prst="rect">
            <a:avLst/>
          </a:prstGeom>
        </p:spPr>
      </p:pic>
      <p:sp>
        <p:nvSpPr>
          <p:cNvPr id="4" name="TextBox 3"/>
          <p:cNvSpPr txBox="1"/>
          <p:nvPr/>
        </p:nvSpPr>
        <p:spPr>
          <a:xfrm>
            <a:off x="841248" y="246888"/>
            <a:ext cx="5486400" cy="274320"/>
          </a:xfrm>
          <a:prstGeom prst="rect">
            <a:avLst/>
          </a:prstGeom>
          <a:noFill/>
        </p:spPr>
        <p:txBody>
          <a:bodyPr wrap="square" anchor="t" lIns="0" rIns="0" tIns="0" bIns="0">
            <a:spAutoFit/>
          </a:bodyPr>
          <a:lstStyle/>
          <a:p>
            <a:pPr algn="l">
              <a:lnSpc>
                <a:spcPct val="110000"/>
              </a:lnSpc>
              <a:spcAft>
                <a:spcPts val="0"/>
              </a:spcAft>
            </a:pPr>
            <a:r>
              <a:rPr sz="1100" b="0" i="0">
                <a:solidFill>
                  <a:srgbClr val="556A83"/>
                </a:solidFill>
                <a:latin typeface="Arial"/>
              </a:rPr>
              <a:t>Case · Öresund era</a:t>
            </a:r>
          </a:p>
        </p:txBody>
      </p:sp>
      <p:sp>
        <p:nvSpPr>
          <p:cNvPr id="5" name="Rectangle 4"/>
          <p:cNvSpPr/>
          <p:nvPr/>
        </p:nvSpPr>
        <p:spPr>
          <a:xfrm>
            <a:off x="0" y="566928"/>
            <a:ext cx="9753904" cy="914400"/>
          </a:xfrm>
          <a:prstGeom prst="rect">
            <a:avLst/>
          </a:prstGeom>
          <a:solidFill>
            <a:srgbClr val="F6F7F9"/>
          </a:solidFill>
          <a:ln>
            <a:noFill/>
          </a:ln>
          <a:effectLst/>
        </p:spPr>
        <p:txBody>
          <a:bodyPr rtlCol="0" anchor="ctr"/>
          <a:lstStyle/>
          <a:p>
            <a:pPr algn="ctr"/>
          </a:p>
        </p:txBody>
      </p:sp>
      <p:sp>
        <p:nvSpPr>
          <p:cNvPr id="6" name="TextBox 5"/>
          <p:cNvSpPr txBox="1"/>
          <p:nvPr/>
        </p:nvSpPr>
        <p:spPr>
          <a:xfrm>
            <a:off x="502920" y="713232"/>
            <a:ext cx="8778240" cy="640080"/>
          </a:xfrm>
          <a:prstGeom prst="rect">
            <a:avLst/>
          </a:prstGeom>
          <a:noFill/>
        </p:spPr>
        <p:txBody>
          <a:bodyPr wrap="square" anchor="t" lIns="0" rIns="0" tIns="0" bIns="0">
            <a:spAutoFit/>
          </a:bodyPr>
          <a:lstStyle/>
          <a:p>
            <a:pPr algn="l">
              <a:lnSpc>
                <a:spcPct val="110000"/>
              </a:lnSpc>
              <a:spcAft>
                <a:spcPts val="0"/>
              </a:spcAft>
            </a:pPr>
            <a:r>
              <a:rPr sz="2600" b="0" i="0" spc="-78">
                <a:solidFill>
                  <a:srgbClr val="314359"/>
                </a:solidFill>
                <a:latin typeface="Times New Roman"/>
              </a:rPr>
              <a:t>Investment case study: Custos</a:t>
            </a:r>
          </a:p>
        </p:txBody>
      </p:sp>
      <p:sp>
        <p:nvSpPr>
          <p:cNvPr id="7" name="TextBox 6"/>
          <p:cNvSpPr txBox="1"/>
          <p:nvPr/>
        </p:nvSpPr>
        <p:spPr>
          <a:xfrm>
            <a:off x="5486400" y="6967728"/>
            <a:ext cx="4023360" cy="274320"/>
          </a:xfrm>
          <a:prstGeom prst="rect">
            <a:avLst/>
          </a:prstGeom>
          <a:noFill/>
        </p:spPr>
        <p:txBody>
          <a:bodyPr wrap="square" anchor="t" lIns="0" rIns="0" tIns="0" bIns="0">
            <a:spAutoFit/>
          </a:bodyPr>
          <a:lstStyle/>
          <a:p>
            <a:pPr algn="r">
              <a:lnSpc>
                <a:spcPct val="110000"/>
              </a:lnSpc>
              <a:spcAft>
                <a:spcPts val="0"/>
              </a:spcAft>
            </a:pPr>
            <a:r>
              <a:rPr sz="850" b="0" i="0">
                <a:solidFill>
                  <a:srgbClr val="556A83"/>
                </a:solidFill>
                <a:latin typeface="Arial"/>
              </a:rPr>
              <a:t>Strictly confidential          10</a:t>
            </a:r>
          </a:p>
        </p:txBody>
      </p:sp>
      <p:sp>
        <p:nvSpPr>
          <p:cNvPr id="8" name="TextBox 7"/>
          <p:cNvSpPr txBox="1"/>
          <p:nvPr/>
        </p:nvSpPr>
        <p:spPr>
          <a:xfrm>
            <a:off x="502920" y="1783080"/>
            <a:ext cx="4160520" cy="5120640"/>
          </a:xfrm>
          <a:prstGeom prst="rect">
            <a:avLst/>
          </a:prstGeom>
          <a:noFill/>
        </p:spPr>
        <p:txBody>
          <a:bodyPr wrap="square" anchor="t" lIns="0" rIns="0" tIns="0" bIns="0">
            <a:spAutoFit/>
          </a:bodyPr>
          <a:lstStyle/>
          <a:p>
            <a:pPr algn="l">
              <a:lnSpc>
                <a:spcPct val="110000"/>
              </a:lnSpc>
              <a:spcBef>
                <a:spcPts val="0"/>
              </a:spcBef>
              <a:spcAft>
                <a:spcPts val="250"/>
              </a:spcAft>
            </a:pPr>
            <a:r>
              <a:rPr sz="1100" b="1" i="0">
                <a:solidFill>
                  <a:srgbClr val="314359"/>
                </a:solidFill>
                <a:latin typeface="Times New Roman"/>
              </a:rPr>
              <a:t>Company description</a:t>
            </a:r>
          </a:p>
          <a:p>
            <a:pPr algn="l">
              <a:lnSpc>
                <a:spcPct val="108000"/>
              </a:lnSpc>
              <a:spcAft>
                <a:spcPts val="200"/>
              </a:spcAft>
            </a:pPr>
            <a:r>
              <a:rPr sz="869" b="0" i="0">
                <a:solidFill>
                  <a:srgbClr val="0E1620"/>
                </a:solidFill>
                <a:latin typeface="Arial"/>
              </a:rPr>
              <a:t>Custos was a Swedish listed investment company holding a portfolio of listed companies. It traded at a significant discount to net asset value and had an inefficient capital structure.</a:t>
            </a:r>
          </a:p>
          <a:p>
            <a:pPr algn="l">
              <a:lnSpc>
                <a:spcPct val="110000"/>
              </a:lnSpc>
              <a:spcBef>
                <a:spcPts val="700"/>
              </a:spcBef>
              <a:spcAft>
                <a:spcPts val="250"/>
              </a:spcAft>
            </a:pPr>
            <a:r>
              <a:rPr sz="1100" b="1" i="0">
                <a:solidFill>
                  <a:srgbClr val="314359"/>
                </a:solidFill>
                <a:latin typeface="Times New Roman"/>
              </a:rPr>
              <a:t>Recognized opportunities</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Investment companies traded at a discount to NAV</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Inefficient capital structure</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An interesting portfolio of companies not optimally managed</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Opportunity to buy the underlying assets at a ~30% discount</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The largest shareholder, Skanska, had sold its holding in 1994</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The board was not focused on creating shareholder value</a:t>
            </a:r>
          </a:p>
          <a:p>
            <a:pPr algn="l">
              <a:lnSpc>
                <a:spcPct val="110000"/>
              </a:lnSpc>
              <a:spcBef>
                <a:spcPts val="700"/>
              </a:spcBef>
              <a:spcAft>
                <a:spcPts val="250"/>
              </a:spcAft>
            </a:pPr>
            <a:r>
              <a:rPr sz="1100" b="1" i="0">
                <a:solidFill>
                  <a:srgbClr val="314359"/>
                </a:solidFill>
                <a:latin typeface="Times New Roman"/>
              </a:rPr>
              <a:t>Initial plan</a:t>
            </a:r>
          </a:p>
          <a:p>
            <a:pPr algn="l">
              <a:lnSpc>
                <a:spcPct val="108000"/>
              </a:lnSpc>
              <a:spcAft>
                <a:spcPts val="200"/>
              </a:spcAft>
            </a:pPr>
            <a:r>
              <a:rPr sz="869" b="0" i="0">
                <a:solidFill>
                  <a:srgbClr val="0E1620"/>
                </a:solidFill>
                <a:latin typeface="Arial"/>
              </a:rPr>
              <a:t>1) Increase shareholder value through extended engagement in holdings via active board management; 2) form a more heterogeneous board to enhance dialogue and decision-making; 3) reduce the discount to NAV through, if necessary, redemption of holdings/cash and synthetic buy-back programs.</a:t>
            </a:r>
          </a:p>
          <a:p>
            <a:pPr algn="l">
              <a:lnSpc>
                <a:spcPct val="110000"/>
              </a:lnSpc>
              <a:spcBef>
                <a:spcPts val="700"/>
              </a:spcBef>
              <a:spcAft>
                <a:spcPts val="250"/>
              </a:spcAft>
            </a:pPr>
            <a:r>
              <a:rPr sz="1100" b="1" i="0">
                <a:solidFill>
                  <a:srgbClr val="314359"/>
                </a:solidFill>
                <a:latin typeface="Times New Roman"/>
              </a:rPr>
              <a:t>Results</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New board and CEO (Christer Gardell); active ownership reduced the NAV discount</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Distributed Hufvudstaden to shareholders; sold ASG to Deutsche Post</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Founded Acando; synthetic buy-back distributing SEK 1.6bn</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~SEK 3.5bn distributed via buy-back and the distribution of SCA</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Bilia and Acando distributed to shareholders</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Custos ultimately merged with Öresund</a:t>
            </a:r>
          </a:p>
        </p:txBody>
      </p:sp>
      <p:sp>
        <p:nvSpPr>
          <p:cNvPr id="9" name="Rounded Rectangle 8"/>
          <p:cNvSpPr/>
          <p:nvPr/>
        </p:nvSpPr>
        <p:spPr>
          <a:xfrm>
            <a:off x="4983480" y="1783080"/>
            <a:ext cx="4297680" cy="384048"/>
          </a:xfrm>
          <a:prstGeom prst="roundRect">
            <a:avLst/>
          </a:prstGeom>
          <a:solidFill>
            <a:srgbClr val="F6F7F9"/>
          </a:solidFill>
          <a:ln>
            <a:noFill/>
          </a:ln>
          <a:effectLst/>
        </p:spPr>
        <p:txBody>
          <a:bodyPr rtlCol="0" anchor="ctr"/>
          <a:lstStyle/>
          <a:p>
            <a:pPr algn="ctr"/>
          </a:p>
        </p:txBody>
      </p:sp>
      <p:sp>
        <p:nvSpPr>
          <p:cNvPr id="10" name="TextBox 9"/>
          <p:cNvSpPr txBox="1"/>
          <p:nvPr/>
        </p:nvSpPr>
        <p:spPr>
          <a:xfrm>
            <a:off x="4983480" y="1783080"/>
            <a:ext cx="4297680" cy="384048"/>
          </a:xfrm>
          <a:prstGeom prst="rect">
            <a:avLst/>
          </a:prstGeom>
          <a:noFill/>
        </p:spPr>
        <p:txBody>
          <a:bodyPr wrap="square" anchor="ctr" lIns="0" rIns="0" tIns="0" bIns="0">
            <a:spAutoFit/>
          </a:bodyPr>
          <a:lstStyle/>
          <a:p>
            <a:pPr algn="ctr">
              <a:lnSpc>
                <a:spcPct val="110000"/>
              </a:lnSpc>
              <a:spcAft>
                <a:spcPts val="0"/>
              </a:spcAft>
            </a:pPr>
            <a:r>
              <a:rPr sz="1250" b="1" i="0">
                <a:solidFill>
                  <a:srgbClr val="314359"/>
                </a:solidFill>
                <a:latin typeface="Times New Roman"/>
              </a:rPr>
              <a:t>IRR 58.9% · 2000–2004</a:t>
            </a:r>
          </a:p>
        </p:txBody>
      </p:sp>
      <p:pic>
        <p:nvPicPr>
          <p:cNvPr id="11" name="Picture 10" descr="custos_line.png"/>
          <p:cNvPicPr>
            <a:picLocks noChangeAspect="1"/>
          </p:cNvPicPr>
          <p:nvPr/>
        </p:nvPicPr>
        <p:blipFill>
          <a:blip r:embed="rId3"/>
          <a:stretch>
            <a:fillRect/>
          </a:stretch>
        </p:blipFill>
        <p:spPr>
          <a:xfrm>
            <a:off x="4983480" y="2276856"/>
            <a:ext cx="4297680" cy="2479862"/>
          </a:xfrm>
          <a:prstGeom prst="rect">
            <a:avLst/>
          </a:prstGeom>
        </p:spPr>
      </p:pic>
      <p:sp>
        <p:nvSpPr>
          <p:cNvPr id="12" name="TextBox 11"/>
          <p:cNvSpPr txBox="1"/>
          <p:nvPr/>
        </p:nvSpPr>
        <p:spPr>
          <a:xfrm>
            <a:off x="4983480" y="4848158"/>
            <a:ext cx="4297680" cy="457200"/>
          </a:xfrm>
          <a:prstGeom prst="rect">
            <a:avLst/>
          </a:prstGeom>
          <a:noFill/>
        </p:spPr>
        <p:txBody>
          <a:bodyPr wrap="square" anchor="t" lIns="0" rIns="0" tIns="0" bIns="0">
            <a:spAutoFit/>
          </a:bodyPr>
          <a:lstStyle/>
          <a:p>
            <a:pPr algn="ctr">
              <a:lnSpc>
                <a:spcPct val="110000"/>
              </a:lnSpc>
              <a:spcAft>
                <a:spcPts val="0"/>
              </a:spcAft>
            </a:pPr>
            <a:r>
              <a:rPr sz="1200" b="1" i="0">
                <a:solidFill>
                  <a:srgbClr val="314359"/>
                </a:solidFill>
                <a:latin typeface="Times New Roman"/>
              </a:rPr>
              <a:t>≈ SEK 11bn of shareholder value created over nine years</a:t>
            </a:r>
          </a:p>
        </p:txBody>
      </p:sp>
      <p:sp>
        <p:nvSpPr>
          <p:cNvPr id="13" name="TextBox 12"/>
          <p:cNvSpPr txBox="1"/>
          <p:nvPr/>
        </p:nvSpPr>
        <p:spPr>
          <a:xfrm>
            <a:off x="502920" y="6967728"/>
            <a:ext cx="4846320" cy="274320"/>
          </a:xfrm>
          <a:prstGeom prst="rect">
            <a:avLst/>
          </a:prstGeom>
          <a:noFill/>
        </p:spPr>
        <p:txBody>
          <a:bodyPr wrap="square" anchor="t" lIns="0" rIns="0" tIns="0" bIns="0">
            <a:spAutoFit/>
          </a:bodyPr>
          <a:lstStyle/>
          <a:p>
            <a:pPr algn="l">
              <a:lnSpc>
                <a:spcPct val="100000"/>
              </a:lnSpc>
              <a:spcAft>
                <a:spcPts val="0"/>
              </a:spcAft>
            </a:pPr>
            <a:r>
              <a:rPr sz="750" b="0" i="1">
                <a:solidFill>
                  <a:srgbClr val="556A83"/>
                </a:solidFill>
                <a:latin typeface="Arial"/>
              </a:rPr>
              <a:t>Note: 9 SEK ≈ 1€. IRR unleveraged and net of all costs. Executed by members of the team at Investment AB Öresund.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753904" cy="7315200"/>
          </a:xfrm>
          <a:prstGeom prst="rect">
            <a:avLst/>
          </a:prstGeom>
          <a:solidFill>
            <a:srgbClr val="FFFFFF"/>
          </a:solidFill>
          <a:ln>
            <a:noFill/>
          </a:ln>
          <a:effectLst/>
        </p:spPr>
        <p:txBody>
          <a:bodyPr rtlCol="0" anchor="ctr"/>
          <a:lstStyle/>
          <a:p>
            <a:pPr algn="ctr"/>
          </a:p>
        </p:txBody>
      </p:sp>
      <p:pic>
        <p:nvPicPr>
          <p:cNvPr id="3" name="Picture 2" descr="mark_dark.png"/>
          <p:cNvPicPr>
            <a:picLocks noChangeAspect="1"/>
          </p:cNvPicPr>
          <p:nvPr/>
        </p:nvPicPr>
        <p:blipFill>
          <a:blip r:embed="rId2"/>
          <a:stretch>
            <a:fillRect/>
          </a:stretch>
        </p:blipFill>
        <p:spPr>
          <a:xfrm>
            <a:off x="457200" y="219456"/>
            <a:ext cx="280009" cy="237744"/>
          </a:xfrm>
          <a:prstGeom prst="rect">
            <a:avLst/>
          </a:prstGeom>
        </p:spPr>
      </p:pic>
      <p:sp>
        <p:nvSpPr>
          <p:cNvPr id="4" name="TextBox 3"/>
          <p:cNvSpPr txBox="1"/>
          <p:nvPr/>
        </p:nvSpPr>
        <p:spPr>
          <a:xfrm>
            <a:off x="841248" y="246888"/>
            <a:ext cx="5486400" cy="274320"/>
          </a:xfrm>
          <a:prstGeom prst="rect">
            <a:avLst/>
          </a:prstGeom>
          <a:noFill/>
        </p:spPr>
        <p:txBody>
          <a:bodyPr wrap="square" anchor="t" lIns="0" rIns="0" tIns="0" bIns="0">
            <a:spAutoFit/>
          </a:bodyPr>
          <a:lstStyle/>
          <a:p>
            <a:pPr algn="l">
              <a:lnSpc>
                <a:spcPct val="110000"/>
              </a:lnSpc>
              <a:spcAft>
                <a:spcPts val="0"/>
              </a:spcAft>
            </a:pPr>
            <a:r>
              <a:rPr sz="1100" b="0" i="0">
                <a:solidFill>
                  <a:srgbClr val="556A83"/>
                </a:solidFill>
                <a:latin typeface="Arial"/>
              </a:rPr>
              <a:t>Case · Öresund era</a:t>
            </a:r>
          </a:p>
        </p:txBody>
      </p:sp>
      <p:sp>
        <p:nvSpPr>
          <p:cNvPr id="5" name="Rectangle 4"/>
          <p:cNvSpPr/>
          <p:nvPr/>
        </p:nvSpPr>
        <p:spPr>
          <a:xfrm>
            <a:off x="0" y="566928"/>
            <a:ext cx="9753904" cy="914400"/>
          </a:xfrm>
          <a:prstGeom prst="rect">
            <a:avLst/>
          </a:prstGeom>
          <a:solidFill>
            <a:srgbClr val="F6F7F9"/>
          </a:solidFill>
          <a:ln>
            <a:noFill/>
          </a:ln>
          <a:effectLst/>
        </p:spPr>
        <p:txBody>
          <a:bodyPr rtlCol="0" anchor="ctr"/>
          <a:lstStyle/>
          <a:p>
            <a:pPr algn="ctr"/>
          </a:p>
        </p:txBody>
      </p:sp>
      <p:sp>
        <p:nvSpPr>
          <p:cNvPr id="6" name="TextBox 5"/>
          <p:cNvSpPr txBox="1"/>
          <p:nvPr/>
        </p:nvSpPr>
        <p:spPr>
          <a:xfrm>
            <a:off x="502920" y="713232"/>
            <a:ext cx="8778240" cy="640080"/>
          </a:xfrm>
          <a:prstGeom prst="rect">
            <a:avLst/>
          </a:prstGeom>
          <a:noFill/>
        </p:spPr>
        <p:txBody>
          <a:bodyPr wrap="square" anchor="t" lIns="0" rIns="0" tIns="0" bIns="0">
            <a:spAutoFit/>
          </a:bodyPr>
          <a:lstStyle/>
          <a:p>
            <a:pPr algn="l">
              <a:lnSpc>
                <a:spcPct val="110000"/>
              </a:lnSpc>
              <a:spcAft>
                <a:spcPts val="0"/>
              </a:spcAft>
            </a:pPr>
            <a:r>
              <a:rPr sz="2600" b="0" i="0" spc="-78">
                <a:solidFill>
                  <a:srgbClr val="314359"/>
                </a:solidFill>
                <a:latin typeface="Times New Roman"/>
              </a:rPr>
              <a:t>Investment case study: Johnson Pump</a:t>
            </a:r>
          </a:p>
        </p:txBody>
      </p:sp>
      <p:sp>
        <p:nvSpPr>
          <p:cNvPr id="7" name="TextBox 6"/>
          <p:cNvSpPr txBox="1"/>
          <p:nvPr/>
        </p:nvSpPr>
        <p:spPr>
          <a:xfrm>
            <a:off x="5486400" y="6967728"/>
            <a:ext cx="4023360" cy="274320"/>
          </a:xfrm>
          <a:prstGeom prst="rect">
            <a:avLst/>
          </a:prstGeom>
          <a:noFill/>
        </p:spPr>
        <p:txBody>
          <a:bodyPr wrap="square" anchor="t" lIns="0" rIns="0" tIns="0" bIns="0">
            <a:spAutoFit/>
          </a:bodyPr>
          <a:lstStyle/>
          <a:p>
            <a:pPr algn="r">
              <a:lnSpc>
                <a:spcPct val="110000"/>
              </a:lnSpc>
              <a:spcAft>
                <a:spcPts val="0"/>
              </a:spcAft>
            </a:pPr>
            <a:r>
              <a:rPr sz="850" b="0" i="0">
                <a:solidFill>
                  <a:srgbClr val="556A83"/>
                </a:solidFill>
                <a:latin typeface="Arial"/>
              </a:rPr>
              <a:t>Strictly confidential          11</a:t>
            </a:r>
          </a:p>
        </p:txBody>
      </p:sp>
      <p:sp>
        <p:nvSpPr>
          <p:cNvPr id="8" name="TextBox 7"/>
          <p:cNvSpPr txBox="1"/>
          <p:nvPr/>
        </p:nvSpPr>
        <p:spPr>
          <a:xfrm>
            <a:off x="502920" y="1783080"/>
            <a:ext cx="4160520" cy="5120640"/>
          </a:xfrm>
          <a:prstGeom prst="rect">
            <a:avLst/>
          </a:prstGeom>
          <a:noFill/>
        </p:spPr>
        <p:txBody>
          <a:bodyPr wrap="square" anchor="t" lIns="0" rIns="0" tIns="0" bIns="0">
            <a:spAutoFit/>
          </a:bodyPr>
          <a:lstStyle/>
          <a:p>
            <a:pPr algn="l">
              <a:lnSpc>
                <a:spcPct val="110000"/>
              </a:lnSpc>
              <a:spcBef>
                <a:spcPts val="0"/>
              </a:spcBef>
              <a:spcAft>
                <a:spcPts val="250"/>
              </a:spcAft>
            </a:pPr>
            <a:r>
              <a:rPr sz="1100" b="1" i="0">
                <a:solidFill>
                  <a:srgbClr val="314359"/>
                </a:solidFill>
                <a:latin typeface="Times New Roman"/>
              </a:rPr>
              <a:t>Company description</a:t>
            </a:r>
          </a:p>
          <a:p>
            <a:pPr algn="l">
              <a:lnSpc>
                <a:spcPct val="108000"/>
              </a:lnSpc>
              <a:spcAft>
                <a:spcPts val="200"/>
              </a:spcAft>
            </a:pPr>
            <a:r>
              <a:rPr sz="869" b="0" i="0">
                <a:solidFill>
                  <a:srgbClr val="0E1620"/>
                </a:solidFill>
                <a:latin typeface="Arial"/>
              </a:rPr>
              <a:t>Johnson Pump was a traditional industrial business — a pump OEM with an extensive sales force and a strong brand. It had suffered profitability issues but had started to recover, with revenues of SEK 647m and a negative EBIT.</a:t>
            </a:r>
          </a:p>
          <a:p>
            <a:pPr algn="l">
              <a:lnSpc>
                <a:spcPct val="110000"/>
              </a:lnSpc>
              <a:spcBef>
                <a:spcPts val="700"/>
              </a:spcBef>
              <a:spcAft>
                <a:spcPts val="250"/>
              </a:spcAft>
            </a:pPr>
            <a:r>
              <a:rPr sz="1100" b="1" i="0">
                <a:solidFill>
                  <a:srgbClr val="314359"/>
                </a:solidFill>
                <a:latin typeface="Times New Roman"/>
              </a:rPr>
              <a:t>Recognized opportunities</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Low profitability was largely a cost issue — customers kept buying and the gross margin was decent</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Significant upside on cost in both factories and sales offices</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The sales force could be leveraged with a wider product range (R&amp;D, 3rd-party products, M&amp;A)</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Market segmentation should reveal further niche potential</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Geographic expansion to follow customers moving to low-cost countries</a:t>
            </a:r>
          </a:p>
          <a:p>
            <a:pPr algn="l">
              <a:lnSpc>
                <a:spcPct val="110000"/>
              </a:lnSpc>
              <a:spcBef>
                <a:spcPts val="700"/>
              </a:spcBef>
              <a:spcAft>
                <a:spcPts val="250"/>
              </a:spcAft>
            </a:pPr>
            <a:r>
              <a:rPr sz="1100" b="1" i="0">
                <a:solidFill>
                  <a:srgbClr val="314359"/>
                </a:solidFill>
                <a:latin typeface="Times New Roman"/>
              </a:rPr>
              <a:t>Initial plan</a:t>
            </a:r>
          </a:p>
          <a:p>
            <a:pPr algn="l">
              <a:lnSpc>
                <a:spcPct val="108000"/>
              </a:lnSpc>
              <a:spcAft>
                <a:spcPts val="200"/>
              </a:spcAft>
            </a:pPr>
            <a:r>
              <a:rPr sz="869" b="0" i="0">
                <a:solidFill>
                  <a:srgbClr val="0E1620"/>
                </a:solidFill>
                <a:latin typeface="Arial"/>
              </a:rPr>
              <a:t>Reduce costs in factories and sales offices, build a uniform sales process and a simplified product range, expand the range and geography, and grow in adjacencies through M&amp;A.</a:t>
            </a:r>
          </a:p>
          <a:p>
            <a:pPr algn="l">
              <a:lnSpc>
                <a:spcPct val="110000"/>
              </a:lnSpc>
              <a:spcBef>
                <a:spcPts val="700"/>
              </a:spcBef>
              <a:spcAft>
                <a:spcPts val="250"/>
              </a:spcAft>
            </a:pPr>
            <a:r>
              <a:rPr sz="1100" b="1" i="0">
                <a:solidFill>
                  <a:srgbClr val="314359"/>
                </a:solidFill>
                <a:latin typeface="Times New Roman"/>
              </a:rPr>
              <a:t>Results</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New ERP system (2002); component manufacturing moved to India (2003)</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Restructured Dutch operations and centralised sourcing (2004–05)</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New CEO Stefan Charette (2006); separated Marine, acquired Tigerholm, launched an export organisation</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Revenues +~17%; SG&amp;A −~18%; operating result +~SEK 62m (−15m to +47m)</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SPX Corporation public offer accepted by &gt;90% of shareholders; delisted</a:t>
            </a:r>
          </a:p>
        </p:txBody>
      </p:sp>
      <p:sp>
        <p:nvSpPr>
          <p:cNvPr id="9" name="Rounded Rectangle 8"/>
          <p:cNvSpPr/>
          <p:nvPr/>
        </p:nvSpPr>
        <p:spPr>
          <a:xfrm>
            <a:off x="4983480" y="1783080"/>
            <a:ext cx="4297680" cy="384048"/>
          </a:xfrm>
          <a:prstGeom prst="roundRect">
            <a:avLst/>
          </a:prstGeom>
          <a:solidFill>
            <a:srgbClr val="F6F7F9"/>
          </a:solidFill>
          <a:ln>
            <a:noFill/>
          </a:ln>
          <a:effectLst/>
        </p:spPr>
        <p:txBody>
          <a:bodyPr rtlCol="0" anchor="ctr"/>
          <a:lstStyle/>
          <a:p>
            <a:pPr algn="ctr"/>
          </a:p>
        </p:txBody>
      </p:sp>
      <p:sp>
        <p:nvSpPr>
          <p:cNvPr id="10" name="TextBox 9"/>
          <p:cNvSpPr txBox="1"/>
          <p:nvPr/>
        </p:nvSpPr>
        <p:spPr>
          <a:xfrm>
            <a:off x="4983480" y="1783080"/>
            <a:ext cx="4297680" cy="384048"/>
          </a:xfrm>
          <a:prstGeom prst="rect">
            <a:avLst/>
          </a:prstGeom>
          <a:noFill/>
        </p:spPr>
        <p:txBody>
          <a:bodyPr wrap="square" anchor="ctr" lIns="0" rIns="0" tIns="0" bIns="0">
            <a:spAutoFit/>
          </a:bodyPr>
          <a:lstStyle/>
          <a:p>
            <a:pPr algn="ctr">
              <a:lnSpc>
                <a:spcPct val="110000"/>
              </a:lnSpc>
              <a:spcAft>
                <a:spcPts val="0"/>
              </a:spcAft>
            </a:pPr>
            <a:r>
              <a:rPr sz="1250" b="1" i="0">
                <a:solidFill>
                  <a:srgbClr val="314359"/>
                </a:solidFill>
                <a:latin typeface="Times New Roman"/>
              </a:rPr>
              <a:t>IRR 34.4% · 2002–2006</a:t>
            </a:r>
          </a:p>
        </p:txBody>
      </p:sp>
      <p:pic>
        <p:nvPicPr>
          <p:cNvPr id="11" name="Picture 10" descr="jp_line.png"/>
          <p:cNvPicPr>
            <a:picLocks noChangeAspect="1"/>
          </p:cNvPicPr>
          <p:nvPr/>
        </p:nvPicPr>
        <p:blipFill>
          <a:blip r:embed="rId3"/>
          <a:stretch>
            <a:fillRect/>
          </a:stretch>
        </p:blipFill>
        <p:spPr>
          <a:xfrm>
            <a:off x="4983480" y="2276856"/>
            <a:ext cx="4297680" cy="2479862"/>
          </a:xfrm>
          <a:prstGeom prst="rect">
            <a:avLst/>
          </a:prstGeom>
        </p:spPr>
      </p:pic>
      <p:sp>
        <p:nvSpPr>
          <p:cNvPr id="12" name="TextBox 11"/>
          <p:cNvSpPr txBox="1"/>
          <p:nvPr/>
        </p:nvSpPr>
        <p:spPr>
          <a:xfrm>
            <a:off x="502920" y="6967728"/>
            <a:ext cx="4846320" cy="274320"/>
          </a:xfrm>
          <a:prstGeom prst="rect">
            <a:avLst/>
          </a:prstGeom>
          <a:noFill/>
        </p:spPr>
        <p:txBody>
          <a:bodyPr wrap="square" anchor="t" lIns="0" rIns="0" tIns="0" bIns="0">
            <a:spAutoFit/>
          </a:bodyPr>
          <a:lstStyle/>
          <a:p>
            <a:pPr algn="l">
              <a:lnSpc>
                <a:spcPct val="100000"/>
              </a:lnSpc>
              <a:spcAft>
                <a:spcPts val="0"/>
              </a:spcAft>
            </a:pPr>
            <a:r>
              <a:rPr sz="750" b="0" i="1">
                <a:solidFill>
                  <a:srgbClr val="556A83"/>
                </a:solidFill>
                <a:latin typeface="Arial"/>
              </a:rPr>
              <a:t>Note: 9 SEK ≈ 1€. IRR unleveraged and net of all costs. Executed by members of the team at Investment AB Öresund.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753904" cy="7315200"/>
          </a:xfrm>
          <a:prstGeom prst="rect">
            <a:avLst/>
          </a:prstGeom>
          <a:solidFill>
            <a:srgbClr val="FFFFFF"/>
          </a:solidFill>
          <a:ln>
            <a:noFill/>
          </a:ln>
          <a:effectLst/>
        </p:spPr>
        <p:txBody>
          <a:bodyPr rtlCol="0" anchor="ctr"/>
          <a:lstStyle/>
          <a:p>
            <a:pPr algn="ctr"/>
          </a:p>
        </p:txBody>
      </p:sp>
      <p:pic>
        <p:nvPicPr>
          <p:cNvPr id="3" name="Picture 2" descr="mark_dark.png"/>
          <p:cNvPicPr>
            <a:picLocks noChangeAspect="1"/>
          </p:cNvPicPr>
          <p:nvPr/>
        </p:nvPicPr>
        <p:blipFill>
          <a:blip r:embed="rId2"/>
          <a:stretch>
            <a:fillRect/>
          </a:stretch>
        </p:blipFill>
        <p:spPr>
          <a:xfrm>
            <a:off x="457200" y="219456"/>
            <a:ext cx="280009" cy="237744"/>
          </a:xfrm>
          <a:prstGeom prst="rect">
            <a:avLst/>
          </a:prstGeom>
        </p:spPr>
      </p:pic>
      <p:sp>
        <p:nvSpPr>
          <p:cNvPr id="4" name="TextBox 3"/>
          <p:cNvSpPr txBox="1"/>
          <p:nvPr/>
        </p:nvSpPr>
        <p:spPr>
          <a:xfrm>
            <a:off x="841248" y="246888"/>
            <a:ext cx="5486400" cy="274320"/>
          </a:xfrm>
          <a:prstGeom prst="rect">
            <a:avLst/>
          </a:prstGeom>
          <a:noFill/>
        </p:spPr>
        <p:txBody>
          <a:bodyPr wrap="square" anchor="t" lIns="0" rIns="0" tIns="0" bIns="0">
            <a:spAutoFit/>
          </a:bodyPr>
          <a:lstStyle/>
          <a:p>
            <a:pPr algn="l">
              <a:lnSpc>
                <a:spcPct val="110000"/>
              </a:lnSpc>
              <a:spcAft>
                <a:spcPts val="0"/>
              </a:spcAft>
            </a:pPr>
            <a:r>
              <a:rPr sz="1100" b="0" i="0">
                <a:solidFill>
                  <a:srgbClr val="556A83"/>
                </a:solidFill>
                <a:latin typeface="Arial"/>
              </a:rPr>
              <a:t>Case · Öresund era</a:t>
            </a:r>
          </a:p>
        </p:txBody>
      </p:sp>
      <p:sp>
        <p:nvSpPr>
          <p:cNvPr id="5" name="Rectangle 4"/>
          <p:cNvSpPr/>
          <p:nvPr/>
        </p:nvSpPr>
        <p:spPr>
          <a:xfrm>
            <a:off x="0" y="566928"/>
            <a:ext cx="9753904" cy="914400"/>
          </a:xfrm>
          <a:prstGeom prst="rect">
            <a:avLst/>
          </a:prstGeom>
          <a:solidFill>
            <a:srgbClr val="F6F7F9"/>
          </a:solidFill>
          <a:ln>
            <a:noFill/>
          </a:ln>
          <a:effectLst/>
        </p:spPr>
        <p:txBody>
          <a:bodyPr rtlCol="0" anchor="ctr"/>
          <a:lstStyle/>
          <a:p>
            <a:pPr algn="ctr"/>
          </a:p>
        </p:txBody>
      </p:sp>
      <p:sp>
        <p:nvSpPr>
          <p:cNvPr id="6" name="TextBox 5"/>
          <p:cNvSpPr txBox="1"/>
          <p:nvPr/>
        </p:nvSpPr>
        <p:spPr>
          <a:xfrm>
            <a:off x="502920" y="713232"/>
            <a:ext cx="8778240" cy="640080"/>
          </a:xfrm>
          <a:prstGeom prst="rect">
            <a:avLst/>
          </a:prstGeom>
          <a:noFill/>
        </p:spPr>
        <p:txBody>
          <a:bodyPr wrap="square" anchor="t" lIns="0" rIns="0" tIns="0" bIns="0">
            <a:spAutoFit/>
          </a:bodyPr>
          <a:lstStyle/>
          <a:p>
            <a:pPr algn="l">
              <a:lnSpc>
                <a:spcPct val="110000"/>
              </a:lnSpc>
              <a:spcAft>
                <a:spcPts val="0"/>
              </a:spcAft>
            </a:pPr>
            <a:r>
              <a:rPr sz="2600" b="0" i="0" spc="-78">
                <a:solidFill>
                  <a:srgbClr val="314359"/>
                </a:solidFill>
                <a:latin typeface="Times New Roman"/>
              </a:rPr>
              <a:t>Investment case study: Wihlborgs / Drott</a:t>
            </a:r>
          </a:p>
        </p:txBody>
      </p:sp>
      <p:sp>
        <p:nvSpPr>
          <p:cNvPr id="7" name="TextBox 6"/>
          <p:cNvSpPr txBox="1"/>
          <p:nvPr/>
        </p:nvSpPr>
        <p:spPr>
          <a:xfrm>
            <a:off x="5486400" y="6967728"/>
            <a:ext cx="4023360" cy="274320"/>
          </a:xfrm>
          <a:prstGeom prst="rect">
            <a:avLst/>
          </a:prstGeom>
          <a:noFill/>
        </p:spPr>
        <p:txBody>
          <a:bodyPr wrap="square" anchor="t" lIns="0" rIns="0" tIns="0" bIns="0">
            <a:spAutoFit/>
          </a:bodyPr>
          <a:lstStyle/>
          <a:p>
            <a:pPr algn="r">
              <a:lnSpc>
                <a:spcPct val="110000"/>
              </a:lnSpc>
              <a:spcAft>
                <a:spcPts val="0"/>
              </a:spcAft>
            </a:pPr>
            <a:r>
              <a:rPr sz="850" b="0" i="0">
                <a:solidFill>
                  <a:srgbClr val="556A83"/>
                </a:solidFill>
                <a:latin typeface="Arial"/>
              </a:rPr>
              <a:t>Strictly confidential          12</a:t>
            </a:r>
          </a:p>
        </p:txBody>
      </p:sp>
      <p:sp>
        <p:nvSpPr>
          <p:cNvPr id="8" name="TextBox 7"/>
          <p:cNvSpPr txBox="1"/>
          <p:nvPr/>
        </p:nvSpPr>
        <p:spPr>
          <a:xfrm>
            <a:off x="502920" y="1783080"/>
            <a:ext cx="4160520" cy="5120640"/>
          </a:xfrm>
          <a:prstGeom prst="rect">
            <a:avLst/>
          </a:prstGeom>
          <a:noFill/>
        </p:spPr>
        <p:txBody>
          <a:bodyPr wrap="square" anchor="t" lIns="0" rIns="0" tIns="0" bIns="0">
            <a:spAutoFit/>
          </a:bodyPr>
          <a:lstStyle/>
          <a:p>
            <a:pPr algn="l">
              <a:lnSpc>
                <a:spcPct val="110000"/>
              </a:lnSpc>
              <a:spcBef>
                <a:spcPts val="0"/>
              </a:spcBef>
              <a:spcAft>
                <a:spcPts val="250"/>
              </a:spcAft>
            </a:pPr>
            <a:r>
              <a:rPr sz="1100" b="1" i="0">
                <a:solidFill>
                  <a:srgbClr val="314359"/>
                </a:solidFill>
                <a:latin typeface="Times New Roman"/>
              </a:rPr>
              <a:t>Company description</a:t>
            </a:r>
          </a:p>
          <a:p>
            <a:pPr algn="l">
              <a:lnSpc>
                <a:spcPct val="108000"/>
              </a:lnSpc>
              <a:spcAft>
                <a:spcPts val="200"/>
              </a:spcAft>
            </a:pPr>
            <a:r>
              <a:rPr sz="869" b="0" i="0">
                <a:solidFill>
                  <a:srgbClr val="0E1620"/>
                </a:solidFill>
                <a:latin typeface="Arial"/>
              </a:rPr>
              <a:t>Wihlborgs and Drott were Swedish listed real-estate companies holding commercial and residential properties in the growing Stockholm and Malmö regions, trading at a discount to NAV with no active owner.</a:t>
            </a:r>
          </a:p>
          <a:p>
            <a:pPr algn="l">
              <a:lnSpc>
                <a:spcPct val="110000"/>
              </a:lnSpc>
              <a:spcBef>
                <a:spcPts val="700"/>
              </a:spcBef>
              <a:spcAft>
                <a:spcPts val="250"/>
              </a:spcAft>
            </a:pPr>
            <a:r>
              <a:rPr sz="1100" b="1" i="0">
                <a:solidFill>
                  <a:srgbClr val="314359"/>
                </a:solidFill>
                <a:latin typeface="Times New Roman"/>
              </a:rPr>
              <a:t>Recognized opportunities</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Shares traded at a discount to NAV for real-estate companies</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Hidden values in both Wihlborgs and Drott</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Limited active ownership; inefficient debt/capital structure</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Limited synergies between commercial and residential — divest</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Inefficient organisations</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Property-investment funds were pushing prices upwards</a:t>
            </a:r>
          </a:p>
          <a:p>
            <a:pPr algn="l">
              <a:lnSpc>
                <a:spcPct val="110000"/>
              </a:lnSpc>
              <a:spcBef>
                <a:spcPts val="700"/>
              </a:spcBef>
              <a:spcAft>
                <a:spcPts val="250"/>
              </a:spcAft>
            </a:pPr>
            <a:r>
              <a:rPr sz="1100" b="1" i="0">
                <a:solidFill>
                  <a:srgbClr val="314359"/>
                </a:solidFill>
                <a:latin typeface="Times New Roman"/>
              </a:rPr>
              <a:t>Initial plan</a:t>
            </a:r>
          </a:p>
          <a:p>
            <a:pPr algn="l">
              <a:lnSpc>
                <a:spcPct val="108000"/>
              </a:lnSpc>
              <a:spcAft>
                <a:spcPts val="200"/>
              </a:spcAft>
            </a:pPr>
            <a:r>
              <a:rPr sz="869" b="0" i="0">
                <a:solidFill>
                  <a:srgbClr val="0E1620"/>
                </a:solidFill>
                <a:latin typeface="Arial"/>
              </a:rPr>
              <a:t>Divest properties and reduce costs to enable cash distribution; split commercial and residential into separate companies — one for the Öresund/Malmö region and one for Stockholm; refinance to lower the cost of debt.</a:t>
            </a:r>
          </a:p>
          <a:p>
            <a:pPr algn="l">
              <a:lnSpc>
                <a:spcPct val="110000"/>
              </a:lnSpc>
              <a:spcBef>
                <a:spcPts val="700"/>
              </a:spcBef>
              <a:spcAft>
                <a:spcPts val="250"/>
              </a:spcAft>
            </a:pPr>
            <a:r>
              <a:rPr sz="1100" b="1" i="0">
                <a:solidFill>
                  <a:srgbClr val="314359"/>
                </a:solidFill>
                <a:latin typeface="Times New Roman"/>
              </a:rPr>
              <a:t>Results</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Öresund acquired 12% of Wihlborgs (2001); new board members joined</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Wihlborgs built a ~10% position in Drott; a new board was elected</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New management plan with ~SEK 85m of yearly savings</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Several properties divested — SEK 3.3bn cash redemption (2004)</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Drott split into BAB Drott (residential, sold to Stena) and Fabege (commercial, acquired by Wihlborgs)</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Combined operations later split into two regional companies</a:t>
            </a:r>
          </a:p>
        </p:txBody>
      </p:sp>
      <p:sp>
        <p:nvSpPr>
          <p:cNvPr id="9" name="Rounded Rectangle 8"/>
          <p:cNvSpPr/>
          <p:nvPr/>
        </p:nvSpPr>
        <p:spPr>
          <a:xfrm>
            <a:off x="4983480" y="1783080"/>
            <a:ext cx="4297680" cy="384048"/>
          </a:xfrm>
          <a:prstGeom prst="roundRect">
            <a:avLst/>
          </a:prstGeom>
          <a:solidFill>
            <a:srgbClr val="F6F7F9"/>
          </a:solidFill>
          <a:ln>
            <a:noFill/>
          </a:ln>
          <a:effectLst/>
        </p:spPr>
        <p:txBody>
          <a:bodyPr rtlCol="0" anchor="ctr"/>
          <a:lstStyle/>
          <a:p>
            <a:pPr algn="ctr"/>
          </a:p>
        </p:txBody>
      </p:sp>
      <p:sp>
        <p:nvSpPr>
          <p:cNvPr id="10" name="TextBox 9"/>
          <p:cNvSpPr txBox="1"/>
          <p:nvPr/>
        </p:nvSpPr>
        <p:spPr>
          <a:xfrm>
            <a:off x="4983480" y="1783080"/>
            <a:ext cx="4297680" cy="384048"/>
          </a:xfrm>
          <a:prstGeom prst="rect">
            <a:avLst/>
          </a:prstGeom>
          <a:noFill/>
        </p:spPr>
        <p:txBody>
          <a:bodyPr wrap="square" anchor="ctr" lIns="0" rIns="0" tIns="0" bIns="0">
            <a:spAutoFit/>
          </a:bodyPr>
          <a:lstStyle/>
          <a:p>
            <a:pPr algn="ctr">
              <a:lnSpc>
                <a:spcPct val="110000"/>
              </a:lnSpc>
              <a:spcAft>
                <a:spcPts val="0"/>
              </a:spcAft>
            </a:pPr>
            <a:r>
              <a:rPr sz="1250" b="1" i="0">
                <a:solidFill>
                  <a:srgbClr val="314359"/>
                </a:solidFill>
                <a:latin typeface="Times New Roman"/>
              </a:rPr>
              <a:t>IRR 31.0% · 2002–2004</a:t>
            </a:r>
          </a:p>
        </p:txBody>
      </p:sp>
      <p:pic>
        <p:nvPicPr>
          <p:cNvPr id="11" name="Picture 10" descr="drott_line.png"/>
          <p:cNvPicPr>
            <a:picLocks noChangeAspect="1"/>
          </p:cNvPicPr>
          <p:nvPr/>
        </p:nvPicPr>
        <p:blipFill>
          <a:blip r:embed="rId3"/>
          <a:stretch>
            <a:fillRect/>
          </a:stretch>
        </p:blipFill>
        <p:spPr>
          <a:xfrm>
            <a:off x="4983480" y="2276856"/>
            <a:ext cx="4297680" cy="2479862"/>
          </a:xfrm>
          <a:prstGeom prst="rect">
            <a:avLst/>
          </a:prstGeom>
        </p:spPr>
      </p:pic>
      <p:sp>
        <p:nvSpPr>
          <p:cNvPr id="12" name="TextBox 11"/>
          <p:cNvSpPr txBox="1"/>
          <p:nvPr/>
        </p:nvSpPr>
        <p:spPr>
          <a:xfrm>
            <a:off x="4983480" y="4848158"/>
            <a:ext cx="4297680" cy="457200"/>
          </a:xfrm>
          <a:prstGeom prst="rect">
            <a:avLst/>
          </a:prstGeom>
          <a:noFill/>
        </p:spPr>
        <p:txBody>
          <a:bodyPr wrap="square" anchor="t" lIns="0" rIns="0" tIns="0" bIns="0">
            <a:spAutoFit/>
          </a:bodyPr>
          <a:lstStyle/>
          <a:p>
            <a:pPr algn="ctr">
              <a:lnSpc>
                <a:spcPct val="110000"/>
              </a:lnSpc>
              <a:spcAft>
                <a:spcPts val="0"/>
              </a:spcAft>
            </a:pPr>
            <a:r>
              <a:rPr sz="1200" b="1" i="0">
                <a:solidFill>
                  <a:srgbClr val="314359"/>
                </a:solidFill>
                <a:latin typeface="Times New Roman"/>
              </a:rPr>
              <a:t>≈ SEK 3bn of net value created in 15 months</a:t>
            </a:r>
          </a:p>
        </p:txBody>
      </p:sp>
      <p:sp>
        <p:nvSpPr>
          <p:cNvPr id="13" name="TextBox 12"/>
          <p:cNvSpPr txBox="1"/>
          <p:nvPr/>
        </p:nvSpPr>
        <p:spPr>
          <a:xfrm>
            <a:off x="502920" y="6967728"/>
            <a:ext cx="4846320" cy="274320"/>
          </a:xfrm>
          <a:prstGeom prst="rect">
            <a:avLst/>
          </a:prstGeom>
          <a:noFill/>
        </p:spPr>
        <p:txBody>
          <a:bodyPr wrap="square" anchor="t" lIns="0" rIns="0" tIns="0" bIns="0">
            <a:spAutoFit/>
          </a:bodyPr>
          <a:lstStyle/>
          <a:p>
            <a:pPr algn="l">
              <a:lnSpc>
                <a:spcPct val="100000"/>
              </a:lnSpc>
              <a:spcAft>
                <a:spcPts val="0"/>
              </a:spcAft>
            </a:pPr>
            <a:r>
              <a:rPr sz="750" b="0" i="1">
                <a:solidFill>
                  <a:srgbClr val="556A83"/>
                </a:solidFill>
                <a:latin typeface="Arial"/>
              </a:rPr>
              <a:t>Note: 9 SEK ≈ 1€. IRR unleveraged and net of all costs. Executed by members of the team at Investment AB Öresund.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753904" cy="7315200"/>
          </a:xfrm>
          <a:prstGeom prst="rect">
            <a:avLst/>
          </a:prstGeom>
          <a:solidFill>
            <a:srgbClr val="FFFFFF"/>
          </a:solidFill>
          <a:ln>
            <a:noFill/>
          </a:ln>
          <a:effectLst/>
        </p:spPr>
        <p:txBody>
          <a:bodyPr rtlCol="0" anchor="ctr"/>
          <a:lstStyle/>
          <a:p>
            <a:pPr algn="ctr"/>
          </a:p>
        </p:txBody>
      </p:sp>
      <p:pic>
        <p:nvPicPr>
          <p:cNvPr id="3" name="Picture 2" descr="mark_dark.png"/>
          <p:cNvPicPr>
            <a:picLocks noChangeAspect="1"/>
          </p:cNvPicPr>
          <p:nvPr/>
        </p:nvPicPr>
        <p:blipFill>
          <a:blip r:embed="rId2"/>
          <a:stretch>
            <a:fillRect/>
          </a:stretch>
        </p:blipFill>
        <p:spPr>
          <a:xfrm>
            <a:off x="457200" y="219456"/>
            <a:ext cx="280009" cy="237744"/>
          </a:xfrm>
          <a:prstGeom prst="rect">
            <a:avLst/>
          </a:prstGeom>
        </p:spPr>
      </p:pic>
      <p:sp>
        <p:nvSpPr>
          <p:cNvPr id="4" name="TextBox 3"/>
          <p:cNvSpPr txBox="1"/>
          <p:nvPr/>
        </p:nvSpPr>
        <p:spPr>
          <a:xfrm>
            <a:off x="841248" y="246888"/>
            <a:ext cx="5486400" cy="274320"/>
          </a:xfrm>
          <a:prstGeom prst="rect">
            <a:avLst/>
          </a:prstGeom>
          <a:noFill/>
        </p:spPr>
        <p:txBody>
          <a:bodyPr wrap="square" anchor="t" lIns="0" rIns="0" tIns="0" bIns="0">
            <a:spAutoFit/>
          </a:bodyPr>
          <a:lstStyle/>
          <a:p>
            <a:pPr algn="l">
              <a:lnSpc>
                <a:spcPct val="110000"/>
              </a:lnSpc>
              <a:spcAft>
                <a:spcPts val="0"/>
              </a:spcAft>
            </a:pPr>
            <a:r>
              <a:rPr sz="1100" b="0" i="0">
                <a:solidFill>
                  <a:srgbClr val="556A83"/>
                </a:solidFill>
                <a:latin typeface="Arial"/>
              </a:rPr>
              <a:t>Case · Öresund era</a:t>
            </a:r>
          </a:p>
        </p:txBody>
      </p:sp>
      <p:sp>
        <p:nvSpPr>
          <p:cNvPr id="5" name="Rectangle 4"/>
          <p:cNvSpPr/>
          <p:nvPr/>
        </p:nvSpPr>
        <p:spPr>
          <a:xfrm>
            <a:off x="0" y="566928"/>
            <a:ext cx="9753904" cy="914400"/>
          </a:xfrm>
          <a:prstGeom prst="rect">
            <a:avLst/>
          </a:prstGeom>
          <a:solidFill>
            <a:srgbClr val="F6F7F9"/>
          </a:solidFill>
          <a:ln>
            <a:noFill/>
          </a:ln>
          <a:effectLst/>
        </p:spPr>
        <p:txBody>
          <a:bodyPr rtlCol="0" anchor="ctr"/>
          <a:lstStyle/>
          <a:p>
            <a:pPr algn="ctr"/>
          </a:p>
        </p:txBody>
      </p:sp>
      <p:sp>
        <p:nvSpPr>
          <p:cNvPr id="6" name="TextBox 5"/>
          <p:cNvSpPr txBox="1"/>
          <p:nvPr/>
        </p:nvSpPr>
        <p:spPr>
          <a:xfrm>
            <a:off x="502920" y="713232"/>
            <a:ext cx="8778240" cy="640080"/>
          </a:xfrm>
          <a:prstGeom prst="rect">
            <a:avLst/>
          </a:prstGeom>
          <a:noFill/>
        </p:spPr>
        <p:txBody>
          <a:bodyPr wrap="square" anchor="t" lIns="0" rIns="0" tIns="0" bIns="0">
            <a:spAutoFit/>
          </a:bodyPr>
          <a:lstStyle/>
          <a:p>
            <a:pPr algn="l">
              <a:lnSpc>
                <a:spcPct val="110000"/>
              </a:lnSpc>
              <a:spcAft>
                <a:spcPts val="0"/>
              </a:spcAft>
            </a:pPr>
            <a:r>
              <a:rPr sz="2600" b="0" i="0" spc="-78">
                <a:solidFill>
                  <a:srgbClr val="314359"/>
                </a:solidFill>
                <a:latin typeface="Times New Roman"/>
              </a:rPr>
              <a:t>Investment case study: J&amp;W</a:t>
            </a:r>
          </a:p>
        </p:txBody>
      </p:sp>
      <p:sp>
        <p:nvSpPr>
          <p:cNvPr id="7" name="TextBox 6"/>
          <p:cNvSpPr txBox="1"/>
          <p:nvPr/>
        </p:nvSpPr>
        <p:spPr>
          <a:xfrm>
            <a:off x="5486400" y="6967728"/>
            <a:ext cx="4023360" cy="274320"/>
          </a:xfrm>
          <a:prstGeom prst="rect">
            <a:avLst/>
          </a:prstGeom>
          <a:noFill/>
        </p:spPr>
        <p:txBody>
          <a:bodyPr wrap="square" anchor="t" lIns="0" rIns="0" tIns="0" bIns="0">
            <a:spAutoFit/>
          </a:bodyPr>
          <a:lstStyle/>
          <a:p>
            <a:pPr algn="r">
              <a:lnSpc>
                <a:spcPct val="110000"/>
              </a:lnSpc>
              <a:spcAft>
                <a:spcPts val="0"/>
              </a:spcAft>
            </a:pPr>
            <a:r>
              <a:rPr sz="850" b="0" i="0">
                <a:solidFill>
                  <a:srgbClr val="556A83"/>
                </a:solidFill>
                <a:latin typeface="Arial"/>
              </a:rPr>
              <a:t>Strictly confidential          13</a:t>
            </a:r>
          </a:p>
        </p:txBody>
      </p:sp>
      <p:sp>
        <p:nvSpPr>
          <p:cNvPr id="8" name="TextBox 7"/>
          <p:cNvSpPr txBox="1"/>
          <p:nvPr/>
        </p:nvSpPr>
        <p:spPr>
          <a:xfrm>
            <a:off x="502920" y="1783080"/>
            <a:ext cx="4160520" cy="5120640"/>
          </a:xfrm>
          <a:prstGeom prst="rect">
            <a:avLst/>
          </a:prstGeom>
          <a:noFill/>
        </p:spPr>
        <p:txBody>
          <a:bodyPr wrap="square" anchor="t" lIns="0" rIns="0" tIns="0" bIns="0">
            <a:spAutoFit/>
          </a:bodyPr>
          <a:lstStyle/>
          <a:p>
            <a:pPr algn="l">
              <a:lnSpc>
                <a:spcPct val="110000"/>
              </a:lnSpc>
              <a:spcBef>
                <a:spcPts val="0"/>
              </a:spcBef>
              <a:spcAft>
                <a:spcPts val="250"/>
              </a:spcAft>
            </a:pPr>
            <a:r>
              <a:rPr sz="1100" b="1" i="0">
                <a:solidFill>
                  <a:srgbClr val="314359"/>
                </a:solidFill>
                <a:latin typeface="Times New Roman"/>
              </a:rPr>
              <a:t>Company description</a:t>
            </a:r>
          </a:p>
          <a:p>
            <a:pPr algn="l">
              <a:lnSpc>
                <a:spcPct val="108000"/>
              </a:lnSpc>
              <a:spcAft>
                <a:spcPts val="200"/>
              </a:spcAft>
            </a:pPr>
            <a:r>
              <a:rPr sz="869" b="0" i="0">
                <a:solidFill>
                  <a:srgbClr val="0E1620"/>
                </a:solidFill>
                <a:latin typeface="Arial"/>
              </a:rPr>
              <a:t>J&amp;W (Jacobson &amp; Widmark) was a Swedish technical-consulting firm. Öresund first invested in 1994 and took a controlling interest in 2000.</a:t>
            </a:r>
          </a:p>
          <a:p>
            <a:pPr algn="l">
              <a:lnSpc>
                <a:spcPct val="110000"/>
              </a:lnSpc>
              <a:spcBef>
                <a:spcPts val="700"/>
              </a:spcBef>
              <a:spcAft>
                <a:spcPts val="250"/>
              </a:spcAft>
            </a:pPr>
            <a:r>
              <a:rPr sz="1100" b="1" i="0">
                <a:solidFill>
                  <a:srgbClr val="314359"/>
                </a:solidFill>
                <a:latin typeface="Times New Roman"/>
              </a:rPr>
              <a:t>Recognized opportunities</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Over-funded pension plans — cash to be returned from the SPP pension trust (now Alecta)</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A fragmented consulting market with consolidation potential</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A non-core subsidiary (Benima Ferator) that could be divested</a:t>
            </a:r>
          </a:p>
          <a:p>
            <a:pPr algn="l">
              <a:lnSpc>
                <a:spcPct val="110000"/>
              </a:lnSpc>
              <a:spcBef>
                <a:spcPts val="700"/>
              </a:spcBef>
              <a:spcAft>
                <a:spcPts val="250"/>
              </a:spcAft>
            </a:pPr>
            <a:r>
              <a:rPr sz="1100" b="1" i="0">
                <a:solidFill>
                  <a:srgbClr val="314359"/>
                </a:solidFill>
                <a:latin typeface="Times New Roman"/>
              </a:rPr>
              <a:t>Initial plan</a:t>
            </a:r>
          </a:p>
          <a:p>
            <a:pPr algn="l">
              <a:lnSpc>
                <a:spcPct val="108000"/>
              </a:lnSpc>
              <a:spcAft>
                <a:spcPts val="200"/>
              </a:spcAft>
            </a:pPr>
            <a:r>
              <a:rPr sz="869" b="0" i="0">
                <a:solidFill>
                  <a:srgbClr val="0E1620"/>
                </a:solidFill>
                <a:latin typeface="Arial"/>
              </a:rPr>
              <a:t>Return excess cash to shareholders, divest non-core operations, and consolidate the fragmented technical-consulting market through acquisitions.</a:t>
            </a:r>
          </a:p>
          <a:p>
            <a:pPr algn="l">
              <a:lnSpc>
                <a:spcPct val="110000"/>
              </a:lnSpc>
              <a:spcBef>
                <a:spcPts val="700"/>
              </a:spcBef>
              <a:spcAft>
                <a:spcPts val="250"/>
              </a:spcAft>
            </a:pPr>
            <a:r>
              <a:rPr sz="1100" b="1" i="0">
                <a:solidFill>
                  <a:srgbClr val="314359"/>
                </a:solidFill>
                <a:latin typeface="Times New Roman"/>
              </a:rPr>
              <a:t>Results</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Spun off Benima Ferator to shareholders (later acquired by Sigma)</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Transferred SPP pension-plan cash to shareholders</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Acquired several smaller competitors and the larger Kjessler &amp; Mannerstråle (KM)</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J&amp;W was subsequently sold to WSP</a:t>
            </a:r>
          </a:p>
        </p:txBody>
      </p:sp>
      <p:sp>
        <p:nvSpPr>
          <p:cNvPr id="9" name="Rounded Rectangle 8"/>
          <p:cNvSpPr/>
          <p:nvPr/>
        </p:nvSpPr>
        <p:spPr>
          <a:xfrm>
            <a:off x="4983480" y="1783080"/>
            <a:ext cx="4297680" cy="384048"/>
          </a:xfrm>
          <a:prstGeom prst="roundRect">
            <a:avLst/>
          </a:prstGeom>
          <a:solidFill>
            <a:srgbClr val="F6F7F9"/>
          </a:solidFill>
          <a:ln>
            <a:noFill/>
          </a:ln>
          <a:effectLst/>
        </p:spPr>
        <p:txBody>
          <a:bodyPr rtlCol="0" anchor="ctr"/>
          <a:lstStyle/>
          <a:p>
            <a:pPr algn="ctr"/>
          </a:p>
        </p:txBody>
      </p:sp>
      <p:sp>
        <p:nvSpPr>
          <p:cNvPr id="10" name="TextBox 9"/>
          <p:cNvSpPr txBox="1"/>
          <p:nvPr/>
        </p:nvSpPr>
        <p:spPr>
          <a:xfrm>
            <a:off x="4983480" y="1783080"/>
            <a:ext cx="4297680" cy="384048"/>
          </a:xfrm>
          <a:prstGeom prst="rect">
            <a:avLst/>
          </a:prstGeom>
          <a:noFill/>
        </p:spPr>
        <p:txBody>
          <a:bodyPr wrap="square" anchor="ctr" lIns="0" rIns="0" tIns="0" bIns="0">
            <a:spAutoFit/>
          </a:bodyPr>
          <a:lstStyle/>
          <a:p>
            <a:pPr algn="ctr">
              <a:lnSpc>
                <a:spcPct val="110000"/>
              </a:lnSpc>
              <a:spcAft>
                <a:spcPts val="0"/>
              </a:spcAft>
            </a:pPr>
            <a:r>
              <a:rPr sz="1250" b="1" i="0">
                <a:solidFill>
                  <a:srgbClr val="314359"/>
                </a:solidFill>
                <a:latin typeface="Times New Roman"/>
              </a:rPr>
              <a:t>IRR 94.4% · 2000–2001 · Technical consultants</a:t>
            </a:r>
          </a:p>
        </p:txBody>
      </p:sp>
      <p:sp>
        <p:nvSpPr>
          <p:cNvPr id="11" name="TextBox 10"/>
          <p:cNvSpPr txBox="1"/>
          <p:nvPr/>
        </p:nvSpPr>
        <p:spPr>
          <a:xfrm>
            <a:off x="4983480" y="2350008"/>
            <a:ext cx="4297680" cy="274320"/>
          </a:xfrm>
          <a:prstGeom prst="rect">
            <a:avLst/>
          </a:prstGeom>
          <a:noFill/>
        </p:spPr>
        <p:txBody>
          <a:bodyPr wrap="square" anchor="t" lIns="0" rIns="0" tIns="0" bIns="0">
            <a:spAutoFit/>
          </a:bodyPr>
          <a:lstStyle/>
          <a:p>
            <a:pPr algn="ctr">
              <a:lnSpc>
                <a:spcPct val="110000"/>
              </a:lnSpc>
              <a:spcAft>
                <a:spcPts val="0"/>
              </a:spcAft>
            </a:pPr>
            <a:r>
              <a:rPr sz="1100" b="1" i="0">
                <a:solidFill>
                  <a:srgbClr val="314359"/>
                </a:solidFill>
                <a:latin typeface="Times New Roman"/>
              </a:rPr>
              <a:t>Initial investment vs. current value</a:t>
            </a:r>
          </a:p>
        </p:txBody>
      </p:sp>
      <p:sp>
        <p:nvSpPr>
          <p:cNvPr id="12" name="Rectangle 11"/>
          <p:cNvSpPr/>
          <p:nvPr/>
        </p:nvSpPr>
        <p:spPr>
          <a:xfrm>
            <a:off x="5074920" y="4773168"/>
            <a:ext cx="4114800" cy="12700"/>
          </a:xfrm>
          <a:prstGeom prst="rect">
            <a:avLst/>
          </a:prstGeom>
          <a:solidFill>
            <a:srgbClr val="E2E5E9"/>
          </a:solidFill>
          <a:ln>
            <a:noFill/>
          </a:ln>
          <a:effectLst/>
        </p:spPr>
        <p:txBody>
          <a:bodyPr rtlCol="0" anchor="ctr"/>
          <a:lstStyle/>
          <a:p>
            <a:pPr algn="ctr"/>
          </a:p>
        </p:txBody>
      </p:sp>
      <p:sp>
        <p:nvSpPr>
          <p:cNvPr id="13" name="Rectangle 12"/>
          <p:cNvSpPr/>
          <p:nvPr/>
        </p:nvSpPr>
        <p:spPr>
          <a:xfrm>
            <a:off x="5577840" y="4044976"/>
            <a:ext cx="1051560" cy="728192"/>
          </a:xfrm>
          <a:prstGeom prst="rect">
            <a:avLst/>
          </a:prstGeom>
          <a:solidFill>
            <a:srgbClr val="152130"/>
          </a:solidFill>
          <a:ln>
            <a:noFill/>
          </a:ln>
          <a:effectLst/>
        </p:spPr>
        <p:txBody>
          <a:bodyPr rtlCol="0" anchor="ctr"/>
          <a:lstStyle/>
          <a:p>
            <a:pPr algn="ctr"/>
          </a:p>
        </p:txBody>
      </p:sp>
      <p:sp>
        <p:nvSpPr>
          <p:cNvPr id="14" name="TextBox 13"/>
          <p:cNvSpPr txBox="1"/>
          <p:nvPr/>
        </p:nvSpPr>
        <p:spPr>
          <a:xfrm>
            <a:off x="5303520" y="3770656"/>
            <a:ext cx="1600200" cy="256032"/>
          </a:xfrm>
          <a:prstGeom prst="rect">
            <a:avLst/>
          </a:prstGeom>
          <a:noFill/>
        </p:spPr>
        <p:txBody>
          <a:bodyPr wrap="square" anchor="t" lIns="0" rIns="0" tIns="0" bIns="0">
            <a:spAutoFit/>
          </a:bodyPr>
          <a:lstStyle/>
          <a:p>
            <a:pPr algn="ctr">
              <a:lnSpc>
                <a:spcPct val="110000"/>
              </a:lnSpc>
              <a:spcAft>
                <a:spcPts val="0"/>
              </a:spcAft>
            </a:pPr>
            <a:r>
              <a:rPr sz="1300" b="1" i="0">
                <a:solidFill>
                  <a:srgbClr val="314359"/>
                </a:solidFill>
                <a:latin typeface="Times New Roman"/>
              </a:rPr>
              <a:t>213</a:t>
            </a:r>
          </a:p>
        </p:txBody>
      </p:sp>
      <p:sp>
        <p:nvSpPr>
          <p:cNvPr id="15" name="TextBox 14"/>
          <p:cNvSpPr txBox="1"/>
          <p:nvPr/>
        </p:nvSpPr>
        <p:spPr>
          <a:xfrm>
            <a:off x="5074920" y="4828032"/>
            <a:ext cx="2057400" cy="310896"/>
          </a:xfrm>
          <a:prstGeom prst="rect">
            <a:avLst/>
          </a:prstGeom>
          <a:noFill/>
        </p:spPr>
        <p:txBody>
          <a:bodyPr wrap="square" anchor="t" lIns="0" rIns="0" tIns="0" bIns="0">
            <a:spAutoFit/>
          </a:bodyPr>
          <a:lstStyle/>
          <a:p>
            <a:pPr algn="ctr">
              <a:lnSpc>
                <a:spcPct val="110000"/>
              </a:lnSpc>
              <a:spcAft>
                <a:spcPts val="0"/>
              </a:spcAft>
            </a:pPr>
            <a:r>
              <a:rPr sz="950" b="0" i="0">
                <a:solidFill>
                  <a:srgbClr val="0E1620"/>
                </a:solidFill>
                <a:latin typeface="Arial"/>
              </a:rPr>
              <a:t>Initial investment</a:t>
            </a:r>
          </a:p>
        </p:txBody>
      </p:sp>
      <p:sp>
        <p:nvSpPr>
          <p:cNvPr id="16" name="Rectangle 15"/>
          <p:cNvSpPr/>
          <p:nvPr/>
        </p:nvSpPr>
        <p:spPr>
          <a:xfrm>
            <a:off x="7635240" y="3145846"/>
            <a:ext cx="1051560" cy="1627322"/>
          </a:xfrm>
          <a:prstGeom prst="rect">
            <a:avLst/>
          </a:prstGeom>
          <a:solidFill>
            <a:srgbClr val="152130"/>
          </a:solidFill>
          <a:ln>
            <a:noFill/>
          </a:ln>
          <a:effectLst/>
        </p:spPr>
        <p:txBody>
          <a:bodyPr rtlCol="0" anchor="ctr"/>
          <a:lstStyle/>
          <a:p>
            <a:pPr algn="ctr"/>
          </a:p>
        </p:txBody>
      </p:sp>
      <p:sp>
        <p:nvSpPr>
          <p:cNvPr id="17" name="TextBox 16"/>
          <p:cNvSpPr txBox="1"/>
          <p:nvPr/>
        </p:nvSpPr>
        <p:spPr>
          <a:xfrm>
            <a:off x="7360920" y="2871526"/>
            <a:ext cx="1600200" cy="256032"/>
          </a:xfrm>
          <a:prstGeom prst="rect">
            <a:avLst/>
          </a:prstGeom>
          <a:noFill/>
        </p:spPr>
        <p:txBody>
          <a:bodyPr wrap="square" anchor="t" lIns="0" rIns="0" tIns="0" bIns="0">
            <a:spAutoFit/>
          </a:bodyPr>
          <a:lstStyle/>
          <a:p>
            <a:pPr algn="ctr">
              <a:lnSpc>
                <a:spcPct val="110000"/>
              </a:lnSpc>
              <a:spcAft>
                <a:spcPts val="0"/>
              </a:spcAft>
            </a:pPr>
            <a:r>
              <a:rPr sz="1300" b="1" i="0">
                <a:solidFill>
                  <a:srgbClr val="314359"/>
                </a:solidFill>
                <a:latin typeface="Times New Roman"/>
              </a:rPr>
              <a:t>476</a:t>
            </a:r>
          </a:p>
        </p:txBody>
      </p:sp>
      <p:sp>
        <p:nvSpPr>
          <p:cNvPr id="18" name="TextBox 17"/>
          <p:cNvSpPr txBox="1"/>
          <p:nvPr/>
        </p:nvSpPr>
        <p:spPr>
          <a:xfrm>
            <a:off x="7132320" y="4828032"/>
            <a:ext cx="2057400" cy="310896"/>
          </a:xfrm>
          <a:prstGeom prst="rect">
            <a:avLst/>
          </a:prstGeom>
          <a:noFill/>
        </p:spPr>
        <p:txBody>
          <a:bodyPr wrap="square" anchor="t" lIns="0" rIns="0" tIns="0" bIns="0">
            <a:spAutoFit/>
          </a:bodyPr>
          <a:lstStyle/>
          <a:p>
            <a:pPr algn="ctr">
              <a:lnSpc>
                <a:spcPct val="110000"/>
              </a:lnSpc>
              <a:spcAft>
                <a:spcPts val="0"/>
              </a:spcAft>
            </a:pPr>
            <a:r>
              <a:rPr sz="950" b="0" i="0">
                <a:solidFill>
                  <a:srgbClr val="0E1620"/>
                </a:solidFill>
                <a:latin typeface="Arial"/>
              </a:rPr>
              <a:t>Current value</a:t>
            </a:r>
          </a:p>
        </p:txBody>
      </p:sp>
      <p:sp>
        <p:nvSpPr>
          <p:cNvPr id="19" name="TextBox 18"/>
          <p:cNvSpPr txBox="1"/>
          <p:nvPr/>
        </p:nvSpPr>
        <p:spPr>
          <a:xfrm>
            <a:off x="4983480" y="5157216"/>
            <a:ext cx="4297680" cy="201168"/>
          </a:xfrm>
          <a:prstGeom prst="rect">
            <a:avLst/>
          </a:prstGeom>
          <a:noFill/>
        </p:spPr>
        <p:txBody>
          <a:bodyPr wrap="square" anchor="t" lIns="0" rIns="0" tIns="0" bIns="0">
            <a:spAutoFit/>
          </a:bodyPr>
          <a:lstStyle/>
          <a:p>
            <a:pPr algn="l">
              <a:lnSpc>
                <a:spcPct val="110000"/>
              </a:lnSpc>
              <a:spcAft>
                <a:spcPts val="0"/>
              </a:spcAft>
            </a:pPr>
            <a:r>
              <a:rPr sz="850" b="0" i="1">
                <a:solidFill>
                  <a:srgbClr val="556A83"/>
                </a:solidFill>
                <a:latin typeface="Arial"/>
              </a:rPr>
              <a:t>SEK M</a:t>
            </a:r>
          </a:p>
        </p:txBody>
      </p:sp>
      <p:sp>
        <p:nvSpPr>
          <p:cNvPr id="20" name="TextBox 19"/>
          <p:cNvSpPr txBox="1"/>
          <p:nvPr/>
        </p:nvSpPr>
        <p:spPr>
          <a:xfrm>
            <a:off x="502920" y="6967728"/>
            <a:ext cx="4846320" cy="274320"/>
          </a:xfrm>
          <a:prstGeom prst="rect">
            <a:avLst/>
          </a:prstGeom>
          <a:noFill/>
        </p:spPr>
        <p:txBody>
          <a:bodyPr wrap="square" anchor="t" lIns="0" rIns="0" tIns="0" bIns="0">
            <a:spAutoFit/>
          </a:bodyPr>
          <a:lstStyle/>
          <a:p>
            <a:pPr algn="l">
              <a:lnSpc>
                <a:spcPct val="100000"/>
              </a:lnSpc>
              <a:spcAft>
                <a:spcPts val="0"/>
              </a:spcAft>
            </a:pPr>
            <a:r>
              <a:rPr sz="750" b="0" i="1">
                <a:solidFill>
                  <a:srgbClr val="556A83"/>
                </a:solidFill>
                <a:latin typeface="Arial"/>
              </a:rPr>
              <a:t>Note: 9 SEK ≈ 1€. IRR unleveraged and net of all costs. Executed by members of the team at Investment AB Öresund.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753904" cy="7315200"/>
          </a:xfrm>
          <a:prstGeom prst="rect">
            <a:avLst/>
          </a:prstGeom>
          <a:solidFill>
            <a:srgbClr val="FFFFFF"/>
          </a:solidFill>
          <a:ln>
            <a:noFill/>
          </a:ln>
          <a:effectLst/>
        </p:spPr>
        <p:txBody>
          <a:bodyPr rtlCol="0" anchor="ctr"/>
          <a:lstStyle/>
          <a:p>
            <a:pPr algn="ctr"/>
          </a:p>
        </p:txBody>
      </p:sp>
      <p:pic>
        <p:nvPicPr>
          <p:cNvPr id="3" name="Picture 2" descr="mark_dark.png"/>
          <p:cNvPicPr>
            <a:picLocks noChangeAspect="1"/>
          </p:cNvPicPr>
          <p:nvPr/>
        </p:nvPicPr>
        <p:blipFill>
          <a:blip r:embed="rId2"/>
          <a:stretch>
            <a:fillRect/>
          </a:stretch>
        </p:blipFill>
        <p:spPr>
          <a:xfrm>
            <a:off x="457200" y="219456"/>
            <a:ext cx="280009" cy="237744"/>
          </a:xfrm>
          <a:prstGeom prst="rect">
            <a:avLst/>
          </a:prstGeom>
        </p:spPr>
      </p:pic>
      <p:sp>
        <p:nvSpPr>
          <p:cNvPr id="4" name="TextBox 3"/>
          <p:cNvSpPr txBox="1"/>
          <p:nvPr/>
        </p:nvSpPr>
        <p:spPr>
          <a:xfrm>
            <a:off x="841248" y="246888"/>
            <a:ext cx="5486400" cy="274320"/>
          </a:xfrm>
          <a:prstGeom prst="rect">
            <a:avLst/>
          </a:prstGeom>
          <a:noFill/>
        </p:spPr>
        <p:txBody>
          <a:bodyPr wrap="square" anchor="t" lIns="0" rIns="0" tIns="0" bIns="0">
            <a:spAutoFit/>
          </a:bodyPr>
          <a:lstStyle/>
          <a:p>
            <a:pPr algn="l">
              <a:lnSpc>
                <a:spcPct val="110000"/>
              </a:lnSpc>
              <a:spcAft>
                <a:spcPts val="0"/>
              </a:spcAft>
            </a:pPr>
            <a:r>
              <a:rPr sz="1100" b="0" i="0">
                <a:solidFill>
                  <a:srgbClr val="556A83"/>
                </a:solidFill>
                <a:latin typeface="Arial"/>
              </a:rPr>
              <a:t>Case · Öresund era</a:t>
            </a:r>
          </a:p>
        </p:txBody>
      </p:sp>
      <p:sp>
        <p:nvSpPr>
          <p:cNvPr id="5" name="Rectangle 4"/>
          <p:cNvSpPr/>
          <p:nvPr/>
        </p:nvSpPr>
        <p:spPr>
          <a:xfrm>
            <a:off x="0" y="566928"/>
            <a:ext cx="9753904" cy="914400"/>
          </a:xfrm>
          <a:prstGeom prst="rect">
            <a:avLst/>
          </a:prstGeom>
          <a:solidFill>
            <a:srgbClr val="F6F7F9"/>
          </a:solidFill>
          <a:ln>
            <a:noFill/>
          </a:ln>
          <a:effectLst/>
        </p:spPr>
        <p:txBody>
          <a:bodyPr rtlCol="0" anchor="ctr"/>
          <a:lstStyle/>
          <a:p>
            <a:pPr algn="ctr"/>
          </a:p>
        </p:txBody>
      </p:sp>
      <p:sp>
        <p:nvSpPr>
          <p:cNvPr id="6" name="TextBox 5"/>
          <p:cNvSpPr txBox="1"/>
          <p:nvPr/>
        </p:nvSpPr>
        <p:spPr>
          <a:xfrm>
            <a:off x="502920" y="713232"/>
            <a:ext cx="8778240" cy="640080"/>
          </a:xfrm>
          <a:prstGeom prst="rect">
            <a:avLst/>
          </a:prstGeom>
          <a:noFill/>
        </p:spPr>
        <p:txBody>
          <a:bodyPr wrap="square" anchor="t" lIns="0" rIns="0" tIns="0" bIns="0">
            <a:spAutoFit/>
          </a:bodyPr>
          <a:lstStyle/>
          <a:p>
            <a:pPr algn="l">
              <a:lnSpc>
                <a:spcPct val="110000"/>
              </a:lnSpc>
              <a:spcAft>
                <a:spcPts val="0"/>
              </a:spcAft>
            </a:pPr>
            <a:r>
              <a:rPr sz="2600" b="0" i="0" spc="-78">
                <a:solidFill>
                  <a:srgbClr val="314359"/>
                </a:solidFill>
                <a:latin typeface="Times New Roman"/>
              </a:rPr>
              <a:t>Investment case study: Nobia</a:t>
            </a:r>
          </a:p>
        </p:txBody>
      </p:sp>
      <p:sp>
        <p:nvSpPr>
          <p:cNvPr id="7" name="TextBox 6"/>
          <p:cNvSpPr txBox="1"/>
          <p:nvPr/>
        </p:nvSpPr>
        <p:spPr>
          <a:xfrm>
            <a:off x="5486400" y="6967728"/>
            <a:ext cx="4023360" cy="274320"/>
          </a:xfrm>
          <a:prstGeom prst="rect">
            <a:avLst/>
          </a:prstGeom>
          <a:noFill/>
        </p:spPr>
        <p:txBody>
          <a:bodyPr wrap="square" anchor="t" lIns="0" rIns="0" tIns="0" bIns="0">
            <a:spAutoFit/>
          </a:bodyPr>
          <a:lstStyle/>
          <a:p>
            <a:pPr algn="r">
              <a:lnSpc>
                <a:spcPct val="110000"/>
              </a:lnSpc>
              <a:spcAft>
                <a:spcPts val="0"/>
              </a:spcAft>
            </a:pPr>
            <a:r>
              <a:rPr sz="850" b="0" i="0">
                <a:solidFill>
                  <a:srgbClr val="556A83"/>
                </a:solidFill>
                <a:latin typeface="Arial"/>
              </a:rPr>
              <a:t>Strictly confidential          14</a:t>
            </a:r>
          </a:p>
        </p:txBody>
      </p:sp>
      <p:sp>
        <p:nvSpPr>
          <p:cNvPr id="8" name="TextBox 7"/>
          <p:cNvSpPr txBox="1"/>
          <p:nvPr/>
        </p:nvSpPr>
        <p:spPr>
          <a:xfrm>
            <a:off x="502920" y="1783080"/>
            <a:ext cx="4160520" cy="5120640"/>
          </a:xfrm>
          <a:prstGeom prst="rect">
            <a:avLst/>
          </a:prstGeom>
          <a:noFill/>
        </p:spPr>
        <p:txBody>
          <a:bodyPr wrap="square" anchor="t" lIns="0" rIns="0" tIns="0" bIns="0">
            <a:spAutoFit/>
          </a:bodyPr>
          <a:lstStyle/>
          <a:p>
            <a:pPr algn="l">
              <a:lnSpc>
                <a:spcPct val="110000"/>
              </a:lnSpc>
              <a:spcBef>
                <a:spcPts val="0"/>
              </a:spcBef>
              <a:spcAft>
                <a:spcPts val="250"/>
              </a:spcAft>
            </a:pPr>
            <a:r>
              <a:rPr sz="1100" b="1" i="0">
                <a:solidFill>
                  <a:srgbClr val="314359"/>
                </a:solidFill>
                <a:latin typeface="Times New Roman"/>
              </a:rPr>
              <a:t>Company description</a:t>
            </a:r>
          </a:p>
          <a:p>
            <a:pPr algn="l">
              <a:lnSpc>
                <a:spcPct val="108000"/>
              </a:lnSpc>
              <a:spcAft>
                <a:spcPts val="200"/>
              </a:spcAft>
            </a:pPr>
            <a:r>
              <a:rPr sz="869" b="0" i="0">
                <a:solidFill>
                  <a:srgbClr val="0E1620"/>
                </a:solidFill>
                <a:latin typeface="Arial"/>
              </a:rPr>
              <a:t>Nobia is a European kitchen company. Originally active across several construction-component areas, it was streamlined to focus on kitchens.</a:t>
            </a:r>
          </a:p>
          <a:p>
            <a:pPr algn="l">
              <a:lnSpc>
                <a:spcPct val="110000"/>
              </a:lnSpc>
              <a:spcBef>
                <a:spcPts val="700"/>
              </a:spcBef>
              <a:spcAft>
                <a:spcPts val="250"/>
              </a:spcAft>
            </a:pPr>
            <a:r>
              <a:rPr sz="1100" b="1" i="0">
                <a:solidFill>
                  <a:srgbClr val="314359"/>
                </a:solidFill>
                <a:latin typeface="Times New Roman"/>
              </a:rPr>
              <a:t>Recognized opportunities</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Active across several construction-component areas — focus opportunity</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A fragmented European kitchen market with consolidation potential</a:t>
            </a:r>
          </a:p>
          <a:p>
            <a:pPr algn="l">
              <a:lnSpc>
                <a:spcPct val="110000"/>
              </a:lnSpc>
              <a:spcBef>
                <a:spcPts val="700"/>
              </a:spcBef>
              <a:spcAft>
                <a:spcPts val="250"/>
              </a:spcAft>
            </a:pPr>
            <a:r>
              <a:rPr sz="1100" b="1" i="0">
                <a:solidFill>
                  <a:srgbClr val="314359"/>
                </a:solidFill>
                <a:latin typeface="Times New Roman"/>
              </a:rPr>
              <a:t>Initial plan</a:t>
            </a:r>
          </a:p>
          <a:p>
            <a:pPr algn="l">
              <a:lnSpc>
                <a:spcPct val="108000"/>
              </a:lnSpc>
              <a:spcAft>
                <a:spcPts val="200"/>
              </a:spcAft>
            </a:pPr>
            <a:r>
              <a:rPr sz="869" b="0" i="0">
                <a:solidFill>
                  <a:srgbClr val="0E1620"/>
                </a:solidFill>
                <a:latin typeface="Arial"/>
              </a:rPr>
              <a:t>Streamline Nobia to focus on kitchens by divesting other areas, and consolidate the European kitchen market through acquisitions.</a:t>
            </a:r>
          </a:p>
          <a:p>
            <a:pPr algn="l">
              <a:lnSpc>
                <a:spcPct val="110000"/>
              </a:lnSpc>
              <a:spcBef>
                <a:spcPts val="700"/>
              </a:spcBef>
              <a:spcAft>
                <a:spcPts val="250"/>
              </a:spcAft>
            </a:pPr>
            <a:r>
              <a:rPr sz="1100" b="1" i="0">
                <a:solidFill>
                  <a:srgbClr val="314359"/>
                </a:solidFill>
                <a:latin typeface="Times New Roman"/>
              </a:rPr>
              <a:t>Results</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Streamlined to focus on kitchens (sold Doors &amp; Windows)</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Acquired Gower, EWE-FM and Hygena — the largest kitchen company in Europe</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Turnover up from SEK 9.2bn (2003) to SEK 16.1bn (12m to Jun 2007)</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EBIT up from SEK 560m to SEK 1,360m</a:t>
            </a:r>
          </a:p>
        </p:txBody>
      </p:sp>
      <p:sp>
        <p:nvSpPr>
          <p:cNvPr id="9" name="Rounded Rectangle 8"/>
          <p:cNvSpPr/>
          <p:nvPr/>
        </p:nvSpPr>
        <p:spPr>
          <a:xfrm>
            <a:off x="4983480" y="1783080"/>
            <a:ext cx="4297680" cy="384048"/>
          </a:xfrm>
          <a:prstGeom prst="roundRect">
            <a:avLst/>
          </a:prstGeom>
          <a:solidFill>
            <a:srgbClr val="F6F7F9"/>
          </a:solidFill>
          <a:ln>
            <a:noFill/>
          </a:ln>
          <a:effectLst/>
        </p:spPr>
        <p:txBody>
          <a:bodyPr rtlCol="0" anchor="ctr"/>
          <a:lstStyle/>
          <a:p>
            <a:pPr algn="ctr"/>
          </a:p>
        </p:txBody>
      </p:sp>
      <p:sp>
        <p:nvSpPr>
          <p:cNvPr id="10" name="TextBox 9"/>
          <p:cNvSpPr txBox="1"/>
          <p:nvPr/>
        </p:nvSpPr>
        <p:spPr>
          <a:xfrm>
            <a:off x="4983480" y="1783080"/>
            <a:ext cx="4297680" cy="384048"/>
          </a:xfrm>
          <a:prstGeom prst="rect">
            <a:avLst/>
          </a:prstGeom>
          <a:noFill/>
        </p:spPr>
        <p:txBody>
          <a:bodyPr wrap="square" anchor="ctr" lIns="0" rIns="0" tIns="0" bIns="0">
            <a:spAutoFit/>
          </a:bodyPr>
          <a:lstStyle/>
          <a:p>
            <a:pPr algn="ctr">
              <a:lnSpc>
                <a:spcPct val="110000"/>
              </a:lnSpc>
              <a:spcAft>
                <a:spcPts val="0"/>
              </a:spcAft>
            </a:pPr>
            <a:r>
              <a:rPr sz="1250" b="1" i="0">
                <a:solidFill>
                  <a:srgbClr val="314359"/>
                </a:solidFill>
                <a:latin typeface="Times New Roman"/>
              </a:rPr>
              <a:t>IRR 33.1% · 2002– · Consumer discretionary</a:t>
            </a:r>
          </a:p>
        </p:txBody>
      </p:sp>
      <p:sp>
        <p:nvSpPr>
          <p:cNvPr id="11" name="TextBox 10"/>
          <p:cNvSpPr txBox="1"/>
          <p:nvPr/>
        </p:nvSpPr>
        <p:spPr>
          <a:xfrm>
            <a:off x="4983480" y="2350008"/>
            <a:ext cx="4297680" cy="274320"/>
          </a:xfrm>
          <a:prstGeom prst="rect">
            <a:avLst/>
          </a:prstGeom>
          <a:noFill/>
        </p:spPr>
        <p:txBody>
          <a:bodyPr wrap="square" anchor="t" lIns="0" rIns="0" tIns="0" bIns="0">
            <a:spAutoFit/>
          </a:bodyPr>
          <a:lstStyle/>
          <a:p>
            <a:pPr algn="ctr">
              <a:lnSpc>
                <a:spcPct val="110000"/>
              </a:lnSpc>
              <a:spcAft>
                <a:spcPts val="0"/>
              </a:spcAft>
            </a:pPr>
            <a:r>
              <a:rPr sz="1100" b="1" i="0">
                <a:solidFill>
                  <a:srgbClr val="314359"/>
                </a:solidFill>
                <a:latin typeface="Times New Roman"/>
              </a:rPr>
              <a:t>Initial investment vs. current value</a:t>
            </a:r>
          </a:p>
        </p:txBody>
      </p:sp>
      <p:sp>
        <p:nvSpPr>
          <p:cNvPr id="12" name="Rectangle 11"/>
          <p:cNvSpPr/>
          <p:nvPr/>
        </p:nvSpPr>
        <p:spPr>
          <a:xfrm>
            <a:off x="5074920" y="4773168"/>
            <a:ext cx="4114800" cy="12700"/>
          </a:xfrm>
          <a:prstGeom prst="rect">
            <a:avLst/>
          </a:prstGeom>
          <a:solidFill>
            <a:srgbClr val="E2E5E9"/>
          </a:solidFill>
          <a:ln>
            <a:noFill/>
          </a:ln>
          <a:effectLst/>
        </p:spPr>
        <p:txBody>
          <a:bodyPr rtlCol="0" anchor="ctr"/>
          <a:lstStyle/>
          <a:p>
            <a:pPr algn="ctr"/>
          </a:p>
        </p:txBody>
      </p:sp>
      <p:sp>
        <p:nvSpPr>
          <p:cNvPr id="13" name="Rectangle 12"/>
          <p:cNvSpPr/>
          <p:nvPr/>
        </p:nvSpPr>
        <p:spPr>
          <a:xfrm>
            <a:off x="5577840" y="4529746"/>
            <a:ext cx="1051560" cy="243422"/>
          </a:xfrm>
          <a:prstGeom prst="rect">
            <a:avLst/>
          </a:prstGeom>
          <a:solidFill>
            <a:srgbClr val="152130"/>
          </a:solidFill>
          <a:ln>
            <a:noFill/>
          </a:ln>
          <a:effectLst/>
        </p:spPr>
        <p:txBody>
          <a:bodyPr rtlCol="0" anchor="ctr"/>
          <a:lstStyle/>
          <a:p>
            <a:pPr algn="ctr"/>
          </a:p>
        </p:txBody>
      </p:sp>
      <p:sp>
        <p:nvSpPr>
          <p:cNvPr id="14" name="TextBox 13"/>
          <p:cNvSpPr txBox="1"/>
          <p:nvPr/>
        </p:nvSpPr>
        <p:spPr>
          <a:xfrm>
            <a:off x="5303520" y="4255426"/>
            <a:ext cx="1600200" cy="256032"/>
          </a:xfrm>
          <a:prstGeom prst="rect">
            <a:avLst/>
          </a:prstGeom>
          <a:noFill/>
        </p:spPr>
        <p:txBody>
          <a:bodyPr wrap="square" anchor="t" lIns="0" rIns="0" tIns="0" bIns="0">
            <a:spAutoFit/>
          </a:bodyPr>
          <a:lstStyle/>
          <a:p>
            <a:pPr algn="ctr">
              <a:lnSpc>
                <a:spcPct val="110000"/>
              </a:lnSpc>
              <a:spcAft>
                <a:spcPts val="0"/>
              </a:spcAft>
            </a:pPr>
            <a:r>
              <a:rPr sz="1300" b="1" i="0">
                <a:solidFill>
                  <a:srgbClr val="314359"/>
                </a:solidFill>
                <a:latin typeface="Times New Roman"/>
              </a:rPr>
              <a:t>162</a:t>
            </a:r>
          </a:p>
        </p:txBody>
      </p:sp>
      <p:sp>
        <p:nvSpPr>
          <p:cNvPr id="15" name="TextBox 14"/>
          <p:cNvSpPr txBox="1"/>
          <p:nvPr/>
        </p:nvSpPr>
        <p:spPr>
          <a:xfrm>
            <a:off x="5074920" y="4828032"/>
            <a:ext cx="2057400" cy="310896"/>
          </a:xfrm>
          <a:prstGeom prst="rect">
            <a:avLst/>
          </a:prstGeom>
          <a:noFill/>
        </p:spPr>
        <p:txBody>
          <a:bodyPr wrap="square" anchor="t" lIns="0" rIns="0" tIns="0" bIns="0">
            <a:spAutoFit/>
          </a:bodyPr>
          <a:lstStyle/>
          <a:p>
            <a:pPr algn="ctr">
              <a:lnSpc>
                <a:spcPct val="110000"/>
              </a:lnSpc>
              <a:spcAft>
                <a:spcPts val="0"/>
              </a:spcAft>
            </a:pPr>
            <a:r>
              <a:rPr sz="950" b="0" i="0">
                <a:solidFill>
                  <a:srgbClr val="0E1620"/>
                </a:solidFill>
                <a:latin typeface="Arial"/>
              </a:rPr>
              <a:t>Initial investment</a:t>
            </a:r>
          </a:p>
        </p:txBody>
      </p:sp>
      <p:sp>
        <p:nvSpPr>
          <p:cNvPr id="16" name="Rectangle 15"/>
          <p:cNvSpPr/>
          <p:nvPr/>
        </p:nvSpPr>
        <p:spPr>
          <a:xfrm>
            <a:off x="7635240" y="3145846"/>
            <a:ext cx="1051560" cy="1627322"/>
          </a:xfrm>
          <a:prstGeom prst="rect">
            <a:avLst/>
          </a:prstGeom>
          <a:solidFill>
            <a:srgbClr val="152130"/>
          </a:solidFill>
          <a:ln>
            <a:noFill/>
          </a:ln>
          <a:effectLst/>
        </p:spPr>
        <p:txBody>
          <a:bodyPr rtlCol="0" anchor="ctr"/>
          <a:lstStyle/>
          <a:p>
            <a:pPr algn="ctr"/>
          </a:p>
        </p:txBody>
      </p:sp>
      <p:sp>
        <p:nvSpPr>
          <p:cNvPr id="17" name="TextBox 16"/>
          <p:cNvSpPr txBox="1"/>
          <p:nvPr/>
        </p:nvSpPr>
        <p:spPr>
          <a:xfrm>
            <a:off x="7360920" y="2871526"/>
            <a:ext cx="1600200" cy="256032"/>
          </a:xfrm>
          <a:prstGeom prst="rect">
            <a:avLst/>
          </a:prstGeom>
          <a:noFill/>
        </p:spPr>
        <p:txBody>
          <a:bodyPr wrap="square" anchor="t" lIns="0" rIns="0" tIns="0" bIns="0">
            <a:spAutoFit/>
          </a:bodyPr>
          <a:lstStyle/>
          <a:p>
            <a:pPr algn="ctr">
              <a:lnSpc>
                <a:spcPct val="110000"/>
              </a:lnSpc>
              <a:spcAft>
                <a:spcPts val="0"/>
              </a:spcAft>
            </a:pPr>
            <a:r>
              <a:rPr sz="1300" b="1" i="0">
                <a:solidFill>
                  <a:srgbClr val="314359"/>
                </a:solidFill>
                <a:latin typeface="Times New Roman"/>
              </a:rPr>
              <a:t>1,083</a:t>
            </a:r>
          </a:p>
        </p:txBody>
      </p:sp>
      <p:sp>
        <p:nvSpPr>
          <p:cNvPr id="18" name="TextBox 17"/>
          <p:cNvSpPr txBox="1"/>
          <p:nvPr/>
        </p:nvSpPr>
        <p:spPr>
          <a:xfrm>
            <a:off x="7132320" y="4828032"/>
            <a:ext cx="2057400" cy="310896"/>
          </a:xfrm>
          <a:prstGeom prst="rect">
            <a:avLst/>
          </a:prstGeom>
          <a:noFill/>
        </p:spPr>
        <p:txBody>
          <a:bodyPr wrap="square" anchor="t" lIns="0" rIns="0" tIns="0" bIns="0">
            <a:spAutoFit/>
          </a:bodyPr>
          <a:lstStyle/>
          <a:p>
            <a:pPr algn="ctr">
              <a:lnSpc>
                <a:spcPct val="110000"/>
              </a:lnSpc>
              <a:spcAft>
                <a:spcPts val="0"/>
              </a:spcAft>
            </a:pPr>
            <a:r>
              <a:rPr sz="950" b="0" i="0">
                <a:solidFill>
                  <a:srgbClr val="0E1620"/>
                </a:solidFill>
                <a:latin typeface="Arial"/>
              </a:rPr>
              <a:t>Current value</a:t>
            </a:r>
          </a:p>
        </p:txBody>
      </p:sp>
      <p:sp>
        <p:nvSpPr>
          <p:cNvPr id="19" name="TextBox 18"/>
          <p:cNvSpPr txBox="1"/>
          <p:nvPr/>
        </p:nvSpPr>
        <p:spPr>
          <a:xfrm>
            <a:off x="4983480" y="5157216"/>
            <a:ext cx="4297680" cy="201168"/>
          </a:xfrm>
          <a:prstGeom prst="rect">
            <a:avLst/>
          </a:prstGeom>
          <a:noFill/>
        </p:spPr>
        <p:txBody>
          <a:bodyPr wrap="square" anchor="t" lIns="0" rIns="0" tIns="0" bIns="0">
            <a:spAutoFit/>
          </a:bodyPr>
          <a:lstStyle/>
          <a:p>
            <a:pPr algn="l">
              <a:lnSpc>
                <a:spcPct val="110000"/>
              </a:lnSpc>
              <a:spcAft>
                <a:spcPts val="0"/>
              </a:spcAft>
            </a:pPr>
            <a:r>
              <a:rPr sz="850" b="0" i="1">
                <a:solidFill>
                  <a:srgbClr val="556A83"/>
                </a:solidFill>
                <a:latin typeface="Arial"/>
              </a:rPr>
              <a:t>SEK M</a:t>
            </a:r>
          </a:p>
        </p:txBody>
      </p:sp>
      <p:sp>
        <p:nvSpPr>
          <p:cNvPr id="20" name="TextBox 19"/>
          <p:cNvSpPr txBox="1"/>
          <p:nvPr/>
        </p:nvSpPr>
        <p:spPr>
          <a:xfrm>
            <a:off x="502920" y="6967728"/>
            <a:ext cx="4846320" cy="274320"/>
          </a:xfrm>
          <a:prstGeom prst="rect">
            <a:avLst/>
          </a:prstGeom>
          <a:noFill/>
        </p:spPr>
        <p:txBody>
          <a:bodyPr wrap="square" anchor="t" lIns="0" rIns="0" tIns="0" bIns="0">
            <a:spAutoFit/>
          </a:bodyPr>
          <a:lstStyle/>
          <a:p>
            <a:pPr algn="l">
              <a:lnSpc>
                <a:spcPct val="100000"/>
              </a:lnSpc>
              <a:spcAft>
                <a:spcPts val="0"/>
              </a:spcAft>
            </a:pPr>
            <a:r>
              <a:rPr sz="750" b="0" i="1">
                <a:solidFill>
                  <a:srgbClr val="556A83"/>
                </a:solidFill>
                <a:latin typeface="Arial"/>
              </a:rPr>
              <a:t>Note: 9 SEK ≈ 1€. IRR unleveraged and net of all costs. Executed by members of the team at Investment AB Öresund.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753904" cy="7315200"/>
          </a:xfrm>
          <a:prstGeom prst="rect">
            <a:avLst/>
          </a:prstGeom>
          <a:solidFill>
            <a:srgbClr val="FFFFFF"/>
          </a:solidFill>
          <a:ln>
            <a:noFill/>
          </a:ln>
          <a:effectLst/>
        </p:spPr>
        <p:txBody>
          <a:bodyPr rtlCol="0" anchor="ctr"/>
          <a:lstStyle/>
          <a:p>
            <a:pPr algn="ctr"/>
          </a:p>
        </p:txBody>
      </p:sp>
      <p:pic>
        <p:nvPicPr>
          <p:cNvPr id="3" name="Picture 2" descr="mark_dark.png"/>
          <p:cNvPicPr>
            <a:picLocks noChangeAspect="1"/>
          </p:cNvPicPr>
          <p:nvPr/>
        </p:nvPicPr>
        <p:blipFill>
          <a:blip r:embed="rId2"/>
          <a:stretch>
            <a:fillRect/>
          </a:stretch>
        </p:blipFill>
        <p:spPr>
          <a:xfrm>
            <a:off x="457200" y="219456"/>
            <a:ext cx="280009" cy="237744"/>
          </a:xfrm>
          <a:prstGeom prst="rect">
            <a:avLst/>
          </a:prstGeom>
        </p:spPr>
      </p:pic>
      <p:sp>
        <p:nvSpPr>
          <p:cNvPr id="4" name="TextBox 3"/>
          <p:cNvSpPr txBox="1"/>
          <p:nvPr/>
        </p:nvSpPr>
        <p:spPr>
          <a:xfrm>
            <a:off x="841248" y="246888"/>
            <a:ext cx="5486400" cy="274320"/>
          </a:xfrm>
          <a:prstGeom prst="rect">
            <a:avLst/>
          </a:prstGeom>
          <a:noFill/>
        </p:spPr>
        <p:txBody>
          <a:bodyPr wrap="square" anchor="t" lIns="0" rIns="0" tIns="0" bIns="0">
            <a:spAutoFit/>
          </a:bodyPr>
          <a:lstStyle/>
          <a:p>
            <a:pPr algn="l">
              <a:lnSpc>
                <a:spcPct val="110000"/>
              </a:lnSpc>
              <a:spcAft>
                <a:spcPts val="0"/>
              </a:spcAft>
            </a:pPr>
            <a:r>
              <a:rPr sz="1100" b="0" i="0">
                <a:solidFill>
                  <a:srgbClr val="556A83"/>
                </a:solidFill>
                <a:latin typeface="Arial"/>
              </a:rPr>
              <a:t>Case · Öresund era</a:t>
            </a:r>
          </a:p>
        </p:txBody>
      </p:sp>
      <p:sp>
        <p:nvSpPr>
          <p:cNvPr id="5" name="Rectangle 4"/>
          <p:cNvSpPr/>
          <p:nvPr/>
        </p:nvSpPr>
        <p:spPr>
          <a:xfrm>
            <a:off x="0" y="566928"/>
            <a:ext cx="9753904" cy="914400"/>
          </a:xfrm>
          <a:prstGeom prst="rect">
            <a:avLst/>
          </a:prstGeom>
          <a:solidFill>
            <a:srgbClr val="F6F7F9"/>
          </a:solidFill>
          <a:ln>
            <a:noFill/>
          </a:ln>
          <a:effectLst/>
        </p:spPr>
        <p:txBody>
          <a:bodyPr rtlCol="0" anchor="ctr"/>
          <a:lstStyle/>
          <a:p>
            <a:pPr algn="ctr"/>
          </a:p>
        </p:txBody>
      </p:sp>
      <p:sp>
        <p:nvSpPr>
          <p:cNvPr id="6" name="TextBox 5"/>
          <p:cNvSpPr txBox="1"/>
          <p:nvPr/>
        </p:nvSpPr>
        <p:spPr>
          <a:xfrm>
            <a:off x="502920" y="713232"/>
            <a:ext cx="8778240" cy="640080"/>
          </a:xfrm>
          <a:prstGeom prst="rect">
            <a:avLst/>
          </a:prstGeom>
          <a:noFill/>
        </p:spPr>
        <p:txBody>
          <a:bodyPr wrap="square" anchor="t" lIns="0" rIns="0" tIns="0" bIns="0">
            <a:spAutoFit/>
          </a:bodyPr>
          <a:lstStyle/>
          <a:p>
            <a:pPr algn="l">
              <a:lnSpc>
                <a:spcPct val="110000"/>
              </a:lnSpc>
              <a:spcAft>
                <a:spcPts val="0"/>
              </a:spcAft>
            </a:pPr>
            <a:r>
              <a:rPr sz="2600" b="0" i="0" spc="-78">
                <a:solidFill>
                  <a:srgbClr val="314359"/>
                </a:solidFill>
                <a:latin typeface="Times New Roman"/>
              </a:rPr>
              <a:t>Investment case study: HQ / Avanza</a:t>
            </a:r>
          </a:p>
        </p:txBody>
      </p:sp>
      <p:sp>
        <p:nvSpPr>
          <p:cNvPr id="7" name="TextBox 6"/>
          <p:cNvSpPr txBox="1"/>
          <p:nvPr/>
        </p:nvSpPr>
        <p:spPr>
          <a:xfrm>
            <a:off x="5486400" y="6967728"/>
            <a:ext cx="4023360" cy="274320"/>
          </a:xfrm>
          <a:prstGeom prst="rect">
            <a:avLst/>
          </a:prstGeom>
          <a:noFill/>
        </p:spPr>
        <p:txBody>
          <a:bodyPr wrap="square" anchor="t" lIns="0" rIns="0" tIns="0" bIns="0">
            <a:spAutoFit/>
          </a:bodyPr>
          <a:lstStyle/>
          <a:p>
            <a:pPr algn="r">
              <a:lnSpc>
                <a:spcPct val="110000"/>
              </a:lnSpc>
              <a:spcAft>
                <a:spcPts val="0"/>
              </a:spcAft>
            </a:pPr>
            <a:r>
              <a:rPr sz="850" b="0" i="0">
                <a:solidFill>
                  <a:srgbClr val="556A83"/>
                </a:solidFill>
                <a:latin typeface="Arial"/>
              </a:rPr>
              <a:t>Strictly confidential          15</a:t>
            </a:r>
          </a:p>
        </p:txBody>
      </p:sp>
      <p:sp>
        <p:nvSpPr>
          <p:cNvPr id="8" name="TextBox 7"/>
          <p:cNvSpPr txBox="1"/>
          <p:nvPr/>
        </p:nvSpPr>
        <p:spPr>
          <a:xfrm>
            <a:off x="502920" y="1783080"/>
            <a:ext cx="4160520" cy="5120640"/>
          </a:xfrm>
          <a:prstGeom prst="rect">
            <a:avLst/>
          </a:prstGeom>
          <a:noFill/>
        </p:spPr>
        <p:txBody>
          <a:bodyPr wrap="square" anchor="t" lIns="0" rIns="0" tIns="0" bIns="0">
            <a:spAutoFit/>
          </a:bodyPr>
          <a:lstStyle/>
          <a:p>
            <a:pPr algn="l">
              <a:lnSpc>
                <a:spcPct val="110000"/>
              </a:lnSpc>
              <a:spcBef>
                <a:spcPts val="0"/>
              </a:spcBef>
              <a:spcAft>
                <a:spcPts val="250"/>
              </a:spcAft>
            </a:pPr>
            <a:r>
              <a:rPr sz="1100" b="1" i="0">
                <a:solidFill>
                  <a:srgbClr val="314359"/>
                </a:solidFill>
                <a:latin typeface="Times New Roman"/>
              </a:rPr>
              <a:t>Company description</a:t>
            </a:r>
          </a:p>
          <a:p>
            <a:pPr algn="l">
              <a:lnSpc>
                <a:spcPct val="108000"/>
              </a:lnSpc>
              <a:spcAft>
                <a:spcPts val="200"/>
              </a:spcAft>
            </a:pPr>
            <a:r>
              <a:rPr sz="869" b="0" i="0">
                <a:solidFill>
                  <a:srgbClr val="0E1620"/>
                </a:solidFill>
                <a:latin typeface="Arial"/>
              </a:rPr>
              <a:t>Hagströmer &amp; Qviberg (HQ) and Avanza are Swedish financial companies — brokerage, fund management, wealth management and online brokerage. Sven Hagströmer founded Hagströmer Fondkommission in 1986; Mats Qviberg joined in 1989.</a:t>
            </a:r>
          </a:p>
          <a:p>
            <a:pPr algn="l">
              <a:lnSpc>
                <a:spcPct val="110000"/>
              </a:lnSpc>
              <a:spcBef>
                <a:spcPts val="700"/>
              </a:spcBef>
              <a:spcAft>
                <a:spcPts val="250"/>
              </a:spcAft>
            </a:pPr>
            <a:r>
              <a:rPr sz="1100" b="1" i="0">
                <a:solidFill>
                  <a:srgbClr val="314359"/>
                </a:solidFill>
                <a:latin typeface="Times New Roman"/>
              </a:rPr>
              <a:t>Recognized opportunities</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Separate online brokerage / fund management from traditional brokerage and investment banking</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Consolidation opportunities among internet brokerages</a:t>
            </a:r>
          </a:p>
          <a:p>
            <a:pPr algn="l">
              <a:lnSpc>
                <a:spcPct val="110000"/>
              </a:lnSpc>
              <a:spcBef>
                <a:spcPts val="700"/>
              </a:spcBef>
              <a:spcAft>
                <a:spcPts val="250"/>
              </a:spcAft>
            </a:pPr>
            <a:r>
              <a:rPr sz="1100" b="1" i="0">
                <a:solidFill>
                  <a:srgbClr val="314359"/>
                </a:solidFill>
                <a:latin typeface="Times New Roman"/>
              </a:rPr>
              <a:t>Initial plan</a:t>
            </a:r>
          </a:p>
          <a:p>
            <a:pPr algn="l">
              <a:lnSpc>
                <a:spcPct val="108000"/>
              </a:lnSpc>
              <a:spcAft>
                <a:spcPts val="200"/>
              </a:spcAft>
            </a:pPr>
            <a:r>
              <a:rPr sz="869" b="0" i="0">
                <a:solidFill>
                  <a:srgbClr val="0E1620"/>
                </a:solidFill>
                <a:latin typeface="Arial"/>
              </a:rPr>
              <a:t>Split HQ into focused entities, consolidate internet brokerages into Avanza, and build a wealth-management business.</a:t>
            </a:r>
          </a:p>
          <a:p>
            <a:pPr algn="l">
              <a:lnSpc>
                <a:spcPct val="110000"/>
              </a:lnSpc>
              <a:spcBef>
                <a:spcPts val="700"/>
              </a:spcBef>
              <a:spcAft>
                <a:spcPts val="250"/>
              </a:spcAft>
            </a:pPr>
            <a:r>
              <a:rPr sz="1100" b="1" i="0">
                <a:solidFill>
                  <a:srgbClr val="314359"/>
                </a:solidFill>
                <a:latin typeface="Times New Roman"/>
              </a:rPr>
              <a:t>Results</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HQ split (2000) into HQ.SE (internet brokerage, fund management) and Hagströmer &amp; Qviberg</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HQ.SE acquired Aktiespar FK and Avanza; split into HQ Fonder and Avanza</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Avanza expanded into pensions, fund distribution, corporate finance and banking</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HQ Fonder merged with Hagströmer &amp; Qviberg (2005) — SEK 85bn AUM</a:t>
            </a:r>
          </a:p>
        </p:txBody>
      </p:sp>
      <p:sp>
        <p:nvSpPr>
          <p:cNvPr id="9" name="Rounded Rectangle 8"/>
          <p:cNvSpPr/>
          <p:nvPr/>
        </p:nvSpPr>
        <p:spPr>
          <a:xfrm>
            <a:off x="4983480" y="1783080"/>
            <a:ext cx="4297680" cy="384048"/>
          </a:xfrm>
          <a:prstGeom prst="roundRect">
            <a:avLst/>
          </a:prstGeom>
          <a:solidFill>
            <a:srgbClr val="F6F7F9"/>
          </a:solidFill>
          <a:ln>
            <a:noFill/>
          </a:ln>
          <a:effectLst/>
        </p:spPr>
        <p:txBody>
          <a:bodyPr rtlCol="0" anchor="ctr"/>
          <a:lstStyle/>
          <a:p>
            <a:pPr algn="ctr"/>
          </a:p>
        </p:txBody>
      </p:sp>
      <p:sp>
        <p:nvSpPr>
          <p:cNvPr id="10" name="TextBox 9"/>
          <p:cNvSpPr txBox="1"/>
          <p:nvPr/>
        </p:nvSpPr>
        <p:spPr>
          <a:xfrm>
            <a:off x="4983480" y="1783080"/>
            <a:ext cx="4297680" cy="384048"/>
          </a:xfrm>
          <a:prstGeom prst="rect">
            <a:avLst/>
          </a:prstGeom>
          <a:noFill/>
        </p:spPr>
        <p:txBody>
          <a:bodyPr wrap="square" anchor="ctr" lIns="0" rIns="0" tIns="0" bIns="0">
            <a:spAutoFit/>
          </a:bodyPr>
          <a:lstStyle/>
          <a:p>
            <a:pPr algn="ctr">
              <a:lnSpc>
                <a:spcPct val="110000"/>
              </a:lnSpc>
              <a:spcAft>
                <a:spcPts val="0"/>
              </a:spcAft>
            </a:pPr>
            <a:r>
              <a:rPr sz="1250" b="1" i="0">
                <a:solidFill>
                  <a:srgbClr val="314359"/>
                </a:solidFill>
                <a:latin typeface="Times New Roman"/>
              </a:rPr>
              <a:t>IRR 37.8% · 2000– · Finance</a:t>
            </a:r>
          </a:p>
        </p:txBody>
      </p:sp>
      <p:sp>
        <p:nvSpPr>
          <p:cNvPr id="11" name="TextBox 10"/>
          <p:cNvSpPr txBox="1"/>
          <p:nvPr/>
        </p:nvSpPr>
        <p:spPr>
          <a:xfrm>
            <a:off x="4983480" y="2350008"/>
            <a:ext cx="4297680" cy="274320"/>
          </a:xfrm>
          <a:prstGeom prst="rect">
            <a:avLst/>
          </a:prstGeom>
          <a:noFill/>
        </p:spPr>
        <p:txBody>
          <a:bodyPr wrap="square" anchor="t" lIns="0" rIns="0" tIns="0" bIns="0">
            <a:spAutoFit/>
          </a:bodyPr>
          <a:lstStyle/>
          <a:p>
            <a:pPr algn="ctr">
              <a:lnSpc>
                <a:spcPct val="110000"/>
              </a:lnSpc>
              <a:spcAft>
                <a:spcPts val="0"/>
              </a:spcAft>
            </a:pPr>
            <a:r>
              <a:rPr sz="1100" b="1" i="0">
                <a:solidFill>
                  <a:srgbClr val="314359"/>
                </a:solidFill>
                <a:latin typeface="Times New Roman"/>
              </a:rPr>
              <a:t>Initial investment vs. current value</a:t>
            </a:r>
          </a:p>
        </p:txBody>
      </p:sp>
      <p:sp>
        <p:nvSpPr>
          <p:cNvPr id="12" name="Rectangle 11"/>
          <p:cNvSpPr/>
          <p:nvPr/>
        </p:nvSpPr>
        <p:spPr>
          <a:xfrm>
            <a:off x="5074920" y="4773168"/>
            <a:ext cx="4114800" cy="12700"/>
          </a:xfrm>
          <a:prstGeom prst="rect">
            <a:avLst/>
          </a:prstGeom>
          <a:solidFill>
            <a:srgbClr val="E2E5E9"/>
          </a:solidFill>
          <a:ln>
            <a:noFill/>
          </a:ln>
          <a:effectLst/>
        </p:spPr>
        <p:txBody>
          <a:bodyPr rtlCol="0" anchor="ctr"/>
          <a:lstStyle/>
          <a:p>
            <a:pPr algn="ctr"/>
          </a:p>
        </p:txBody>
      </p:sp>
      <p:sp>
        <p:nvSpPr>
          <p:cNvPr id="13" name="Rectangle 12"/>
          <p:cNvSpPr/>
          <p:nvPr/>
        </p:nvSpPr>
        <p:spPr>
          <a:xfrm>
            <a:off x="5577840" y="4341998"/>
            <a:ext cx="1051560" cy="431170"/>
          </a:xfrm>
          <a:prstGeom prst="rect">
            <a:avLst/>
          </a:prstGeom>
          <a:solidFill>
            <a:srgbClr val="152130"/>
          </a:solidFill>
          <a:ln>
            <a:noFill/>
          </a:ln>
          <a:effectLst/>
        </p:spPr>
        <p:txBody>
          <a:bodyPr rtlCol="0" anchor="ctr"/>
          <a:lstStyle/>
          <a:p>
            <a:pPr algn="ctr"/>
          </a:p>
        </p:txBody>
      </p:sp>
      <p:sp>
        <p:nvSpPr>
          <p:cNvPr id="14" name="TextBox 13"/>
          <p:cNvSpPr txBox="1"/>
          <p:nvPr/>
        </p:nvSpPr>
        <p:spPr>
          <a:xfrm>
            <a:off x="5303520" y="4067678"/>
            <a:ext cx="1600200" cy="256032"/>
          </a:xfrm>
          <a:prstGeom prst="rect">
            <a:avLst/>
          </a:prstGeom>
          <a:noFill/>
        </p:spPr>
        <p:txBody>
          <a:bodyPr wrap="square" anchor="t" lIns="0" rIns="0" tIns="0" bIns="0">
            <a:spAutoFit/>
          </a:bodyPr>
          <a:lstStyle/>
          <a:p>
            <a:pPr algn="ctr">
              <a:lnSpc>
                <a:spcPct val="110000"/>
              </a:lnSpc>
              <a:spcAft>
                <a:spcPts val="0"/>
              </a:spcAft>
            </a:pPr>
            <a:r>
              <a:rPr sz="1300" b="1" i="0">
                <a:solidFill>
                  <a:srgbClr val="314359"/>
                </a:solidFill>
                <a:latin typeface="Times New Roman"/>
              </a:rPr>
              <a:t>744</a:t>
            </a:r>
          </a:p>
        </p:txBody>
      </p:sp>
      <p:sp>
        <p:nvSpPr>
          <p:cNvPr id="15" name="TextBox 14"/>
          <p:cNvSpPr txBox="1"/>
          <p:nvPr/>
        </p:nvSpPr>
        <p:spPr>
          <a:xfrm>
            <a:off x="5074920" y="4828032"/>
            <a:ext cx="2057400" cy="310896"/>
          </a:xfrm>
          <a:prstGeom prst="rect">
            <a:avLst/>
          </a:prstGeom>
          <a:noFill/>
        </p:spPr>
        <p:txBody>
          <a:bodyPr wrap="square" anchor="t" lIns="0" rIns="0" tIns="0" bIns="0">
            <a:spAutoFit/>
          </a:bodyPr>
          <a:lstStyle/>
          <a:p>
            <a:pPr algn="ctr">
              <a:lnSpc>
                <a:spcPct val="110000"/>
              </a:lnSpc>
              <a:spcAft>
                <a:spcPts val="0"/>
              </a:spcAft>
            </a:pPr>
            <a:r>
              <a:rPr sz="950" b="0" i="0">
                <a:solidFill>
                  <a:srgbClr val="0E1620"/>
                </a:solidFill>
                <a:latin typeface="Arial"/>
              </a:rPr>
              <a:t>Initial investment</a:t>
            </a:r>
          </a:p>
        </p:txBody>
      </p:sp>
      <p:sp>
        <p:nvSpPr>
          <p:cNvPr id="16" name="Rectangle 15"/>
          <p:cNvSpPr/>
          <p:nvPr/>
        </p:nvSpPr>
        <p:spPr>
          <a:xfrm>
            <a:off x="7635240" y="3145846"/>
            <a:ext cx="1051560" cy="1627322"/>
          </a:xfrm>
          <a:prstGeom prst="rect">
            <a:avLst/>
          </a:prstGeom>
          <a:solidFill>
            <a:srgbClr val="152130"/>
          </a:solidFill>
          <a:ln>
            <a:noFill/>
          </a:ln>
          <a:effectLst/>
        </p:spPr>
        <p:txBody>
          <a:bodyPr rtlCol="0" anchor="ctr"/>
          <a:lstStyle/>
          <a:p>
            <a:pPr algn="ctr"/>
          </a:p>
        </p:txBody>
      </p:sp>
      <p:sp>
        <p:nvSpPr>
          <p:cNvPr id="17" name="TextBox 16"/>
          <p:cNvSpPr txBox="1"/>
          <p:nvPr/>
        </p:nvSpPr>
        <p:spPr>
          <a:xfrm>
            <a:off x="7360920" y="2871526"/>
            <a:ext cx="1600200" cy="256032"/>
          </a:xfrm>
          <a:prstGeom prst="rect">
            <a:avLst/>
          </a:prstGeom>
          <a:noFill/>
        </p:spPr>
        <p:txBody>
          <a:bodyPr wrap="square" anchor="t" lIns="0" rIns="0" tIns="0" bIns="0">
            <a:spAutoFit/>
          </a:bodyPr>
          <a:lstStyle/>
          <a:p>
            <a:pPr algn="ctr">
              <a:lnSpc>
                <a:spcPct val="110000"/>
              </a:lnSpc>
              <a:spcAft>
                <a:spcPts val="0"/>
              </a:spcAft>
            </a:pPr>
            <a:r>
              <a:rPr sz="1300" b="1" i="0">
                <a:solidFill>
                  <a:srgbClr val="314359"/>
                </a:solidFill>
                <a:latin typeface="Times New Roman"/>
              </a:rPr>
              <a:t>2,808</a:t>
            </a:r>
          </a:p>
        </p:txBody>
      </p:sp>
      <p:sp>
        <p:nvSpPr>
          <p:cNvPr id="18" name="TextBox 17"/>
          <p:cNvSpPr txBox="1"/>
          <p:nvPr/>
        </p:nvSpPr>
        <p:spPr>
          <a:xfrm>
            <a:off x="7132320" y="4828032"/>
            <a:ext cx="2057400" cy="310896"/>
          </a:xfrm>
          <a:prstGeom prst="rect">
            <a:avLst/>
          </a:prstGeom>
          <a:noFill/>
        </p:spPr>
        <p:txBody>
          <a:bodyPr wrap="square" anchor="t" lIns="0" rIns="0" tIns="0" bIns="0">
            <a:spAutoFit/>
          </a:bodyPr>
          <a:lstStyle/>
          <a:p>
            <a:pPr algn="ctr">
              <a:lnSpc>
                <a:spcPct val="110000"/>
              </a:lnSpc>
              <a:spcAft>
                <a:spcPts val="0"/>
              </a:spcAft>
            </a:pPr>
            <a:r>
              <a:rPr sz="950" b="0" i="0">
                <a:solidFill>
                  <a:srgbClr val="0E1620"/>
                </a:solidFill>
                <a:latin typeface="Arial"/>
              </a:rPr>
              <a:t>Current value</a:t>
            </a:r>
          </a:p>
        </p:txBody>
      </p:sp>
      <p:sp>
        <p:nvSpPr>
          <p:cNvPr id="19" name="TextBox 18"/>
          <p:cNvSpPr txBox="1"/>
          <p:nvPr/>
        </p:nvSpPr>
        <p:spPr>
          <a:xfrm>
            <a:off x="4983480" y="5157216"/>
            <a:ext cx="4297680" cy="201168"/>
          </a:xfrm>
          <a:prstGeom prst="rect">
            <a:avLst/>
          </a:prstGeom>
          <a:noFill/>
        </p:spPr>
        <p:txBody>
          <a:bodyPr wrap="square" anchor="t" lIns="0" rIns="0" tIns="0" bIns="0">
            <a:spAutoFit/>
          </a:bodyPr>
          <a:lstStyle/>
          <a:p>
            <a:pPr algn="l">
              <a:lnSpc>
                <a:spcPct val="110000"/>
              </a:lnSpc>
              <a:spcAft>
                <a:spcPts val="0"/>
              </a:spcAft>
            </a:pPr>
            <a:r>
              <a:rPr sz="850" b="0" i="1">
                <a:solidFill>
                  <a:srgbClr val="556A83"/>
                </a:solidFill>
                <a:latin typeface="Arial"/>
              </a:rPr>
              <a:t>SEK M</a:t>
            </a:r>
          </a:p>
        </p:txBody>
      </p:sp>
      <p:sp>
        <p:nvSpPr>
          <p:cNvPr id="20" name="TextBox 19"/>
          <p:cNvSpPr txBox="1"/>
          <p:nvPr/>
        </p:nvSpPr>
        <p:spPr>
          <a:xfrm>
            <a:off x="502920" y="6967728"/>
            <a:ext cx="4846320" cy="274320"/>
          </a:xfrm>
          <a:prstGeom prst="rect">
            <a:avLst/>
          </a:prstGeom>
          <a:noFill/>
        </p:spPr>
        <p:txBody>
          <a:bodyPr wrap="square" anchor="t" lIns="0" rIns="0" tIns="0" bIns="0">
            <a:spAutoFit/>
          </a:bodyPr>
          <a:lstStyle/>
          <a:p>
            <a:pPr algn="l">
              <a:lnSpc>
                <a:spcPct val="100000"/>
              </a:lnSpc>
              <a:spcAft>
                <a:spcPts val="0"/>
              </a:spcAft>
            </a:pPr>
            <a:r>
              <a:rPr sz="750" b="0" i="1">
                <a:solidFill>
                  <a:srgbClr val="556A83"/>
                </a:solidFill>
                <a:latin typeface="Arial"/>
              </a:rPr>
              <a:t>Note: 9 SEK ≈ 1€. IRR unleveraged and net of all costs. Executed by members of the team at Investment AB Öresund.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753904" cy="7315200"/>
          </a:xfrm>
          <a:prstGeom prst="rect">
            <a:avLst/>
          </a:prstGeom>
          <a:solidFill>
            <a:srgbClr val="FFFFFF"/>
          </a:solidFill>
          <a:ln>
            <a:noFill/>
          </a:ln>
          <a:effectLst/>
        </p:spPr>
        <p:txBody>
          <a:bodyPr rtlCol="0" anchor="ctr"/>
          <a:lstStyle/>
          <a:p>
            <a:pPr algn="ctr"/>
          </a:p>
        </p:txBody>
      </p:sp>
      <p:pic>
        <p:nvPicPr>
          <p:cNvPr id="3" name="Picture 2" descr="mark_dark.png"/>
          <p:cNvPicPr>
            <a:picLocks noChangeAspect="1"/>
          </p:cNvPicPr>
          <p:nvPr/>
        </p:nvPicPr>
        <p:blipFill>
          <a:blip r:embed="rId2"/>
          <a:stretch>
            <a:fillRect/>
          </a:stretch>
        </p:blipFill>
        <p:spPr>
          <a:xfrm>
            <a:off x="457200" y="219456"/>
            <a:ext cx="280009" cy="237744"/>
          </a:xfrm>
          <a:prstGeom prst="rect">
            <a:avLst/>
          </a:prstGeom>
        </p:spPr>
      </p:pic>
      <p:sp>
        <p:nvSpPr>
          <p:cNvPr id="4" name="TextBox 3"/>
          <p:cNvSpPr txBox="1"/>
          <p:nvPr/>
        </p:nvSpPr>
        <p:spPr>
          <a:xfrm>
            <a:off x="841248" y="246888"/>
            <a:ext cx="5486400" cy="274320"/>
          </a:xfrm>
          <a:prstGeom prst="rect">
            <a:avLst/>
          </a:prstGeom>
          <a:noFill/>
        </p:spPr>
        <p:txBody>
          <a:bodyPr wrap="square" anchor="t" lIns="0" rIns="0" tIns="0" bIns="0">
            <a:spAutoFit/>
          </a:bodyPr>
          <a:lstStyle/>
          <a:p>
            <a:pPr algn="l">
              <a:lnSpc>
                <a:spcPct val="110000"/>
              </a:lnSpc>
              <a:spcAft>
                <a:spcPts val="0"/>
              </a:spcAft>
            </a:pPr>
            <a:r>
              <a:rPr sz="1100" b="0" i="0">
                <a:solidFill>
                  <a:srgbClr val="556A83"/>
                </a:solidFill>
                <a:latin typeface="Arial"/>
              </a:rPr>
              <a:t>Case · Öresund era</a:t>
            </a:r>
          </a:p>
        </p:txBody>
      </p:sp>
      <p:sp>
        <p:nvSpPr>
          <p:cNvPr id="5" name="Rectangle 4"/>
          <p:cNvSpPr/>
          <p:nvPr/>
        </p:nvSpPr>
        <p:spPr>
          <a:xfrm>
            <a:off x="0" y="566928"/>
            <a:ext cx="9753904" cy="914400"/>
          </a:xfrm>
          <a:prstGeom prst="rect">
            <a:avLst/>
          </a:prstGeom>
          <a:solidFill>
            <a:srgbClr val="F6F7F9"/>
          </a:solidFill>
          <a:ln>
            <a:noFill/>
          </a:ln>
          <a:effectLst/>
        </p:spPr>
        <p:txBody>
          <a:bodyPr rtlCol="0" anchor="ctr"/>
          <a:lstStyle/>
          <a:p>
            <a:pPr algn="ctr"/>
          </a:p>
        </p:txBody>
      </p:sp>
      <p:sp>
        <p:nvSpPr>
          <p:cNvPr id="6" name="TextBox 5"/>
          <p:cNvSpPr txBox="1"/>
          <p:nvPr/>
        </p:nvSpPr>
        <p:spPr>
          <a:xfrm>
            <a:off x="502920" y="713232"/>
            <a:ext cx="8778240" cy="640080"/>
          </a:xfrm>
          <a:prstGeom prst="rect">
            <a:avLst/>
          </a:prstGeom>
          <a:noFill/>
        </p:spPr>
        <p:txBody>
          <a:bodyPr wrap="square" anchor="t" lIns="0" rIns="0" tIns="0" bIns="0">
            <a:spAutoFit/>
          </a:bodyPr>
          <a:lstStyle/>
          <a:p>
            <a:pPr algn="l">
              <a:lnSpc>
                <a:spcPct val="110000"/>
              </a:lnSpc>
              <a:spcAft>
                <a:spcPts val="0"/>
              </a:spcAft>
            </a:pPr>
            <a:r>
              <a:rPr sz="2600" b="0" i="0" spc="-78">
                <a:solidFill>
                  <a:srgbClr val="314359"/>
                </a:solidFill>
                <a:latin typeface="Times New Roman"/>
              </a:rPr>
              <a:t>Investment case study: SkiStar</a:t>
            </a:r>
          </a:p>
        </p:txBody>
      </p:sp>
      <p:sp>
        <p:nvSpPr>
          <p:cNvPr id="7" name="TextBox 6"/>
          <p:cNvSpPr txBox="1"/>
          <p:nvPr/>
        </p:nvSpPr>
        <p:spPr>
          <a:xfrm>
            <a:off x="5486400" y="6967728"/>
            <a:ext cx="4023360" cy="274320"/>
          </a:xfrm>
          <a:prstGeom prst="rect">
            <a:avLst/>
          </a:prstGeom>
          <a:noFill/>
        </p:spPr>
        <p:txBody>
          <a:bodyPr wrap="square" anchor="t" lIns="0" rIns="0" tIns="0" bIns="0">
            <a:spAutoFit/>
          </a:bodyPr>
          <a:lstStyle/>
          <a:p>
            <a:pPr algn="r">
              <a:lnSpc>
                <a:spcPct val="110000"/>
              </a:lnSpc>
              <a:spcAft>
                <a:spcPts val="0"/>
              </a:spcAft>
            </a:pPr>
            <a:r>
              <a:rPr sz="850" b="0" i="0">
                <a:solidFill>
                  <a:srgbClr val="556A83"/>
                </a:solidFill>
                <a:latin typeface="Arial"/>
              </a:rPr>
              <a:t>Strictly confidential          16</a:t>
            </a:r>
          </a:p>
        </p:txBody>
      </p:sp>
      <p:sp>
        <p:nvSpPr>
          <p:cNvPr id="8" name="TextBox 7"/>
          <p:cNvSpPr txBox="1"/>
          <p:nvPr/>
        </p:nvSpPr>
        <p:spPr>
          <a:xfrm>
            <a:off x="502920" y="1783080"/>
            <a:ext cx="4160520" cy="5120640"/>
          </a:xfrm>
          <a:prstGeom prst="rect">
            <a:avLst/>
          </a:prstGeom>
          <a:noFill/>
        </p:spPr>
        <p:txBody>
          <a:bodyPr wrap="square" anchor="t" lIns="0" rIns="0" tIns="0" bIns="0">
            <a:spAutoFit/>
          </a:bodyPr>
          <a:lstStyle/>
          <a:p>
            <a:pPr algn="l">
              <a:lnSpc>
                <a:spcPct val="110000"/>
              </a:lnSpc>
              <a:spcBef>
                <a:spcPts val="0"/>
              </a:spcBef>
              <a:spcAft>
                <a:spcPts val="250"/>
              </a:spcAft>
            </a:pPr>
            <a:r>
              <a:rPr sz="1100" b="1" i="0">
                <a:solidFill>
                  <a:srgbClr val="314359"/>
                </a:solidFill>
                <a:latin typeface="Times New Roman"/>
              </a:rPr>
              <a:t>Company description</a:t>
            </a:r>
          </a:p>
          <a:p>
            <a:pPr algn="l">
              <a:lnSpc>
                <a:spcPct val="108000"/>
              </a:lnSpc>
              <a:spcAft>
                <a:spcPts val="200"/>
              </a:spcAft>
            </a:pPr>
            <a:r>
              <a:rPr sz="869" b="0" i="0">
                <a:solidFill>
                  <a:srgbClr val="0E1620"/>
                </a:solidFill>
                <a:latin typeface="Arial"/>
              </a:rPr>
              <a:t>SkiStar is a Scandinavian operator of alpine ski resorts, built through the consolidation of several destinations into a single listed leisure company.</a:t>
            </a:r>
          </a:p>
          <a:p>
            <a:pPr algn="l">
              <a:lnSpc>
                <a:spcPct val="110000"/>
              </a:lnSpc>
              <a:spcBef>
                <a:spcPts val="700"/>
              </a:spcBef>
              <a:spcAft>
                <a:spcPts val="250"/>
              </a:spcAft>
            </a:pPr>
            <a:r>
              <a:rPr sz="1100" b="1" i="0">
                <a:solidFill>
                  <a:srgbClr val="314359"/>
                </a:solidFill>
                <a:latin typeface="Times New Roman"/>
              </a:rPr>
              <a:t>Recognized opportunities</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A fragmented ski-resort market with consolidation potential</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Opportunity to build a leading Scandinavian leisure platform</a:t>
            </a:r>
          </a:p>
          <a:p>
            <a:pPr algn="l">
              <a:lnSpc>
                <a:spcPct val="110000"/>
              </a:lnSpc>
              <a:spcBef>
                <a:spcPts val="700"/>
              </a:spcBef>
              <a:spcAft>
                <a:spcPts val="250"/>
              </a:spcAft>
            </a:pPr>
            <a:r>
              <a:rPr sz="1100" b="1" i="0">
                <a:solidFill>
                  <a:srgbClr val="314359"/>
                </a:solidFill>
                <a:latin typeface="Times New Roman"/>
              </a:rPr>
              <a:t>Initial plan</a:t>
            </a:r>
          </a:p>
          <a:p>
            <a:pPr algn="l">
              <a:lnSpc>
                <a:spcPct val="108000"/>
              </a:lnSpc>
              <a:spcAft>
                <a:spcPts val="200"/>
              </a:spcAft>
            </a:pPr>
            <a:r>
              <a:rPr sz="869" b="0" i="0">
                <a:solidFill>
                  <a:srgbClr val="0E1620"/>
                </a:solidFill>
                <a:latin typeface="Arial"/>
              </a:rPr>
              <a:t>Consolidate alpine destinations into a single listed leisure company.</a:t>
            </a:r>
          </a:p>
          <a:p>
            <a:pPr algn="l">
              <a:lnSpc>
                <a:spcPct val="110000"/>
              </a:lnSpc>
              <a:spcBef>
                <a:spcPts val="700"/>
              </a:spcBef>
              <a:spcAft>
                <a:spcPts val="250"/>
              </a:spcAft>
            </a:pPr>
            <a:r>
              <a:rPr sz="1100" b="1" i="0">
                <a:solidFill>
                  <a:srgbClr val="314359"/>
                </a:solidFill>
                <a:latin typeface="Times New Roman"/>
              </a:rPr>
              <a:t>Results</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Hundfjället acquired Tandådalen; the combined entity was restructured</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Acquired Lindvallen; the combined entity was listed</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Acquired Åre, Duved and Vemdalen from Bure — renamed SkiStar</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Acquired Hemsedal (and later Trysil)</a:t>
            </a:r>
          </a:p>
        </p:txBody>
      </p:sp>
      <p:sp>
        <p:nvSpPr>
          <p:cNvPr id="9" name="Rounded Rectangle 8"/>
          <p:cNvSpPr/>
          <p:nvPr/>
        </p:nvSpPr>
        <p:spPr>
          <a:xfrm>
            <a:off x="4983480" y="1783080"/>
            <a:ext cx="4297680" cy="384048"/>
          </a:xfrm>
          <a:prstGeom prst="roundRect">
            <a:avLst/>
          </a:prstGeom>
          <a:solidFill>
            <a:srgbClr val="F6F7F9"/>
          </a:solidFill>
          <a:ln>
            <a:noFill/>
          </a:ln>
          <a:effectLst/>
        </p:spPr>
        <p:txBody>
          <a:bodyPr rtlCol="0" anchor="ctr"/>
          <a:lstStyle/>
          <a:p>
            <a:pPr algn="ctr"/>
          </a:p>
        </p:txBody>
      </p:sp>
      <p:sp>
        <p:nvSpPr>
          <p:cNvPr id="10" name="TextBox 9"/>
          <p:cNvSpPr txBox="1"/>
          <p:nvPr/>
        </p:nvSpPr>
        <p:spPr>
          <a:xfrm>
            <a:off x="4983480" y="1783080"/>
            <a:ext cx="4297680" cy="384048"/>
          </a:xfrm>
          <a:prstGeom prst="rect">
            <a:avLst/>
          </a:prstGeom>
          <a:noFill/>
        </p:spPr>
        <p:txBody>
          <a:bodyPr wrap="square" anchor="ctr" lIns="0" rIns="0" tIns="0" bIns="0">
            <a:spAutoFit/>
          </a:bodyPr>
          <a:lstStyle/>
          <a:p>
            <a:pPr algn="ctr">
              <a:lnSpc>
                <a:spcPct val="110000"/>
              </a:lnSpc>
              <a:spcAft>
                <a:spcPts val="0"/>
              </a:spcAft>
            </a:pPr>
            <a:r>
              <a:rPr sz="1250" b="1" i="0">
                <a:solidFill>
                  <a:srgbClr val="314359"/>
                </a:solidFill>
                <a:latin typeface="Times New Roman"/>
              </a:rPr>
              <a:t>IRR 33.0% · 2000– · Leisure</a:t>
            </a:r>
          </a:p>
        </p:txBody>
      </p:sp>
      <p:sp>
        <p:nvSpPr>
          <p:cNvPr id="11" name="TextBox 10"/>
          <p:cNvSpPr txBox="1"/>
          <p:nvPr/>
        </p:nvSpPr>
        <p:spPr>
          <a:xfrm>
            <a:off x="4983480" y="2350008"/>
            <a:ext cx="4297680" cy="274320"/>
          </a:xfrm>
          <a:prstGeom prst="rect">
            <a:avLst/>
          </a:prstGeom>
          <a:noFill/>
        </p:spPr>
        <p:txBody>
          <a:bodyPr wrap="square" anchor="t" lIns="0" rIns="0" tIns="0" bIns="0">
            <a:spAutoFit/>
          </a:bodyPr>
          <a:lstStyle/>
          <a:p>
            <a:pPr algn="ctr">
              <a:lnSpc>
                <a:spcPct val="110000"/>
              </a:lnSpc>
              <a:spcAft>
                <a:spcPts val="0"/>
              </a:spcAft>
            </a:pPr>
            <a:r>
              <a:rPr sz="1100" b="1" i="0">
                <a:solidFill>
                  <a:srgbClr val="314359"/>
                </a:solidFill>
                <a:latin typeface="Times New Roman"/>
              </a:rPr>
              <a:t>Initial investment vs. current value</a:t>
            </a:r>
          </a:p>
        </p:txBody>
      </p:sp>
      <p:sp>
        <p:nvSpPr>
          <p:cNvPr id="12" name="Rectangle 11"/>
          <p:cNvSpPr/>
          <p:nvPr/>
        </p:nvSpPr>
        <p:spPr>
          <a:xfrm>
            <a:off x="5074920" y="4773168"/>
            <a:ext cx="4114800" cy="12700"/>
          </a:xfrm>
          <a:prstGeom prst="rect">
            <a:avLst/>
          </a:prstGeom>
          <a:solidFill>
            <a:srgbClr val="E2E5E9"/>
          </a:solidFill>
          <a:ln>
            <a:noFill/>
          </a:ln>
          <a:effectLst/>
        </p:spPr>
        <p:txBody>
          <a:bodyPr rtlCol="0" anchor="ctr"/>
          <a:lstStyle/>
          <a:p>
            <a:pPr algn="ctr"/>
          </a:p>
        </p:txBody>
      </p:sp>
      <p:sp>
        <p:nvSpPr>
          <p:cNvPr id="13" name="Rectangle 12"/>
          <p:cNvSpPr/>
          <p:nvPr/>
        </p:nvSpPr>
        <p:spPr>
          <a:xfrm>
            <a:off x="5577840" y="4378068"/>
            <a:ext cx="1051560" cy="395100"/>
          </a:xfrm>
          <a:prstGeom prst="rect">
            <a:avLst/>
          </a:prstGeom>
          <a:solidFill>
            <a:srgbClr val="152130"/>
          </a:solidFill>
          <a:ln>
            <a:noFill/>
          </a:ln>
          <a:effectLst/>
        </p:spPr>
        <p:txBody>
          <a:bodyPr rtlCol="0" anchor="ctr"/>
          <a:lstStyle/>
          <a:p>
            <a:pPr algn="ctr"/>
          </a:p>
        </p:txBody>
      </p:sp>
      <p:sp>
        <p:nvSpPr>
          <p:cNvPr id="14" name="TextBox 13"/>
          <p:cNvSpPr txBox="1"/>
          <p:nvPr/>
        </p:nvSpPr>
        <p:spPr>
          <a:xfrm>
            <a:off x="5303520" y="4103748"/>
            <a:ext cx="1600200" cy="256032"/>
          </a:xfrm>
          <a:prstGeom prst="rect">
            <a:avLst/>
          </a:prstGeom>
          <a:noFill/>
        </p:spPr>
        <p:txBody>
          <a:bodyPr wrap="square" anchor="t" lIns="0" rIns="0" tIns="0" bIns="0">
            <a:spAutoFit/>
          </a:bodyPr>
          <a:lstStyle/>
          <a:p>
            <a:pPr algn="ctr">
              <a:lnSpc>
                <a:spcPct val="110000"/>
              </a:lnSpc>
              <a:spcAft>
                <a:spcPts val="0"/>
              </a:spcAft>
            </a:pPr>
            <a:r>
              <a:rPr sz="1300" b="1" i="0">
                <a:solidFill>
                  <a:srgbClr val="314359"/>
                </a:solidFill>
                <a:latin typeface="Times New Roman"/>
              </a:rPr>
              <a:t>160</a:t>
            </a:r>
          </a:p>
        </p:txBody>
      </p:sp>
      <p:sp>
        <p:nvSpPr>
          <p:cNvPr id="15" name="TextBox 14"/>
          <p:cNvSpPr txBox="1"/>
          <p:nvPr/>
        </p:nvSpPr>
        <p:spPr>
          <a:xfrm>
            <a:off x="5074920" y="4828032"/>
            <a:ext cx="2057400" cy="310896"/>
          </a:xfrm>
          <a:prstGeom prst="rect">
            <a:avLst/>
          </a:prstGeom>
          <a:noFill/>
        </p:spPr>
        <p:txBody>
          <a:bodyPr wrap="square" anchor="t" lIns="0" rIns="0" tIns="0" bIns="0">
            <a:spAutoFit/>
          </a:bodyPr>
          <a:lstStyle/>
          <a:p>
            <a:pPr algn="ctr">
              <a:lnSpc>
                <a:spcPct val="110000"/>
              </a:lnSpc>
              <a:spcAft>
                <a:spcPts val="0"/>
              </a:spcAft>
            </a:pPr>
            <a:r>
              <a:rPr sz="950" b="0" i="0">
                <a:solidFill>
                  <a:srgbClr val="0E1620"/>
                </a:solidFill>
                <a:latin typeface="Arial"/>
              </a:rPr>
              <a:t>Initial investment</a:t>
            </a:r>
          </a:p>
        </p:txBody>
      </p:sp>
      <p:sp>
        <p:nvSpPr>
          <p:cNvPr id="16" name="Rectangle 15"/>
          <p:cNvSpPr/>
          <p:nvPr/>
        </p:nvSpPr>
        <p:spPr>
          <a:xfrm>
            <a:off x="7635240" y="3145846"/>
            <a:ext cx="1051560" cy="1627322"/>
          </a:xfrm>
          <a:prstGeom prst="rect">
            <a:avLst/>
          </a:prstGeom>
          <a:solidFill>
            <a:srgbClr val="152130"/>
          </a:solidFill>
          <a:ln>
            <a:noFill/>
          </a:ln>
          <a:effectLst/>
        </p:spPr>
        <p:txBody>
          <a:bodyPr rtlCol="0" anchor="ctr"/>
          <a:lstStyle/>
          <a:p>
            <a:pPr algn="ctr"/>
          </a:p>
        </p:txBody>
      </p:sp>
      <p:sp>
        <p:nvSpPr>
          <p:cNvPr id="17" name="TextBox 16"/>
          <p:cNvSpPr txBox="1"/>
          <p:nvPr/>
        </p:nvSpPr>
        <p:spPr>
          <a:xfrm>
            <a:off x="7360920" y="2871526"/>
            <a:ext cx="1600200" cy="256032"/>
          </a:xfrm>
          <a:prstGeom prst="rect">
            <a:avLst/>
          </a:prstGeom>
          <a:noFill/>
        </p:spPr>
        <p:txBody>
          <a:bodyPr wrap="square" anchor="t" lIns="0" rIns="0" tIns="0" bIns="0">
            <a:spAutoFit/>
          </a:bodyPr>
          <a:lstStyle/>
          <a:p>
            <a:pPr algn="ctr">
              <a:lnSpc>
                <a:spcPct val="110000"/>
              </a:lnSpc>
              <a:spcAft>
                <a:spcPts val="0"/>
              </a:spcAft>
            </a:pPr>
            <a:r>
              <a:rPr sz="1300" b="1" i="0">
                <a:solidFill>
                  <a:srgbClr val="314359"/>
                </a:solidFill>
                <a:latin typeface="Times New Roman"/>
              </a:rPr>
              <a:t>659</a:t>
            </a:r>
          </a:p>
        </p:txBody>
      </p:sp>
      <p:sp>
        <p:nvSpPr>
          <p:cNvPr id="18" name="TextBox 17"/>
          <p:cNvSpPr txBox="1"/>
          <p:nvPr/>
        </p:nvSpPr>
        <p:spPr>
          <a:xfrm>
            <a:off x="7132320" y="4828032"/>
            <a:ext cx="2057400" cy="310896"/>
          </a:xfrm>
          <a:prstGeom prst="rect">
            <a:avLst/>
          </a:prstGeom>
          <a:noFill/>
        </p:spPr>
        <p:txBody>
          <a:bodyPr wrap="square" anchor="t" lIns="0" rIns="0" tIns="0" bIns="0">
            <a:spAutoFit/>
          </a:bodyPr>
          <a:lstStyle/>
          <a:p>
            <a:pPr algn="ctr">
              <a:lnSpc>
                <a:spcPct val="110000"/>
              </a:lnSpc>
              <a:spcAft>
                <a:spcPts val="0"/>
              </a:spcAft>
            </a:pPr>
            <a:r>
              <a:rPr sz="950" b="0" i="0">
                <a:solidFill>
                  <a:srgbClr val="0E1620"/>
                </a:solidFill>
                <a:latin typeface="Arial"/>
              </a:rPr>
              <a:t>Current value</a:t>
            </a:r>
          </a:p>
        </p:txBody>
      </p:sp>
      <p:sp>
        <p:nvSpPr>
          <p:cNvPr id="19" name="TextBox 18"/>
          <p:cNvSpPr txBox="1"/>
          <p:nvPr/>
        </p:nvSpPr>
        <p:spPr>
          <a:xfrm>
            <a:off x="4983480" y="5157216"/>
            <a:ext cx="4297680" cy="201168"/>
          </a:xfrm>
          <a:prstGeom prst="rect">
            <a:avLst/>
          </a:prstGeom>
          <a:noFill/>
        </p:spPr>
        <p:txBody>
          <a:bodyPr wrap="square" anchor="t" lIns="0" rIns="0" tIns="0" bIns="0">
            <a:spAutoFit/>
          </a:bodyPr>
          <a:lstStyle/>
          <a:p>
            <a:pPr algn="l">
              <a:lnSpc>
                <a:spcPct val="110000"/>
              </a:lnSpc>
              <a:spcAft>
                <a:spcPts val="0"/>
              </a:spcAft>
            </a:pPr>
            <a:r>
              <a:rPr sz="850" b="0" i="1">
                <a:solidFill>
                  <a:srgbClr val="556A83"/>
                </a:solidFill>
                <a:latin typeface="Arial"/>
              </a:rPr>
              <a:t>SEK M</a:t>
            </a:r>
          </a:p>
        </p:txBody>
      </p:sp>
      <p:sp>
        <p:nvSpPr>
          <p:cNvPr id="20" name="TextBox 19"/>
          <p:cNvSpPr txBox="1"/>
          <p:nvPr/>
        </p:nvSpPr>
        <p:spPr>
          <a:xfrm>
            <a:off x="502920" y="6967728"/>
            <a:ext cx="4846320" cy="274320"/>
          </a:xfrm>
          <a:prstGeom prst="rect">
            <a:avLst/>
          </a:prstGeom>
          <a:noFill/>
        </p:spPr>
        <p:txBody>
          <a:bodyPr wrap="square" anchor="t" lIns="0" rIns="0" tIns="0" bIns="0">
            <a:spAutoFit/>
          </a:bodyPr>
          <a:lstStyle/>
          <a:p>
            <a:pPr algn="l">
              <a:lnSpc>
                <a:spcPct val="100000"/>
              </a:lnSpc>
              <a:spcAft>
                <a:spcPts val="0"/>
              </a:spcAft>
            </a:pPr>
            <a:r>
              <a:rPr sz="750" b="0" i="1">
                <a:solidFill>
                  <a:srgbClr val="556A83"/>
                </a:solidFill>
                <a:latin typeface="Arial"/>
              </a:rPr>
              <a:t>Note: 9 SEK ≈ 1€. IRR unleveraged and net of all costs. Executed by members of the team at Investment AB Öresund.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753904" cy="7315200"/>
          </a:xfrm>
          <a:prstGeom prst="rect">
            <a:avLst/>
          </a:prstGeom>
          <a:solidFill>
            <a:srgbClr val="FFFFFF"/>
          </a:solidFill>
          <a:ln>
            <a:noFill/>
          </a:ln>
          <a:effectLst/>
        </p:spPr>
        <p:txBody>
          <a:bodyPr rtlCol="0" anchor="ctr"/>
          <a:lstStyle/>
          <a:p>
            <a:pPr algn="ctr"/>
          </a:p>
        </p:txBody>
      </p:sp>
      <p:pic>
        <p:nvPicPr>
          <p:cNvPr id="3" name="Picture 2" descr="mark_dark.png"/>
          <p:cNvPicPr>
            <a:picLocks noChangeAspect="1"/>
          </p:cNvPicPr>
          <p:nvPr/>
        </p:nvPicPr>
        <p:blipFill>
          <a:blip r:embed="rId2"/>
          <a:stretch>
            <a:fillRect/>
          </a:stretch>
        </p:blipFill>
        <p:spPr>
          <a:xfrm>
            <a:off x="457200" y="219456"/>
            <a:ext cx="280009" cy="237744"/>
          </a:xfrm>
          <a:prstGeom prst="rect">
            <a:avLst/>
          </a:prstGeom>
        </p:spPr>
      </p:pic>
      <p:sp>
        <p:nvSpPr>
          <p:cNvPr id="4" name="TextBox 3"/>
          <p:cNvSpPr txBox="1"/>
          <p:nvPr/>
        </p:nvSpPr>
        <p:spPr>
          <a:xfrm>
            <a:off x="841248" y="246888"/>
            <a:ext cx="5486400" cy="274320"/>
          </a:xfrm>
          <a:prstGeom prst="rect">
            <a:avLst/>
          </a:prstGeom>
          <a:noFill/>
        </p:spPr>
        <p:txBody>
          <a:bodyPr wrap="square" anchor="t" lIns="0" rIns="0" tIns="0" bIns="0">
            <a:spAutoFit/>
          </a:bodyPr>
          <a:lstStyle/>
          <a:p>
            <a:pPr algn="l">
              <a:lnSpc>
                <a:spcPct val="110000"/>
              </a:lnSpc>
              <a:spcAft>
                <a:spcPts val="0"/>
              </a:spcAft>
            </a:pPr>
            <a:r>
              <a:rPr sz="1100" b="0" i="0">
                <a:solidFill>
                  <a:srgbClr val="556A83"/>
                </a:solidFill>
                <a:latin typeface="Arial"/>
              </a:rPr>
              <a:t>Case · Öresund era</a:t>
            </a:r>
          </a:p>
        </p:txBody>
      </p:sp>
      <p:sp>
        <p:nvSpPr>
          <p:cNvPr id="5" name="Rectangle 4"/>
          <p:cNvSpPr/>
          <p:nvPr/>
        </p:nvSpPr>
        <p:spPr>
          <a:xfrm>
            <a:off x="0" y="566928"/>
            <a:ext cx="9753904" cy="914400"/>
          </a:xfrm>
          <a:prstGeom prst="rect">
            <a:avLst/>
          </a:prstGeom>
          <a:solidFill>
            <a:srgbClr val="F6F7F9"/>
          </a:solidFill>
          <a:ln>
            <a:noFill/>
          </a:ln>
          <a:effectLst/>
        </p:spPr>
        <p:txBody>
          <a:bodyPr rtlCol="0" anchor="ctr"/>
          <a:lstStyle/>
          <a:p>
            <a:pPr algn="ctr"/>
          </a:p>
        </p:txBody>
      </p:sp>
      <p:sp>
        <p:nvSpPr>
          <p:cNvPr id="6" name="TextBox 5"/>
          <p:cNvSpPr txBox="1"/>
          <p:nvPr/>
        </p:nvSpPr>
        <p:spPr>
          <a:xfrm>
            <a:off x="502920" y="713232"/>
            <a:ext cx="8778240" cy="640080"/>
          </a:xfrm>
          <a:prstGeom prst="rect">
            <a:avLst/>
          </a:prstGeom>
          <a:noFill/>
        </p:spPr>
        <p:txBody>
          <a:bodyPr wrap="square" anchor="t" lIns="0" rIns="0" tIns="0" bIns="0">
            <a:spAutoFit/>
          </a:bodyPr>
          <a:lstStyle/>
          <a:p>
            <a:pPr algn="l">
              <a:lnSpc>
                <a:spcPct val="110000"/>
              </a:lnSpc>
              <a:spcAft>
                <a:spcPts val="0"/>
              </a:spcAft>
            </a:pPr>
            <a:r>
              <a:rPr sz="2600" b="0" i="0" spc="-78">
                <a:solidFill>
                  <a:srgbClr val="314359"/>
                </a:solidFill>
                <a:latin typeface="Times New Roman"/>
              </a:rPr>
              <a:t>Investment case study: Bilia</a:t>
            </a:r>
          </a:p>
        </p:txBody>
      </p:sp>
      <p:sp>
        <p:nvSpPr>
          <p:cNvPr id="7" name="TextBox 6"/>
          <p:cNvSpPr txBox="1"/>
          <p:nvPr/>
        </p:nvSpPr>
        <p:spPr>
          <a:xfrm>
            <a:off x="5486400" y="6967728"/>
            <a:ext cx="4023360" cy="274320"/>
          </a:xfrm>
          <a:prstGeom prst="rect">
            <a:avLst/>
          </a:prstGeom>
          <a:noFill/>
        </p:spPr>
        <p:txBody>
          <a:bodyPr wrap="square" anchor="t" lIns="0" rIns="0" tIns="0" bIns="0">
            <a:spAutoFit/>
          </a:bodyPr>
          <a:lstStyle/>
          <a:p>
            <a:pPr algn="r">
              <a:lnSpc>
                <a:spcPct val="110000"/>
              </a:lnSpc>
              <a:spcAft>
                <a:spcPts val="0"/>
              </a:spcAft>
            </a:pPr>
            <a:r>
              <a:rPr sz="850" b="0" i="0">
                <a:solidFill>
                  <a:srgbClr val="556A83"/>
                </a:solidFill>
                <a:latin typeface="Arial"/>
              </a:rPr>
              <a:t>Strictly confidential          17</a:t>
            </a:r>
          </a:p>
        </p:txBody>
      </p:sp>
      <p:sp>
        <p:nvSpPr>
          <p:cNvPr id="8" name="TextBox 7"/>
          <p:cNvSpPr txBox="1"/>
          <p:nvPr/>
        </p:nvSpPr>
        <p:spPr>
          <a:xfrm>
            <a:off x="502920" y="1783080"/>
            <a:ext cx="4160520" cy="5120640"/>
          </a:xfrm>
          <a:prstGeom prst="rect">
            <a:avLst/>
          </a:prstGeom>
          <a:noFill/>
        </p:spPr>
        <p:txBody>
          <a:bodyPr wrap="square" anchor="t" lIns="0" rIns="0" tIns="0" bIns="0">
            <a:spAutoFit/>
          </a:bodyPr>
          <a:lstStyle/>
          <a:p>
            <a:pPr algn="l">
              <a:lnSpc>
                <a:spcPct val="110000"/>
              </a:lnSpc>
              <a:spcBef>
                <a:spcPts val="0"/>
              </a:spcBef>
              <a:spcAft>
                <a:spcPts val="250"/>
              </a:spcAft>
            </a:pPr>
            <a:r>
              <a:rPr sz="1100" b="1" i="0">
                <a:solidFill>
                  <a:srgbClr val="314359"/>
                </a:solidFill>
                <a:latin typeface="Times New Roman"/>
              </a:rPr>
              <a:t>Company description</a:t>
            </a:r>
          </a:p>
          <a:p>
            <a:pPr algn="l">
              <a:lnSpc>
                <a:spcPct val="108000"/>
              </a:lnSpc>
              <a:spcAft>
                <a:spcPts val="200"/>
              </a:spcAft>
            </a:pPr>
            <a:r>
              <a:rPr sz="869" b="0" i="0">
                <a:solidFill>
                  <a:srgbClr val="0E1620"/>
                </a:solidFill>
                <a:latin typeface="Arial"/>
              </a:rPr>
              <a:t>Bilia is a leading Nordic car retailer and car-service company. Öresund became an owner in 2003 through a redemption of shares from Custos.</a:t>
            </a:r>
          </a:p>
          <a:p>
            <a:pPr algn="l">
              <a:lnSpc>
                <a:spcPct val="110000"/>
              </a:lnSpc>
              <a:spcBef>
                <a:spcPts val="700"/>
              </a:spcBef>
              <a:spcAft>
                <a:spcPts val="250"/>
              </a:spcAft>
            </a:pPr>
            <a:r>
              <a:rPr sz="1100" b="1" i="0">
                <a:solidFill>
                  <a:srgbClr val="314359"/>
                </a:solidFill>
                <a:latin typeface="Times New Roman"/>
              </a:rPr>
              <a:t>Recognized opportunities</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Opportunity to separate trucks/heavy vehicles from the car business</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Strong cash flow to fund consolidation of car retailers</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Hidden real-estate value</a:t>
            </a:r>
          </a:p>
          <a:p>
            <a:pPr algn="l">
              <a:lnSpc>
                <a:spcPct val="110000"/>
              </a:lnSpc>
              <a:spcBef>
                <a:spcPts val="700"/>
              </a:spcBef>
              <a:spcAft>
                <a:spcPts val="250"/>
              </a:spcAft>
            </a:pPr>
            <a:r>
              <a:rPr sz="1100" b="1" i="0">
                <a:solidFill>
                  <a:srgbClr val="314359"/>
                </a:solidFill>
                <a:latin typeface="Times New Roman"/>
              </a:rPr>
              <a:t>Initial plan</a:t>
            </a:r>
          </a:p>
          <a:p>
            <a:pPr algn="l">
              <a:lnSpc>
                <a:spcPct val="108000"/>
              </a:lnSpc>
              <a:spcAft>
                <a:spcPts val="200"/>
              </a:spcAft>
            </a:pPr>
            <a:r>
              <a:rPr sz="869" b="0" i="0">
                <a:solidFill>
                  <a:srgbClr val="0E1620"/>
                </a:solidFill>
                <a:latin typeface="Arial"/>
              </a:rPr>
              <a:t>Separate the heavy-vehicle and car businesses, use strong cash flow to acquire competing car retailers, and unlock real-estate value.</a:t>
            </a:r>
          </a:p>
          <a:p>
            <a:pPr algn="l">
              <a:lnSpc>
                <a:spcPct val="110000"/>
              </a:lnSpc>
              <a:spcBef>
                <a:spcPts val="700"/>
              </a:spcBef>
              <a:spcAft>
                <a:spcPts val="250"/>
              </a:spcAft>
            </a:pPr>
            <a:r>
              <a:rPr sz="1100" b="1" i="0">
                <a:solidFill>
                  <a:srgbClr val="314359"/>
                </a:solidFill>
                <a:latin typeface="Times New Roman"/>
              </a:rPr>
              <a:t>Results</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Split into heavy vehicles (LV) and cars (PV); Volvo AB acquired the LV business for PV shares — leaving a pure car retailer</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Acquired several competing car retailers, expanding geography and brands; transferred excess cash to shareholders</a:t>
            </a:r>
          </a:p>
          <a:p>
            <a:pPr marL="149162" indent="-149162">
              <a:lnSpc>
                <a:spcPct val="106000"/>
              </a:lnSpc>
              <a:spcAft>
                <a:spcPts val="150"/>
              </a:spcAft>
            </a:pPr>
            <a:r>
              <a:rPr sz="869" b="1">
                <a:solidFill>
                  <a:srgbClr val="556A83"/>
                </a:solidFill>
                <a:latin typeface="Arial"/>
              </a:rPr>
              <a:t>✓  </a:t>
            </a:r>
            <a:r>
              <a:rPr sz="869">
                <a:solidFill>
                  <a:srgbClr val="0E1620"/>
                </a:solidFill>
                <a:latin typeface="Arial"/>
              </a:rPr>
              <a:t>Spun off the real estate as Catena (2006), distributed to shareholders and listed</a:t>
            </a:r>
          </a:p>
        </p:txBody>
      </p:sp>
      <p:sp>
        <p:nvSpPr>
          <p:cNvPr id="9" name="Rounded Rectangle 8"/>
          <p:cNvSpPr/>
          <p:nvPr/>
        </p:nvSpPr>
        <p:spPr>
          <a:xfrm>
            <a:off x="4983480" y="1783080"/>
            <a:ext cx="4297680" cy="384048"/>
          </a:xfrm>
          <a:prstGeom prst="roundRect">
            <a:avLst/>
          </a:prstGeom>
          <a:solidFill>
            <a:srgbClr val="F6F7F9"/>
          </a:solidFill>
          <a:ln>
            <a:noFill/>
          </a:ln>
          <a:effectLst/>
        </p:spPr>
        <p:txBody>
          <a:bodyPr rtlCol="0" anchor="ctr"/>
          <a:lstStyle/>
          <a:p>
            <a:pPr algn="ctr"/>
          </a:p>
        </p:txBody>
      </p:sp>
      <p:sp>
        <p:nvSpPr>
          <p:cNvPr id="10" name="TextBox 9"/>
          <p:cNvSpPr txBox="1"/>
          <p:nvPr/>
        </p:nvSpPr>
        <p:spPr>
          <a:xfrm>
            <a:off x="4983480" y="1783080"/>
            <a:ext cx="4297680" cy="384048"/>
          </a:xfrm>
          <a:prstGeom prst="rect">
            <a:avLst/>
          </a:prstGeom>
          <a:noFill/>
        </p:spPr>
        <p:txBody>
          <a:bodyPr wrap="square" anchor="ctr" lIns="0" rIns="0" tIns="0" bIns="0">
            <a:spAutoFit/>
          </a:bodyPr>
          <a:lstStyle/>
          <a:p>
            <a:pPr algn="ctr">
              <a:lnSpc>
                <a:spcPct val="110000"/>
              </a:lnSpc>
              <a:spcAft>
                <a:spcPts val="0"/>
              </a:spcAft>
            </a:pPr>
            <a:r>
              <a:rPr sz="1250" b="1" i="0">
                <a:solidFill>
                  <a:srgbClr val="314359"/>
                </a:solidFill>
                <a:latin typeface="Times New Roman"/>
              </a:rPr>
              <a:t>IRR 26.0% · 2003– · Consumer discretionary</a:t>
            </a:r>
          </a:p>
        </p:txBody>
      </p:sp>
      <p:sp>
        <p:nvSpPr>
          <p:cNvPr id="11" name="TextBox 10"/>
          <p:cNvSpPr txBox="1"/>
          <p:nvPr/>
        </p:nvSpPr>
        <p:spPr>
          <a:xfrm>
            <a:off x="4983480" y="2350008"/>
            <a:ext cx="4297680" cy="274320"/>
          </a:xfrm>
          <a:prstGeom prst="rect">
            <a:avLst/>
          </a:prstGeom>
          <a:noFill/>
        </p:spPr>
        <p:txBody>
          <a:bodyPr wrap="square" anchor="t" lIns="0" rIns="0" tIns="0" bIns="0">
            <a:spAutoFit/>
          </a:bodyPr>
          <a:lstStyle/>
          <a:p>
            <a:pPr algn="ctr">
              <a:lnSpc>
                <a:spcPct val="110000"/>
              </a:lnSpc>
              <a:spcAft>
                <a:spcPts val="0"/>
              </a:spcAft>
            </a:pPr>
            <a:r>
              <a:rPr sz="1100" b="1" i="0">
                <a:solidFill>
                  <a:srgbClr val="314359"/>
                </a:solidFill>
                <a:latin typeface="Times New Roman"/>
              </a:rPr>
              <a:t>Initial investment vs. current value</a:t>
            </a:r>
          </a:p>
        </p:txBody>
      </p:sp>
      <p:sp>
        <p:nvSpPr>
          <p:cNvPr id="12" name="Rectangle 11"/>
          <p:cNvSpPr/>
          <p:nvPr/>
        </p:nvSpPr>
        <p:spPr>
          <a:xfrm>
            <a:off x="5074920" y="4773168"/>
            <a:ext cx="4114800" cy="12700"/>
          </a:xfrm>
          <a:prstGeom prst="rect">
            <a:avLst/>
          </a:prstGeom>
          <a:solidFill>
            <a:srgbClr val="E2E5E9"/>
          </a:solidFill>
          <a:ln>
            <a:noFill/>
          </a:ln>
          <a:effectLst/>
        </p:spPr>
        <p:txBody>
          <a:bodyPr rtlCol="0" anchor="ctr"/>
          <a:lstStyle/>
          <a:p>
            <a:pPr algn="ctr"/>
          </a:p>
        </p:txBody>
      </p:sp>
      <p:sp>
        <p:nvSpPr>
          <p:cNvPr id="13" name="Rectangle 12"/>
          <p:cNvSpPr/>
          <p:nvPr/>
        </p:nvSpPr>
        <p:spPr>
          <a:xfrm>
            <a:off x="5577840" y="3993410"/>
            <a:ext cx="1051560" cy="779758"/>
          </a:xfrm>
          <a:prstGeom prst="rect">
            <a:avLst/>
          </a:prstGeom>
          <a:solidFill>
            <a:srgbClr val="152130"/>
          </a:solidFill>
          <a:ln>
            <a:noFill/>
          </a:ln>
          <a:effectLst/>
        </p:spPr>
        <p:txBody>
          <a:bodyPr rtlCol="0" anchor="ctr"/>
          <a:lstStyle/>
          <a:p>
            <a:pPr algn="ctr"/>
          </a:p>
        </p:txBody>
      </p:sp>
      <p:sp>
        <p:nvSpPr>
          <p:cNvPr id="14" name="TextBox 13"/>
          <p:cNvSpPr txBox="1"/>
          <p:nvPr/>
        </p:nvSpPr>
        <p:spPr>
          <a:xfrm>
            <a:off x="5303520" y="3719090"/>
            <a:ext cx="1600200" cy="256032"/>
          </a:xfrm>
          <a:prstGeom prst="rect">
            <a:avLst/>
          </a:prstGeom>
          <a:noFill/>
        </p:spPr>
        <p:txBody>
          <a:bodyPr wrap="square" anchor="t" lIns="0" rIns="0" tIns="0" bIns="0">
            <a:spAutoFit/>
          </a:bodyPr>
          <a:lstStyle/>
          <a:p>
            <a:pPr algn="ctr">
              <a:lnSpc>
                <a:spcPct val="110000"/>
              </a:lnSpc>
              <a:spcAft>
                <a:spcPts val="0"/>
              </a:spcAft>
            </a:pPr>
            <a:r>
              <a:rPr sz="1300" b="1" i="0">
                <a:solidFill>
                  <a:srgbClr val="314359"/>
                </a:solidFill>
                <a:latin typeface="Times New Roman"/>
              </a:rPr>
              <a:t>506</a:t>
            </a:r>
          </a:p>
        </p:txBody>
      </p:sp>
      <p:sp>
        <p:nvSpPr>
          <p:cNvPr id="15" name="TextBox 14"/>
          <p:cNvSpPr txBox="1"/>
          <p:nvPr/>
        </p:nvSpPr>
        <p:spPr>
          <a:xfrm>
            <a:off x="5074920" y="4828032"/>
            <a:ext cx="2057400" cy="310896"/>
          </a:xfrm>
          <a:prstGeom prst="rect">
            <a:avLst/>
          </a:prstGeom>
          <a:noFill/>
        </p:spPr>
        <p:txBody>
          <a:bodyPr wrap="square" anchor="t" lIns="0" rIns="0" tIns="0" bIns="0">
            <a:spAutoFit/>
          </a:bodyPr>
          <a:lstStyle/>
          <a:p>
            <a:pPr algn="ctr">
              <a:lnSpc>
                <a:spcPct val="110000"/>
              </a:lnSpc>
              <a:spcAft>
                <a:spcPts val="0"/>
              </a:spcAft>
            </a:pPr>
            <a:r>
              <a:rPr sz="950" b="0" i="0">
                <a:solidFill>
                  <a:srgbClr val="0E1620"/>
                </a:solidFill>
                <a:latin typeface="Arial"/>
              </a:rPr>
              <a:t>Initial investment</a:t>
            </a:r>
          </a:p>
        </p:txBody>
      </p:sp>
      <p:sp>
        <p:nvSpPr>
          <p:cNvPr id="16" name="Rectangle 15"/>
          <p:cNvSpPr/>
          <p:nvPr/>
        </p:nvSpPr>
        <p:spPr>
          <a:xfrm>
            <a:off x="7635240" y="3145846"/>
            <a:ext cx="1051560" cy="1627322"/>
          </a:xfrm>
          <a:prstGeom prst="rect">
            <a:avLst/>
          </a:prstGeom>
          <a:solidFill>
            <a:srgbClr val="152130"/>
          </a:solidFill>
          <a:ln>
            <a:noFill/>
          </a:ln>
          <a:effectLst/>
        </p:spPr>
        <p:txBody>
          <a:bodyPr rtlCol="0" anchor="ctr"/>
          <a:lstStyle/>
          <a:p>
            <a:pPr algn="ctr"/>
          </a:p>
        </p:txBody>
      </p:sp>
      <p:sp>
        <p:nvSpPr>
          <p:cNvPr id="17" name="TextBox 16"/>
          <p:cNvSpPr txBox="1"/>
          <p:nvPr/>
        </p:nvSpPr>
        <p:spPr>
          <a:xfrm>
            <a:off x="7360920" y="2871526"/>
            <a:ext cx="1600200" cy="256032"/>
          </a:xfrm>
          <a:prstGeom prst="rect">
            <a:avLst/>
          </a:prstGeom>
          <a:noFill/>
        </p:spPr>
        <p:txBody>
          <a:bodyPr wrap="square" anchor="t" lIns="0" rIns="0" tIns="0" bIns="0">
            <a:spAutoFit/>
          </a:bodyPr>
          <a:lstStyle/>
          <a:p>
            <a:pPr algn="ctr">
              <a:lnSpc>
                <a:spcPct val="110000"/>
              </a:lnSpc>
              <a:spcAft>
                <a:spcPts val="0"/>
              </a:spcAft>
            </a:pPr>
            <a:r>
              <a:rPr sz="1300" b="1" i="0">
                <a:solidFill>
                  <a:srgbClr val="314359"/>
                </a:solidFill>
                <a:latin typeface="Times New Roman"/>
              </a:rPr>
              <a:t>1,056</a:t>
            </a:r>
          </a:p>
        </p:txBody>
      </p:sp>
      <p:sp>
        <p:nvSpPr>
          <p:cNvPr id="18" name="TextBox 17"/>
          <p:cNvSpPr txBox="1"/>
          <p:nvPr/>
        </p:nvSpPr>
        <p:spPr>
          <a:xfrm>
            <a:off x="7132320" y="4828032"/>
            <a:ext cx="2057400" cy="310896"/>
          </a:xfrm>
          <a:prstGeom prst="rect">
            <a:avLst/>
          </a:prstGeom>
          <a:noFill/>
        </p:spPr>
        <p:txBody>
          <a:bodyPr wrap="square" anchor="t" lIns="0" rIns="0" tIns="0" bIns="0">
            <a:spAutoFit/>
          </a:bodyPr>
          <a:lstStyle/>
          <a:p>
            <a:pPr algn="ctr">
              <a:lnSpc>
                <a:spcPct val="110000"/>
              </a:lnSpc>
              <a:spcAft>
                <a:spcPts val="0"/>
              </a:spcAft>
            </a:pPr>
            <a:r>
              <a:rPr sz="950" b="0" i="0">
                <a:solidFill>
                  <a:srgbClr val="0E1620"/>
                </a:solidFill>
                <a:latin typeface="Arial"/>
              </a:rPr>
              <a:t>Current value</a:t>
            </a:r>
          </a:p>
        </p:txBody>
      </p:sp>
      <p:sp>
        <p:nvSpPr>
          <p:cNvPr id="19" name="TextBox 18"/>
          <p:cNvSpPr txBox="1"/>
          <p:nvPr/>
        </p:nvSpPr>
        <p:spPr>
          <a:xfrm>
            <a:off x="4983480" y="5157216"/>
            <a:ext cx="4297680" cy="201168"/>
          </a:xfrm>
          <a:prstGeom prst="rect">
            <a:avLst/>
          </a:prstGeom>
          <a:noFill/>
        </p:spPr>
        <p:txBody>
          <a:bodyPr wrap="square" anchor="t" lIns="0" rIns="0" tIns="0" bIns="0">
            <a:spAutoFit/>
          </a:bodyPr>
          <a:lstStyle/>
          <a:p>
            <a:pPr algn="l">
              <a:lnSpc>
                <a:spcPct val="110000"/>
              </a:lnSpc>
              <a:spcAft>
                <a:spcPts val="0"/>
              </a:spcAft>
            </a:pPr>
            <a:r>
              <a:rPr sz="850" b="0" i="1">
                <a:solidFill>
                  <a:srgbClr val="556A83"/>
                </a:solidFill>
                <a:latin typeface="Arial"/>
              </a:rPr>
              <a:t>SEK M</a:t>
            </a:r>
          </a:p>
        </p:txBody>
      </p:sp>
      <p:sp>
        <p:nvSpPr>
          <p:cNvPr id="20" name="TextBox 19"/>
          <p:cNvSpPr txBox="1"/>
          <p:nvPr/>
        </p:nvSpPr>
        <p:spPr>
          <a:xfrm>
            <a:off x="502920" y="6967728"/>
            <a:ext cx="4846320" cy="274320"/>
          </a:xfrm>
          <a:prstGeom prst="rect">
            <a:avLst/>
          </a:prstGeom>
          <a:noFill/>
        </p:spPr>
        <p:txBody>
          <a:bodyPr wrap="square" anchor="t" lIns="0" rIns="0" tIns="0" bIns="0">
            <a:spAutoFit/>
          </a:bodyPr>
          <a:lstStyle/>
          <a:p>
            <a:pPr algn="l">
              <a:lnSpc>
                <a:spcPct val="100000"/>
              </a:lnSpc>
              <a:spcAft>
                <a:spcPts val="0"/>
              </a:spcAft>
            </a:pPr>
            <a:r>
              <a:rPr sz="750" b="0" i="1">
                <a:solidFill>
                  <a:srgbClr val="556A83"/>
                </a:solidFill>
                <a:latin typeface="Arial"/>
              </a:rPr>
              <a:t>Note: 9 SEK ≈ 1€. IRR unleveraged and net of all costs. Executed by members of the team at Investment AB Öresund.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753904" cy="7315200"/>
          </a:xfrm>
          <a:prstGeom prst="rect">
            <a:avLst/>
          </a:prstGeom>
          <a:solidFill>
            <a:srgbClr val="152130"/>
          </a:solidFill>
          <a:ln>
            <a:noFill/>
          </a:ln>
          <a:effectLst/>
        </p:spPr>
        <p:txBody>
          <a:bodyPr rtlCol="0" anchor="ctr"/>
          <a:lstStyle/>
          <a:p>
            <a:pPr algn="ctr"/>
          </a:p>
        </p:txBody>
      </p:sp>
      <p:pic>
        <p:nvPicPr>
          <p:cNvPr id="3" name="Picture 2" descr="logo_white.png"/>
          <p:cNvPicPr>
            <a:picLocks noChangeAspect="1"/>
          </p:cNvPicPr>
          <p:nvPr/>
        </p:nvPicPr>
        <p:blipFill>
          <a:blip r:embed="rId2"/>
          <a:stretch>
            <a:fillRect/>
          </a:stretch>
        </p:blipFill>
        <p:spPr>
          <a:xfrm>
            <a:off x="548640" y="502920"/>
            <a:ext cx="2635081" cy="566928"/>
          </a:xfrm>
          <a:prstGeom prst="rect">
            <a:avLst/>
          </a:prstGeom>
        </p:spPr>
      </p:pic>
      <p:sp>
        <p:nvSpPr>
          <p:cNvPr id="4" name="TextBox 3"/>
          <p:cNvSpPr txBox="1"/>
          <p:nvPr/>
        </p:nvSpPr>
        <p:spPr>
          <a:xfrm>
            <a:off x="548640" y="5212080"/>
            <a:ext cx="6400800" cy="1828800"/>
          </a:xfrm>
          <a:prstGeom prst="rect">
            <a:avLst/>
          </a:prstGeom>
          <a:noFill/>
        </p:spPr>
        <p:txBody>
          <a:bodyPr wrap="square" anchor="t" lIns="0" rIns="0" tIns="0" bIns="0">
            <a:spAutoFit/>
          </a:bodyPr>
          <a:lstStyle/>
          <a:p>
            <a:pPr algn="l">
              <a:lnSpc>
                <a:spcPct val="110000"/>
              </a:lnSpc>
              <a:spcAft>
                <a:spcPts val="100"/>
              </a:spcAft>
            </a:pPr>
            <a:r>
              <a:rPr sz="1600" b="0" i="0">
                <a:solidFill>
                  <a:srgbClr val="FFFFFF"/>
                </a:solidFill>
                <a:latin typeface="Arial"/>
              </a:rPr>
              <a:t>Kenth Eriksson</a:t>
            </a:r>
          </a:p>
          <a:p>
            <a:pPr algn="l">
              <a:lnSpc>
                <a:spcPct val="110000"/>
              </a:lnSpc>
              <a:spcAft>
                <a:spcPts val="1200"/>
              </a:spcAft>
            </a:pPr>
            <a:r>
              <a:rPr sz="1200" b="0" i="0">
                <a:solidFill>
                  <a:srgbClr val="E2E5E9"/>
                </a:solidFill>
                <a:latin typeface="Arial"/>
              </a:rPr>
              <a:t>Senior Portfolio Manager &amp; Partner</a:t>
            </a:r>
          </a:p>
          <a:p>
            <a:pPr algn="l">
              <a:lnSpc>
                <a:spcPct val="110000"/>
              </a:lnSpc>
              <a:spcAft>
                <a:spcPts val="100"/>
              </a:spcAft>
            </a:pPr>
            <a:r>
              <a:rPr sz="1200" b="0" i="0">
                <a:solidFill>
                  <a:srgbClr val="E2E5E9"/>
                </a:solidFill>
                <a:latin typeface="Arial"/>
              </a:rPr>
              <a:t>+46 70 304 09 29</a:t>
            </a:r>
          </a:p>
          <a:p>
            <a:pPr algn="l">
              <a:lnSpc>
                <a:spcPct val="110000"/>
              </a:lnSpc>
              <a:spcAft>
                <a:spcPts val="1200"/>
              </a:spcAft>
            </a:pPr>
            <a:r>
              <a:rPr sz="1200" b="0" i="0">
                <a:solidFill>
                  <a:srgbClr val="E2E5E9"/>
                </a:solidFill>
                <a:latin typeface="Arial"/>
              </a:rPr>
              <a:t>kenth.eriksson@athanase.se</a:t>
            </a:r>
          </a:p>
          <a:p>
            <a:pPr algn="l">
              <a:lnSpc>
                <a:spcPct val="110000"/>
              </a:lnSpc>
              <a:spcAft>
                <a:spcPts val="0"/>
              </a:spcAft>
            </a:pPr>
            <a:r>
              <a:rPr sz="1200" b="0" i="0">
                <a:solidFill>
                  <a:srgbClr val="E2E5E9"/>
                </a:solidFill>
                <a:latin typeface="Arial"/>
              </a:rPr>
              <a:t>info@athanase.se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