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870104" cy="40234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26080"/>
            <a:ext cx="365769" cy="325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389632"/>
            <a:ext cx="8046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FOR DISCUSSION · A PROPOSED UK INVESTMENT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121152"/>
            <a:ext cx="8632151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ownership, in a listed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437888"/>
            <a:ext cx="8193228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80" b="0" i="1">
                <a:solidFill>
                  <a:srgbClr val="E2E5E9"/>
                </a:solidFill>
                <a:latin typeface="Times New Roman"/>
              </a:rPr>
              <a:t>A 20-year institutional engaged-ownership strategy — proposed as a UK investment trust, giving wealth portfolios listed, liquid access.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22" y="6456883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Athanase Industrial Partner    ·    Strictly confidential    ·    For professional and intermediary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Your clients own the most crowded trade in a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Passive equity has quietly become a concentrated bet on a handful of expensive mega-caps — correlated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concentrated factor bet.  </a:t>
            </a:r>
            <a:r>
              <a:rPr sz="1160">
                <a:solidFill>
                  <a:srgbClr val="0E1620"/>
                </a:solidFill>
                <a:latin typeface="Arial"/>
              </a:rPr>
              <a:t>the index is more concentrated, and more expensive, than at almost any point in 50 years — the same names, owned by everyone.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It falls together.  </a:t>
            </a:r>
            <a:r>
              <a:rPr sz="1160">
                <a:solidFill>
                  <a:srgbClr val="0E1620"/>
                </a:solidFill>
                <a:latin typeface="Arial"/>
              </a:rPr>
              <a:t>when the leaders re-rate down, “diversified” passive falls with them; there is no hiding place in more of the same.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Clients need a real diversifier.  </a:t>
            </a:r>
            <a:r>
              <a:rPr sz="1160">
                <a:solidFill>
                  <a:srgbClr val="0E1620"/>
                </a:solidFill>
                <a:latin typeface="Arial"/>
              </a:rPr>
              <a:t>an equity return that compounds from company change — not from the same mega-caps re-rating ever higher.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opportunity: a liquid, differentiated equity holding that earns its return from corporate change, not market direction.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What we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pick stocks — we build companies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Concentrated, long-only public equities, where we create the value ourselves through ownership and governance.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8–12 high-conviction positions.  </a:t>
            </a:r>
            <a:r>
              <a:rPr sz="1120">
                <a:solidFill>
                  <a:srgbClr val="0E1620"/>
                </a:solidFill>
                <a:latin typeface="Arial"/>
              </a:rPr>
              <a:t>deep ownership in quality, mispriced businesses — roughly one new investment a year, held for years.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Value we create, not discover.  </a:t>
            </a:r>
            <a:r>
              <a:rPr sz="1120">
                <a:solidFill>
                  <a:srgbClr val="0E1620"/>
                </a:solidFill>
                <a:latin typeface="Arial"/>
              </a:rPr>
              <a:t>board control, capital-allocation discipline and operational change — not leverage or financial engineering.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Returns from earnings, not re-rating.  </a:t>
            </a:r>
            <a:r>
              <a:rPr sz="1120">
                <a:solidFill>
                  <a:srgbClr val="0E1620"/>
                </a:solidFill>
                <a:latin typeface="Arial"/>
              </a:rPr>
              <a:t>the gain comes from the business getting better under our influence, whatever the market does.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Nordic governance model, 20 years honed.  </a:t>
            </a:r>
            <a:r>
              <a:rPr sz="1120">
                <a:solidFill>
                  <a:srgbClr val="0E1620"/>
                </a:solidFill>
                <a:latin typeface="Arial"/>
              </a:rPr>
              <a:t>constructive engagement by agreement — board seats won, not proxy wars fought.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Private-equity-style operational value creation — in transparent, listed, daily-liquid form.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Two decades of net returns, independently validated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20-year record built on operating improvement — reconciled and audited by tier-one institutions.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2136091" cy="12679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516428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~16%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707" y="3140659"/>
            <a:ext cx="196052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net p.a. over 20 years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4745" y="2340864"/>
            <a:ext cx="2136091" cy="12679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4745" y="2516428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+10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2530" y="3140659"/>
            <a:ext cx="196052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a year vs the index, 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0568" y="2340864"/>
            <a:ext cx="2136091" cy="12679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0568" y="2516428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92%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8352" y="3140659"/>
            <a:ext cx="196052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deal hit rate (35 of 38)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6390" y="2340864"/>
            <a:ext cx="2136091" cy="12679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6390" y="2516428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4175" y="3140659"/>
            <a:ext cx="196052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investor loss over a holding period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53" y="3852672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Downside protection.  </a:t>
            </a:r>
            <a:r>
              <a:rPr sz="1080">
                <a:solidFill>
                  <a:srgbClr val="0E1620"/>
                </a:solidFill>
                <a:latin typeface="Arial"/>
              </a:rPr>
              <a:t>two market drawdowns fully recovered (2010, 2020); Sortino ratio 2.40 — the return came with genuine resilience.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Entry timing is a non-risk.  </a:t>
            </a:r>
            <a:r>
              <a:rPr sz="1080">
                <a:solidFill>
                  <a:srgbClr val="0E1620"/>
                </a:solidFill>
                <a:latin typeface="Arial"/>
              </a:rPr>
              <a:t>even the worst entry month in 20 years still compounded at +7% net — there is no wrong moment to start.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Independently verified.  </a:t>
            </a:r>
            <a:r>
              <a:rPr sz="1080">
                <a:solidFill>
                  <a:srgbClr val="0E1620"/>
                </a:solidFill>
                <a:latin typeface="Arial"/>
              </a:rPr>
              <a:t>custody by SEB, administration by MUFG, audit by KPMG — an institutional paper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5910681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Net of fees, 2006–2025, independently reconciled. Past performance is not a guide to future returns.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Returns from operating improvement — repeatable, and verified by tier-one institutions.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Diversification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diversifier that defends the book when markets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Low-correlation equity exposure that earns its place beside passive and private equity.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0.44 correlation to global equities.  </a:t>
            </a:r>
            <a:r>
              <a:rPr sz="1160">
                <a:solidFill>
                  <a:srgbClr val="0E1620"/>
                </a:solidFill>
                <a:latin typeface="Arial"/>
              </a:rPr>
              <a:t>real diversification — not more of what your clients already own through passive.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board seat floors the fundamental risk.  </a:t>
            </a:r>
            <a:r>
              <a:rPr sz="1160">
                <a:solidFill>
                  <a:srgbClr val="0E1620"/>
                </a:solidFill>
                <a:latin typeface="Arial"/>
              </a:rPr>
              <a:t>we own the cash flow, capex and pay — so the asset is de-risked whatever the share price does.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Uncorrelated by construction.  </a:t>
            </a:r>
            <a:r>
              <a:rPr sz="1160">
                <a:solidFill>
                  <a:srgbClr val="0E1620"/>
                </a:solidFill>
                <a:latin typeface="Arial"/>
              </a:rPr>
              <a:t>returns come from earnings and governance change, not from the index re-rating — a different engine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index falls, this is the holding that is built to defend the portfolio — not amplify the fall.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 listed trust is the ideal home for this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closed-end investment trust matches a long-horizon engaged-ownership strategy better than any open-ended wrapper.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Permanent capital = patient capital.  </a:t>
            </a:r>
            <a:r>
              <a:rPr sz="1080">
                <a:solidFill>
                  <a:srgbClr val="0E1620"/>
                </a:solidFill>
                <a:latin typeface="Arial"/>
              </a:rPr>
              <a:t>a closed-end structure means we are never a forced seller — the multi-year engagement horizon is protected, and dislocations become buying opportunities, not redemptions.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Daily liquidity for your clients.  </a:t>
            </a:r>
            <a:r>
              <a:rPr sz="1080">
                <a:solidFill>
                  <a:srgbClr val="0E1620"/>
                </a:solidFill>
                <a:latin typeface="Arial"/>
              </a:rPr>
              <a:t>shares trade on the London Stock Exchange — an institutional strategy with daily dealing, no lock-ups and no capital calls.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Governance your clients can trust.  </a:t>
            </a:r>
            <a:r>
              <a:rPr sz="1080">
                <a:solidFill>
                  <a:srgbClr val="0E1620"/>
                </a:solidFill>
                <a:latin typeface="Arial"/>
              </a:rPr>
              <a:t>an independent board, plus operations and valuation segregated from investment — SEB · MUFG · KPMG.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NAV discipline built in.  </a:t>
            </a:r>
            <a:r>
              <a:rPr sz="1080">
                <a:solidFill>
                  <a:srgbClr val="0E1620"/>
                </a:solidFill>
                <a:latin typeface="Arial"/>
              </a:rPr>
              <a:t>a buyback mechanism to keep the share price tracking close to net asset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An institutional strategy your clients can buy and sell like any listed share — without giving up the patient capital it needs.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now · the regime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When valuations crack, where will your clients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and concentration, the cycle will turn — and the time to own the hedge is before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Global equities — fully exposed.  </a:t>
            </a:r>
            <a:r>
              <a:rPr sz="1160">
                <a:solidFill>
                  <a:srgbClr val="0E1620"/>
                </a:solidFill>
                <a:latin typeface="Arial"/>
              </a:rPr>
              <a:t>your clients own the most-expensive, most-concentrated names, with nothing to do when they fall.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Private equity — the trap.  </a:t>
            </a:r>
            <a:r>
              <a:rPr sz="1160">
                <a:solidFill>
                  <a:srgbClr val="0E1620"/>
                </a:solidFill>
                <a:latin typeface="Arial"/>
              </a:rPr>
              <a:t>marks lag then catch down, while illiquidity blocks the exit exactly when it is needed.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This trust — the hedge.  </a:t>
            </a:r>
            <a:r>
              <a:rPr sz="1160">
                <a:solidFill>
                  <a:srgbClr val="0E1620"/>
                </a:solidFill>
                <a:latin typeface="Arial"/>
              </a:rPr>
              <a:t>board control floors the risk, the shares stay liquid, and the dislocation becomes the entry point — not the trap.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hedge can only be bought before the crack, not after — which is what makes the timing matter now.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now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AI is commoditizing the alpha your clients pay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Long-only equity alpha rests on financial analysis — exactly what AI now does instantly, and universally.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The easy edge is decaying.  </a:t>
            </a:r>
            <a:r>
              <a:rPr sz="1160">
                <a:solidFill>
                  <a:srgbClr val="0E1620"/>
                </a:solidFill>
                <a:latin typeface="Arial"/>
              </a:rPr>
              <a:t>as every manager runs the same AI-driven analysis, the screenable names get bid up and the analytical edge erodes toward zero.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Our return is created, not discovered.  </a:t>
            </a:r>
            <a:r>
              <a:rPr sz="1160">
                <a:solidFill>
                  <a:srgbClr val="0E1620"/>
                </a:solidFill>
                <a:latin typeface="Arial"/>
              </a:rPr>
              <a:t>board control and operational change cannot be downloaded or arbitraged away.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Scarcer means more valuable.  </a:t>
            </a:r>
            <a:r>
              <a:rPr sz="1160">
                <a:solidFill>
                  <a:srgbClr val="0E1620"/>
                </a:solidFill>
                <a:latin typeface="Arial"/>
              </a:rPr>
              <a:t>as analytical alpha commoditizes, engaged-ownership alpha becomes rarer — and worth more.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5803392"/>
            <a:ext cx="87053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Mechanism documented: LLMs already perform financial-statement analysis at analyst level (Kim, Muhn &amp; Nikolaev, 2024); predictability decays once a strategy is replicable (McLean &amp; Pontiff, 2016).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Own the edge AI cannot copy.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An institutional team, inside an institutional fortress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Boutique conviction with tier-one governance — defensible to your clients and your committee.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20-year team.  </a:t>
            </a:r>
            <a:r>
              <a:rPr sz="1160">
                <a:solidFill>
                  <a:srgbClr val="0E1620"/>
                </a:solidFill>
                <a:latin typeface="Arial"/>
              </a:rPr>
              <a:t>the same people, compounding through multiple cycles — deep operating and boardroom experience, not a star manager.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proprietary edge.  </a:t>
            </a:r>
            <a:r>
              <a:rPr sz="1160">
                <a:solidFill>
                  <a:srgbClr val="0E1620"/>
                </a:solidFill>
                <a:latin typeface="Arial"/>
              </a:rPr>
              <a:t>a database of ~20,000 CEOs and a behavioural diligence model — the discipline behind a 92% deal-level hit rate.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An institutional fortress.  </a:t>
            </a:r>
            <a:r>
              <a:rPr sz="1160">
                <a:solidFill>
                  <a:srgbClr val="0E1620"/>
                </a:solidFill>
                <a:latin typeface="Arial"/>
              </a:rPr>
              <a:t>operations, risk and valuation independent of investment decisions; custody, administration and audit by SEB, MUFG and KPMG.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Boutique conviction, tier-one governance — the combination wealth committees ask for.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00094" cy="3657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292096"/>
            <a:ext cx="365769" cy="325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487168"/>
            <a:ext cx="8778459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0" spc="-90">
                <a:solidFill>
                  <a:srgbClr val="FFFFFF"/>
                </a:solidFill>
                <a:latin typeface="Times New Roman"/>
              </a:rPr>
              <a:t>Bringing institutional engaged ownership to UK wealth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78459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For your clients:</a:t>
            </a:r>
            <a:r>
              <a:rPr sz="1200">
                <a:solidFill>
                  <a:srgbClr val="E2E5E9"/>
                </a:solidFill>
                <a:latin typeface="Arial"/>
              </a:rPr>
              <a:t> a liquid, listed, differentiated equity holding — a 20-year net track record, real diversification and downside protection, with daily dealing.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Why now:</a:t>
            </a:r>
            <a:r>
              <a:rPr sz="1200">
                <a:solidFill>
                  <a:srgbClr val="E2E5E9"/>
                </a:solidFill>
                <a:latin typeface="Arial"/>
              </a:rPr>
              <a:t> expensive, concentrated markets and decaying analytical alpha make a created-alpha diversifier timely — and the hedge is bought before the crack.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The proposal:</a:t>
            </a:r>
            <a:r>
              <a:rPr sz="1200">
                <a:solidFill>
                  <a:srgbClr val="E2E5E9"/>
                </a:solidFill>
                <a:latin typeface="Arial"/>
              </a:rPr>
              <a:t> partner to launch a UK investment trust built on this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6193536"/>
            <a:ext cx="877845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Stefan Charette   ·   Athanase Industrial Partner   ·   charette@athanase.se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