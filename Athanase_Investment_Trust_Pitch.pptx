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753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870104" cy="40234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3553" y="2926080"/>
            <a:ext cx="365769" cy="3251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22" y="2389632"/>
            <a:ext cx="8046921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A PROPOSED UK INVESTMENT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22" y="3121152"/>
            <a:ext cx="8632151" cy="1267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60" b="0" i="0" spc="-126">
                <a:solidFill>
                  <a:srgbClr val="FFFFFF"/>
                </a:solidFill>
                <a:latin typeface="Times New Roman"/>
              </a:rPr>
              <a:t>Engaged ownership, in a listed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4437888"/>
            <a:ext cx="8193228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80" b="0" i="1">
                <a:solidFill>
                  <a:srgbClr val="E2E5E9"/>
                </a:solidFill>
                <a:latin typeface="Times New Roman"/>
              </a:rPr>
              <a:t>An institutional, 20-year strategy — daily-dealing access for wealth portfolios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6456883"/>
            <a:ext cx="877845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For discussion · June 2026 · professional and intermediary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Fund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proven engaged-ownership strategy — proposed in a listed, daily-dealing trust for UK wealth.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340864"/>
            <a:ext cx="2130605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22" y="2516428"/>
            <a:ext cx="213060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76" y="3179673"/>
            <a:ext cx="198429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investments as
engaged owners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6574" y="2340864"/>
            <a:ext cx="2130605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6574" y="2516428"/>
            <a:ext cx="213060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9728" y="3179673"/>
            <a:ext cx="198429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avg annualised NET,
any entry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4225" y="2340864"/>
            <a:ext cx="2130605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4225" y="2516428"/>
            <a:ext cx="213060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379" y="3179673"/>
            <a:ext cx="198429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worst-ever entry,
still positive net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81877" y="2340864"/>
            <a:ext cx="2130605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1877" y="2516428"/>
            <a:ext cx="2130605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18×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5031" y="3179673"/>
            <a:ext cx="1984297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growth of capital
since 2006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53" y="3998976"/>
            <a:ext cx="4389229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 b="1">
                <a:solidFill>
                  <a:srgbClr val="314359"/>
                </a:solidFill>
                <a:latin typeface="Arial"/>
              </a:rPr>
              <a:t>~16% net p.a. since 2006  </a:t>
            </a:r>
            <a:r>
              <a:rPr sz="1000">
                <a:solidFill>
                  <a:srgbClr val="0E1620"/>
                </a:solidFill>
                <a:latin typeface="Arial"/>
              </a:rPr>
              <a:t>versus 6.2% for the MSCI World IMI — +10 pts a year, net of all fees.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 b="1">
                <a:solidFill>
                  <a:srgbClr val="314359"/>
                </a:solidFill>
                <a:latin typeface="Arial"/>
              </a:rPr>
              <a:t>Entry timing barely matters  </a:t>
            </a:r>
            <a:r>
              <a:rPr sz="1000">
                <a:solidFill>
                  <a:srgbClr val="0E1620"/>
                </a:solidFill>
                <a:latin typeface="Arial"/>
              </a:rPr>
              <a:t>the average entry month returned ~19% net; the worst still compounded at +7%.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 b="1">
                <a:solidFill>
                  <a:srgbClr val="314359"/>
                </a:solidFill>
                <a:latin typeface="Arial"/>
              </a:rPr>
              <a:t>No investor loss  </a:t>
            </a:r>
            <a:r>
              <a:rPr sz="1000">
                <a:solidFill>
                  <a:srgbClr val="0E1620"/>
                </a:solidFill>
                <a:latin typeface="Arial"/>
              </a:rPr>
              <a:t>over any full holding period in 20 years.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7614" y="3998976"/>
            <a:ext cx="4264868" cy="248716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7614" y="3998976"/>
            <a:ext cx="51207" cy="248716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2444" y="4213555"/>
            <a:ext cx="3899099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An integrated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2444" y="4759756"/>
            <a:ext cx="3869837" cy="1560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A core team together since 2006 (some since 1996) — 38 companies and 30+ public board seats. Operations, valuation and risk sit apart from investment decisions; custody, administration and audit by SEB, MUFG and KPMG.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Fund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2.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The proposed trust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Indicative parameters for discussion — final terms to be set with the sponsor and prospectus.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306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Proposal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53" y="2789529"/>
            <a:ext cx="8858928" cy="189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53" y="2887065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306" y="2887065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UK closed-end investment trust, London-listed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553" y="3316224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53" y="3316224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Listing 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306" y="3316224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LSE Main Market or Specialist Fund Segment (indicative)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53" y="3745382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53" y="3745382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306" y="3745382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Long-term capital growth via engaged ownership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53" y="4174540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53" y="4174540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306" y="4174540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8–12 high-conviction listed Nordic / European mid-caps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553" y="4603699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53" y="4603699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Liquidity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306" y="4603699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Daily dealing in the shares; no capital calls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3553" y="5032857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53" y="5032857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Discount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9306" y="5032857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Buyback when shares trade materially below NAV (indicative)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3553" y="5462016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53" y="5462016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Alignment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9306" y="5462016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Significant team co-investment alongside shareholders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553" y="5891174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53" y="5891174"/>
            <a:ext cx="2399444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Providers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99306" y="5891174"/>
            <a:ext cx="6218076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Custody SEB · Administration MUFG · Audit KPMG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553" y="6320332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553" y="6778752"/>
            <a:ext cx="87784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40" b="0" i="1">
                <a:solidFill>
                  <a:srgbClr val="556A83"/>
                </a:solidFill>
                <a:latin typeface="Arial"/>
              </a:rPr>
              <a:t>Indicative and subject to contract, regulatory approval and final fund documentation. Not an offer of securities.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3.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Why now — the easy decade for beta is 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Equities are expensive on almost every measure, and the zero-rate tailwind that lifted all assets has reversed.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4316075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EXPENSIVE ON MOST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53" y="2779776"/>
            <a:ext cx="4279499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>
                <a:solidFill>
                  <a:srgbClr val="0E1620"/>
                </a:solidFill>
                <a:latin typeface="Arial"/>
              </a:rPr>
              <a:t>Shiller CAPE near ~36× — close to the dot-com extreme, roughly double the long-run ~17×.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>
                <a:solidFill>
                  <a:srgbClr val="0E1620"/>
                </a:solidFill>
                <a:latin typeface="Arial"/>
              </a:rPr>
              <a:t>Forward P/E ~22× vs a ~16× average; the equity risk premium is at multi-decade lows.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>
                <a:solidFill>
                  <a:srgbClr val="0E1620"/>
                </a:solidFill>
                <a:latin typeface="Arial"/>
              </a:rPr>
              <a:t>Most of the 2010s’ return came from re-rating, not earnings growth — that lever is largely spent.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614" y="2340864"/>
            <a:ext cx="427949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THE MACRO TAILWIND HAS REVERSED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614" y="2779776"/>
            <a:ext cx="4279499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>
                <a:solidFill>
                  <a:srgbClr val="0E1620"/>
                </a:solidFill>
                <a:latin typeface="Arial"/>
              </a:rPr>
              <a:t>The zero-rate, disinflationary backdrop that lifted every asset for a decade has reversed.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>
                <a:solidFill>
                  <a:srgbClr val="0E1620"/>
                </a:solidFill>
                <a:latin typeface="Arial"/>
              </a:rPr>
              <a:t>Deglobalisation, deficits and demographics point to structurally higher inflation and rates.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000">
                <a:solidFill>
                  <a:srgbClr val="0E1620"/>
                </a:solidFill>
                <a:latin typeface="Arial"/>
              </a:rPr>
              <a:t>A higher cost of capital compresses valuations and punishes long-duration, unprofitable growth.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22" y="5852160"/>
            <a:ext cx="8873559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22" y="5852160"/>
            <a:ext cx="51207" cy="89733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84" y="5852160"/>
            <a:ext cx="8485844" cy="8973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314359"/>
                </a:solidFill>
                <a:latin typeface="Arial"/>
              </a:rPr>
              <a:t>Whether or not AI lifts productivity, beta is priced for perfection and the easy tailwind has shifted — so idiosyncratic, valuation-disciplined returns matter more, not 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4.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Passive has become a concentrated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cap-weighted index puts the most money into the stocks that have already risen most — concentration dressed as diversification.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340864"/>
            <a:ext cx="2879822" cy="131673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22" y="2516428"/>
            <a:ext cx="287982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~38%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76" y="3179673"/>
            <a:ext cx="2733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of the S&amp;P 500 in its
10 largest stocks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5791" y="2340864"/>
            <a:ext cx="2879822" cy="131673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5791" y="2516428"/>
            <a:ext cx="287982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~33%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8945" y="3179673"/>
            <a:ext cx="2733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in the “Magnificent
Seven”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2660" y="2340864"/>
            <a:ext cx="2879822" cy="131673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660" y="2516428"/>
            <a:ext cx="287982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640" b="0" i="0" spc="-99">
                <a:solidFill>
                  <a:srgbClr val="314359"/>
                </a:solidFill>
                <a:latin typeface="Times New Roman"/>
              </a:rPr>
              <a:t>~50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813" y="3179673"/>
            <a:ext cx="273351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556A83"/>
                </a:solidFill>
                <a:latin typeface="Arial"/>
              </a:rPr>
              <a:t>since US equity was
this concentrated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22" y="3901440"/>
            <a:ext cx="2867630" cy="214579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22" y="3901440"/>
            <a:ext cx="51207" cy="214579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53" y="4116019"/>
            <a:ext cx="250186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Cap-weighting buys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53" y="4662220"/>
            <a:ext cx="2472599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more a stock rises, the more you must own — the opposite of buy-low discipline.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38230" y="3901440"/>
            <a:ext cx="2867630" cy="214579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38230" y="3901440"/>
            <a:ext cx="51207" cy="214579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43060" y="4116019"/>
            <a:ext cx="250186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A concentrated factor 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3060" y="4662220"/>
            <a:ext cx="2472599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“diversified” index is now a leveraged bet on large-cap growth, momentum and a single theme (AI).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537" y="3901440"/>
            <a:ext cx="2867630" cy="214579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37537" y="3901440"/>
            <a:ext cx="51207" cy="214579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2367" y="4116019"/>
            <a:ext cx="250186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Breadth is fragile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2367" y="4662220"/>
            <a:ext cx="2472599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A stumble in a handful of mega-caps now moves the whole index; the rest has been left behind.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5.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what active is built for — and as analysis commoditises, the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8705305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The setup —  </a:t>
            </a:r>
            <a:r>
              <a:rPr sz="1080">
                <a:solidFill>
                  <a:srgbClr val="0E1620"/>
                </a:solidFill>
                <a:latin typeface="Arial"/>
              </a:rPr>
              <a:t>expensive equities, record concentration and price-insensitive passive flows that inflate the most crowded names.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Why active now —  </a:t>
            </a:r>
            <a:r>
              <a:rPr sz="1080">
                <a:solidFill>
                  <a:srgbClr val="0E1620"/>
                </a:solidFill>
                <a:latin typeface="Arial"/>
              </a:rPr>
              <a:t>wider mispricing and dispersion reward valuation discipline again; the “active underperforms” critique is cyclical, and weakest in exactly this market.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AI commoditises analysis —  </a:t>
            </a:r>
            <a:r>
              <a:rPr sz="1080">
                <a:solidFill>
                  <a:srgbClr val="0E1620"/>
                </a:solidFill>
                <a:latin typeface="Arial"/>
              </a:rPr>
              <a:t>quant and specialist edges compete on the same public data, which commoditises fastest (Kim, Muhn &amp; Nikolaev, 2024; McLean &amp; Pontiff, 2016).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5559552"/>
            <a:ext cx="8873559" cy="897331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22" y="5559552"/>
            <a:ext cx="51207" cy="89733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5559552"/>
            <a:ext cx="8485844" cy="8973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314359"/>
                </a:solidFill>
                <a:latin typeface="Arial"/>
              </a:rPr>
              <a:t>The most durable edge is ownership: buying mispriced businesses and changing the outcome — an edge AI cannot copy.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6.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When valuations crack, where will clients hold?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 record valuations the cycle will turn — and the hedge can only be bought before the crack, not after.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340864"/>
            <a:ext cx="2867630" cy="19507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22" y="2340864"/>
            <a:ext cx="51207" cy="195072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53" y="2555443"/>
            <a:ext cx="250186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Global equities — exposed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53" y="3101644"/>
            <a:ext cx="2472599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Clients own the most-expensive, most-concentrated names, with nothing to do when they fall.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230" y="2340864"/>
            <a:ext cx="2867630" cy="19507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230" y="2340864"/>
            <a:ext cx="51207" cy="195072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3060" y="2555443"/>
            <a:ext cx="250186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Private equity — the 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3060" y="3101644"/>
            <a:ext cx="2472599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Marks lag then catch down, while illiquidity blocks the exit exactly when it is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537" y="2340864"/>
            <a:ext cx="2867630" cy="19507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537" y="2340864"/>
            <a:ext cx="51207" cy="195072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2367" y="2555443"/>
            <a:ext cx="250186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This trust — the hedge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367" y="3101644"/>
            <a:ext cx="2472599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Board control floors the risk, the shares stay liquid, and the dislocation becomes the entry.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584192"/>
            <a:ext cx="8873559" cy="92659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22" y="4584192"/>
            <a:ext cx="51207" cy="92659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84" y="4681728"/>
            <a:ext cx="84126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LIVE — JUNE 2026 · BLOOMBERG / CNBC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84" y="4974336"/>
            <a:ext cx="8485844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Partners Group capped redemptions in its $8.6bn evergreen PE fund at 5% of NAV after requests hit 9.8% — KKR, Blackstone and Ares fell. The PE exit is closing, exactly as feared.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22" y="6300825"/>
            <a:ext cx="8873559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30" y="6300825"/>
            <a:ext cx="855899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While evergreen PE gates redemptions, a listed trust trades every day the market is open — the liquidity clients keep when it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7.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Two ways to own actively: public or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same operational value creation is available in PE and public markets — but the public route keeps what private gives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84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Private — PE / buyout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306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Public — Engaged ownership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53" y="2789529"/>
            <a:ext cx="8858928" cy="189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53" y="2887065"/>
            <a:ext cx="196052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How you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84" y="2887065"/>
            <a:ext cx="3145614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Buy and control the whole company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306" y="2887065"/>
            <a:ext cx="3365076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Board seat and real influence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53" y="3374745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53" y="3374745"/>
            <a:ext cx="196052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Entry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84" y="3374745"/>
            <a:ext cx="3145614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A ~40% control premium, up 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306" y="3374745"/>
            <a:ext cx="3365076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Market price — often at a discount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53" y="3862425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53" y="3862425"/>
            <a:ext cx="196052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Liquidity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84" y="3862425"/>
            <a:ext cx="3145614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10-year lock-up; blind-pool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306" y="3862425"/>
            <a:ext cx="3365076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Daily liquidity; exit any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53" y="4350105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53" y="4350105"/>
            <a:ext cx="196052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84" y="4350105"/>
            <a:ext cx="3145614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Smoothed quarterly appraisal marks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306" y="4350105"/>
            <a:ext cx="3365076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Honest daily market prices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553" y="4837785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53" y="4837785"/>
            <a:ext cx="196052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Fees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84" y="4837785"/>
            <a:ext cx="3145614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2 &amp; 20, plus fees on idle dry powder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306" y="4837785"/>
            <a:ext cx="3365076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Lower, on capital deployed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553" y="5325465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53" y="5325465"/>
            <a:ext cx="1960522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Value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84" y="5325465"/>
            <a:ext cx="3145614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Board-led operational improvement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306" y="5325465"/>
            <a:ext cx="3365076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The same — board-led improvement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553" y="5813145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8.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Where it fits in a portfolio: three homes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Engaged ownership needs no bucket of its own — it can be funded from public equity, alternatives or private equity.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340864"/>
            <a:ext cx="2867630" cy="3413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22" y="2340864"/>
            <a:ext cx="51207" cy="341376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53" y="2555443"/>
            <a:ext cx="2501860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Public equity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53" y="3121152"/>
            <a:ext cx="2472599" cy="243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20" b="1" i="0">
                <a:solidFill>
                  <a:srgbClr val="556A83"/>
                </a:solidFill>
                <a:latin typeface="Arial"/>
              </a:rPr>
              <a:t>THE LENS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 concentrated, active equity sleeve — long-only listed companies with daily pricing and full transparency.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20" b="1" i="0">
                <a:solidFill>
                  <a:srgbClr val="556A83"/>
                </a:solidFill>
                <a:latin typeface="Arial"/>
              </a:rPr>
              <a:t>WHY FUND IT HERE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Adds idiosyncratic, governance-driven alpha to a beta-dominated book.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230" y="2340864"/>
            <a:ext cx="2867630" cy="3413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230" y="2340864"/>
            <a:ext cx="51207" cy="341376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3060" y="2555443"/>
            <a:ext cx="2501860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Alternatives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3060" y="3121152"/>
            <a:ext cx="2472599" cy="243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20" b="1" i="0">
                <a:solidFill>
                  <a:srgbClr val="556A83"/>
                </a:solidFill>
                <a:latin typeface="Arial"/>
              </a:rPr>
              <a:t>THE LENS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 catalyst strategy — returns from board change, capital returns and corporate events.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20" b="1" i="0">
                <a:solidFill>
                  <a:srgbClr val="556A83"/>
                </a:solidFill>
                <a:latin typeface="Arial"/>
              </a:rPr>
              <a:t>WHY FUND IT HERE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The driver is event-specific, largely independent of rates and growth; it diversifies.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537" y="2340864"/>
            <a:ext cx="2867630" cy="34137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537" y="2340864"/>
            <a:ext cx="51207" cy="341376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2367" y="2555443"/>
            <a:ext cx="2501860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Arial"/>
              </a:rPr>
              <a:t>Private equity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2367" y="3121152"/>
            <a:ext cx="2472599" cy="243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20" b="1" i="0">
                <a:solidFill>
                  <a:srgbClr val="556A83"/>
                </a:solidFill>
                <a:latin typeface="Arial"/>
              </a:rPr>
              <a:t>THE LENS</a:t>
            </a:r>
          </a:p>
          <a:p>
            <a:pPr algn="l">
              <a:lnSpc>
                <a:spcPct val="128000"/>
              </a:lnSpc>
              <a:spcAft>
                <a:spcPts val="110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PE-style value creation — board influence, operational improvement, multi-year holds — in public markets.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720" b="1" i="0">
                <a:solidFill>
                  <a:srgbClr val="556A83"/>
                </a:solidFill>
                <a:latin typeface="Arial"/>
              </a:rPr>
              <a:t>WHY FUND IT HERE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The same engaged-ownership engine as PE, but liquid, with no J-curve or lock-up.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9.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What we do — we don’t pick stocks, we build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Quality-core constructivism: own good businesses and make them better from the boardroom.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8705305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Quality at a discount —  </a:t>
            </a:r>
            <a:r>
              <a:rPr sz="1120">
                <a:solidFill>
                  <a:srgbClr val="0E1620"/>
                </a:solidFill>
                <a:latin typeface="Arial"/>
              </a:rPr>
              <a:t>profitable, high-return businesses below intrinsic value; never broken turnarounds we cannot underwrite.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Value we create, not discover —  </a:t>
            </a:r>
            <a:r>
              <a:rPr sz="1120">
                <a:solidFill>
                  <a:srgbClr val="0E1620"/>
                </a:solidFill>
                <a:latin typeface="Arial"/>
              </a:rPr>
              <a:t>board control, capital-allocation discipline and operational change, not leverage or financial engineering.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Returns from earnings, not re-rating —  </a:t>
            </a:r>
            <a:r>
              <a:rPr sz="1120">
                <a:solidFill>
                  <a:srgbClr val="0E1620"/>
                </a:solidFill>
                <a:latin typeface="Arial"/>
              </a:rPr>
              <a:t>the gain comes from the business improving under our influence — bankable cash, not a hoped-for multiple.</a:t>
            </a:r>
          </a:p>
          <a:p>
            <a:pPr>
              <a:lnSpc>
                <a:spcPct val="118000"/>
              </a:lnSpc>
              <a:spcAft>
                <a:spcPts val="15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Constructive, by agreement —  </a:t>
            </a:r>
            <a:r>
              <a:rPr sz="1120">
                <a:solidFill>
                  <a:srgbClr val="0E1620"/>
                </a:solidFill>
                <a:latin typeface="Arial"/>
              </a:rPr>
              <a:t>board seats won collaboratively, not proxy wars fought — a Nordic governance model, 20 years honed.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6300825"/>
            <a:ext cx="8873559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30" y="6300825"/>
            <a:ext cx="855899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Private-equity-style value creation — in transparent, listed, daily-liquid 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10.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How we invest: three tollgates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Every idea passes the same three gates — each with an explicit bar and a named decision-maker.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340864"/>
            <a:ext cx="365769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53" y="2340864"/>
            <a:ext cx="365769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8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630" y="2340864"/>
            <a:ext cx="8339536" cy="1267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60" b="1" i="0">
                <a:solidFill>
                  <a:srgbClr val="314359"/>
                </a:solidFill>
                <a:latin typeface="Arial"/>
              </a:rPr>
              <a:t>Tollgate 1 — Valuation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The question:  </a:t>
            </a:r>
            <a:r>
              <a:rPr sz="919" b="0">
                <a:solidFill>
                  <a:srgbClr val="0E1620"/>
                </a:solidFill>
                <a:latin typeface="Arial"/>
              </a:rPr>
              <a:t>“Is it cheap enough even if we change nothing?”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Pass only if:  </a:t>
            </a:r>
            <a:r>
              <a:rPr sz="919" b="0">
                <a:solidFill>
                  <a:srgbClr val="0E1620"/>
                </a:solidFill>
                <a:latin typeface="Arial"/>
              </a:rPr>
              <a:t>The core business alone justifies the price — a 30–40% margin of safety vs a PE bidder.  (Investment Team)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53" y="3725875"/>
            <a:ext cx="365769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53" y="3725875"/>
            <a:ext cx="365769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8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630" y="3725875"/>
            <a:ext cx="8339536" cy="1267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60" b="1" i="0">
                <a:solidFill>
                  <a:srgbClr val="314359"/>
                </a:solidFill>
                <a:latin typeface="Arial"/>
              </a:rPr>
              <a:t>Tollgate 2 — The plan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The question:  </a:t>
            </a:r>
            <a:r>
              <a:rPr sz="919" b="0">
                <a:solidFill>
                  <a:srgbClr val="0E1620"/>
                </a:solidFill>
                <a:latin typeface="Arial"/>
              </a:rPr>
              <a:t>“Is the improvement plan real — and can we deliver it?”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Pass only if:  </a:t>
            </a:r>
            <a:r>
              <a:rPr sz="919" b="0">
                <a:solidFill>
                  <a:srgbClr val="0E1620"/>
                </a:solidFill>
                <a:latin typeface="Arial"/>
              </a:rPr>
              <a:t>Upside quantified across value levers and validated, with a credible path to a board seat; includes psychometric evaluation of CEO / Chair.  (Deal Lead + Head of Research)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553" y="5110886"/>
            <a:ext cx="365769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53" y="5110886"/>
            <a:ext cx="365769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8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630" y="5110886"/>
            <a:ext cx="8339536" cy="1267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60" b="1" i="0">
                <a:solidFill>
                  <a:srgbClr val="314359"/>
                </a:solidFill>
                <a:latin typeface="Arial"/>
              </a:rPr>
              <a:t>Tollgate 3 — Go / No-Go</a:t>
            </a:r>
          </a:p>
          <a:p>
            <a:pPr>
              <a:lnSpc>
                <a:spcPct val="118000"/>
              </a:lnSpc>
              <a:spcAft>
                <a:spcPts val="20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The question:  </a:t>
            </a:r>
            <a:r>
              <a:rPr sz="919" b="0">
                <a:solidFill>
                  <a:srgbClr val="0E1620"/>
                </a:solidFill>
                <a:latin typeface="Arial"/>
              </a:rPr>
              <a:t>“Right risk, right size, right fit?”</a:t>
            </a: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919" b="1">
                <a:solidFill>
                  <a:srgbClr val="314359"/>
                </a:solidFill>
                <a:latin typeface="Arial"/>
              </a:rPr>
              <a:t>Pass only if:  </a:t>
            </a:r>
            <a:r>
              <a:rPr sz="919" b="0">
                <a:solidFill>
                  <a:srgbClr val="0E1620"/>
                </a:solidFill>
                <a:latin typeface="Arial"/>
              </a:rPr>
              <a:t>Within risk and portfolio limits, conviction-sized, with no better use of the capital.  (Investment Committee)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11.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The ownership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sequence, honed over 38 investments, that turns a board seat into operational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340864"/>
            <a:ext cx="2867630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22" y="2340864"/>
            <a:ext cx="51207" cy="136550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22" y="2516428"/>
            <a:ext cx="25018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1 · Secure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22" y="2926080"/>
            <a:ext cx="2487230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8230" y="2340864"/>
            <a:ext cx="2867630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230" y="2340864"/>
            <a:ext cx="51207" cy="136550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8429" y="2516428"/>
            <a:ext cx="25018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 · 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429" y="2926080"/>
            <a:ext cx="2487230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Collaborate with management and stakeholders to agree where the value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537" y="2340864"/>
            <a:ext cx="2867630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537" y="2340864"/>
            <a:ext cx="51207" cy="136550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7737" y="2516428"/>
            <a:ext cx="25018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3 · Refocus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7737" y="2926080"/>
            <a:ext cx="2487230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Cut overhead, optimise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3901440"/>
            <a:ext cx="2867630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22" y="3901440"/>
            <a:ext cx="51207" cy="136550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22" y="4077004"/>
            <a:ext cx="25018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4 · 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22" y="4486656"/>
            <a:ext cx="2487230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8230" y="3901440"/>
            <a:ext cx="2867630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38230" y="3901440"/>
            <a:ext cx="51207" cy="136550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8429" y="4077004"/>
            <a:ext cx="25018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5 · 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8429" y="4486656"/>
            <a:ext cx="2487230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Add complementary products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37537" y="3901440"/>
            <a:ext cx="2867630" cy="136550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37537" y="3901440"/>
            <a:ext cx="51207" cy="136550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7737" y="4077004"/>
            <a:ext cx="2501860" cy="34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6 · 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7737" y="4486656"/>
            <a:ext cx="2487230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Realise via M&amp;A or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242304"/>
            <a:ext cx="887355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20" b="1" i="1">
                <a:solidFill>
                  <a:srgbClr val="314359"/>
                </a:solidFill>
                <a:latin typeface="Arial"/>
              </a:rPr>
              <a:t>We don’t buy broken companies — we buy hidden 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12.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Risk, honestly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risk system built to engineer out permanent loss — controlled before the investment is made.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4316075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THREE PILLARS OF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53" y="2779776"/>
            <a:ext cx="4316075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960" b="1">
                <a:solidFill>
                  <a:srgbClr val="314359"/>
                </a:solidFill>
                <a:latin typeface="Arial"/>
              </a:rPr>
              <a:t>Predictability —  </a:t>
            </a:r>
            <a:r>
              <a:rPr sz="960">
                <a:solidFill>
                  <a:srgbClr val="0E1620"/>
                </a:solidFill>
                <a:latin typeface="Arial"/>
              </a:rPr>
              <a:t>only durable, market-leading cores in slow-moving industries where future demand is underwritable.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960" b="1">
                <a:solidFill>
                  <a:srgbClr val="314359"/>
                </a:solidFill>
                <a:latin typeface="Arial"/>
              </a:rPr>
              <a:t>Price (a valuation floor) —  </a:t>
            </a:r>
            <a:r>
              <a:rPr sz="960">
                <a:solidFill>
                  <a:srgbClr val="0E1620"/>
                </a:solidFill>
                <a:latin typeface="Arial"/>
              </a:rPr>
              <a:t>value the rectifiable core, zero for “growth-trap” divisions — a structural 30–40% margin of safety vs PE.</a:t>
            </a:r>
          </a:p>
          <a:p>
            <a:pPr>
              <a:lnSpc>
                <a:spcPct val="118000"/>
              </a:lnSpc>
              <a:spcAft>
                <a:spcPts val="1200"/>
              </a:spcAft>
            </a:pPr>
            <a:r>
              <a:rPr sz="960" b="1">
                <a:solidFill>
                  <a:srgbClr val="314359"/>
                </a:solidFill>
                <a:latin typeface="Arial"/>
              </a:rPr>
              <a:t>Influence —  </a:t>
            </a:r>
            <a:r>
              <a:rPr sz="960">
                <a:solidFill>
                  <a:srgbClr val="0E1620"/>
                </a:solidFill>
                <a:latin typeface="Arial"/>
              </a:rPr>
              <a:t>a board seat as the “kill switch” — stopping a bad decision lowers risk below passive or active managers.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7614" y="2340864"/>
            <a:ext cx="4264868" cy="36088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47614" y="2340864"/>
            <a:ext cx="51207" cy="360883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2444" y="2555443"/>
            <a:ext cx="3877152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AUTOMATIC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2444" y="3101644"/>
            <a:ext cx="3913729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880" b="1">
                <a:solidFill>
                  <a:srgbClr val="314359"/>
                </a:solidFill>
                <a:latin typeface="Arial"/>
              </a:rPr>
              <a:t>Entry gauntlet —  </a:t>
            </a:r>
            <a:r>
              <a:rPr sz="880">
                <a:solidFill>
                  <a:srgbClr val="0E1620"/>
                </a:solidFill>
                <a:latin typeface="Arial"/>
              </a:rPr>
              <a:t>ideas must clear ≥12% expected IRR and ≤20% probability of a 30% drawdown.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880" b="1">
                <a:solidFill>
                  <a:srgbClr val="314359"/>
                </a:solidFill>
                <a:latin typeface="Arial"/>
              </a:rPr>
              <a:t>Diversification limits —  </a:t>
            </a:r>
            <a:r>
              <a:rPr sz="880">
                <a:solidFill>
                  <a:srgbClr val="0E1620"/>
                </a:solidFill>
                <a:latin typeface="Arial"/>
              </a:rPr>
              <a:t>capped exposures to sector (≤30%), cycle, maturity and geography.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880" b="1">
                <a:solidFill>
                  <a:srgbClr val="314359"/>
                </a:solidFill>
                <a:latin typeface="Arial"/>
              </a:rPr>
              <a:t>Mechanised discipline —  </a:t>
            </a:r>
            <a:r>
              <a:rPr sz="880">
                <a:solidFill>
                  <a:srgbClr val="0E1620"/>
                </a:solidFill>
                <a:latin typeface="Arial"/>
              </a:rPr>
              <a:t>automatic −10 / −20 / −30% triggers force a re-underwrite, and an exit if the thesis is broken.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880" b="1">
                <a:solidFill>
                  <a:srgbClr val="314359"/>
                </a:solidFill>
                <a:latin typeface="Arial"/>
              </a:rPr>
              <a:t>No leverage —  </a:t>
            </a:r>
            <a:r>
              <a:rPr sz="880">
                <a:solidFill>
                  <a:srgbClr val="0E1620"/>
                </a:solidFill>
                <a:latin typeface="Arial"/>
              </a:rPr>
              <a:t>isolated to single investments, never at the fund level.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13.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Versus private 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On true risk, PE and Athanase carry similar volatility — but Athanase returns more, with daily liquidity.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84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Private equity (realised)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306" y="2340864"/>
            <a:ext cx="3365076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Athanase (engaged owner)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53" y="2789529"/>
            <a:ext cx="8858928" cy="189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53" y="2887065"/>
            <a:ext cx="1960522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Real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84" y="2887065"/>
            <a:ext cx="3145614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~11–14% (above PME, below us)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306" y="2887065"/>
            <a:ext cx="3365076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~16% net, real, fully invested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3553" y="3355238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53" y="3355238"/>
            <a:ext cx="1960522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Liquidity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84" y="3355238"/>
            <a:ext cx="3145614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10-year lock-up, blind pools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306" y="3355238"/>
            <a:ext cx="3365076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Daily liquidity, listed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53" y="3823411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53" y="3823411"/>
            <a:ext cx="1960522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84" y="3823411"/>
            <a:ext cx="3145614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Smoothed, model-marked quarterly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306" y="3823411"/>
            <a:ext cx="3365076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Daily marks, public scoreboard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53" y="4291584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53" y="4291584"/>
            <a:ext cx="1960522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True volatility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84" y="4291584"/>
            <a:ext cx="3145614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~28% (de-smoothed, levered)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306" y="4291584"/>
            <a:ext cx="3365076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27% (downside only ~11%)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553" y="4759756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53" y="4759756"/>
            <a:ext cx="1960522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Downside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84" y="4759756"/>
            <a:ext cx="3145614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~16% chance of 30%+ loss / 3 yrs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306" y="4759756"/>
            <a:ext cx="3365076" cy="468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~2% chance of 30%+ loss / 3 yrs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3553" y="5227929"/>
            <a:ext cx="8858928" cy="10837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53" y="6534912"/>
            <a:ext cx="8778459" cy="390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Athanase captures 93% of the market’s upside but only 43% of its downside; at 0.44 correlation it improves the whole portfolio’s efficient frontier.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14.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£1 has become ~£18, net — vs ~£3 for the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Twenty years of compounding from operating improvement — net of all fees, independently reconciled.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14</a:t>
            </a:r>
          </a:p>
        </p:txBody>
      </p:sp>
      <p:pic>
        <p:nvPicPr>
          <p:cNvPr id="9" name="Picture 8" descr="trus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9" y="2340864"/>
            <a:ext cx="5047614" cy="27519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32844" y="2438400"/>
            <a:ext cx="3657691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80" b="0" i="0" spc="-78">
                <a:solidFill>
                  <a:srgbClr val="314359"/>
                </a:solidFill>
                <a:latin typeface="Times New Roman"/>
              </a:rPr>
              <a:t>~16%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2844" y="2896819"/>
            <a:ext cx="3657691" cy="312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net p.a. over 20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2844" y="3277209"/>
            <a:ext cx="3657691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80" b="0" i="0" spc="-78">
                <a:solidFill>
                  <a:srgbClr val="314359"/>
                </a:solidFill>
                <a:latin typeface="Times New Roman"/>
              </a:rPr>
              <a:t>+10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844" y="3735628"/>
            <a:ext cx="3657691" cy="312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a year vs the index, 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32844" y="4116019"/>
            <a:ext cx="3657691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80" b="0" i="0" spc="-78">
                <a:solidFill>
                  <a:srgbClr val="314359"/>
                </a:solidFill>
                <a:latin typeface="Times New Roman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844" y="4574438"/>
            <a:ext cx="3657691" cy="312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investor loss over a holding 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844" y="4954828"/>
            <a:ext cx="3657691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80" b="0" i="0" spc="-78">
                <a:solidFill>
                  <a:srgbClr val="314359"/>
                </a:solidFill>
                <a:latin typeface="Times New Roman"/>
              </a:rPr>
              <a:t>2.40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844" y="5413248"/>
            <a:ext cx="3657691" cy="3121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Sortino ratio — downside-aware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9" y="6612940"/>
            <a:ext cx="892476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40" b="0" i="1">
                <a:solidFill>
                  <a:srgbClr val="556A83"/>
                </a:solidFill>
                <a:latin typeface="Arial"/>
              </a:rPr>
              <a:t>Cumulative growth of capital, net of fees, 2006–2025 (log scale). Newly proposed trust; manager’s existing strategy. Past performance is not a guide to future returns.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Track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15.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Every investment in the current fund (AIP Fund 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full book, ranked by money multiple — winners, and the discipline on the one that disappointed.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17556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537" y="2340864"/>
            <a:ext cx="17556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229" y="2340864"/>
            <a:ext cx="17556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Gross 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767" y="2340864"/>
            <a:ext cx="17556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MOIC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305" y="2340864"/>
            <a:ext cx="175569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vs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3553" y="2672486"/>
            <a:ext cx="8858928" cy="1625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46" y="2731008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53" y="2731008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Ngex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537" y="273100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229" y="273100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767" y="273100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6.2×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305" y="273100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+59%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53" y="2971921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537" y="297192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9" y="297192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767" y="297192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5.4×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305" y="297192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n.m.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212834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53" y="3212834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537" y="321283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229" y="321283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1767" y="321283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5.1×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305" y="321283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53" y="3453747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Zutec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537" y="345374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229" y="345374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767" y="345374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305" y="345374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2346" y="3694660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553" y="3694660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Bufab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33537" y="369466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229" y="369466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767" y="369466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2.0×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305" y="369466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53" y="3935573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Transcom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33537" y="3935573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9" y="3935573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80%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71767" y="3935573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4305" y="3935573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2346" y="4176486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3553" y="4176486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Alcadon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33537" y="4176486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229" y="4176486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71767" y="4176486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1.7×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305" y="4176486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+65%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553" y="4417399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Haldex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3537" y="4417399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2019-2022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229" y="4417399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36%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71767" y="4417399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4305" y="4417399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46" y="4658312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3553" y="4658312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Sandvik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33537" y="4658312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229" y="4658312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71767" y="4658312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4305" y="4658312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+43%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553" y="4899225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Renold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33537" y="4899225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2024-2025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229" y="4899225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220%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1767" y="4899225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1.6×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4305" y="4899225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+211%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46" y="5140138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3553" y="5140138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Kitron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33537" y="514013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2016-2018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9229" y="514013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40%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71767" y="514013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4305" y="5140138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3553" y="5381051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Zalaris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33537" y="538105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9229" y="538105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26%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71767" y="538105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1.5×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54305" y="5381051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+16%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46" y="5621964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3553" y="5621964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Robit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33537" y="562196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89229" y="562196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14%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71767" y="562196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1.4×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4305" y="562196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+8%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3553" y="5862877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DistIt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33537" y="586287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2015-2025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89229" y="586287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7%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71767" y="586287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54305" y="586287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-1%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2346" y="6103790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3553" y="6103790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Catella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33537" y="610379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2020-2025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229" y="610379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71767" y="610379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1.2×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54305" y="6103790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+2%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3553" y="6344704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Tempest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33537" y="634470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2018-2025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89229" y="634470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12%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71767" y="634470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1.2×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54305" y="6344704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0E1620"/>
                </a:solidFill>
                <a:latin typeface="Arial"/>
              </a:rPr>
              <a:t>+3%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02346" y="6585617"/>
            <a:ext cx="8924767" cy="24091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3553" y="6585617"/>
            <a:ext cx="212146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1" i="1">
                <a:solidFill>
                  <a:srgbClr val="556A83"/>
                </a:solidFill>
                <a:latin typeface="Arial"/>
              </a:rPr>
              <a:t>Actic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33537" y="658561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2017-2023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89229" y="658561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-27%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71767" y="658561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0.4×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54305" y="6585617"/>
            <a:ext cx="1755691" cy="24091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-33%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3553" y="6885051"/>
            <a:ext cx="885161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40" b="0" i="1">
                <a:solidFill>
                  <a:srgbClr val="556A83"/>
                </a:solidFill>
                <a:latin typeface="Arial"/>
              </a:rPr>
              <a:t>Gross deal-level figures, AIP Fund II to 2025; “n.m.” where holding periods are too short to annualise. Past performance is not a guide to future returns.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Structure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16.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Why a listed trust is the ideal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closed-end structure matches long-horizon engaged ownership better than any open-ended wrapper.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553" y="2340864"/>
            <a:ext cx="8705305" cy="4291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Permanent capital = patient capital —  </a:t>
            </a:r>
            <a:r>
              <a:rPr sz="1080">
                <a:solidFill>
                  <a:srgbClr val="0E1620"/>
                </a:solidFill>
                <a:latin typeface="Arial"/>
              </a:rPr>
              <a:t>no forced redemptions, so we are never a forced seller; the multi-year engagement is protected and dislocations become opportunities.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Daily liquidity for clients —  </a:t>
            </a:r>
            <a:r>
              <a:rPr sz="1080">
                <a:solidFill>
                  <a:srgbClr val="0E1620"/>
                </a:solidFill>
                <a:latin typeface="Arial"/>
              </a:rPr>
              <a:t>shares trade on the LSE — daily dealing, no capital calls — while evergreen PE funds gate redemptions (Partners Group, June 2026).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An independent board —  </a:t>
            </a:r>
            <a:r>
              <a:rPr sz="1080">
                <a:solidFill>
                  <a:srgbClr val="0E1620"/>
                </a:solidFill>
                <a:latin typeface="Arial"/>
              </a:rPr>
              <a:t>a majority-independent board oversees the manager on shareholders’ behalf.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Tier-one providers —  </a:t>
            </a:r>
            <a:r>
              <a:rPr sz="1080">
                <a:solidFill>
                  <a:srgbClr val="0E1620"/>
                </a:solidFill>
                <a:latin typeface="Arial"/>
              </a:rPr>
              <a:t>operations, valuation and audit segregated from investment — SEB · MUFG · KPMG.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6300825"/>
            <a:ext cx="8873559" cy="58521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30" y="6300825"/>
            <a:ext cx="855899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An institutional strategy clients can buy and sell like any listed share — without giving up the patient capital it needs.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Structure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17.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Income and discount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total-return strategy the trust structure can still wrap with a predictable income and a tight discount.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340864"/>
            <a:ext cx="4359968" cy="321868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553" y="2340864"/>
            <a:ext cx="51207" cy="321868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2555443"/>
            <a:ext cx="3994199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Distribution policy (proposed)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84" y="3101644"/>
            <a:ext cx="3964937" cy="22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Capital growth at the core — realised as listed gains. UK trusts can pay a smoothed annual dividend from realised gains and revenue reserves, so a steady, quarterly income is available where advisers want it. Target yield and frequency to be set at launch.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514" y="2340864"/>
            <a:ext cx="4359968" cy="321868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2514" y="2340864"/>
            <a:ext cx="51207" cy="321868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345" y="2555443"/>
            <a:ext cx="3994199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314359"/>
                </a:solidFill>
                <a:latin typeface="Arial"/>
              </a:rPr>
              <a:t>Discount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345" y="3101644"/>
            <a:ext cx="3964937" cy="22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A buyback policy that triggers when the shares trade materially below NAV — supported by realised exit gains — to keep any discount tight. Listing on the LSE Main Market or Specialist Fund Segment, weighed on index eligibility, investor base and compliance.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53" y="6729984"/>
            <a:ext cx="87784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40" b="0" i="1">
                <a:solidFill>
                  <a:srgbClr val="556A83"/>
                </a:solidFill>
                <a:latin typeface="Arial"/>
              </a:rPr>
              <a:t>Proposed; distribution policy, yield and discount mechanism to be agreed with the sponsor and board, subject to reserves and regulation.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6583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Structure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400">
                <a:solidFill>
                  <a:srgbClr val="556A83"/>
                </a:solidFill>
                <a:latin typeface="Times New Roman"/>
              </a:rPr>
              <a:t>18.  </a:t>
            </a:r>
            <a:r>
              <a:rPr sz="2400">
                <a:solidFill>
                  <a:srgbClr val="314359"/>
                </a:solidFill>
                <a:latin typeface="Times New Roman"/>
              </a:rPr>
              <a:t>An indicative launch timetable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standard 3–4 month roadmap from mandate to admission.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921" y="6886041"/>
            <a:ext cx="31456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640" b="0" i="0">
                <a:solidFill>
                  <a:srgbClr val="556A83"/>
                </a:solidFill>
                <a:latin typeface="Arial"/>
              </a:rPr>
              <a:t>Strictly confidential · professional &amp; intermediary use only   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340864"/>
            <a:ext cx="2158037" cy="234086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3553" y="2340864"/>
            <a:ext cx="2158037" cy="4876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53" y="2340864"/>
            <a:ext cx="2158037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Arial"/>
              </a:rPr>
              <a:t>MONTH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22" y="3043123"/>
            <a:ext cx="182153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Structuring, board and provider appointments; mandate and policies agreed.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8637" y="2340864"/>
            <a:ext cx="2158037" cy="234086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8637" y="2340864"/>
            <a:ext cx="2158037" cy="4876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8637" y="2340864"/>
            <a:ext cx="2158037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Arial"/>
              </a:rPr>
              <a:t>MONTH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4207" y="3043123"/>
            <a:ext cx="182153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Draft prospectus and due diligence; discount and distribution policies finalised.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3721" y="2340864"/>
            <a:ext cx="2158037" cy="234086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3721" y="2340864"/>
            <a:ext cx="2158037" cy="4876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3721" y="2340864"/>
            <a:ext cx="2158037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Arial"/>
              </a:rPr>
              <a:t>MONTH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9291" y="3043123"/>
            <a:ext cx="182153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Regulatory review; marketing and cornerstone engagement.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806" y="2340864"/>
            <a:ext cx="2158037" cy="234086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806" y="2340864"/>
            <a:ext cx="2158037" cy="487680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78806" y="2340864"/>
            <a:ext cx="2158037" cy="48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40" b="1" i="0">
                <a:solidFill>
                  <a:srgbClr val="FFFFFF"/>
                </a:solidFill>
                <a:latin typeface="Arial"/>
              </a:rPr>
              <a:t>MONTH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375" y="3043123"/>
            <a:ext cx="182153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Roadshow, book-build and admission to listing.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53" y="6388608"/>
            <a:ext cx="885161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640" b="0" i="1">
                <a:solidFill>
                  <a:srgbClr val="556A83"/>
                </a:solidFill>
                <a:latin typeface="Arial"/>
              </a:rPr>
              <a:t>Illustrative; actual timetable, venue and discount policy subject to the sponsor, board and regulatory approval.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22" y="536448"/>
            <a:ext cx="1700094" cy="3657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3553" y="2438400"/>
            <a:ext cx="365769" cy="3251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22" y="2633472"/>
            <a:ext cx="8778459" cy="975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560" b="0" i="0" spc="-96">
                <a:solidFill>
                  <a:srgbClr val="FFFFFF"/>
                </a:solidFill>
                <a:latin typeface="Times New Roman"/>
              </a:rPr>
              <a:t>Bringing institutional engaged ownership to UK wealth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553" y="3901440"/>
            <a:ext cx="8778459" cy="2145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For your clients:</a:t>
            </a:r>
            <a:r>
              <a:rPr sz="1200" b="0">
                <a:solidFill>
                  <a:srgbClr val="E2E5E9"/>
                </a:solidFill>
                <a:latin typeface="Arial"/>
              </a:rPr>
              <a:t> a liquid, listed, differentiated equity holding — a 20-year net track record, real diversification and downside protection, daily dealing.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now:</a:t>
            </a:r>
            <a:r>
              <a:rPr sz="1200" b="0">
                <a:solidFill>
                  <a:srgbClr val="E2E5E9"/>
                </a:solidFill>
                <a:latin typeface="Arial"/>
              </a:rPr>
              <a:t> expensive, concentrated markets, gating private equity and decaying analytical alpha — the hedge is bought before the crack.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The proposal:</a:t>
            </a:r>
            <a:r>
              <a:rPr sz="1200" b="0">
                <a:solidFill>
                  <a:srgbClr val="E2E5E9"/>
                </a:solidFill>
                <a:latin typeface="Arial"/>
              </a:rPr>
              <a:t> partner to launch a UK investment trust on this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6291072"/>
            <a:ext cx="8778459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40" b="0" i="0">
                <a:solidFill>
                  <a:srgbClr val="556A83"/>
                </a:solidFill>
                <a:latin typeface="Arial"/>
              </a:rPr>
              <a:t>Stefan Charette   ·   Athanase Industrial Partner   ·   charette@athanase.se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