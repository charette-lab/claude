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logo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" y="502920"/>
            <a:ext cx="2125065" cy="4572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66928" y="242316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300" b="0" i="0">
                <a:solidFill>
                  <a:srgbClr val="8A97A6"/>
                </a:solidFill>
                <a:latin typeface="Poppins"/>
              </a:rPr>
              <a:t>A PROPOSED UK INVESTMENT TRUST</a:t>
            </a:r>
          </a:p>
        </p:txBody>
      </p:sp>
      <p:sp>
        <p:nvSpPr>
          <p:cNvPr id="5" name="Rectangle 4"/>
          <p:cNvSpPr/>
          <p:nvPr/>
        </p:nvSpPr>
        <p:spPr>
          <a:xfrm>
            <a:off x="585216" y="2926080"/>
            <a:ext cx="548640" cy="38100"/>
          </a:xfrm>
          <a:prstGeom prst="rect">
            <a:avLst/>
          </a:prstGeom>
          <a:solidFill>
            <a:srgbClr val="3E9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3154680"/>
            <a:ext cx="10972800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4600" b="1" i="0">
                <a:solidFill>
                  <a:srgbClr val="FFFFFF"/>
                </a:solidFill>
                <a:latin typeface="Poppins"/>
              </a:rPr>
              <a:t>Engaged ownership, in a listed trust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457200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800" b="0" i="0">
                <a:solidFill>
                  <a:srgbClr val="3E9CFF"/>
                </a:solidFill>
                <a:latin typeface="Poppins"/>
              </a:rPr>
              <a:t>An institutional, 20-year strategy — daily-dealing access for wealth portfolios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6126480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00" b="0" i="0">
                <a:solidFill>
                  <a:srgbClr val="8A97A6"/>
                </a:solidFill>
                <a:latin typeface="Poppins"/>
              </a:rPr>
              <a:t>For discussion · June 2026 · professional and intermediary use only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411480"/>
            <a:ext cx="1106424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3000" b="1">
                <a:solidFill>
                  <a:srgbClr val="3E9CFF"/>
                </a:solidFill>
                <a:latin typeface="Poppins"/>
              </a:rPr>
              <a:t>1. </a:t>
            </a:r>
            <a:r>
              <a:rPr sz="3000" b="1">
                <a:solidFill>
                  <a:srgbClr val="FFFFFF"/>
                </a:solidFill>
                <a:latin typeface="Poppins"/>
              </a:rPr>
              <a:t>Athanase at a glance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4592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050" b="0" i="0">
                <a:solidFill>
                  <a:srgbClr val="3E9CFF"/>
                </a:solidFill>
                <a:latin typeface="Poppins"/>
              </a:rPr>
              <a:t>SECTION 1 · FUND OVERVIEW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298448"/>
            <a:ext cx="108813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1350" b="0" i="0">
                <a:solidFill>
                  <a:srgbClr val="8A97A6"/>
                </a:solidFill>
                <a:latin typeface="Poppins"/>
              </a:rPr>
              <a:t>A proven engaged-ownership strategy — proposed in a listed, daily-dealing trust for UK wealth.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6437376"/>
            <a:ext cx="11091672" cy="10160"/>
          </a:xfrm>
          <a:prstGeom prst="rect">
            <a:avLst/>
          </a:prstGeom>
          <a:solidFill>
            <a:srgbClr val="2A3B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649224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00" b="0" i="0">
                <a:solidFill>
                  <a:srgbClr val="8A97A6"/>
                </a:solidFill>
                <a:latin typeface="Poppins"/>
              </a:rPr>
              <a:t>Athanase  ·  strictly confidential  ·  professional &amp; intermediary use only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92240"/>
            <a:ext cx="868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  <a:spcAft>
                <a:spcPts val="0"/>
              </a:spcAft>
            </a:pPr>
            <a:r>
              <a:rPr sz="800" b="0" i="0">
                <a:solidFill>
                  <a:srgbClr val="8A97A6"/>
                </a:solidFill>
                <a:latin typeface="Poppins"/>
              </a:rPr>
              <a:t>1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66928" y="2148840"/>
            <a:ext cx="11064240" cy="1417320"/>
          </a:xfrm>
          <a:prstGeom prst="roundRect">
            <a:avLst>
              <a:gd name="adj" fmla="val 4000"/>
            </a:avLst>
          </a:prstGeom>
          <a:solidFill>
            <a:srgbClr val="142236"/>
          </a:solidFill>
          <a:ln w="12700">
            <a:solidFill>
              <a:srgbClr val="2A3B5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66928" y="2350008"/>
            <a:ext cx="276606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3800" b="1" i="0">
                <a:solidFill>
                  <a:srgbClr val="3E9CFF"/>
                </a:solidFill>
                <a:latin typeface="Poppins"/>
              </a:rPr>
              <a:t>38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9808" y="2990088"/>
            <a:ext cx="24003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100" b="0" i="0">
                <a:solidFill>
                  <a:srgbClr val="C2CCD8"/>
                </a:solidFill>
                <a:latin typeface="Poppins"/>
              </a:rPr>
              <a:t>investments as
engaged owners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332988" y="2350008"/>
            <a:ext cx="276606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3800" b="1" i="0">
                <a:solidFill>
                  <a:srgbClr val="3E9CFF"/>
                </a:solidFill>
                <a:latin typeface="Poppins"/>
              </a:rPr>
              <a:t>19%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15868" y="2990088"/>
            <a:ext cx="24003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100" b="0" i="0">
                <a:solidFill>
                  <a:srgbClr val="C2CCD8"/>
                </a:solidFill>
                <a:latin typeface="Poppins"/>
              </a:rPr>
              <a:t>avg annualised NET,
any entry month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099048" y="2350008"/>
            <a:ext cx="276606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3800" b="1" i="0">
                <a:solidFill>
                  <a:srgbClr val="3E9CFF"/>
                </a:solidFill>
                <a:latin typeface="Poppins"/>
              </a:rPr>
              <a:t>7%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81928" y="2990088"/>
            <a:ext cx="24003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100" b="0" i="0">
                <a:solidFill>
                  <a:srgbClr val="C2CCD8"/>
                </a:solidFill>
                <a:latin typeface="Poppins"/>
              </a:rPr>
              <a:t>worst-ever entry,
still positive net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865108" y="2350008"/>
            <a:ext cx="276606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3800" b="1" i="0">
                <a:solidFill>
                  <a:srgbClr val="3E9CFF"/>
                </a:solidFill>
                <a:latin typeface="Poppins"/>
              </a:rPr>
              <a:t>18×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047988" y="2990088"/>
            <a:ext cx="24003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100" b="0" i="0">
                <a:solidFill>
                  <a:srgbClr val="C2CCD8"/>
                </a:solidFill>
                <a:latin typeface="Poppins"/>
              </a:rPr>
              <a:t>growth of capital
since 2006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66928" y="3840480"/>
            <a:ext cx="5486400" cy="4206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22000"/>
              </a:lnSpc>
              <a:spcAft>
                <a:spcPts val="1100"/>
              </a:spcAft>
            </a:pPr>
            <a:r>
              <a:rPr sz="1250" b="1">
                <a:solidFill>
                  <a:srgbClr val="3E9CFF"/>
                </a:solidFill>
                <a:latin typeface="Poppins"/>
              </a:rPr>
              <a:t>→  </a:t>
            </a:r>
            <a:r>
              <a:rPr sz="1250" b="1">
                <a:solidFill>
                  <a:srgbClr val="FFFFFF"/>
                </a:solidFill>
                <a:latin typeface="Poppins"/>
              </a:rPr>
              <a:t>~16% net p.a. since 2006 </a:t>
            </a:r>
            <a:r>
              <a:rPr sz="1250">
                <a:solidFill>
                  <a:srgbClr val="C2CCD8"/>
                </a:solidFill>
                <a:latin typeface="Poppins"/>
              </a:rPr>
              <a:t>versus 6.2% for the MSCI World IMI — +10 pts a year, net of all fees.</a:t>
            </a:r>
          </a:p>
          <a:p>
            <a:pPr>
              <a:lnSpc>
                <a:spcPct val="122000"/>
              </a:lnSpc>
              <a:spcAft>
                <a:spcPts val="1100"/>
              </a:spcAft>
            </a:pPr>
            <a:r>
              <a:rPr sz="1250" b="1">
                <a:solidFill>
                  <a:srgbClr val="3E9CFF"/>
                </a:solidFill>
                <a:latin typeface="Poppins"/>
              </a:rPr>
              <a:t>→  </a:t>
            </a:r>
            <a:r>
              <a:rPr sz="1250" b="1">
                <a:solidFill>
                  <a:srgbClr val="FFFFFF"/>
                </a:solidFill>
                <a:latin typeface="Poppins"/>
              </a:rPr>
              <a:t>Entry timing barely matters </a:t>
            </a:r>
            <a:r>
              <a:rPr sz="1250">
                <a:solidFill>
                  <a:srgbClr val="C2CCD8"/>
                </a:solidFill>
                <a:latin typeface="Poppins"/>
              </a:rPr>
              <a:t>the average entry month returned ~19% net; even the worst still compounded at +7%.</a:t>
            </a:r>
          </a:p>
          <a:p>
            <a:pPr>
              <a:lnSpc>
                <a:spcPct val="122000"/>
              </a:lnSpc>
              <a:spcAft>
                <a:spcPts val="1100"/>
              </a:spcAft>
            </a:pPr>
            <a:r>
              <a:rPr sz="1250" b="1">
                <a:solidFill>
                  <a:srgbClr val="3E9CFF"/>
                </a:solidFill>
                <a:latin typeface="Poppins"/>
              </a:rPr>
              <a:t>→  </a:t>
            </a:r>
            <a:r>
              <a:rPr sz="1250" b="1">
                <a:solidFill>
                  <a:srgbClr val="FFFFFF"/>
                </a:solidFill>
                <a:latin typeface="Poppins"/>
              </a:rPr>
              <a:t>No investor loss </a:t>
            </a:r>
            <a:r>
              <a:rPr sz="1250">
                <a:solidFill>
                  <a:srgbClr val="C2CCD8"/>
                </a:solidFill>
                <a:latin typeface="Poppins"/>
              </a:rPr>
              <a:t>over any full holding period in 20 years.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309360" y="3840480"/>
            <a:ext cx="5321808" cy="2331720"/>
          </a:xfrm>
          <a:prstGeom prst="roundRect">
            <a:avLst>
              <a:gd name="adj" fmla="val 5000"/>
            </a:avLst>
          </a:prstGeom>
          <a:solidFill>
            <a:srgbClr val="162439"/>
          </a:solidFill>
          <a:ln w="12700">
            <a:solidFill>
              <a:srgbClr val="2A3B5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565392" y="4078224"/>
            <a:ext cx="480974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500" b="1" i="0">
                <a:solidFill>
                  <a:srgbClr val="3E9CFF"/>
                </a:solidFill>
                <a:latin typeface="Poppins"/>
              </a:rPr>
              <a:t>An integrated team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65392" y="4709160"/>
            <a:ext cx="4809744" cy="1325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2000"/>
              </a:lnSpc>
              <a:spcAft>
                <a:spcPts val="0"/>
              </a:spcAft>
            </a:pPr>
            <a:r>
              <a:rPr sz="1200" b="0" i="0">
                <a:solidFill>
                  <a:srgbClr val="C2CCD8"/>
                </a:solidFill>
                <a:latin typeface="Poppins"/>
              </a:rPr>
              <a:t>A core team together since 2006 (some since 1996) — 38 companies and 30+ public board seats. Operations, valuation and risk sit apart from investment decisions, with custody, administration and audit by SEB, MUFG and KPMG.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411480"/>
            <a:ext cx="1106424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3000" b="1">
                <a:solidFill>
                  <a:srgbClr val="3E9CFF"/>
                </a:solidFill>
                <a:latin typeface="Poppins"/>
              </a:rPr>
              <a:t>2. </a:t>
            </a:r>
            <a:r>
              <a:rPr sz="3000" b="1">
                <a:solidFill>
                  <a:srgbClr val="FFFFFF"/>
                </a:solidFill>
                <a:latin typeface="Poppins"/>
              </a:rPr>
              <a:t>The proposed trust at a glance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4592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050" b="0" i="0">
                <a:solidFill>
                  <a:srgbClr val="3E9CFF"/>
                </a:solidFill>
                <a:latin typeface="Poppins"/>
              </a:rPr>
              <a:t>SECTION 1 · FUND OVERVIEW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298448"/>
            <a:ext cx="108813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1350" b="0" i="0">
                <a:solidFill>
                  <a:srgbClr val="8A97A6"/>
                </a:solidFill>
                <a:latin typeface="Poppins"/>
              </a:rPr>
              <a:t>Indicative parameters for discussion — final terms to be set with the sponsor and prospectus.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6437376"/>
            <a:ext cx="11091672" cy="10160"/>
          </a:xfrm>
          <a:prstGeom prst="rect">
            <a:avLst/>
          </a:prstGeom>
          <a:solidFill>
            <a:srgbClr val="2A3B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649224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00" b="0" i="0">
                <a:solidFill>
                  <a:srgbClr val="8A97A6"/>
                </a:solidFill>
                <a:latin typeface="Poppins"/>
              </a:rPr>
              <a:t>Athanase  ·  strictly confidential  ·  professional &amp; intermediary use only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92240"/>
            <a:ext cx="868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  <a:spcAft>
                <a:spcPts val="0"/>
              </a:spcAft>
            </a:pPr>
            <a:r>
              <a:rPr sz="800" b="0" i="0">
                <a:solidFill>
                  <a:srgbClr val="8A97A6"/>
                </a:solidFill>
                <a:latin typeface="Poppins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2148840"/>
            <a:ext cx="4114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300" b="1" i="0">
                <a:solidFill>
                  <a:srgbClr val="3E9CFF"/>
                </a:solidFill>
                <a:latin typeface="Poppins"/>
              </a:rPr>
              <a:t>Term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749039" y="2148840"/>
            <a:ext cx="4114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300" b="1" i="0">
                <a:solidFill>
                  <a:srgbClr val="3E9CFF"/>
                </a:solidFill>
                <a:latin typeface="Poppins"/>
              </a:rPr>
              <a:t>Proposal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66928" y="2606040"/>
            <a:ext cx="11073384" cy="17780"/>
          </a:xfrm>
          <a:prstGeom prst="rect">
            <a:avLst/>
          </a:prstGeom>
          <a:solidFill>
            <a:srgbClr val="3E9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66928" y="2715768"/>
            <a:ext cx="2999231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250" b="1" i="0">
                <a:solidFill>
                  <a:srgbClr val="3E9CFF"/>
                </a:solidFill>
                <a:latin typeface="Poppins"/>
              </a:rPr>
              <a:t>Structure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749039" y="2715768"/>
            <a:ext cx="7772401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250" b="0" i="0">
                <a:solidFill>
                  <a:srgbClr val="C2CCD8"/>
                </a:solidFill>
                <a:latin typeface="Poppins"/>
              </a:rPr>
              <a:t>UK closed-end investment trust, London-listed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66928" y="3136392"/>
            <a:ext cx="11073384" cy="10160"/>
          </a:xfrm>
          <a:prstGeom prst="rect">
            <a:avLst/>
          </a:prstGeom>
          <a:solidFill>
            <a:srgbClr val="2A3B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66928" y="3136392"/>
            <a:ext cx="2999231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250" b="1" i="0">
                <a:solidFill>
                  <a:srgbClr val="3E9CFF"/>
                </a:solidFill>
                <a:latin typeface="Poppins"/>
              </a:rPr>
              <a:t>Listing venue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749039" y="3136392"/>
            <a:ext cx="7772401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250" b="1" i="0">
                <a:solidFill>
                  <a:srgbClr val="FFFFFF"/>
                </a:solidFill>
                <a:latin typeface="Poppins"/>
              </a:rPr>
              <a:t>LSE Main Market or Specialist Fund Segment (indicative)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66928" y="3557016"/>
            <a:ext cx="11073384" cy="10160"/>
          </a:xfrm>
          <a:prstGeom prst="rect">
            <a:avLst/>
          </a:prstGeom>
          <a:solidFill>
            <a:srgbClr val="2A3B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66928" y="3557016"/>
            <a:ext cx="2999231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250" b="1" i="0">
                <a:solidFill>
                  <a:srgbClr val="3E9CFF"/>
                </a:solidFill>
                <a:latin typeface="Poppins"/>
              </a:rPr>
              <a:t>Objective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749039" y="3557016"/>
            <a:ext cx="7772401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250" b="0" i="0">
                <a:solidFill>
                  <a:srgbClr val="C2CCD8"/>
                </a:solidFill>
                <a:latin typeface="Poppins"/>
              </a:rPr>
              <a:t>Long-term capital growth via engaged ownership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66928" y="3977640"/>
            <a:ext cx="11073384" cy="10160"/>
          </a:xfrm>
          <a:prstGeom prst="rect">
            <a:avLst/>
          </a:prstGeom>
          <a:solidFill>
            <a:srgbClr val="2A3B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66928" y="3977640"/>
            <a:ext cx="2999231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250" b="1" i="0">
                <a:solidFill>
                  <a:srgbClr val="3E9CFF"/>
                </a:solidFill>
                <a:latin typeface="Poppins"/>
              </a:rPr>
              <a:t>Portfolio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749039" y="3977640"/>
            <a:ext cx="7772401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250" b="0" i="0">
                <a:solidFill>
                  <a:srgbClr val="C2CCD8"/>
                </a:solidFill>
                <a:latin typeface="Poppins"/>
              </a:rPr>
              <a:t>8–12 high-conviction listed Nordic / European mid-caps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66928" y="4398264"/>
            <a:ext cx="11073384" cy="10160"/>
          </a:xfrm>
          <a:prstGeom prst="rect">
            <a:avLst/>
          </a:prstGeom>
          <a:solidFill>
            <a:srgbClr val="2A3B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66928" y="4398264"/>
            <a:ext cx="2999231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250" b="1" i="0">
                <a:solidFill>
                  <a:srgbClr val="3E9CFF"/>
                </a:solidFill>
                <a:latin typeface="Poppins"/>
              </a:rPr>
              <a:t>Liquidity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749039" y="4398264"/>
            <a:ext cx="7772401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250" b="0" i="0">
                <a:solidFill>
                  <a:srgbClr val="C2CCD8"/>
                </a:solidFill>
                <a:latin typeface="Poppins"/>
              </a:rPr>
              <a:t>Daily dealing in the shares; no capital calls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66928" y="4818888"/>
            <a:ext cx="11073384" cy="10160"/>
          </a:xfrm>
          <a:prstGeom prst="rect">
            <a:avLst/>
          </a:prstGeom>
          <a:solidFill>
            <a:srgbClr val="2A3B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66928" y="4818888"/>
            <a:ext cx="2999231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250" b="1" i="0">
                <a:solidFill>
                  <a:srgbClr val="3E9CFF"/>
                </a:solidFill>
                <a:latin typeface="Poppins"/>
              </a:rPr>
              <a:t>Discount control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749039" y="4818888"/>
            <a:ext cx="7772401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250" b="1" i="0">
                <a:solidFill>
                  <a:srgbClr val="FFFFFF"/>
                </a:solidFill>
                <a:latin typeface="Poppins"/>
              </a:rPr>
              <a:t>Buyback when shares trade materially below NAV (indicative)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66928" y="5239512"/>
            <a:ext cx="11073384" cy="10160"/>
          </a:xfrm>
          <a:prstGeom prst="rect">
            <a:avLst/>
          </a:prstGeom>
          <a:solidFill>
            <a:srgbClr val="2A3B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66928" y="5239512"/>
            <a:ext cx="2999231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250" b="1" i="0">
                <a:solidFill>
                  <a:srgbClr val="3E9CFF"/>
                </a:solidFill>
                <a:latin typeface="Poppins"/>
              </a:rPr>
              <a:t>Alignment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749039" y="5239512"/>
            <a:ext cx="7772401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250" b="0" i="0">
                <a:solidFill>
                  <a:srgbClr val="C2CCD8"/>
                </a:solidFill>
                <a:latin typeface="Poppins"/>
              </a:rPr>
              <a:t>Significant team co-investment alongside shareholders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66928" y="5660136"/>
            <a:ext cx="11073384" cy="10160"/>
          </a:xfrm>
          <a:prstGeom prst="rect">
            <a:avLst/>
          </a:prstGeom>
          <a:solidFill>
            <a:srgbClr val="2A3B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66928" y="5660136"/>
            <a:ext cx="2999231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250" b="1" i="0">
                <a:solidFill>
                  <a:srgbClr val="3E9CFF"/>
                </a:solidFill>
                <a:latin typeface="Poppins"/>
              </a:rPr>
              <a:t>Providers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749039" y="5660136"/>
            <a:ext cx="7772401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250" b="0" i="0">
                <a:solidFill>
                  <a:srgbClr val="C2CCD8"/>
                </a:solidFill>
                <a:latin typeface="Poppins"/>
              </a:rPr>
              <a:t>Custody SEB · Administration MUFG · Audit KPMG</a:t>
            </a:r>
          </a:p>
        </p:txBody>
      </p:sp>
      <p:sp>
        <p:nvSpPr>
          <p:cNvPr id="35" name="Rectangle 34"/>
          <p:cNvSpPr/>
          <p:nvPr/>
        </p:nvSpPr>
        <p:spPr>
          <a:xfrm>
            <a:off x="566928" y="6080760"/>
            <a:ext cx="11073384" cy="10160"/>
          </a:xfrm>
          <a:prstGeom prst="rect">
            <a:avLst/>
          </a:prstGeom>
          <a:solidFill>
            <a:srgbClr val="2A3B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66928" y="6355080"/>
            <a:ext cx="10972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00" b="0" i="0">
                <a:solidFill>
                  <a:srgbClr val="8A97A6"/>
                </a:solidFill>
                <a:latin typeface="Poppins"/>
              </a:rPr>
              <a:t>Indicative and subject to contract, regulatory approval and final fund documentation. Not an offer of securities.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411480"/>
            <a:ext cx="1106424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3000" b="1">
                <a:solidFill>
                  <a:srgbClr val="3E9CFF"/>
                </a:solidFill>
                <a:latin typeface="Poppins"/>
              </a:rPr>
              <a:t>3. </a:t>
            </a:r>
            <a:r>
              <a:rPr sz="3000" b="1">
                <a:solidFill>
                  <a:srgbClr val="FFFFFF"/>
                </a:solidFill>
                <a:latin typeface="Poppins"/>
              </a:rPr>
              <a:t>Why now — the easy decade for beta is over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4592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050" b="0" i="0">
                <a:solidFill>
                  <a:srgbClr val="3E9CFF"/>
                </a:solidFill>
                <a:latin typeface="Poppins"/>
              </a:rPr>
              <a:t>SECTION 2 · THE OPPORTUNITY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298448"/>
            <a:ext cx="108813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1350" b="0" i="0">
                <a:solidFill>
                  <a:srgbClr val="8A97A6"/>
                </a:solidFill>
                <a:latin typeface="Poppins"/>
              </a:rPr>
              <a:t>Equities are expensive on almost every measure, and the zero-rate tailwind that lifted all assets has reversed.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6437376"/>
            <a:ext cx="11091672" cy="10160"/>
          </a:xfrm>
          <a:prstGeom prst="rect">
            <a:avLst/>
          </a:prstGeom>
          <a:solidFill>
            <a:srgbClr val="2A3B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649224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00" b="0" i="0">
                <a:solidFill>
                  <a:srgbClr val="8A97A6"/>
                </a:solidFill>
                <a:latin typeface="Poppins"/>
              </a:rPr>
              <a:t>Athanase  ·  strictly confidential  ·  professional &amp; intermediary use only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92240"/>
            <a:ext cx="868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  <a:spcAft>
                <a:spcPts val="0"/>
              </a:spcAft>
            </a:pPr>
            <a:r>
              <a:rPr sz="800" b="0" i="0">
                <a:solidFill>
                  <a:srgbClr val="8A97A6"/>
                </a:solidFill>
                <a:latin typeface="Poppins"/>
              </a:rPr>
              <a:t>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2148840"/>
            <a:ext cx="5394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1000"/>
              </a:spcAft>
            </a:pPr>
            <a:r>
              <a:rPr sz="1500" b="1" i="0">
                <a:solidFill>
                  <a:srgbClr val="FFFFFF"/>
                </a:solidFill>
                <a:latin typeface="Poppins"/>
              </a:rPr>
              <a:t>Expensive on most measures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2606040"/>
            <a:ext cx="5349240" cy="4206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22000"/>
              </a:lnSpc>
              <a:spcAft>
                <a:spcPts val="1200"/>
              </a:spcAft>
            </a:pPr>
            <a:r>
              <a:rPr sz="1250" b="1">
                <a:solidFill>
                  <a:srgbClr val="3E9CFF"/>
                </a:solidFill>
                <a:latin typeface="Poppins"/>
              </a:rPr>
              <a:t>→  </a:t>
            </a:r>
            <a:r>
              <a:rPr sz="1250">
                <a:solidFill>
                  <a:srgbClr val="C2CCD8"/>
                </a:solidFill>
                <a:latin typeface="Poppins"/>
              </a:rPr>
              <a:t>Shiller CAPE near ~36× — close to the dot-com extreme, roughly double the long-run ~17×.</a:t>
            </a:r>
          </a:p>
          <a:p>
            <a:pPr>
              <a:lnSpc>
                <a:spcPct val="122000"/>
              </a:lnSpc>
              <a:spcAft>
                <a:spcPts val="1200"/>
              </a:spcAft>
            </a:pPr>
            <a:r>
              <a:rPr sz="1250" b="1">
                <a:solidFill>
                  <a:srgbClr val="3E9CFF"/>
                </a:solidFill>
                <a:latin typeface="Poppins"/>
              </a:rPr>
              <a:t>→  </a:t>
            </a:r>
            <a:r>
              <a:rPr sz="1250">
                <a:solidFill>
                  <a:srgbClr val="C2CCD8"/>
                </a:solidFill>
                <a:latin typeface="Poppins"/>
              </a:rPr>
              <a:t>Forward P/E ~22× vs a ~16× average; the equity risk premium is at multi-decade lows.</a:t>
            </a:r>
          </a:p>
          <a:p>
            <a:pPr>
              <a:lnSpc>
                <a:spcPct val="122000"/>
              </a:lnSpc>
              <a:spcAft>
                <a:spcPts val="1200"/>
              </a:spcAft>
            </a:pPr>
            <a:r>
              <a:rPr sz="1250" b="1">
                <a:solidFill>
                  <a:srgbClr val="3E9CFF"/>
                </a:solidFill>
                <a:latin typeface="Poppins"/>
              </a:rPr>
              <a:t>→  </a:t>
            </a:r>
            <a:r>
              <a:rPr sz="1250">
                <a:solidFill>
                  <a:srgbClr val="C2CCD8"/>
                </a:solidFill>
                <a:latin typeface="Poppins"/>
              </a:rPr>
              <a:t>Most of the 2010s’ return came from re-rating, not earnings growth — that lever is largely spent.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09360" y="2148840"/>
            <a:ext cx="5349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1000"/>
              </a:spcAft>
            </a:pPr>
            <a:r>
              <a:rPr sz="1500" b="1" i="0">
                <a:solidFill>
                  <a:srgbClr val="FFFFFF"/>
                </a:solidFill>
                <a:latin typeface="Poppins"/>
              </a:rPr>
              <a:t>The macro tailwind has reversed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09360" y="2606040"/>
            <a:ext cx="5349240" cy="4206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22000"/>
              </a:lnSpc>
              <a:spcAft>
                <a:spcPts val="1200"/>
              </a:spcAft>
            </a:pPr>
            <a:r>
              <a:rPr sz="1250" b="1">
                <a:solidFill>
                  <a:srgbClr val="3E9CFF"/>
                </a:solidFill>
                <a:latin typeface="Poppins"/>
              </a:rPr>
              <a:t>→  </a:t>
            </a:r>
            <a:r>
              <a:rPr sz="1250">
                <a:solidFill>
                  <a:srgbClr val="C2CCD8"/>
                </a:solidFill>
                <a:latin typeface="Poppins"/>
              </a:rPr>
              <a:t>The zero-rate, disinflationary backdrop that lifted every asset for a decade has reversed.</a:t>
            </a:r>
          </a:p>
          <a:p>
            <a:pPr>
              <a:lnSpc>
                <a:spcPct val="122000"/>
              </a:lnSpc>
              <a:spcAft>
                <a:spcPts val="1200"/>
              </a:spcAft>
            </a:pPr>
            <a:r>
              <a:rPr sz="1250" b="1">
                <a:solidFill>
                  <a:srgbClr val="3E9CFF"/>
                </a:solidFill>
                <a:latin typeface="Poppins"/>
              </a:rPr>
              <a:t>→  </a:t>
            </a:r>
            <a:r>
              <a:rPr sz="1250">
                <a:solidFill>
                  <a:srgbClr val="C2CCD8"/>
                </a:solidFill>
                <a:latin typeface="Poppins"/>
              </a:rPr>
              <a:t>Deglobalisation, deficits and demographics point to structurally higher inflation and rates.</a:t>
            </a:r>
          </a:p>
          <a:p>
            <a:pPr>
              <a:lnSpc>
                <a:spcPct val="122000"/>
              </a:lnSpc>
              <a:spcAft>
                <a:spcPts val="1200"/>
              </a:spcAft>
            </a:pPr>
            <a:r>
              <a:rPr sz="1250" b="1">
                <a:solidFill>
                  <a:srgbClr val="3E9CFF"/>
                </a:solidFill>
                <a:latin typeface="Poppins"/>
              </a:rPr>
              <a:t>→  </a:t>
            </a:r>
            <a:r>
              <a:rPr sz="1250">
                <a:solidFill>
                  <a:srgbClr val="C2CCD8"/>
                </a:solidFill>
                <a:latin typeface="Poppins"/>
              </a:rPr>
              <a:t>A higher cost of capital compresses valuations and punishes long-duration, unprofitable growth.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5532120"/>
            <a:ext cx="11064240" cy="777240"/>
          </a:xfrm>
          <a:prstGeom prst="roundRect">
            <a:avLst>
              <a:gd name="adj" fmla="val 6000"/>
            </a:avLst>
          </a:prstGeom>
          <a:solidFill>
            <a:srgbClr val="162439"/>
          </a:solidFill>
          <a:ln w="12700">
            <a:solidFill>
              <a:srgbClr val="2A3B5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66928" y="5532120"/>
            <a:ext cx="64008" cy="777240"/>
          </a:xfrm>
          <a:prstGeom prst="rect">
            <a:avLst/>
          </a:prstGeom>
          <a:solidFill>
            <a:srgbClr val="3E9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5532120"/>
            <a:ext cx="10515600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1300" b="0" i="0">
                <a:solidFill>
                  <a:srgbClr val="FFFFFF"/>
                </a:solidFill>
                <a:latin typeface="Poppins"/>
              </a:rPr>
              <a:t>Whether or not AI lifts productivity, beta is priced for perfection and the easy tailwind has shifted — so idiosyncratic, valuation-disciplined returns matter more, not less.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411480"/>
            <a:ext cx="1106424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3000" b="1">
                <a:solidFill>
                  <a:srgbClr val="3E9CFF"/>
                </a:solidFill>
                <a:latin typeface="Poppins"/>
              </a:rPr>
              <a:t>4. </a:t>
            </a:r>
            <a:r>
              <a:rPr sz="3000" b="1">
                <a:solidFill>
                  <a:srgbClr val="FFFFFF"/>
                </a:solidFill>
                <a:latin typeface="Poppins"/>
              </a:rPr>
              <a:t>Passive has become a concentrated bet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4592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050" b="0" i="0">
                <a:solidFill>
                  <a:srgbClr val="3E9CFF"/>
                </a:solidFill>
                <a:latin typeface="Poppins"/>
              </a:rPr>
              <a:t>SECTION 2 · THE OPPORTUNITY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298448"/>
            <a:ext cx="108813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1350" b="0" i="0">
                <a:solidFill>
                  <a:srgbClr val="8A97A6"/>
                </a:solidFill>
                <a:latin typeface="Poppins"/>
              </a:rPr>
              <a:t>A cap-weighted index puts the most money into the stocks that have already risen most — concentration dressed as diversification.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6437376"/>
            <a:ext cx="11091672" cy="10160"/>
          </a:xfrm>
          <a:prstGeom prst="rect">
            <a:avLst/>
          </a:prstGeom>
          <a:solidFill>
            <a:srgbClr val="2A3B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649224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00" b="0" i="0">
                <a:solidFill>
                  <a:srgbClr val="8A97A6"/>
                </a:solidFill>
                <a:latin typeface="Poppins"/>
              </a:rPr>
              <a:t>Athanase  ·  strictly confidential  ·  professional &amp; intermediary use only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92240"/>
            <a:ext cx="868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  <a:spcAft>
                <a:spcPts val="0"/>
              </a:spcAft>
            </a:pPr>
            <a:r>
              <a:rPr sz="800" b="0" i="0">
                <a:solidFill>
                  <a:srgbClr val="8A97A6"/>
                </a:solidFill>
                <a:latin typeface="Poppins"/>
              </a:rPr>
              <a:t>4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66928" y="2148840"/>
            <a:ext cx="11064240" cy="1371600"/>
          </a:xfrm>
          <a:prstGeom prst="roundRect">
            <a:avLst>
              <a:gd name="adj" fmla="val 4000"/>
            </a:avLst>
          </a:prstGeom>
          <a:solidFill>
            <a:srgbClr val="142236"/>
          </a:solidFill>
          <a:ln w="12700">
            <a:solidFill>
              <a:srgbClr val="2A3B5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66928" y="2350008"/>
            <a:ext cx="368808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3800" b="1" i="0">
                <a:solidFill>
                  <a:srgbClr val="3E9CFF"/>
                </a:solidFill>
                <a:latin typeface="Poppins"/>
              </a:rPr>
              <a:t>~38%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9808" y="2990088"/>
            <a:ext cx="33223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100" b="0" i="0">
                <a:solidFill>
                  <a:srgbClr val="C2CCD8"/>
                </a:solidFill>
                <a:latin typeface="Poppins"/>
              </a:rPr>
              <a:t>of the S&amp;P 500 in its
10 largest stocks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255008" y="2350008"/>
            <a:ext cx="368808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3800" b="1" i="0">
                <a:solidFill>
                  <a:srgbClr val="3E9CFF"/>
                </a:solidFill>
                <a:latin typeface="Poppins"/>
              </a:rPr>
              <a:t>~33%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37888" y="2990088"/>
            <a:ext cx="33223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100" b="0" i="0">
                <a:solidFill>
                  <a:srgbClr val="C2CCD8"/>
                </a:solidFill>
                <a:latin typeface="Poppins"/>
              </a:rPr>
              <a:t>in the “Magnificent
Seven” alone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43088" y="2350008"/>
            <a:ext cx="368808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3800" b="1" i="0">
                <a:solidFill>
                  <a:srgbClr val="3E9CFF"/>
                </a:solidFill>
                <a:latin typeface="Poppins"/>
              </a:rPr>
              <a:t>~50 yrs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125968" y="2990088"/>
            <a:ext cx="33223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100" b="0" i="0">
                <a:solidFill>
                  <a:srgbClr val="C2CCD8"/>
                </a:solidFill>
                <a:latin typeface="Poppins"/>
              </a:rPr>
              <a:t>since US equity was
this concentrated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749040"/>
            <a:ext cx="3529584" cy="1965960"/>
          </a:xfrm>
          <a:prstGeom prst="roundRect">
            <a:avLst>
              <a:gd name="adj" fmla="val 5000"/>
            </a:avLst>
          </a:prstGeom>
          <a:solidFill>
            <a:srgbClr val="162439"/>
          </a:solidFill>
          <a:ln w="12700">
            <a:solidFill>
              <a:srgbClr val="2A3B5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2960" y="3986784"/>
            <a:ext cx="3017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500" b="1" i="0">
                <a:solidFill>
                  <a:srgbClr val="3E9CFF"/>
                </a:solidFill>
                <a:latin typeface="Poppins"/>
              </a:rPr>
              <a:t>Cap-weighting buys high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60" y="4617720"/>
            <a:ext cx="301752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2000"/>
              </a:lnSpc>
              <a:spcAft>
                <a:spcPts val="0"/>
              </a:spcAft>
            </a:pPr>
            <a:r>
              <a:rPr sz="1200" b="0" i="0">
                <a:solidFill>
                  <a:srgbClr val="C2CCD8"/>
                </a:solidFill>
                <a:latin typeface="Poppins"/>
              </a:rPr>
              <a:t>The more a stock rises, the more you must own — the opposite of buy-low discipline.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334256" y="3749040"/>
            <a:ext cx="3529584" cy="1965960"/>
          </a:xfrm>
          <a:prstGeom prst="roundRect">
            <a:avLst>
              <a:gd name="adj" fmla="val 5000"/>
            </a:avLst>
          </a:prstGeom>
          <a:solidFill>
            <a:srgbClr val="162439"/>
          </a:solidFill>
          <a:ln w="12700">
            <a:solidFill>
              <a:srgbClr val="2A3B5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90288" y="3986784"/>
            <a:ext cx="3017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500" b="1" i="0">
                <a:solidFill>
                  <a:srgbClr val="3E9CFF"/>
                </a:solidFill>
                <a:latin typeface="Poppins"/>
              </a:rPr>
              <a:t>A concentrated factor bet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90288" y="4617720"/>
            <a:ext cx="301752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2000"/>
              </a:lnSpc>
              <a:spcAft>
                <a:spcPts val="0"/>
              </a:spcAft>
            </a:pPr>
            <a:r>
              <a:rPr sz="1200" b="0" i="0">
                <a:solidFill>
                  <a:srgbClr val="C2CCD8"/>
                </a:solidFill>
                <a:latin typeface="Poppins"/>
              </a:rPr>
              <a:t>The “diversified” index is now a leveraged bet on large-cap growth, momentum and a single theme (AI).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101584" y="3749040"/>
            <a:ext cx="3529584" cy="1965960"/>
          </a:xfrm>
          <a:prstGeom prst="roundRect">
            <a:avLst>
              <a:gd name="adj" fmla="val 5000"/>
            </a:avLst>
          </a:prstGeom>
          <a:solidFill>
            <a:srgbClr val="162439"/>
          </a:solidFill>
          <a:ln w="12700">
            <a:solidFill>
              <a:srgbClr val="2A3B5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357616" y="3986784"/>
            <a:ext cx="3017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500" b="1" i="0">
                <a:solidFill>
                  <a:srgbClr val="3E9CFF"/>
                </a:solidFill>
                <a:latin typeface="Poppins"/>
              </a:rPr>
              <a:t>Breadth is fragile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357616" y="4617720"/>
            <a:ext cx="301752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2000"/>
              </a:lnSpc>
              <a:spcAft>
                <a:spcPts val="0"/>
              </a:spcAft>
            </a:pPr>
            <a:r>
              <a:rPr sz="1200" b="0" i="0">
                <a:solidFill>
                  <a:srgbClr val="C2CCD8"/>
                </a:solidFill>
                <a:latin typeface="Poppins"/>
              </a:rPr>
              <a:t>A stumble in a handful of mega-caps now moves the whole index; the rest has been left behind.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411480"/>
            <a:ext cx="1106424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3000" b="1">
                <a:solidFill>
                  <a:srgbClr val="3E9CFF"/>
                </a:solidFill>
                <a:latin typeface="Poppins"/>
              </a:rPr>
              <a:t>5. </a:t>
            </a:r>
            <a:r>
              <a:rPr sz="3000" b="1">
                <a:solidFill>
                  <a:srgbClr val="FFFFFF"/>
                </a:solidFill>
                <a:latin typeface="Poppins"/>
              </a:rPr>
              <a:t>From passive risk to active opportunity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4592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050" b="0" i="0">
                <a:solidFill>
                  <a:srgbClr val="3E9CFF"/>
                </a:solidFill>
                <a:latin typeface="Poppins"/>
              </a:rPr>
              <a:t>SECTION 2 · THE OPPORTUNITY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298448"/>
            <a:ext cx="108813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1350" b="0" i="0">
                <a:solidFill>
                  <a:srgbClr val="8A97A6"/>
                </a:solidFill>
                <a:latin typeface="Poppins"/>
              </a:rPr>
              <a:t>An expensive, concentrated, passive-dominated market is what active is built for — and as analysis commoditises, the durable edge is ownership, not stock-picking.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6437376"/>
            <a:ext cx="11091672" cy="10160"/>
          </a:xfrm>
          <a:prstGeom prst="rect">
            <a:avLst/>
          </a:prstGeom>
          <a:solidFill>
            <a:srgbClr val="2A3B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649224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00" b="0" i="0">
                <a:solidFill>
                  <a:srgbClr val="8A97A6"/>
                </a:solidFill>
                <a:latin typeface="Poppins"/>
              </a:rPr>
              <a:t>Athanase  ·  strictly confidential  ·  professional &amp; intermediary use only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92240"/>
            <a:ext cx="868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  <a:spcAft>
                <a:spcPts val="0"/>
              </a:spcAft>
            </a:pPr>
            <a:r>
              <a:rPr sz="800" b="0" i="0">
                <a:solidFill>
                  <a:srgbClr val="8A97A6"/>
                </a:solidFill>
                <a:latin typeface="Poppins"/>
              </a:rPr>
              <a:t>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2148840"/>
            <a:ext cx="10881360" cy="4206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22000"/>
              </a:lnSpc>
              <a:spcAft>
                <a:spcPts val="1300"/>
              </a:spcAft>
            </a:pPr>
            <a:r>
              <a:rPr sz="1300" b="1">
                <a:solidFill>
                  <a:srgbClr val="3E9CFF"/>
                </a:solidFill>
                <a:latin typeface="Poppins"/>
              </a:rPr>
              <a:t>→  </a:t>
            </a:r>
            <a:r>
              <a:rPr sz="1300" b="1">
                <a:solidFill>
                  <a:srgbClr val="FFFFFF"/>
                </a:solidFill>
                <a:latin typeface="Poppins"/>
              </a:rPr>
              <a:t>The setup — </a:t>
            </a:r>
            <a:r>
              <a:rPr sz="1300">
                <a:solidFill>
                  <a:srgbClr val="C2CCD8"/>
                </a:solidFill>
                <a:latin typeface="Poppins"/>
              </a:rPr>
              <a:t>expensive equities, record concentration and price-insensitive passive flows that inflate the most crowded names.</a:t>
            </a:r>
          </a:p>
          <a:p>
            <a:pPr>
              <a:lnSpc>
                <a:spcPct val="122000"/>
              </a:lnSpc>
              <a:spcAft>
                <a:spcPts val="1300"/>
              </a:spcAft>
            </a:pPr>
            <a:r>
              <a:rPr sz="1300" b="1">
                <a:solidFill>
                  <a:srgbClr val="3E9CFF"/>
                </a:solidFill>
                <a:latin typeface="Poppins"/>
              </a:rPr>
              <a:t>→  </a:t>
            </a:r>
            <a:r>
              <a:rPr sz="1300" b="1">
                <a:solidFill>
                  <a:srgbClr val="FFFFFF"/>
                </a:solidFill>
                <a:latin typeface="Poppins"/>
              </a:rPr>
              <a:t>Why active now — </a:t>
            </a:r>
            <a:r>
              <a:rPr sz="1300">
                <a:solidFill>
                  <a:srgbClr val="C2CCD8"/>
                </a:solidFill>
                <a:latin typeface="Poppins"/>
              </a:rPr>
              <a:t>wider mispricing and dispersion reward valuation discipline again; the “active underperforms” critique is cyclical, and weakest in exactly this market.</a:t>
            </a:r>
          </a:p>
          <a:p>
            <a:pPr>
              <a:lnSpc>
                <a:spcPct val="122000"/>
              </a:lnSpc>
              <a:spcAft>
                <a:spcPts val="1300"/>
              </a:spcAft>
            </a:pPr>
            <a:r>
              <a:rPr sz="1300" b="1">
                <a:solidFill>
                  <a:srgbClr val="3E9CFF"/>
                </a:solidFill>
                <a:latin typeface="Poppins"/>
              </a:rPr>
              <a:t>→  </a:t>
            </a:r>
            <a:r>
              <a:rPr sz="1300" b="1">
                <a:solidFill>
                  <a:srgbClr val="FFFFFF"/>
                </a:solidFill>
                <a:latin typeface="Poppins"/>
              </a:rPr>
              <a:t>AI commoditises analysis — </a:t>
            </a:r>
            <a:r>
              <a:rPr sz="1300">
                <a:solidFill>
                  <a:srgbClr val="C2CCD8"/>
                </a:solidFill>
                <a:latin typeface="Poppins"/>
              </a:rPr>
              <a:t>quant and specialist edges compete on the same public data, which is what commoditises fastest (Kim, Muhn &amp; Nikolaev, 2024; McLean &amp; Pontiff, 2016).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5212080"/>
            <a:ext cx="11064240" cy="777240"/>
          </a:xfrm>
          <a:prstGeom prst="roundRect">
            <a:avLst>
              <a:gd name="adj" fmla="val 6000"/>
            </a:avLst>
          </a:prstGeom>
          <a:solidFill>
            <a:srgbClr val="162439"/>
          </a:solidFill>
          <a:ln w="12700">
            <a:solidFill>
              <a:srgbClr val="2A3B5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66928" y="5212080"/>
            <a:ext cx="64008" cy="777240"/>
          </a:xfrm>
          <a:prstGeom prst="rect">
            <a:avLst/>
          </a:prstGeom>
          <a:solidFill>
            <a:srgbClr val="3E9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5212080"/>
            <a:ext cx="10515600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1300" b="0" i="0">
                <a:solidFill>
                  <a:srgbClr val="FFFFFF"/>
                </a:solidFill>
                <a:latin typeface="Poppins"/>
              </a:rPr>
              <a:t>The most durable edge is ownership: buying mispriced businesses and changing the outcome — an edge AI cannot copy.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411480"/>
            <a:ext cx="1106424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3000" b="1">
                <a:solidFill>
                  <a:srgbClr val="3E9CFF"/>
                </a:solidFill>
                <a:latin typeface="Poppins"/>
              </a:rPr>
              <a:t>6. </a:t>
            </a:r>
            <a:r>
              <a:rPr sz="3000" b="1">
                <a:solidFill>
                  <a:srgbClr val="FFFFFF"/>
                </a:solidFill>
                <a:latin typeface="Poppins"/>
              </a:rPr>
              <a:t>When valuations crack, where will clients be holding?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4592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050" b="0" i="0">
                <a:solidFill>
                  <a:srgbClr val="3E9CFF"/>
                </a:solidFill>
                <a:latin typeface="Poppins"/>
              </a:rPr>
              <a:t>SECTION 2 · THE OPPORTUNITY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298448"/>
            <a:ext cx="108813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1350" b="0" i="0">
                <a:solidFill>
                  <a:srgbClr val="8A97A6"/>
                </a:solidFill>
                <a:latin typeface="Poppins"/>
              </a:rPr>
              <a:t>At record valuations the cycle will turn — and the hedge can only be bought before the crack, not after.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6437376"/>
            <a:ext cx="11091672" cy="10160"/>
          </a:xfrm>
          <a:prstGeom prst="rect">
            <a:avLst/>
          </a:prstGeom>
          <a:solidFill>
            <a:srgbClr val="2A3B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649224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00" b="0" i="0">
                <a:solidFill>
                  <a:srgbClr val="8A97A6"/>
                </a:solidFill>
                <a:latin typeface="Poppins"/>
              </a:rPr>
              <a:t>Athanase  ·  strictly confidential  ·  professional &amp; intermediary use only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92240"/>
            <a:ext cx="868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  <a:spcAft>
                <a:spcPts val="0"/>
              </a:spcAft>
            </a:pPr>
            <a:r>
              <a:rPr sz="800" b="0" i="0">
                <a:solidFill>
                  <a:srgbClr val="8A97A6"/>
                </a:solidFill>
                <a:latin typeface="Poppins"/>
              </a:rPr>
              <a:t>6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66928" y="2148840"/>
            <a:ext cx="3529584" cy="1874519"/>
          </a:xfrm>
          <a:prstGeom prst="roundRect">
            <a:avLst>
              <a:gd name="adj" fmla="val 5000"/>
            </a:avLst>
          </a:prstGeom>
          <a:solidFill>
            <a:srgbClr val="162439"/>
          </a:solidFill>
          <a:ln w="12700">
            <a:solidFill>
              <a:srgbClr val="2A3B5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2386584"/>
            <a:ext cx="3017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500" b="1" i="0">
                <a:solidFill>
                  <a:srgbClr val="3E9CFF"/>
                </a:solidFill>
                <a:latin typeface="Poppins"/>
              </a:rPr>
              <a:t>Global equities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3017520"/>
            <a:ext cx="3017520" cy="86867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2000"/>
              </a:lnSpc>
              <a:spcAft>
                <a:spcPts val="0"/>
              </a:spcAft>
            </a:pPr>
            <a:r>
              <a:rPr sz="1200" b="0" i="0">
                <a:solidFill>
                  <a:srgbClr val="C2CCD8"/>
                </a:solidFill>
                <a:latin typeface="Poppins"/>
              </a:rPr>
              <a:t>Fully exposed — clients own the most-expensive, most-concentrated names, with nothing to do when they fall.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34256" y="2148840"/>
            <a:ext cx="3529584" cy="1874519"/>
          </a:xfrm>
          <a:prstGeom prst="roundRect">
            <a:avLst>
              <a:gd name="adj" fmla="val 5000"/>
            </a:avLst>
          </a:prstGeom>
          <a:solidFill>
            <a:srgbClr val="162439"/>
          </a:solidFill>
          <a:ln w="12700">
            <a:solidFill>
              <a:srgbClr val="2A3B5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90288" y="2386584"/>
            <a:ext cx="3017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500" b="1" i="0">
                <a:solidFill>
                  <a:srgbClr val="3E9CFF"/>
                </a:solidFill>
                <a:latin typeface="Poppins"/>
              </a:rPr>
              <a:t>Private equity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90288" y="3017520"/>
            <a:ext cx="3017520" cy="86867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2000"/>
              </a:lnSpc>
              <a:spcAft>
                <a:spcPts val="0"/>
              </a:spcAft>
            </a:pPr>
            <a:r>
              <a:rPr sz="1200" b="0" i="0">
                <a:solidFill>
                  <a:srgbClr val="C2CCD8"/>
                </a:solidFill>
                <a:latin typeface="Poppins"/>
              </a:rPr>
              <a:t>The trap — marks lag then catch down, while illiquidity blocks the exit exactly when it is needed.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101584" y="2148840"/>
            <a:ext cx="3529584" cy="1874519"/>
          </a:xfrm>
          <a:prstGeom prst="roundRect">
            <a:avLst>
              <a:gd name="adj" fmla="val 5000"/>
            </a:avLst>
          </a:prstGeom>
          <a:solidFill>
            <a:srgbClr val="162439"/>
          </a:solidFill>
          <a:ln w="12700">
            <a:solidFill>
              <a:srgbClr val="2A3B5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357616" y="2386584"/>
            <a:ext cx="3017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500" b="1" i="0">
                <a:solidFill>
                  <a:srgbClr val="3E9CFF"/>
                </a:solidFill>
                <a:latin typeface="Poppins"/>
              </a:rPr>
              <a:t>This trust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57616" y="3017520"/>
            <a:ext cx="3017520" cy="86867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2000"/>
              </a:lnSpc>
              <a:spcAft>
                <a:spcPts val="0"/>
              </a:spcAft>
            </a:pPr>
            <a:r>
              <a:rPr sz="1200" b="0" i="0">
                <a:solidFill>
                  <a:srgbClr val="C2CCD8"/>
                </a:solidFill>
                <a:latin typeface="Poppins"/>
              </a:rPr>
              <a:t>The hedge — board control floors the risk, the shares stay liquid, and the dislocation becomes the entry.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66928" y="4343400"/>
            <a:ext cx="11064240" cy="914400"/>
          </a:xfrm>
          <a:prstGeom prst="roundRect">
            <a:avLst>
              <a:gd name="adj" fmla="val 6000"/>
            </a:avLst>
          </a:prstGeom>
          <a:solidFill>
            <a:srgbClr val="162439"/>
          </a:solidFill>
          <a:ln w="12700">
            <a:solidFill>
              <a:srgbClr val="2A3B5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66928" y="4343400"/>
            <a:ext cx="64008" cy="914400"/>
          </a:xfrm>
          <a:prstGeom prst="rect">
            <a:avLst/>
          </a:prstGeom>
          <a:solidFill>
            <a:srgbClr val="3E9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68680" y="4443984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950" b="1" i="0">
                <a:solidFill>
                  <a:srgbClr val="3E9CFF"/>
                </a:solidFill>
                <a:latin typeface="Poppins"/>
              </a:rPr>
              <a:t>LIVE — JUNE 2026 · BLOOMBERG / CNBC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68680" y="4718304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 i="0">
                <a:solidFill>
                  <a:srgbClr val="FFFFFF"/>
                </a:solidFill>
                <a:latin typeface="Poppins"/>
              </a:rPr>
              <a:t>Partners Group capped redemptions in its $8.6bn evergreen PE fund at 5% of NAV after requests hit 9.8% — KKR, Blackstone and Ares fell. The PE exit is closing, exactly as feared.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66928" y="5532120"/>
            <a:ext cx="11064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1300" b="1" i="0">
                <a:solidFill>
                  <a:srgbClr val="3E9CFF"/>
                </a:solidFill>
                <a:latin typeface="Poppins"/>
              </a:rPr>
              <a:t>While evergreen PE gates redemptions, a listed trust trades every day the market is open — the liquidity clients keep when it matters.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411480"/>
            <a:ext cx="1106424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3000" b="1">
                <a:solidFill>
                  <a:srgbClr val="3E9CFF"/>
                </a:solidFill>
                <a:latin typeface="Poppins"/>
              </a:rPr>
              <a:t>7. </a:t>
            </a:r>
            <a:r>
              <a:rPr sz="3000" b="1">
                <a:solidFill>
                  <a:srgbClr val="FFFFFF"/>
                </a:solidFill>
                <a:latin typeface="Poppins"/>
              </a:rPr>
              <a:t>Two ways to own actively: public or private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4592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050" b="0" i="0">
                <a:solidFill>
                  <a:srgbClr val="3E9CFF"/>
                </a:solidFill>
                <a:latin typeface="Poppins"/>
              </a:rPr>
              <a:t>SECTION 3 · THE STRATEGY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298448"/>
            <a:ext cx="108813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1350" b="0" i="0">
                <a:solidFill>
                  <a:srgbClr val="8A97A6"/>
                </a:solidFill>
                <a:latin typeface="Poppins"/>
              </a:rPr>
              <a:t>The same operational value creation is available in PE and public markets — but the public route keeps what private gives up.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6437376"/>
            <a:ext cx="11091672" cy="10160"/>
          </a:xfrm>
          <a:prstGeom prst="rect">
            <a:avLst/>
          </a:prstGeom>
          <a:solidFill>
            <a:srgbClr val="2A3B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649224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00" b="0" i="0">
                <a:solidFill>
                  <a:srgbClr val="8A97A6"/>
                </a:solidFill>
                <a:latin typeface="Poppins"/>
              </a:rPr>
              <a:t>Athanase  ·  strictly confidential  ·  professional &amp; intermediary use only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92240"/>
            <a:ext cx="868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  <a:spcAft>
                <a:spcPts val="0"/>
              </a:spcAft>
            </a:pPr>
            <a:r>
              <a:rPr sz="800" b="0" i="0">
                <a:solidFill>
                  <a:srgbClr val="8A97A6"/>
                </a:solidFill>
                <a:latin typeface="Poppins"/>
              </a:rPr>
              <a:t>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2148840"/>
            <a:ext cx="4114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300" b="1" i="0">
                <a:solidFill>
                  <a:srgbClr val="3E9CFF"/>
                </a:solidFill>
                <a:latin typeface="Poppins"/>
              </a:rPr>
              <a:t>Feature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00400" y="2148840"/>
            <a:ext cx="4114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300" b="1" i="0">
                <a:solidFill>
                  <a:srgbClr val="3E9CFF"/>
                </a:solidFill>
                <a:latin typeface="Poppins"/>
              </a:rPr>
              <a:t>Private — PE / buyout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0" y="2148840"/>
            <a:ext cx="4114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300" b="1" i="0">
                <a:solidFill>
                  <a:srgbClr val="3E9CFF"/>
                </a:solidFill>
                <a:latin typeface="Poppins"/>
              </a:rPr>
              <a:t>Public — Engaged ownership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66928" y="2606040"/>
            <a:ext cx="11073384" cy="17780"/>
          </a:xfrm>
          <a:prstGeom prst="rect">
            <a:avLst/>
          </a:prstGeom>
          <a:solidFill>
            <a:srgbClr val="3E9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66928" y="2715768"/>
            <a:ext cx="2450592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250" b="1" i="0">
                <a:solidFill>
                  <a:srgbClr val="3E9CFF"/>
                </a:solidFill>
                <a:latin typeface="Poppins"/>
              </a:rPr>
              <a:t>How you act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00400" y="2715768"/>
            <a:ext cx="393192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250" b="0" i="0">
                <a:solidFill>
                  <a:srgbClr val="C2CCD8"/>
                </a:solidFill>
                <a:latin typeface="Poppins"/>
              </a:rPr>
              <a:t>Buy and control the whole company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0" y="2715768"/>
            <a:ext cx="420624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250" b="1" i="0">
                <a:solidFill>
                  <a:srgbClr val="FFFFFF"/>
                </a:solidFill>
                <a:latin typeface="Poppins"/>
              </a:rPr>
              <a:t>Board seat and real influence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66928" y="3191256"/>
            <a:ext cx="11073384" cy="10160"/>
          </a:xfrm>
          <a:prstGeom prst="rect">
            <a:avLst/>
          </a:prstGeom>
          <a:solidFill>
            <a:srgbClr val="2A3B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66928" y="3191256"/>
            <a:ext cx="2450592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250" b="1" i="0">
                <a:solidFill>
                  <a:srgbClr val="3E9CFF"/>
                </a:solidFill>
                <a:latin typeface="Poppins"/>
              </a:rPr>
              <a:t>Entry price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200400" y="3191256"/>
            <a:ext cx="393192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250" b="0" i="0">
                <a:solidFill>
                  <a:srgbClr val="C2CCD8"/>
                </a:solidFill>
                <a:latin typeface="Poppins"/>
              </a:rPr>
              <a:t>A ~40% control premium, up front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15200" y="3191256"/>
            <a:ext cx="420624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250" b="1" i="0">
                <a:solidFill>
                  <a:srgbClr val="FFFFFF"/>
                </a:solidFill>
                <a:latin typeface="Poppins"/>
              </a:rPr>
              <a:t>Market price — often at a discount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66928" y="3666744"/>
            <a:ext cx="11073384" cy="10160"/>
          </a:xfrm>
          <a:prstGeom prst="rect">
            <a:avLst/>
          </a:prstGeom>
          <a:solidFill>
            <a:srgbClr val="2A3B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66928" y="3666744"/>
            <a:ext cx="2450592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250" b="1" i="0">
                <a:solidFill>
                  <a:srgbClr val="3E9CFF"/>
                </a:solidFill>
                <a:latin typeface="Poppins"/>
              </a:rPr>
              <a:t>Liquidity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200400" y="3666744"/>
            <a:ext cx="393192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250" b="0" i="0">
                <a:solidFill>
                  <a:srgbClr val="C2CCD8"/>
                </a:solidFill>
                <a:latin typeface="Poppins"/>
              </a:rPr>
              <a:t>10-year lock-up; blind-pool calls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15200" y="3666744"/>
            <a:ext cx="420624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250" b="1" i="0">
                <a:solidFill>
                  <a:srgbClr val="FFFFFF"/>
                </a:solidFill>
                <a:latin typeface="Poppins"/>
              </a:rPr>
              <a:t>Daily liquidity; exit any time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66928" y="4142232"/>
            <a:ext cx="11073384" cy="10160"/>
          </a:xfrm>
          <a:prstGeom prst="rect">
            <a:avLst/>
          </a:prstGeom>
          <a:solidFill>
            <a:srgbClr val="2A3B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66928" y="4142232"/>
            <a:ext cx="2450592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250" b="1" i="0">
                <a:solidFill>
                  <a:srgbClr val="3E9CFF"/>
                </a:solidFill>
                <a:latin typeface="Poppins"/>
              </a:rPr>
              <a:t>Pricing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200400" y="4142232"/>
            <a:ext cx="393192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250" b="0" i="0">
                <a:solidFill>
                  <a:srgbClr val="C2CCD8"/>
                </a:solidFill>
                <a:latin typeface="Poppins"/>
              </a:rPr>
              <a:t>Smoothed quarterly appraisal marks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315200" y="4142232"/>
            <a:ext cx="420624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250" b="1" i="0">
                <a:solidFill>
                  <a:srgbClr val="FFFFFF"/>
                </a:solidFill>
                <a:latin typeface="Poppins"/>
              </a:rPr>
              <a:t>Honest daily market prices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66928" y="4617720"/>
            <a:ext cx="11073384" cy="10160"/>
          </a:xfrm>
          <a:prstGeom prst="rect">
            <a:avLst/>
          </a:prstGeom>
          <a:solidFill>
            <a:srgbClr val="2A3B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66928" y="4617720"/>
            <a:ext cx="2450592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250" b="1" i="0">
                <a:solidFill>
                  <a:srgbClr val="3E9CFF"/>
                </a:solidFill>
                <a:latin typeface="Poppins"/>
              </a:rPr>
              <a:t>Fees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200400" y="4617720"/>
            <a:ext cx="393192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250" b="0" i="0">
                <a:solidFill>
                  <a:srgbClr val="C2CCD8"/>
                </a:solidFill>
                <a:latin typeface="Poppins"/>
              </a:rPr>
              <a:t>2 &amp; 20, plus fees on idle dry powder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315200" y="4617720"/>
            <a:ext cx="420624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250" b="1" i="0">
                <a:solidFill>
                  <a:srgbClr val="FFFFFF"/>
                </a:solidFill>
                <a:latin typeface="Poppins"/>
              </a:rPr>
              <a:t>Lower, on capital deployed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66928" y="5093208"/>
            <a:ext cx="11073384" cy="10160"/>
          </a:xfrm>
          <a:prstGeom prst="rect">
            <a:avLst/>
          </a:prstGeom>
          <a:solidFill>
            <a:srgbClr val="2A3B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66928" y="5093208"/>
            <a:ext cx="2450592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250" b="1" i="0">
                <a:solidFill>
                  <a:srgbClr val="3E9CFF"/>
                </a:solidFill>
                <a:latin typeface="Poppins"/>
              </a:rPr>
              <a:t>Value engine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200400" y="5093208"/>
            <a:ext cx="393192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250" b="0" i="0">
                <a:solidFill>
                  <a:srgbClr val="C2CCD8"/>
                </a:solidFill>
                <a:latin typeface="Poppins"/>
              </a:rPr>
              <a:t>Board-led operational improvement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315200" y="5093208"/>
            <a:ext cx="420624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250" b="1" i="0">
                <a:solidFill>
                  <a:srgbClr val="FFFFFF"/>
                </a:solidFill>
                <a:latin typeface="Poppins"/>
              </a:rPr>
              <a:t>The same — board-led improvement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66928" y="5568696"/>
            <a:ext cx="11073384" cy="10160"/>
          </a:xfrm>
          <a:prstGeom prst="rect">
            <a:avLst/>
          </a:prstGeom>
          <a:solidFill>
            <a:srgbClr val="2A3B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411480"/>
            <a:ext cx="1106424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3000" b="1">
                <a:solidFill>
                  <a:srgbClr val="3E9CFF"/>
                </a:solidFill>
                <a:latin typeface="Poppins"/>
              </a:rPr>
              <a:t>8. </a:t>
            </a:r>
            <a:r>
              <a:rPr sz="3000" b="1">
                <a:solidFill>
                  <a:srgbClr val="FFFFFF"/>
                </a:solidFill>
                <a:latin typeface="Poppins"/>
              </a:rPr>
              <a:t>Where it fits in a portfolio: three homes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4592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050" b="0" i="0">
                <a:solidFill>
                  <a:srgbClr val="3E9CFF"/>
                </a:solidFill>
                <a:latin typeface="Poppins"/>
              </a:rPr>
              <a:t>SECTION 3 · THE STRATEGY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298448"/>
            <a:ext cx="108813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1350" b="0" i="0">
                <a:solidFill>
                  <a:srgbClr val="8A97A6"/>
                </a:solidFill>
                <a:latin typeface="Poppins"/>
              </a:rPr>
              <a:t>Engaged ownership needs no bucket of its own — it can be funded from public equity, alternatives or private equity.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6437376"/>
            <a:ext cx="11091672" cy="10160"/>
          </a:xfrm>
          <a:prstGeom prst="rect">
            <a:avLst/>
          </a:prstGeom>
          <a:solidFill>
            <a:srgbClr val="2A3B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649224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00" b="0" i="0">
                <a:solidFill>
                  <a:srgbClr val="8A97A6"/>
                </a:solidFill>
                <a:latin typeface="Poppins"/>
              </a:rPr>
              <a:t>Athanase  ·  strictly confidential  ·  professional &amp; intermediary use only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92240"/>
            <a:ext cx="868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  <a:spcAft>
                <a:spcPts val="0"/>
              </a:spcAft>
            </a:pPr>
            <a:r>
              <a:rPr sz="800" b="0" i="0">
                <a:solidFill>
                  <a:srgbClr val="8A97A6"/>
                </a:solidFill>
                <a:latin typeface="Poppins"/>
              </a:rPr>
              <a:t>8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66928" y="2148840"/>
            <a:ext cx="3529584" cy="3200400"/>
          </a:xfrm>
          <a:prstGeom prst="roundRect">
            <a:avLst>
              <a:gd name="adj" fmla="val 5000"/>
            </a:avLst>
          </a:prstGeom>
          <a:solidFill>
            <a:srgbClr val="162439"/>
          </a:solidFill>
          <a:ln w="12700">
            <a:solidFill>
              <a:srgbClr val="2A3B5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2368296"/>
            <a:ext cx="307238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500" b="1" i="0">
                <a:solidFill>
                  <a:srgbClr val="3E9CFF"/>
                </a:solidFill>
                <a:latin typeface="Poppins"/>
              </a:rPr>
              <a:t>Public equity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2926080"/>
            <a:ext cx="3017520" cy="228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900" b="1" i="0">
                <a:solidFill>
                  <a:srgbClr val="8A97A6"/>
                </a:solidFill>
                <a:latin typeface="Poppins"/>
              </a:rPr>
              <a:t>THE LENS</a:t>
            </a:r>
          </a:p>
          <a:p>
            <a:pPr algn="l">
              <a:lnSpc>
                <a:spcPct val="130000"/>
              </a:lnSpc>
              <a:spcAft>
                <a:spcPts val="1200"/>
              </a:spcAft>
            </a:pPr>
            <a:r>
              <a:rPr sz="1150" b="0" i="0">
                <a:solidFill>
                  <a:srgbClr val="C2CCD8"/>
                </a:solidFill>
                <a:latin typeface="Poppins"/>
              </a:rPr>
              <a:t>A concentrated, active equity sleeve — long-only listed companies with daily pricing and full transparency.</a:t>
            </a: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900" b="1" i="0">
                <a:solidFill>
                  <a:srgbClr val="8A97A6"/>
                </a:solidFill>
                <a:latin typeface="Poppins"/>
              </a:rPr>
              <a:t>WHY FUND IT HERE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0" i="0">
                <a:solidFill>
                  <a:srgbClr val="C2CCD8"/>
                </a:solidFill>
                <a:latin typeface="Poppins"/>
              </a:rPr>
              <a:t>Adds idiosyncratic, governance-driven alpha to a beta-dominated book.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34256" y="2148840"/>
            <a:ext cx="3529584" cy="3200400"/>
          </a:xfrm>
          <a:prstGeom prst="roundRect">
            <a:avLst>
              <a:gd name="adj" fmla="val 5000"/>
            </a:avLst>
          </a:prstGeom>
          <a:solidFill>
            <a:srgbClr val="162439"/>
          </a:solidFill>
          <a:ln w="12700">
            <a:solidFill>
              <a:srgbClr val="2A3B5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90288" y="2368296"/>
            <a:ext cx="307238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500" b="1" i="0">
                <a:solidFill>
                  <a:srgbClr val="3E9CFF"/>
                </a:solidFill>
                <a:latin typeface="Poppins"/>
              </a:rPr>
              <a:t>Alternatives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90288" y="2926080"/>
            <a:ext cx="3017520" cy="228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900" b="1" i="0">
                <a:solidFill>
                  <a:srgbClr val="8A97A6"/>
                </a:solidFill>
                <a:latin typeface="Poppins"/>
              </a:rPr>
              <a:t>THE LENS</a:t>
            </a:r>
          </a:p>
          <a:p>
            <a:pPr algn="l">
              <a:lnSpc>
                <a:spcPct val="130000"/>
              </a:lnSpc>
              <a:spcAft>
                <a:spcPts val="1200"/>
              </a:spcAft>
            </a:pPr>
            <a:r>
              <a:rPr sz="1150" b="0" i="0">
                <a:solidFill>
                  <a:srgbClr val="C2CCD8"/>
                </a:solidFill>
                <a:latin typeface="Poppins"/>
              </a:rPr>
              <a:t>A catalyst strategy — returns from board change, capital returns and corporate events.</a:t>
            </a: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900" b="1" i="0">
                <a:solidFill>
                  <a:srgbClr val="8A97A6"/>
                </a:solidFill>
                <a:latin typeface="Poppins"/>
              </a:rPr>
              <a:t>WHY FUND IT HERE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0" i="0">
                <a:solidFill>
                  <a:srgbClr val="C2CCD8"/>
                </a:solidFill>
                <a:latin typeface="Poppins"/>
              </a:rPr>
              <a:t>The return driver is event-specific and largely independent of rates and growth; it diversifies.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101584" y="2148840"/>
            <a:ext cx="3529584" cy="3200400"/>
          </a:xfrm>
          <a:prstGeom prst="roundRect">
            <a:avLst>
              <a:gd name="adj" fmla="val 5000"/>
            </a:avLst>
          </a:prstGeom>
          <a:solidFill>
            <a:srgbClr val="162439"/>
          </a:solidFill>
          <a:ln w="12700">
            <a:solidFill>
              <a:srgbClr val="2A3B5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357616" y="2368296"/>
            <a:ext cx="307238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500" b="1" i="0">
                <a:solidFill>
                  <a:srgbClr val="3E9CFF"/>
                </a:solidFill>
                <a:latin typeface="Poppins"/>
              </a:rPr>
              <a:t>Private equity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57616" y="2926080"/>
            <a:ext cx="3017520" cy="228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900" b="1" i="0">
                <a:solidFill>
                  <a:srgbClr val="8A97A6"/>
                </a:solidFill>
                <a:latin typeface="Poppins"/>
              </a:rPr>
              <a:t>THE LENS</a:t>
            </a:r>
          </a:p>
          <a:p>
            <a:pPr algn="l">
              <a:lnSpc>
                <a:spcPct val="130000"/>
              </a:lnSpc>
              <a:spcAft>
                <a:spcPts val="1200"/>
              </a:spcAft>
            </a:pPr>
            <a:r>
              <a:rPr sz="1150" b="0" i="0">
                <a:solidFill>
                  <a:srgbClr val="C2CCD8"/>
                </a:solidFill>
                <a:latin typeface="Poppins"/>
              </a:rPr>
              <a:t>PE-style value creation — board influence, operational improvement, multi-year holds — in public markets.</a:t>
            </a: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900" b="1" i="0">
                <a:solidFill>
                  <a:srgbClr val="8A97A6"/>
                </a:solidFill>
                <a:latin typeface="Poppins"/>
              </a:rPr>
              <a:t>WHY FUND IT HERE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0" i="0">
                <a:solidFill>
                  <a:srgbClr val="C2CCD8"/>
                </a:solidFill>
                <a:latin typeface="Poppins"/>
              </a:rPr>
              <a:t>The same engaged-ownership engine as PE, but liquid, with no J-curve or lock-up.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411480"/>
            <a:ext cx="1106424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3000" b="1">
                <a:solidFill>
                  <a:srgbClr val="3E9CFF"/>
                </a:solidFill>
                <a:latin typeface="Poppins"/>
              </a:rPr>
              <a:t>9. </a:t>
            </a:r>
            <a:r>
              <a:rPr sz="3000" b="1">
                <a:solidFill>
                  <a:srgbClr val="FFFFFF"/>
                </a:solidFill>
                <a:latin typeface="Poppins"/>
              </a:rPr>
              <a:t>What we do — we don’t pick stocks, we build companies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4592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050" b="0" i="0">
                <a:solidFill>
                  <a:srgbClr val="3E9CFF"/>
                </a:solidFill>
                <a:latin typeface="Poppins"/>
              </a:rPr>
              <a:t>SECTION 3 · THE STRATEGY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298448"/>
            <a:ext cx="108813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1350" b="0" i="0">
                <a:solidFill>
                  <a:srgbClr val="8A97A6"/>
                </a:solidFill>
                <a:latin typeface="Poppins"/>
              </a:rPr>
              <a:t>Quality-core constructivism: own good businesses and make them better from the boardroom.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6437376"/>
            <a:ext cx="11091672" cy="10160"/>
          </a:xfrm>
          <a:prstGeom prst="rect">
            <a:avLst/>
          </a:prstGeom>
          <a:solidFill>
            <a:srgbClr val="2A3B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649224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00" b="0" i="0">
                <a:solidFill>
                  <a:srgbClr val="8A97A6"/>
                </a:solidFill>
                <a:latin typeface="Poppins"/>
              </a:rPr>
              <a:t>Athanase  ·  strictly confidential  ·  professional &amp; intermediary use only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92240"/>
            <a:ext cx="868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  <a:spcAft>
                <a:spcPts val="0"/>
              </a:spcAft>
            </a:pPr>
            <a:r>
              <a:rPr sz="800" b="0" i="0">
                <a:solidFill>
                  <a:srgbClr val="8A97A6"/>
                </a:solidFill>
                <a:latin typeface="Poppins"/>
              </a:rPr>
              <a:t>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2148840"/>
            <a:ext cx="10881360" cy="4206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22000"/>
              </a:lnSpc>
              <a:spcAft>
                <a:spcPts val="1500"/>
              </a:spcAft>
            </a:pPr>
            <a:r>
              <a:rPr sz="1350" b="1">
                <a:solidFill>
                  <a:srgbClr val="3E9CFF"/>
                </a:solidFill>
                <a:latin typeface="Poppins"/>
              </a:rPr>
              <a:t>→  </a:t>
            </a:r>
            <a:r>
              <a:rPr sz="1350" b="1">
                <a:solidFill>
                  <a:srgbClr val="FFFFFF"/>
                </a:solidFill>
                <a:latin typeface="Poppins"/>
              </a:rPr>
              <a:t>Quality at a discount — </a:t>
            </a:r>
            <a:r>
              <a:rPr sz="1350">
                <a:solidFill>
                  <a:srgbClr val="C2CCD8"/>
                </a:solidFill>
                <a:latin typeface="Poppins"/>
              </a:rPr>
              <a:t>profitable, high-return businesses below intrinsic value; never broken turnarounds we cannot underwrite.</a:t>
            </a:r>
          </a:p>
          <a:p>
            <a:pPr>
              <a:lnSpc>
                <a:spcPct val="122000"/>
              </a:lnSpc>
              <a:spcAft>
                <a:spcPts val="1500"/>
              </a:spcAft>
            </a:pPr>
            <a:r>
              <a:rPr sz="1350" b="1">
                <a:solidFill>
                  <a:srgbClr val="3E9CFF"/>
                </a:solidFill>
                <a:latin typeface="Poppins"/>
              </a:rPr>
              <a:t>→  </a:t>
            </a:r>
            <a:r>
              <a:rPr sz="1350" b="1">
                <a:solidFill>
                  <a:srgbClr val="FFFFFF"/>
                </a:solidFill>
                <a:latin typeface="Poppins"/>
              </a:rPr>
              <a:t>Value we create, not discover — </a:t>
            </a:r>
            <a:r>
              <a:rPr sz="1350">
                <a:solidFill>
                  <a:srgbClr val="C2CCD8"/>
                </a:solidFill>
                <a:latin typeface="Poppins"/>
              </a:rPr>
              <a:t>board control, capital-allocation discipline and operational change, not leverage or financial engineering.</a:t>
            </a:r>
          </a:p>
          <a:p>
            <a:pPr>
              <a:lnSpc>
                <a:spcPct val="122000"/>
              </a:lnSpc>
              <a:spcAft>
                <a:spcPts val="1500"/>
              </a:spcAft>
            </a:pPr>
            <a:r>
              <a:rPr sz="1350" b="1">
                <a:solidFill>
                  <a:srgbClr val="3E9CFF"/>
                </a:solidFill>
                <a:latin typeface="Poppins"/>
              </a:rPr>
              <a:t>→  </a:t>
            </a:r>
            <a:r>
              <a:rPr sz="1350" b="1">
                <a:solidFill>
                  <a:srgbClr val="FFFFFF"/>
                </a:solidFill>
                <a:latin typeface="Poppins"/>
              </a:rPr>
              <a:t>Returns from earnings, not re-rating — </a:t>
            </a:r>
            <a:r>
              <a:rPr sz="1350">
                <a:solidFill>
                  <a:srgbClr val="C2CCD8"/>
                </a:solidFill>
                <a:latin typeface="Poppins"/>
              </a:rPr>
              <a:t>the gain comes from the business improving under our influence — bankable cash, not a hoped-for multiple.</a:t>
            </a:r>
          </a:p>
          <a:p>
            <a:pPr>
              <a:lnSpc>
                <a:spcPct val="122000"/>
              </a:lnSpc>
              <a:spcAft>
                <a:spcPts val="1500"/>
              </a:spcAft>
            </a:pPr>
            <a:r>
              <a:rPr sz="1350" b="1">
                <a:solidFill>
                  <a:srgbClr val="3E9CFF"/>
                </a:solidFill>
                <a:latin typeface="Poppins"/>
              </a:rPr>
              <a:t>→  </a:t>
            </a:r>
            <a:r>
              <a:rPr sz="1350" b="1">
                <a:solidFill>
                  <a:srgbClr val="FFFFFF"/>
                </a:solidFill>
                <a:latin typeface="Poppins"/>
              </a:rPr>
              <a:t>Constructive, by agreement — </a:t>
            </a:r>
            <a:r>
              <a:rPr sz="1350">
                <a:solidFill>
                  <a:srgbClr val="C2CCD8"/>
                </a:solidFill>
                <a:latin typeface="Poppins"/>
              </a:rPr>
              <a:t>board seats won collaboratively, not proxy wars fought — a Nordic governance model, 20 years honed.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5532120"/>
            <a:ext cx="11064240" cy="777240"/>
          </a:xfrm>
          <a:prstGeom prst="roundRect">
            <a:avLst>
              <a:gd name="adj" fmla="val 6000"/>
            </a:avLst>
          </a:prstGeom>
          <a:solidFill>
            <a:srgbClr val="162439"/>
          </a:solidFill>
          <a:ln w="12700">
            <a:solidFill>
              <a:srgbClr val="2A3B5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66928" y="5532120"/>
            <a:ext cx="64008" cy="777240"/>
          </a:xfrm>
          <a:prstGeom prst="rect">
            <a:avLst/>
          </a:prstGeom>
          <a:solidFill>
            <a:srgbClr val="3E9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5532120"/>
            <a:ext cx="10515600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1300" b="0" i="0">
                <a:solidFill>
                  <a:srgbClr val="FFFFFF"/>
                </a:solidFill>
                <a:latin typeface="Poppins"/>
              </a:rPr>
              <a:t>Private-equity-style value creation — in transparent, listed, daily-liquid form.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411480"/>
            <a:ext cx="1106424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3000" b="1">
                <a:solidFill>
                  <a:srgbClr val="3E9CFF"/>
                </a:solidFill>
                <a:latin typeface="Poppins"/>
              </a:rPr>
              <a:t>10. </a:t>
            </a:r>
            <a:r>
              <a:rPr sz="3000" b="1">
                <a:solidFill>
                  <a:srgbClr val="FFFFFF"/>
                </a:solidFill>
                <a:latin typeface="Poppins"/>
              </a:rPr>
              <a:t>How we invest: three tollgates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4592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050" b="0" i="0">
                <a:solidFill>
                  <a:srgbClr val="3E9CFF"/>
                </a:solidFill>
                <a:latin typeface="Poppins"/>
              </a:rPr>
              <a:t>SECTION 4 · PROCESS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298448"/>
            <a:ext cx="108813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1350" b="0" i="0">
                <a:solidFill>
                  <a:srgbClr val="8A97A6"/>
                </a:solidFill>
                <a:latin typeface="Poppins"/>
              </a:rPr>
              <a:t>Every idea passes the same three gates — each with an explicit bar and a named decision-maker.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6437376"/>
            <a:ext cx="11091672" cy="10160"/>
          </a:xfrm>
          <a:prstGeom prst="rect">
            <a:avLst/>
          </a:prstGeom>
          <a:solidFill>
            <a:srgbClr val="2A3B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649224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00" b="0" i="0">
                <a:solidFill>
                  <a:srgbClr val="8A97A6"/>
                </a:solidFill>
                <a:latin typeface="Poppins"/>
              </a:rPr>
              <a:t>Athanase  ·  strictly confidential  ·  professional &amp; intermediary use only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92240"/>
            <a:ext cx="868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  <a:spcAft>
                <a:spcPts val="0"/>
              </a:spcAft>
            </a:pPr>
            <a:r>
              <a:rPr sz="800" b="0" i="0">
                <a:solidFill>
                  <a:srgbClr val="8A97A6"/>
                </a:solidFill>
                <a:latin typeface="Poppins"/>
              </a:rPr>
              <a:t>10</a:t>
            </a:r>
          </a:p>
        </p:txBody>
      </p:sp>
      <p:sp>
        <p:nvSpPr>
          <p:cNvPr id="9" name="Oval 8"/>
          <p:cNvSpPr/>
          <p:nvPr/>
        </p:nvSpPr>
        <p:spPr>
          <a:xfrm>
            <a:off x="566928" y="2148840"/>
            <a:ext cx="457200" cy="457200"/>
          </a:xfrm>
          <a:prstGeom prst="ellipse">
            <a:avLst/>
          </a:prstGeom>
          <a:solidFill>
            <a:srgbClr val="3E9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66928" y="2148840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1600" b="1" i="0">
                <a:solidFill>
                  <a:srgbClr val="0E1A2B"/>
                </a:solidFill>
                <a:latin typeface="Poppins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2148840"/>
            <a:ext cx="1033272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1500" b="1" i="0">
                <a:solidFill>
                  <a:srgbClr val="3E9CFF"/>
                </a:solidFill>
                <a:latin typeface="Poppins"/>
              </a:rPr>
              <a:t>Tollgate 1 — Valuation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1150" b="1">
                <a:solidFill>
                  <a:srgbClr val="FFFFFF"/>
                </a:solidFill>
                <a:latin typeface="Poppins"/>
              </a:rPr>
              <a:t>The question:  </a:t>
            </a:r>
            <a:r>
              <a:rPr sz="1150" b="0">
                <a:solidFill>
                  <a:srgbClr val="C2CCD8"/>
                </a:solidFill>
                <a:latin typeface="Poppins"/>
              </a:rPr>
              <a:t>“Is it cheap enough even if we change nothing?”</a:t>
            </a:r>
          </a:p>
          <a:p>
            <a:pPr>
              <a:lnSpc>
                <a:spcPct val="115000"/>
              </a:lnSpc>
              <a:spcAft>
                <a:spcPts val="0"/>
              </a:spcAft>
            </a:pPr>
            <a:r>
              <a:rPr sz="1150" b="1">
                <a:solidFill>
                  <a:srgbClr val="FFFFFF"/>
                </a:solidFill>
                <a:latin typeface="Poppins"/>
              </a:rPr>
              <a:t>Pass only if:  </a:t>
            </a:r>
            <a:r>
              <a:rPr sz="1150" b="0">
                <a:solidFill>
                  <a:srgbClr val="C2CCD8"/>
                </a:solidFill>
                <a:latin typeface="Poppins"/>
              </a:rPr>
              <a:t>The core business alone justifies the price — a 30–40% margin of safety vs a PE bidder.  (Investment Team)</a:t>
            </a:r>
          </a:p>
        </p:txBody>
      </p:sp>
      <p:sp>
        <p:nvSpPr>
          <p:cNvPr id="12" name="Oval 11"/>
          <p:cNvSpPr/>
          <p:nvPr/>
        </p:nvSpPr>
        <p:spPr>
          <a:xfrm>
            <a:off x="566928" y="3447288"/>
            <a:ext cx="457200" cy="457200"/>
          </a:xfrm>
          <a:prstGeom prst="ellipse">
            <a:avLst/>
          </a:prstGeom>
          <a:solidFill>
            <a:srgbClr val="3E9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66928" y="3447288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1600" b="1" i="0">
                <a:solidFill>
                  <a:srgbClr val="0E1A2B"/>
                </a:solidFill>
                <a:latin typeface="Poppins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34440" y="3447288"/>
            <a:ext cx="1033272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1500" b="1" i="0">
                <a:solidFill>
                  <a:srgbClr val="3E9CFF"/>
                </a:solidFill>
                <a:latin typeface="Poppins"/>
              </a:rPr>
              <a:t>Tollgate 2 — The plan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1150" b="1">
                <a:solidFill>
                  <a:srgbClr val="FFFFFF"/>
                </a:solidFill>
                <a:latin typeface="Poppins"/>
              </a:rPr>
              <a:t>The question:  </a:t>
            </a:r>
            <a:r>
              <a:rPr sz="1150" b="0">
                <a:solidFill>
                  <a:srgbClr val="C2CCD8"/>
                </a:solidFill>
                <a:latin typeface="Poppins"/>
              </a:rPr>
              <a:t>“Is the improvement plan real — and can we deliver it?”</a:t>
            </a:r>
          </a:p>
          <a:p>
            <a:pPr>
              <a:lnSpc>
                <a:spcPct val="115000"/>
              </a:lnSpc>
              <a:spcAft>
                <a:spcPts val="0"/>
              </a:spcAft>
            </a:pPr>
            <a:r>
              <a:rPr sz="1150" b="1">
                <a:solidFill>
                  <a:srgbClr val="FFFFFF"/>
                </a:solidFill>
                <a:latin typeface="Poppins"/>
              </a:rPr>
              <a:t>Pass only if:  </a:t>
            </a:r>
            <a:r>
              <a:rPr sz="1150" b="0">
                <a:solidFill>
                  <a:srgbClr val="C2CCD8"/>
                </a:solidFill>
                <a:latin typeface="Poppins"/>
              </a:rPr>
              <a:t>Upside quantified across value levers and validated, with a credible path to a board seat; includes psychometric evaluation of CEO / Chair.  (Deal Lead + Head of Research)</a:t>
            </a:r>
          </a:p>
        </p:txBody>
      </p:sp>
      <p:sp>
        <p:nvSpPr>
          <p:cNvPr id="15" name="Oval 14"/>
          <p:cNvSpPr/>
          <p:nvPr/>
        </p:nvSpPr>
        <p:spPr>
          <a:xfrm>
            <a:off x="566928" y="4745736"/>
            <a:ext cx="457200" cy="457200"/>
          </a:xfrm>
          <a:prstGeom prst="ellipse">
            <a:avLst/>
          </a:prstGeom>
          <a:solidFill>
            <a:srgbClr val="3E9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66928" y="4745736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1600" b="1" i="0">
                <a:solidFill>
                  <a:srgbClr val="0E1A2B"/>
                </a:solidFill>
                <a:latin typeface="Poppins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34440" y="4745736"/>
            <a:ext cx="1033272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1500" b="1" i="0">
                <a:solidFill>
                  <a:srgbClr val="3E9CFF"/>
                </a:solidFill>
                <a:latin typeface="Poppins"/>
              </a:rPr>
              <a:t>Tollgate 3 — Go / No-Go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1150" b="1">
                <a:solidFill>
                  <a:srgbClr val="FFFFFF"/>
                </a:solidFill>
                <a:latin typeface="Poppins"/>
              </a:rPr>
              <a:t>The question:  </a:t>
            </a:r>
            <a:r>
              <a:rPr sz="1150" b="0">
                <a:solidFill>
                  <a:srgbClr val="C2CCD8"/>
                </a:solidFill>
                <a:latin typeface="Poppins"/>
              </a:rPr>
              <a:t>“Right risk, right size, right fit?”</a:t>
            </a:r>
          </a:p>
          <a:p>
            <a:pPr>
              <a:lnSpc>
                <a:spcPct val="115000"/>
              </a:lnSpc>
              <a:spcAft>
                <a:spcPts val="0"/>
              </a:spcAft>
            </a:pPr>
            <a:r>
              <a:rPr sz="1150" b="1">
                <a:solidFill>
                  <a:srgbClr val="FFFFFF"/>
                </a:solidFill>
                <a:latin typeface="Poppins"/>
              </a:rPr>
              <a:t>Pass only if:  </a:t>
            </a:r>
            <a:r>
              <a:rPr sz="1150" b="0">
                <a:solidFill>
                  <a:srgbClr val="C2CCD8"/>
                </a:solidFill>
                <a:latin typeface="Poppins"/>
              </a:rPr>
              <a:t>Within risk and portfolio limits, conviction-sized, with no better use of the capital.  (Investment Committee)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411480"/>
            <a:ext cx="1106424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3000" b="1">
                <a:solidFill>
                  <a:srgbClr val="3E9CFF"/>
                </a:solidFill>
                <a:latin typeface="Poppins"/>
              </a:rPr>
              <a:t>11. </a:t>
            </a:r>
            <a:r>
              <a:rPr sz="3000" b="1">
                <a:solidFill>
                  <a:srgbClr val="FFFFFF"/>
                </a:solidFill>
                <a:latin typeface="Poppins"/>
              </a:rPr>
              <a:t>The ownership playbook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4592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050" b="0" i="0">
                <a:solidFill>
                  <a:srgbClr val="3E9CFF"/>
                </a:solidFill>
                <a:latin typeface="Poppins"/>
              </a:rPr>
              <a:t>SECTION 4 · PROCESS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298448"/>
            <a:ext cx="108813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1350" b="0" i="0">
                <a:solidFill>
                  <a:srgbClr val="8A97A6"/>
                </a:solidFill>
                <a:latin typeface="Poppins"/>
              </a:rPr>
              <a:t>A repeatable sequence, honed over 38 investments, that turns a board seat into operational value.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6437376"/>
            <a:ext cx="11091672" cy="10160"/>
          </a:xfrm>
          <a:prstGeom prst="rect">
            <a:avLst/>
          </a:prstGeom>
          <a:solidFill>
            <a:srgbClr val="2A3B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649224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00" b="0" i="0">
                <a:solidFill>
                  <a:srgbClr val="8A97A6"/>
                </a:solidFill>
                <a:latin typeface="Poppins"/>
              </a:rPr>
              <a:t>Athanase  ·  strictly confidential  ·  professional &amp; intermediary use only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92240"/>
            <a:ext cx="868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  <a:spcAft>
                <a:spcPts val="0"/>
              </a:spcAft>
            </a:pPr>
            <a:r>
              <a:rPr sz="800" b="0" i="0">
                <a:solidFill>
                  <a:srgbClr val="8A97A6"/>
                </a:solidFill>
                <a:latin typeface="Poppins"/>
              </a:rPr>
              <a:t>11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66928" y="2148840"/>
            <a:ext cx="3529584" cy="1280160"/>
          </a:xfrm>
          <a:prstGeom prst="roundRect">
            <a:avLst>
              <a:gd name="adj" fmla="val 5000"/>
            </a:avLst>
          </a:prstGeom>
          <a:solidFill>
            <a:srgbClr val="162439"/>
          </a:solidFill>
          <a:ln w="12700">
            <a:solidFill>
              <a:srgbClr val="2A3B5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04672" y="2313432"/>
            <a:ext cx="3072384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300" b="1" i="0">
                <a:solidFill>
                  <a:srgbClr val="3E9CFF"/>
                </a:solidFill>
                <a:latin typeface="Poppins"/>
              </a:rPr>
              <a:t>1 · Secure board seat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4672" y="2697480"/>
            <a:ext cx="3054096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1100" b="0" i="0">
                <a:solidFill>
                  <a:srgbClr val="C2CCD8"/>
                </a:solidFill>
                <a:latin typeface="Poppins"/>
              </a:rPr>
              <a:t>Often a precondition to invest — the nomination committee proposes an AIP director.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34256" y="2148840"/>
            <a:ext cx="3529584" cy="1280160"/>
          </a:xfrm>
          <a:prstGeom prst="roundRect">
            <a:avLst>
              <a:gd name="adj" fmla="val 5000"/>
            </a:avLst>
          </a:prstGeom>
          <a:solidFill>
            <a:srgbClr val="162439"/>
          </a:solidFill>
          <a:ln w="12700">
            <a:solidFill>
              <a:srgbClr val="2A3B5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72000" y="2313432"/>
            <a:ext cx="3072384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300" b="1" i="0">
                <a:solidFill>
                  <a:srgbClr val="3E9CFF"/>
                </a:solidFill>
                <a:latin typeface="Poppins"/>
              </a:rPr>
              <a:t>2 · Align the thesis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0" y="2697480"/>
            <a:ext cx="3054096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1100" b="0" i="0">
                <a:solidFill>
                  <a:srgbClr val="C2CCD8"/>
                </a:solidFill>
                <a:latin typeface="Poppins"/>
              </a:rPr>
              <a:t>Collaborate with management and stakeholders to agree where the value is.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101584" y="2148840"/>
            <a:ext cx="3529584" cy="1280160"/>
          </a:xfrm>
          <a:prstGeom prst="roundRect">
            <a:avLst>
              <a:gd name="adj" fmla="val 5000"/>
            </a:avLst>
          </a:prstGeom>
          <a:solidFill>
            <a:srgbClr val="162439"/>
          </a:solidFill>
          <a:ln w="12700">
            <a:solidFill>
              <a:srgbClr val="2A3B5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339328" y="2313432"/>
            <a:ext cx="3072384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300" b="1" i="0">
                <a:solidFill>
                  <a:srgbClr val="3E9CFF"/>
                </a:solidFill>
                <a:latin typeface="Poppins"/>
              </a:rPr>
              <a:t>3 · Refocus earnings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39328" y="2697480"/>
            <a:ext cx="3054096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1100" b="0" i="0">
                <a:solidFill>
                  <a:srgbClr val="C2CCD8"/>
                </a:solidFill>
                <a:latin typeface="Poppins"/>
              </a:rPr>
              <a:t>Cut overhead, optimise footprint, exit loss-making “growth-trap” ventures.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66928" y="3611880"/>
            <a:ext cx="3529584" cy="1280160"/>
          </a:xfrm>
          <a:prstGeom prst="roundRect">
            <a:avLst>
              <a:gd name="adj" fmla="val 5000"/>
            </a:avLst>
          </a:prstGeom>
          <a:solidFill>
            <a:srgbClr val="162439"/>
          </a:solidFill>
          <a:ln w="12700">
            <a:solidFill>
              <a:srgbClr val="2A3B5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4672" y="3776472"/>
            <a:ext cx="3072384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300" b="1" i="0">
                <a:solidFill>
                  <a:srgbClr val="3E9CFF"/>
                </a:solidFill>
                <a:latin typeface="Poppins"/>
              </a:rPr>
              <a:t>4 · Reallocate to winners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04672" y="4160520"/>
            <a:ext cx="3054096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1100" b="0" i="0">
                <a:solidFill>
                  <a:srgbClr val="C2CCD8"/>
                </a:solidFill>
                <a:latin typeface="Poppins"/>
              </a:rPr>
              <a:t>Redeploy freed-up capital into the profitable core and its strongest adjacencies.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334256" y="3611880"/>
            <a:ext cx="3529584" cy="1280160"/>
          </a:xfrm>
          <a:prstGeom prst="roundRect">
            <a:avLst>
              <a:gd name="adj" fmla="val 5000"/>
            </a:avLst>
          </a:prstGeom>
          <a:solidFill>
            <a:srgbClr val="162439"/>
          </a:solidFill>
          <a:ln w="12700">
            <a:solidFill>
              <a:srgbClr val="2A3B5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572000" y="3776472"/>
            <a:ext cx="3072384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300" b="1" i="0">
                <a:solidFill>
                  <a:srgbClr val="3E9CFF"/>
                </a:solidFill>
                <a:latin typeface="Poppins"/>
              </a:rPr>
              <a:t>5 · Grow by acquisition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0" y="4160520"/>
            <a:ext cx="3054096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1100" b="0" i="0">
                <a:solidFill>
                  <a:srgbClr val="C2CCD8"/>
                </a:solidFill>
                <a:latin typeface="Poppins"/>
              </a:rPr>
              <a:t>Add complementary products or scale through value-accretive bolt-ons.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101584" y="3611880"/>
            <a:ext cx="3529584" cy="1280160"/>
          </a:xfrm>
          <a:prstGeom prst="roundRect">
            <a:avLst>
              <a:gd name="adj" fmla="val 5000"/>
            </a:avLst>
          </a:prstGeom>
          <a:solidFill>
            <a:srgbClr val="162439"/>
          </a:solidFill>
          <a:ln w="12700">
            <a:solidFill>
              <a:srgbClr val="2A3B5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339328" y="3776472"/>
            <a:ext cx="3072384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300" b="1" i="0">
                <a:solidFill>
                  <a:srgbClr val="3E9CFF"/>
                </a:solidFill>
                <a:latin typeface="Poppins"/>
              </a:rPr>
              <a:t>6 · Exit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339328" y="4160520"/>
            <a:ext cx="3054096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1100" b="0" i="0">
                <a:solidFill>
                  <a:srgbClr val="C2CCD8"/>
                </a:solidFill>
                <a:latin typeface="Poppins"/>
              </a:rPr>
              <a:t>Realise via M&amp;A or the equity market once the core is refocused and compounding.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66928" y="5806440"/>
            <a:ext cx="11064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1500" b="1" i="0">
                <a:solidFill>
                  <a:srgbClr val="3E9CFF"/>
                </a:solidFill>
                <a:latin typeface="Poppins"/>
              </a:rPr>
              <a:t>We don’t buy broken companies — we buy hidden cores.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411480"/>
            <a:ext cx="1106424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3000" b="1">
                <a:solidFill>
                  <a:srgbClr val="3E9CFF"/>
                </a:solidFill>
                <a:latin typeface="Poppins"/>
              </a:rPr>
              <a:t>12. </a:t>
            </a:r>
            <a:r>
              <a:rPr sz="3000" b="1">
                <a:solidFill>
                  <a:srgbClr val="FFFFFF"/>
                </a:solidFill>
                <a:latin typeface="Poppins"/>
              </a:rPr>
              <a:t>Risk, honestly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4592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050" b="0" i="0">
                <a:solidFill>
                  <a:srgbClr val="3E9CFF"/>
                </a:solidFill>
                <a:latin typeface="Poppins"/>
              </a:rPr>
              <a:t>SECTION 4 · PROCESS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298448"/>
            <a:ext cx="108813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1350" b="0" i="0">
                <a:solidFill>
                  <a:srgbClr val="8A97A6"/>
                </a:solidFill>
                <a:latin typeface="Poppins"/>
              </a:rPr>
              <a:t>A risk system built to engineer out permanent loss — controlled before the investment is made.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6437376"/>
            <a:ext cx="11091672" cy="10160"/>
          </a:xfrm>
          <a:prstGeom prst="rect">
            <a:avLst/>
          </a:prstGeom>
          <a:solidFill>
            <a:srgbClr val="2A3B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649224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00" b="0" i="0">
                <a:solidFill>
                  <a:srgbClr val="8A97A6"/>
                </a:solidFill>
                <a:latin typeface="Poppins"/>
              </a:rPr>
              <a:t>Athanase  ·  strictly confidential  ·  professional &amp; intermediary use only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92240"/>
            <a:ext cx="868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  <a:spcAft>
                <a:spcPts val="0"/>
              </a:spcAft>
            </a:pPr>
            <a:r>
              <a:rPr sz="800" b="0" i="0">
                <a:solidFill>
                  <a:srgbClr val="8A97A6"/>
                </a:solidFill>
                <a:latin typeface="Poppins"/>
              </a:rPr>
              <a:t>12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2148840"/>
            <a:ext cx="5394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1000"/>
              </a:spcAft>
            </a:pPr>
            <a:r>
              <a:rPr sz="1500" b="1" i="0">
                <a:solidFill>
                  <a:srgbClr val="FFFFFF"/>
                </a:solidFill>
                <a:latin typeface="Poppins"/>
              </a:rPr>
              <a:t>Three pillars of protection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2606040"/>
            <a:ext cx="5394960" cy="4206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22000"/>
              </a:lnSpc>
              <a:spcAft>
                <a:spcPts val="1300"/>
              </a:spcAft>
            </a:pPr>
            <a:r>
              <a:rPr sz="1200" b="1">
                <a:solidFill>
                  <a:srgbClr val="3E9CFF"/>
                </a:solidFill>
                <a:latin typeface="Poppins"/>
              </a:rPr>
              <a:t>→  </a:t>
            </a:r>
            <a:r>
              <a:rPr sz="1200" b="1">
                <a:solidFill>
                  <a:srgbClr val="FFFFFF"/>
                </a:solidFill>
                <a:latin typeface="Poppins"/>
              </a:rPr>
              <a:t>Predictability — </a:t>
            </a:r>
            <a:r>
              <a:rPr sz="1200">
                <a:solidFill>
                  <a:srgbClr val="C2CCD8"/>
                </a:solidFill>
                <a:latin typeface="Poppins"/>
              </a:rPr>
              <a:t>only durable, market-leading cores in slow-moving industries where future demand is underwritable.</a:t>
            </a:r>
          </a:p>
          <a:p>
            <a:pPr>
              <a:lnSpc>
                <a:spcPct val="122000"/>
              </a:lnSpc>
              <a:spcAft>
                <a:spcPts val="1300"/>
              </a:spcAft>
            </a:pPr>
            <a:r>
              <a:rPr sz="1200" b="1">
                <a:solidFill>
                  <a:srgbClr val="3E9CFF"/>
                </a:solidFill>
                <a:latin typeface="Poppins"/>
              </a:rPr>
              <a:t>→  </a:t>
            </a:r>
            <a:r>
              <a:rPr sz="1200" b="1">
                <a:solidFill>
                  <a:srgbClr val="FFFFFF"/>
                </a:solidFill>
                <a:latin typeface="Poppins"/>
              </a:rPr>
              <a:t>Price (a valuation floor) — </a:t>
            </a:r>
            <a:r>
              <a:rPr sz="1200">
                <a:solidFill>
                  <a:srgbClr val="C2CCD8"/>
                </a:solidFill>
                <a:latin typeface="Poppins"/>
              </a:rPr>
              <a:t>value the rectifiable core, zero for “growth-trap” divisions — a structural 30–40% margin of safety vs PE.</a:t>
            </a:r>
          </a:p>
          <a:p>
            <a:pPr>
              <a:lnSpc>
                <a:spcPct val="122000"/>
              </a:lnSpc>
              <a:spcAft>
                <a:spcPts val="1300"/>
              </a:spcAft>
            </a:pPr>
            <a:r>
              <a:rPr sz="1200" b="1">
                <a:solidFill>
                  <a:srgbClr val="3E9CFF"/>
                </a:solidFill>
                <a:latin typeface="Poppins"/>
              </a:rPr>
              <a:t>→  </a:t>
            </a:r>
            <a:r>
              <a:rPr sz="1200" b="1">
                <a:solidFill>
                  <a:srgbClr val="FFFFFF"/>
                </a:solidFill>
                <a:latin typeface="Poppins"/>
              </a:rPr>
              <a:t>Influence — </a:t>
            </a:r>
            <a:r>
              <a:rPr sz="1200">
                <a:solidFill>
                  <a:srgbClr val="C2CCD8"/>
                </a:solidFill>
                <a:latin typeface="Poppins"/>
              </a:rPr>
              <a:t>a board seat as the “kill switch” — the ability to stop a bad decision lowers risk below passive or active managers.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309360" y="2148840"/>
            <a:ext cx="5321808" cy="3383280"/>
          </a:xfrm>
          <a:prstGeom prst="roundRect">
            <a:avLst>
              <a:gd name="adj" fmla="val 5000"/>
            </a:avLst>
          </a:prstGeom>
          <a:solidFill>
            <a:srgbClr val="162439"/>
          </a:solidFill>
          <a:ln w="12700">
            <a:solidFill>
              <a:srgbClr val="2A3B5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65392" y="2368296"/>
            <a:ext cx="4846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400" b="1" i="0">
                <a:solidFill>
                  <a:srgbClr val="3E9CFF"/>
                </a:solidFill>
                <a:latin typeface="Poppins"/>
              </a:rPr>
              <a:t>Automatic guardrails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65392" y="2926080"/>
            <a:ext cx="4846320" cy="4206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22000"/>
              </a:lnSpc>
              <a:spcAft>
                <a:spcPts val="1000"/>
              </a:spcAft>
            </a:pPr>
            <a:r>
              <a:rPr sz="1100" b="1">
                <a:solidFill>
                  <a:srgbClr val="3E9CFF"/>
                </a:solidFill>
                <a:latin typeface="Poppins"/>
              </a:rPr>
              <a:t>→  </a:t>
            </a:r>
            <a:r>
              <a:rPr sz="1100" b="1">
                <a:solidFill>
                  <a:srgbClr val="FFFFFF"/>
                </a:solidFill>
                <a:latin typeface="Poppins"/>
              </a:rPr>
              <a:t>Entry gauntlet — </a:t>
            </a:r>
            <a:r>
              <a:rPr sz="1100">
                <a:solidFill>
                  <a:srgbClr val="C2CCD8"/>
                </a:solidFill>
                <a:latin typeface="Poppins"/>
              </a:rPr>
              <a:t>ideas must clear ≥12% expected IRR and ≤20% probability of a 30% drawdown.</a:t>
            </a:r>
          </a:p>
          <a:p>
            <a:pPr>
              <a:lnSpc>
                <a:spcPct val="122000"/>
              </a:lnSpc>
              <a:spcAft>
                <a:spcPts val="1000"/>
              </a:spcAft>
            </a:pPr>
            <a:r>
              <a:rPr sz="1100" b="1">
                <a:solidFill>
                  <a:srgbClr val="3E9CFF"/>
                </a:solidFill>
                <a:latin typeface="Poppins"/>
              </a:rPr>
              <a:t>→  </a:t>
            </a:r>
            <a:r>
              <a:rPr sz="1100" b="1">
                <a:solidFill>
                  <a:srgbClr val="FFFFFF"/>
                </a:solidFill>
                <a:latin typeface="Poppins"/>
              </a:rPr>
              <a:t>Diversification limits — </a:t>
            </a:r>
            <a:r>
              <a:rPr sz="1100">
                <a:solidFill>
                  <a:srgbClr val="C2CCD8"/>
                </a:solidFill>
                <a:latin typeface="Poppins"/>
              </a:rPr>
              <a:t>capped exposures to sector (≤30%), cycle, maturity and geography.</a:t>
            </a:r>
          </a:p>
          <a:p>
            <a:pPr>
              <a:lnSpc>
                <a:spcPct val="122000"/>
              </a:lnSpc>
              <a:spcAft>
                <a:spcPts val="1000"/>
              </a:spcAft>
            </a:pPr>
            <a:r>
              <a:rPr sz="1100" b="1">
                <a:solidFill>
                  <a:srgbClr val="3E9CFF"/>
                </a:solidFill>
                <a:latin typeface="Poppins"/>
              </a:rPr>
              <a:t>→  </a:t>
            </a:r>
            <a:r>
              <a:rPr sz="1100" b="1">
                <a:solidFill>
                  <a:srgbClr val="FFFFFF"/>
                </a:solidFill>
                <a:latin typeface="Poppins"/>
              </a:rPr>
              <a:t>Mechanised discipline — </a:t>
            </a:r>
            <a:r>
              <a:rPr sz="1100">
                <a:solidFill>
                  <a:srgbClr val="C2CCD8"/>
                </a:solidFill>
                <a:latin typeface="Poppins"/>
              </a:rPr>
              <a:t>automatic −10 / −20 / −30% triggers force a re-underwrite, and an exit if the thesis is broken.</a:t>
            </a:r>
          </a:p>
          <a:p>
            <a:pPr>
              <a:lnSpc>
                <a:spcPct val="122000"/>
              </a:lnSpc>
              <a:spcAft>
                <a:spcPts val="1000"/>
              </a:spcAft>
            </a:pPr>
            <a:r>
              <a:rPr sz="1100" b="1">
                <a:solidFill>
                  <a:srgbClr val="3E9CFF"/>
                </a:solidFill>
                <a:latin typeface="Poppins"/>
              </a:rPr>
              <a:t>→  </a:t>
            </a:r>
            <a:r>
              <a:rPr sz="1100" b="1">
                <a:solidFill>
                  <a:srgbClr val="FFFFFF"/>
                </a:solidFill>
                <a:latin typeface="Poppins"/>
              </a:rPr>
              <a:t>No leverage — </a:t>
            </a:r>
            <a:r>
              <a:rPr sz="1100">
                <a:solidFill>
                  <a:srgbClr val="C2CCD8"/>
                </a:solidFill>
                <a:latin typeface="Poppins"/>
              </a:rPr>
              <a:t>isolated to single investments, never at the fund level.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411480"/>
            <a:ext cx="1106424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3000" b="1">
                <a:solidFill>
                  <a:srgbClr val="3E9CFF"/>
                </a:solidFill>
                <a:latin typeface="Poppins"/>
              </a:rPr>
              <a:t>13. </a:t>
            </a:r>
            <a:r>
              <a:rPr sz="3000" b="1">
                <a:solidFill>
                  <a:srgbClr val="FFFFFF"/>
                </a:solidFill>
                <a:latin typeface="Poppins"/>
              </a:rPr>
              <a:t>Versus private equity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4592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050" b="0" i="0">
                <a:solidFill>
                  <a:srgbClr val="3E9CFF"/>
                </a:solidFill>
                <a:latin typeface="Poppins"/>
              </a:rPr>
              <a:t>SECTION 5 · TRACK RECORD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298448"/>
            <a:ext cx="108813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1350" b="0" i="0">
                <a:solidFill>
                  <a:srgbClr val="8A97A6"/>
                </a:solidFill>
                <a:latin typeface="Poppins"/>
              </a:rPr>
              <a:t>On true risk, PE and Athanase carry similar volatility — but Athanase returns more, with daily liquidity.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6437376"/>
            <a:ext cx="11091672" cy="10160"/>
          </a:xfrm>
          <a:prstGeom prst="rect">
            <a:avLst/>
          </a:prstGeom>
          <a:solidFill>
            <a:srgbClr val="2A3B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649224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00" b="0" i="0">
                <a:solidFill>
                  <a:srgbClr val="8A97A6"/>
                </a:solidFill>
                <a:latin typeface="Poppins"/>
              </a:rPr>
              <a:t>Athanase  ·  strictly confidential  ·  professional &amp; intermediary use only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92240"/>
            <a:ext cx="868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  <a:spcAft>
                <a:spcPts val="0"/>
              </a:spcAft>
            </a:pPr>
            <a:r>
              <a:rPr sz="800" b="0" i="0">
                <a:solidFill>
                  <a:srgbClr val="8A97A6"/>
                </a:solidFill>
                <a:latin typeface="Poppins"/>
              </a:rPr>
              <a:t>13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2148840"/>
            <a:ext cx="4114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300" b="1" i="0">
                <a:solidFill>
                  <a:srgbClr val="3E9CFF"/>
                </a:solidFill>
                <a:latin typeface="Poppins"/>
              </a:rPr>
              <a:t>Metric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00400" y="2148840"/>
            <a:ext cx="4114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300" b="1" i="0">
                <a:solidFill>
                  <a:srgbClr val="3E9CFF"/>
                </a:solidFill>
                <a:latin typeface="Poppins"/>
              </a:rPr>
              <a:t>Private equity (realised)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0" y="2148840"/>
            <a:ext cx="4114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300" b="1" i="0">
                <a:solidFill>
                  <a:srgbClr val="3E9CFF"/>
                </a:solidFill>
                <a:latin typeface="Poppins"/>
              </a:rPr>
              <a:t>Athanase (engaged owner)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66928" y="2606040"/>
            <a:ext cx="11073384" cy="17780"/>
          </a:xfrm>
          <a:prstGeom prst="rect">
            <a:avLst/>
          </a:prstGeom>
          <a:solidFill>
            <a:srgbClr val="3E9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66928" y="2715768"/>
            <a:ext cx="2450592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250" b="1" i="0">
                <a:solidFill>
                  <a:srgbClr val="3E9CFF"/>
                </a:solidFill>
                <a:latin typeface="Poppins"/>
              </a:rPr>
              <a:t>Real return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00400" y="2715768"/>
            <a:ext cx="393192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250" b="0" i="0">
                <a:solidFill>
                  <a:srgbClr val="C2CCD8"/>
                </a:solidFill>
                <a:latin typeface="Poppins"/>
              </a:rPr>
              <a:t>~11–14% (above PME, below us)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0" y="2715768"/>
            <a:ext cx="420624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250" b="1" i="0">
                <a:solidFill>
                  <a:srgbClr val="FFFFFF"/>
                </a:solidFill>
                <a:latin typeface="Poppins"/>
              </a:rPr>
              <a:t>~16% net, real, fully invested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66928" y="3172968"/>
            <a:ext cx="11073384" cy="10160"/>
          </a:xfrm>
          <a:prstGeom prst="rect">
            <a:avLst/>
          </a:prstGeom>
          <a:solidFill>
            <a:srgbClr val="2A3B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66928" y="3172968"/>
            <a:ext cx="2450592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250" b="1" i="0">
                <a:solidFill>
                  <a:srgbClr val="3E9CFF"/>
                </a:solidFill>
                <a:latin typeface="Poppins"/>
              </a:rPr>
              <a:t>Liquidity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200400" y="3172968"/>
            <a:ext cx="393192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250" b="0" i="0">
                <a:solidFill>
                  <a:srgbClr val="C2CCD8"/>
                </a:solidFill>
                <a:latin typeface="Poppins"/>
              </a:rPr>
              <a:t>10-year lock-up, blind pools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15200" y="3172968"/>
            <a:ext cx="420624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250" b="1" i="0">
                <a:solidFill>
                  <a:srgbClr val="FFFFFF"/>
                </a:solidFill>
                <a:latin typeface="Poppins"/>
              </a:rPr>
              <a:t>Daily liquidity, listed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66928" y="3630168"/>
            <a:ext cx="11073384" cy="10160"/>
          </a:xfrm>
          <a:prstGeom prst="rect">
            <a:avLst/>
          </a:prstGeom>
          <a:solidFill>
            <a:srgbClr val="2A3B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66928" y="3630168"/>
            <a:ext cx="2450592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250" b="1" i="0">
                <a:solidFill>
                  <a:srgbClr val="3E9CFF"/>
                </a:solidFill>
                <a:latin typeface="Poppins"/>
              </a:rPr>
              <a:t>Transparency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200400" y="3630168"/>
            <a:ext cx="393192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250" b="0" i="0">
                <a:solidFill>
                  <a:srgbClr val="C2CCD8"/>
                </a:solidFill>
                <a:latin typeface="Poppins"/>
              </a:rPr>
              <a:t>Smoothed, model-marked quarterly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15200" y="3630168"/>
            <a:ext cx="420624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250" b="1" i="0">
                <a:solidFill>
                  <a:srgbClr val="FFFFFF"/>
                </a:solidFill>
                <a:latin typeface="Poppins"/>
              </a:rPr>
              <a:t>Daily marks, public scoreboard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66928" y="4087368"/>
            <a:ext cx="11073384" cy="10160"/>
          </a:xfrm>
          <a:prstGeom prst="rect">
            <a:avLst/>
          </a:prstGeom>
          <a:solidFill>
            <a:srgbClr val="2A3B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66928" y="4087368"/>
            <a:ext cx="2450592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250" b="1" i="0">
                <a:solidFill>
                  <a:srgbClr val="3E9CFF"/>
                </a:solidFill>
                <a:latin typeface="Poppins"/>
              </a:rPr>
              <a:t>True volatility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200400" y="4087368"/>
            <a:ext cx="393192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250" b="0" i="0">
                <a:solidFill>
                  <a:srgbClr val="C2CCD8"/>
                </a:solidFill>
                <a:latin typeface="Poppins"/>
              </a:rPr>
              <a:t>~28% (de-smoothed, levered)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315200" y="4087368"/>
            <a:ext cx="420624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250" b="1" i="0">
                <a:solidFill>
                  <a:srgbClr val="FFFFFF"/>
                </a:solidFill>
                <a:latin typeface="Poppins"/>
              </a:rPr>
              <a:t>27% (downside only ~11%)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66928" y="4544568"/>
            <a:ext cx="11073384" cy="10160"/>
          </a:xfrm>
          <a:prstGeom prst="rect">
            <a:avLst/>
          </a:prstGeom>
          <a:solidFill>
            <a:srgbClr val="2A3B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66928" y="4544568"/>
            <a:ext cx="2450592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250" b="1" i="0">
                <a:solidFill>
                  <a:srgbClr val="3E9CFF"/>
                </a:solidFill>
                <a:latin typeface="Poppins"/>
              </a:rPr>
              <a:t>Downside risk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200400" y="4544568"/>
            <a:ext cx="393192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250" b="0" i="0">
                <a:solidFill>
                  <a:srgbClr val="C2CCD8"/>
                </a:solidFill>
                <a:latin typeface="Poppins"/>
              </a:rPr>
              <a:t>~16% chance of 30%+ loss / 3 yrs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315200" y="4544568"/>
            <a:ext cx="420624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250" b="1" i="0">
                <a:solidFill>
                  <a:srgbClr val="FFFFFF"/>
                </a:solidFill>
                <a:latin typeface="Poppins"/>
              </a:rPr>
              <a:t>~2% chance of 30%+ loss / 3 yrs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66928" y="5001768"/>
            <a:ext cx="11073384" cy="10160"/>
          </a:xfrm>
          <a:prstGeom prst="rect">
            <a:avLst/>
          </a:prstGeom>
          <a:solidFill>
            <a:srgbClr val="2A3B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66928" y="6126480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000" b="0" i="1">
                <a:solidFill>
                  <a:srgbClr val="8A97A6"/>
                </a:solidFill>
                <a:latin typeface="Poppins"/>
              </a:rPr>
              <a:t>Athanase captures 93% of the market’s upside but only 43% of its downside; at 0.44 correlation it improves the whole portfolio’s efficient frontier.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411480"/>
            <a:ext cx="1106424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3000" b="1">
                <a:solidFill>
                  <a:srgbClr val="3E9CFF"/>
                </a:solidFill>
                <a:latin typeface="Poppins"/>
              </a:rPr>
              <a:t>14. </a:t>
            </a:r>
            <a:r>
              <a:rPr sz="3000" b="1">
                <a:solidFill>
                  <a:srgbClr val="FFFFFF"/>
                </a:solidFill>
                <a:latin typeface="Poppins"/>
              </a:rPr>
              <a:t>£1 has become ~£18, net — versus ~£3 for the index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4592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050" b="0" i="0">
                <a:solidFill>
                  <a:srgbClr val="3E9CFF"/>
                </a:solidFill>
                <a:latin typeface="Poppins"/>
              </a:rPr>
              <a:t>SECTION 5 · TRACK RECORD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298448"/>
            <a:ext cx="108813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1350" b="0" i="0">
                <a:solidFill>
                  <a:srgbClr val="8A97A6"/>
                </a:solidFill>
                <a:latin typeface="Poppins"/>
              </a:rPr>
              <a:t>Twenty years of compounding from operating improvement — net of all fees, independently reconciled.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6437376"/>
            <a:ext cx="11091672" cy="10160"/>
          </a:xfrm>
          <a:prstGeom prst="rect">
            <a:avLst/>
          </a:prstGeom>
          <a:solidFill>
            <a:srgbClr val="2A3B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649224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00" b="0" i="0">
                <a:solidFill>
                  <a:srgbClr val="8A97A6"/>
                </a:solidFill>
                <a:latin typeface="Poppins"/>
              </a:rPr>
              <a:t>Athanase  ·  strictly confidential  ·  professional &amp; intermediary use only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92240"/>
            <a:ext cx="868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  <a:spcAft>
                <a:spcPts val="0"/>
              </a:spcAft>
            </a:pPr>
            <a:r>
              <a:rPr sz="800" b="0" i="0">
                <a:solidFill>
                  <a:srgbClr val="8A97A6"/>
                </a:solidFill>
                <a:latin typeface="Poppins"/>
              </a:rPr>
              <a:t>14</a:t>
            </a:r>
          </a:p>
        </p:txBody>
      </p:sp>
      <p:pic>
        <p:nvPicPr>
          <p:cNvPr id="9" name="Picture 8" descr="trust_growth_d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2148840"/>
            <a:ext cx="6400800" cy="3529496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040880" y="2240280"/>
            <a:ext cx="4572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2700" b="1" i="0">
                <a:solidFill>
                  <a:srgbClr val="3E9CFF"/>
                </a:solidFill>
                <a:latin typeface="Poppins"/>
              </a:rPr>
              <a:t>~16%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040880" y="2679192"/>
            <a:ext cx="45720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100" b="0" i="0">
                <a:solidFill>
                  <a:srgbClr val="C2CCD8"/>
                </a:solidFill>
                <a:latin typeface="Poppins"/>
              </a:rPr>
              <a:t>net p.a. over 20 years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040880" y="3026664"/>
            <a:ext cx="4572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2700" b="1" i="0">
                <a:solidFill>
                  <a:srgbClr val="3E9CFF"/>
                </a:solidFill>
                <a:latin typeface="Poppins"/>
              </a:rPr>
              <a:t>+10 pts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040880" y="3465576"/>
            <a:ext cx="45720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100" b="0" i="0">
                <a:solidFill>
                  <a:srgbClr val="C2CCD8"/>
                </a:solidFill>
                <a:latin typeface="Poppins"/>
              </a:rPr>
              <a:t>a year vs the index, net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040880" y="3813048"/>
            <a:ext cx="4572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2700" b="1" i="0">
                <a:solidFill>
                  <a:srgbClr val="3E9CFF"/>
                </a:solidFill>
                <a:latin typeface="Poppins"/>
              </a:rPr>
              <a:t>0%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4251960"/>
            <a:ext cx="45720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100" b="0" i="0">
                <a:solidFill>
                  <a:srgbClr val="C2CCD8"/>
                </a:solidFill>
                <a:latin typeface="Poppins"/>
              </a:rPr>
              <a:t>investor loss over a holding period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040880" y="4599432"/>
            <a:ext cx="4572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2700" b="1" i="0">
                <a:solidFill>
                  <a:srgbClr val="3E9CFF"/>
                </a:solidFill>
                <a:latin typeface="Poppins"/>
              </a:rPr>
              <a:t>2.40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040880" y="5038344"/>
            <a:ext cx="45720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100" b="0" i="0">
                <a:solidFill>
                  <a:srgbClr val="C2CCD8"/>
                </a:solidFill>
                <a:latin typeface="Poppins"/>
              </a:rPr>
              <a:t>Sortino ratio — downside-aware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6199632"/>
            <a:ext cx="11155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00" b="0" i="0">
                <a:solidFill>
                  <a:srgbClr val="8A97A6"/>
                </a:solidFill>
                <a:latin typeface="Poppins"/>
              </a:rPr>
              <a:t>Cumulative growth of capital, net of fees, 2006–2025 (log scale). Newly proposed trust; manager’s existing strategy. Past performance is not a guide to future returns.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411480"/>
            <a:ext cx="1106424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3000" b="1">
                <a:solidFill>
                  <a:srgbClr val="3E9CFF"/>
                </a:solidFill>
                <a:latin typeface="Poppins"/>
              </a:rPr>
              <a:t>15. </a:t>
            </a:r>
            <a:r>
              <a:rPr sz="3000" b="1">
                <a:solidFill>
                  <a:srgbClr val="FFFFFF"/>
                </a:solidFill>
                <a:latin typeface="Poppins"/>
              </a:rPr>
              <a:t>Every investment in the current fund (AIP Fund II)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4592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050" b="0" i="0">
                <a:solidFill>
                  <a:srgbClr val="3E9CFF"/>
                </a:solidFill>
                <a:latin typeface="Poppins"/>
              </a:rPr>
              <a:t>SECTION 5 · TRACK RECORD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298448"/>
            <a:ext cx="108813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1350" b="0" i="0">
                <a:solidFill>
                  <a:srgbClr val="8A97A6"/>
                </a:solidFill>
                <a:latin typeface="Poppins"/>
              </a:rPr>
              <a:t>The full book, ranked by money multiple — winners, and the discipline on the one that disappointed.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6437376"/>
            <a:ext cx="11091672" cy="10160"/>
          </a:xfrm>
          <a:prstGeom prst="rect">
            <a:avLst/>
          </a:prstGeom>
          <a:solidFill>
            <a:srgbClr val="2A3B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649224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00" b="0" i="0">
                <a:solidFill>
                  <a:srgbClr val="8A97A6"/>
                </a:solidFill>
                <a:latin typeface="Poppins"/>
              </a:rPr>
              <a:t>Athanase  ·  strictly confidential  ·  professional &amp; intermediary use only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92240"/>
            <a:ext cx="868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  <a:spcAft>
                <a:spcPts val="0"/>
              </a:spcAft>
            </a:pPr>
            <a:r>
              <a:rPr sz="800" b="0" i="0">
                <a:solidFill>
                  <a:srgbClr val="8A97A6"/>
                </a:solidFill>
                <a:latin typeface="Poppins"/>
              </a:rPr>
              <a:t>15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2148840"/>
            <a:ext cx="21945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100" b="1" i="0">
                <a:solidFill>
                  <a:srgbClr val="3E9CFF"/>
                </a:solidFill>
                <a:latin typeface="Poppins"/>
              </a:rPr>
              <a:t>Company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91840" y="2148840"/>
            <a:ext cx="21945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  <a:spcAft>
                <a:spcPts val="0"/>
              </a:spcAft>
            </a:pPr>
            <a:r>
              <a:rPr sz="1100" b="1" i="0">
                <a:solidFill>
                  <a:srgbClr val="3E9CFF"/>
                </a:solidFill>
                <a:latin typeface="Poppins"/>
              </a:rPr>
              <a:t>Holding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0" y="2148840"/>
            <a:ext cx="21945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  <a:spcAft>
                <a:spcPts val="0"/>
              </a:spcAft>
            </a:pPr>
            <a:r>
              <a:rPr sz="1100" b="1" i="0">
                <a:solidFill>
                  <a:srgbClr val="3E9CFF"/>
                </a:solidFill>
                <a:latin typeface="Poppins"/>
              </a:rPr>
              <a:t>Gross IRR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589520" y="2148840"/>
            <a:ext cx="21945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  <a:spcAft>
                <a:spcPts val="0"/>
              </a:spcAft>
            </a:pPr>
            <a:r>
              <a:rPr sz="1100" b="1" i="0">
                <a:solidFill>
                  <a:srgbClr val="3E9CFF"/>
                </a:solidFill>
                <a:latin typeface="Poppins"/>
              </a:rPr>
              <a:t>MOIC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92640" y="2148840"/>
            <a:ext cx="21945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  <a:spcAft>
                <a:spcPts val="0"/>
              </a:spcAft>
            </a:pPr>
            <a:r>
              <a:rPr sz="1100" b="1" i="0">
                <a:solidFill>
                  <a:srgbClr val="3E9CFF"/>
                </a:solidFill>
                <a:latin typeface="Poppins"/>
              </a:rPr>
              <a:t>vs index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66928" y="2478024"/>
            <a:ext cx="11073384" cy="15240"/>
          </a:xfrm>
          <a:prstGeom prst="rect">
            <a:avLst/>
          </a:prstGeom>
          <a:solidFill>
            <a:srgbClr val="3E9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66928" y="2532888"/>
            <a:ext cx="2651760" cy="2331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Poppins"/>
              </a:rPr>
              <a:t>Ngex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91840" y="2532888"/>
            <a:ext cx="2194560" cy="2331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2000"/>
              </a:lnSpc>
              <a:spcAft>
                <a:spcPts val="0"/>
              </a:spcAft>
            </a:pPr>
            <a:r>
              <a:rPr sz="1000" b="0" i="0">
                <a:solidFill>
                  <a:srgbClr val="C2CCD8"/>
                </a:solidFill>
                <a:latin typeface="Poppins"/>
              </a:rPr>
              <a:t>2016-2025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0" y="2532888"/>
            <a:ext cx="2194560" cy="2331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2000"/>
              </a:lnSpc>
              <a:spcAft>
                <a:spcPts val="0"/>
              </a:spcAft>
            </a:pPr>
            <a:r>
              <a:rPr sz="1000" b="0" i="0">
                <a:solidFill>
                  <a:srgbClr val="C2CCD8"/>
                </a:solidFill>
                <a:latin typeface="Poppins"/>
              </a:rPr>
              <a:t>69%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589520" y="2532888"/>
            <a:ext cx="2194560" cy="2331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2000"/>
              </a:lnSpc>
              <a:spcAft>
                <a:spcPts val="0"/>
              </a:spcAft>
            </a:pPr>
            <a:r>
              <a:rPr sz="1000" b="0" i="0">
                <a:solidFill>
                  <a:srgbClr val="C2CCD8"/>
                </a:solidFill>
                <a:latin typeface="Poppins"/>
              </a:rPr>
              <a:t>6.2×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92640" y="2532888"/>
            <a:ext cx="2194560" cy="2331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2000"/>
              </a:lnSpc>
              <a:spcAft>
                <a:spcPts val="0"/>
              </a:spcAft>
            </a:pPr>
            <a:r>
              <a:rPr sz="1000" b="0" i="0">
                <a:solidFill>
                  <a:srgbClr val="C2CCD8"/>
                </a:solidFill>
                <a:latin typeface="Poppins"/>
              </a:rPr>
              <a:t>+59%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66928" y="2766060"/>
            <a:ext cx="2651760" cy="2331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Poppins"/>
              </a:rPr>
              <a:t>AI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291840" y="2766060"/>
            <a:ext cx="2194560" cy="2331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2000"/>
              </a:lnSpc>
              <a:spcAft>
                <a:spcPts val="0"/>
              </a:spcAft>
            </a:pPr>
            <a:r>
              <a:rPr sz="1000" b="0" i="0">
                <a:solidFill>
                  <a:srgbClr val="C2CCD8"/>
                </a:solidFill>
                <a:latin typeface="Poppins"/>
              </a:rPr>
              <a:t>2020-2025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86400" y="2766060"/>
            <a:ext cx="2194560" cy="2331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2000"/>
              </a:lnSpc>
              <a:spcAft>
                <a:spcPts val="0"/>
              </a:spcAft>
            </a:pPr>
            <a:r>
              <a:rPr sz="1000" b="0" i="0">
                <a:solidFill>
                  <a:srgbClr val="C2CCD8"/>
                </a:solidFill>
                <a:latin typeface="Poppins"/>
              </a:rPr>
              <a:t>n.m.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589520" y="2766060"/>
            <a:ext cx="2194560" cy="2331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2000"/>
              </a:lnSpc>
              <a:spcAft>
                <a:spcPts val="0"/>
              </a:spcAft>
            </a:pPr>
            <a:r>
              <a:rPr sz="1000" b="0" i="0">
                <a:solidFill>
                  <a:srgbClr val="C2CCD8"/>
                </a:solidFill>
                <a:latin typeface="Poppins"/>
              </a:rPr>
              <a:t>5.4×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692640" y="2766060"/>
            <a:ext cx="2194560" cy="2331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2000"/>
              </a:lnSpc>
              <a:spcAft>
                <a:spcPts val="0"/>
              </a:spcAft>
            </a:pPr>
            <a:r>
              <a:rPr sz="1000" b="0" i="0">
                <a:solidFill>
                  <a:srgbClr val="C2CCD8"/>
                </a:solidFill>
                <a:latin typeface="Poppins"/>
              </a:rPr>
              <a:t>n.m.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66928" y="2999232"/>
            <a:ext cx="2651760" cy="2331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Poppins"/>
              </a:rPr>
              <a:t>Roko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291840" y="2999232"/>
            <a:ext cx="2194560" cy="2331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2000"/>
              </a:lnSpc>
              <a:spcAft>
                <a:spcPts val="0"/>
              </a:spcAft>
            </a:pPr>
            <a:r>
              <a:rPr sz="1000" b="0" i="0">
                <a:solidFill>
                  <a:srgbClr val="C2CCD8"/>
                </a:solidFill>
                <a:latin typeface="Poppins"/>
              </a:rPr>
              <a:t>2019-2025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486400" y="2999232"/>
            <a:ext cx="2194560" cy="2331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2000"/>
              </a:lnSpc>
              <a:spcAft>
                <a:spcPts val="0"/>
              </a:spcAft>
            </a:pPr>
            <a:r>
              <a:rPr sz="1000" b="0" i="0">
                <a:solidFill>
                  <a:srgbClr val="C2CCD8"/>
                </a:solidFill>
                <a:latin typeface="Poppins"/>
              </a:rPr>
              <a:t>28%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589520" y="2999232"/>
            <a:ext cx="2194560" cy="2331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2000"/>
              </a:lnSpc>
              <a:spcAft>
                <a:spcPts val="0"/>
              </a:spcAft>
            </a:pPr>
            <a:r>
              <a:rPr sz="1000" b="0" i="0">
                <a:solidFill>
                  <a:srgbClr val="C2CCD8"/>
                </a:solidFill>
                <a:latin typeface="Poppins"/>
              </a:rPr>
              <a:t>5.1×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692640" y="2999232"/>
            <a:ext cx="2194560" cy="2331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2000"/>
              </a:lnSpc>
              <a:spcAft>
                <a:spcPts val="0"/>
              </a:spcAft>
            </a:pPr>
            <a:r>
              <a:rPr sz="1000" b="0" i="0">
                <a:solidFill>
                  <a:srgbClr val="C2CCD8"/>
                </a:solidFill>
                <a:latin typeface="Poppins"/>
              </a:rPr>
              <a:t>+18%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66928" y="3232404"/>
            <a:ext cx="2651760" cy="2331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Poppins"/>
              </a:rPr>
              <a:t>Zutec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291840" y="3232404"/>
            <a:ext cx="2194560" cy="2331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2000"/>
              </a:lnSpc>
              <a:spcAft>
                <a:spcPts val="0"/>
              </a:spcAft>
            </a:pPr>
            <a:r>
              <a:rPr sz="1000" b="0" i="0">
                <a:solidFill>
                  <a:srgbClr val="C2CCD8"/>
                </a:solidFill>
                <a:latin typeface="Poppins"/>
              </a:rPr>
              <a:t>2018-2025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486400" y="3232404"/>
            <a:ext cx="2194560" cy="2331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2000"/>
              </a:lnSpc>
              <a:spcAft>
                <a:spcPts val="0"/>
              </a:spcAft>
            </a:pPr>
            <a:r>
              <a:rPr sz="1000" b="0" i="0">
                <a:solidFill>
                  <a:srgbClr val="C2CCD8"/>
                </a:solidFill>
                <a:latin typeface="Poppins"/>
              </a:rPr>
              <a:t>38%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589520" y="3232404"/>
            <a:ext cx="2194560" cy="2331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2000"/>
              </a:lnSpc>
              <a:spcAft>
                <a:spcPts val="0"/>
              </a:spcAft>
            </a:pPr>
            <a:r>
              <a:rPr sz="1000" b="0" i="0">
                <a:solidFill>
                  <a:srgbClr val="C2CCD8"/>
                </a:solidFill>
                <a:latin typeface="Poppins"/>
              </a:rPr>
              <a:t>2.8×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692640" y="3232404"/>
            <a:ext cx="2194560" cy="2331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2000"/>
              </a:lnSpc>
              <a:spcAft>
                <a:spcPts val="0"/>
              </a:spcAft>
            </a:pPr>
            <a:r>
              <a:rPr sz="1000" b="0" i="0">
                <a:solidFill>
                  <a:srgbClr val="C2CCD8"/>
                </a:solidFill>
                <a:latin typeface="Poppins"/>
              </a:rPr>
              <a:t>+29%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66928" y="3465576"/>
            <a:ext cx="2651760" cy="2331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Poppins"/>
              </a:rPr>
              <a:t>Bufab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291840" y="3465576"/>
            <a:ext cx="2194560" cy="2331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2000"/>
              </a:lnSpc>
              <a:spcAft>
                <a:spcPts val="0"/>
              </a:spcAft>
            </a:pPr>
            <a:r>
              <a:rPr sz="1000" b="0" i="0">
                <a:solidFill>
                  <a:srgbClr val="C2CCD8"/>
                </a:solidFill>
                <a:latin typeface="Poppins"/>
              </a:rPr>
              <a:t>2015-2025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486400" y="3465576"/>
            <a:ext cx="2194560" cy="2331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2000"/>
              </a:lnSpc>
              <a:spcAft>
                <a:spcPts val="0"/>
              </a:spcAft>
            </a:pPr>
            <a:r>
              <a:rPr sz="1000" b="0" i="0">
                <a:solidFill>
                  <a:srgbClr val="C2CCD8"/>
                </a:solidFill>
                <a:latin typeface="Poppins"/>
              </a:rPr>
              <a:t>35%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589520" y="3465576"/>
            <a:ext cx="2194560" cy="2331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2000"/>
              </a:lnSpc>
              <a:spcAft>
                <a:spcPts val="0"/>
              </a:spcAft>
            </a:pPr>
            <a:r>
              <a:rPr sz="1000" b="0" i="0">
                <a:solidFill>
                  <a:srgbClr val="C2CCD8"/>
                </a:solidFill>
                <a:latin typeface="Poppins"/>
              </a:rPr>
              <a:t>2.0×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692640" y="3465576"/>
            <a:ext cx="2194560" cy="2331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2000"/>
              </a:lnSpc>
              <a:spcAft>
                <a:spcPts val="0"/>
              </a:spcAft>
            </a:pPr>
            <a:r>
              <a:rPr sz="1000" b="0" i="0">
                <a:solidFill>
                  <a:srgbClr val="C2CCD8"/>
                </a:solidFill>
                <a:latin typeface="Poppins"/>
              </a:rPr>
              <a:t>+27%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66928" y="3698748"/>
            <a:ext cx="2651760" cy="2331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Poppins"/>
              </a:rPr>
              <a:t>Transcom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291840" y="3698748"/>
            <a:ext cx="2194560" cy="2331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2000"/>
              </a:lnSpc>
              <a:spcAft>
                <a:spcPts val="0"/>
              </a:spcAft>
            </a:pPr>
            <a:r>
              <a:rPr sz="1000" b="0" i="0">
                <a:solidFill>
                  <a:srgbClr val="C2CCD8"/>
                </a:solidFill>
                <a:latin typeface="Poppins"/>
              </a:rPr>
              <a:t>2015-2016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486400" y="3698748"/>
            <a:ext cx="2194560" cy="2331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2000"/>
              </a:lnSpc>
              <a:spcAft>
                <a:spcPts val="0"/>
              </a:spcAft>
            </a:pPr>
            <a:r>
              <a:rPr sz="1000" b="0" i="0">
                <a:solidFill>
                  <a:srgbClr val="C2CCD8"/>
                </a:solidFill>
                <a:latin typeface="Poppins"/>
              </a:rPr>
              <a:t>80%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7589520" y="3698748"/>
            <a:ext cx="2194560" cy="2331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2000"/>
              </a:lnSpc>
              <a:spcAft>
                <a:spcPts val="0"/>
              </a:spcAft>
            </a:pPr>
            <a:r>
              <a:rPr sz="1000" b="0" i="0">
                <a:solidFill>
                  <a:srgbClr val="C2CCD8"/>
                </a:solidFill>
                <a:latin typeface="Poppins"/>
              </a:rPr>
              <a:t>1.7×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692640" y="3698748"/>
            <a:ext cx="2194560" cy="2331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2000"/>
              </a:lnSpc>
              <a:spcAft>
                <a:spcPts val="0"/>
              </a:spcAft>
            </a:pPr>
            <a:r>
              <a:rPr sz="1000" b="0" i="0">
                <a:solidFill>
                  <a:srgbClr val="C2CCD8"/>
                </a:solidFill>
                <a:latin typeface="Poppins"/>
              </a:rPr>
              <a:t>+80%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66928" y="3931920"/>
            <a:ext cx="2651760" cy="2331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Poppins"/>
              </a:rPr>
              <a:t>Alcadon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291840" y="3931920"/>
            <a:ext cx="2194560" cy="2331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2000"/>
              </a:lnSpc>
              <a:spcAft>
                <a:spcPts val="0"/>
              </a:spcAft>
            </a:pPr>
            <a:r>
              <a:rPr sz="1000" b="0" i="0">
                <a:solidFill>
                  <a:srgbClr val="C2CCD8"/>
                </a:solidFill>
                <a:latin typeface="Poppins"/>
              </a:rPr>
              <a:t>2016-2025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5486400" y="3931920"/>
            <a:ext cx="2194560" cy="2331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2000"/>
              </a:lnSpc>
              <a:spcAft>
                <a:spcPts val="0"/>
              </a:spcAft>
            </a:pPr>
            <a:r>
              <a:rPr sz="1000" b="0" i="0">
                <a:solidFill>
                  <a:srgbClr val="C2CCD8"/>
                </a:solidFill>
                <a:latin typeface="Poppins"/>
              </a:rPr>
              <a:t>74%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7589520" y="3931920"/>
            <a:ext cx="2194560" cy="2331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2000"/>
              </a:lnSpc>
              <a:spcAft>
                <a:spcPts val="0"/>
              </a:spcAft>
            </a:pPr>
            <a:r>
              <a:rPr sz="1000" b="0" i="0">
                <a:solidFill>
                  <a:srgbClr val="C2CCD8"/>
                </a:solidFill>
                <a:latin typeface="Poppins"/>
              </a:rPr>
              <a:t>1.7×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692640" y="3931920"/>
            <a:ext cx="2194560" cy="2331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2000"/>
              </a:lnSpc>
              <a:spcAft>
                <a:spcPts val="0"/>
              </a:spcAft>
            </a:pPr>
            <a:r>
              <a:rPr sz="1000" b="0" i="0">
                <a:solidFill>
                  <a:srgbClr val="C2CCD8"/>
                </a:solidFill>
                <a:latin typeface="Poppins"/>
              </a:rPr>
              <a:t>+65%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66928" y="4165092"/>
            <a:ext cx="2651760" cy="2331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Poppins"/>
              </a:rPr>
              <a:t>Haldex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291840" y="4165092"/>
            <a:ext cx="2194560" cy="2331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2000"/>
              </a:lnSpc>
              <a:spcAft>
                <a:spcPts val="0"/>
              </a:spcAft>
            </a:pPr>
            <a:r>
              <a:rPr sz="1000" b="0" i="0">
                <a:solidFill>
                  <a:srgbClr val="C2CCD8"/>
                </a:solidFill>
                <a:latin typeface="Poppins"/>
              </a:rPr>
              <a:t>2019-2022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5486400" y="4165092"/>
            <a:ext cx="2194560" cy="2331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2000"/>
              </a:lnSpc>
              <a:spcAft>
                <a:spcPts val="0"/>
              </a:spcAft>
            </a:pPr>
            <a:r>
              <a:rPr sz="1000" b="0" i="0">
                <a:solidFill>
                  <a:srgbClr val="C2CCD8"/>
                </a:solidFill>
                <a:latin typeface="Poppins"/>
              </a:rPr>
              <a:t>36%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7589520" y="4165092"/>
            <a:ext cx="2194560" cy="2331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2000"/>
              </a:lnSpc>
              <a:spcAft>
                <a:spcPts val="0"/>
              </a:spcAft>
            </a:pPr>
            <a:r>
              <a:rPr sz="1000" b="0" i="0">
                <a:solidFill>
                  <a:srgbClr val="C2CCD8"/>
                </a:solidFill>
                <a:latin typeface="Poppins"/>
              </a:rPr>
              <a:t>1.6×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692640" y="4165092"/>
            <a:ext cx="2194560" cy="2331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2000"/>
              </a:lnSpc>
              <a:spcAft>
                <a:spcPts val="0"/>
              </a:spcAft>
            </a:pPr>
            <a:r>
              <a:rPr sz="1000" b="0" i="0">
                <a:solidFill>
                  <a:srgbClr val="C2CCD8"/>
                </a:solidFill>
                <a:latin typeface="Poppins"/>
              </a:rPr>
              <a:t>+33%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566928" y="4398264"/>
            <a:ext cx="2651760" cy="2331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Poppins"/>
              </a:rPr>
              <a:t>Sandvik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3291840" y="4398264"/>
            <a:ext cx="2194560" cy="2331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2000"/>
              </a:lnSpc>
              <a:spcAft>
                <a:spcPts val="0"/>
              </a:spcAft>
            </a:pPr>
            <a:r>
              <a:rPr sz="1000" b="0" i="0">
                <a:solidFill>
                  <a:srgbClr val="C2CCD8"/>
                </a:solidFill>
                <a:latin typeface="Poppins"/>
              </a:rPr>
              <a:t>2015-2017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486400" y="4398264"/>
            <a:ext cx="2194560" cy="2331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2000"/>
              </a:lnSpc>
              <a:spcAft>
                <a:spcPts val="0"/>
              </a:spcAft>
            </a:pPr>
            <a:r>
              <a:rPr sz="1000" b="0" i="0">
                <a:solidFill>
                  <a:srgbClr val="C2CCD8"/>
                </a:solidFill>
                <a:latin typeface="Poppins"/>
              </a:rPr>
              <a:t>49%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589520" y="4398264"/>
            <a:ext cx="2194560" cy="2331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2000"/>
              </a:lnSpc>
              <a:spcAft>
                <a:spcPts val="0"/>
              </a:spcAft>
            </a:pPr>
            <a:r>
              <a:rPr sz="1000" b="0" i="0">
                <a:solidFill>
                  <a:srgbClr val="C2CCD8"/>
                </a:solidFill>
                <a:latin typeface="Poppins"/>
              </a:rPr>
              <a:t>1.6×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9692640" y="4398264"/>
            <a:ext cx="2194560" cy="2331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2000"/>
              </a:lnSpc>
              <a:spcAft>
                <a:spcPts val="0"/>
              </a:spcAft>
            </a:pPr>
            <a:r>
              <a:rPr sz="1000" b="0" i="0">
                <a:solidFill>
                  <a:srgbClr val="C2CCD8"/>
                </a:solidFill>
                <a:latin typeface="Poppins"/>
              </a:rPr>
              <a:t>+43%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66928" y="4631436"/>
            <a:ext cx="2651760" cy="2331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Poppins"/>
              </a:rPr>
              <a:t>Renold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3291840" y="4631436"/>
            <a:ext cx="2194560" cy="2331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2000"/>
              </a:lnSpc>
              <a:spcAft>
                <a:spcPts val="0"/>
              </a:spcAft>
            </a:pPr>
            <a:r>
              <a:rPr sz="1000" b="0" i="0">
                <a:solidFill>
                  <a:srgbClr val="C2CCD8"/>
                </a:solidFill>
                <a:latin typeface="Poppins"/>
              </a:rPr>
              <a:t>2024-2025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5486400" y="4631436"/>
            <a:ext cx="2194560" cy="2331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2000"/>
              </a:lnSpc>
              <a:spcAft>
                <a:spcPts val="0"/>
              </a:spcAft>
            </a:pPr>
            <a:r>
              <a:rPr sz="1000" b="0" i="0">
                <a:solidFill>
                  <a:srgbClr val="C2CCD8"/>
                </a:solidFill>
                <a:latin typeface="Poppins"/>
              </a:rPr>
              <a:t>220%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7589520" y="4631436"/>
            <a:ext cx="2194560" cy="2331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2000"/>
              </a:lnSpc>
              <a:spcAft>
                <a:spcPts val="0"/>
              </a:spcAft>
            </a:pPr>
            <a:r>
              <a:rPr sz="1000" b="0" i="0">
                <a:solidFill>
                  <a:srgbClr val="C2CCD8"/>
                </a:solidFill>
                <a:latin typeface="Poppins"/>
              </a:rPr>
              <a:t>1.6×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9692640" y="4631436"/>
            <a:ext cx="2194560" cy="2331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2000"/>
              </a:lnSpc>
              <a:spcAft>
                <a:spcPts val="0"/>
              </a:spcAft>
            </a:pPr>
            <a:r>
              <a:rPr sz="1000" b="0" i="0">
                <a:solidFill>
                  <a:srgbClr val="C2CCD8"/>
                </a:solidFill>
                <a:latin typeface="Poppins"/>
              </a:rPr>
              <a:t>+211%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566928" y="4864608"/>
            <a:ext cx="2651760" cy="2331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Poppins"/>
              </a:rPr>
              <a:t>Kitron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3291840" y="4864608"/>
            <a:ext cx="2194560" cy="2331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2000"/>
              </a:lnSpc>
              <a:spcAft>
                <a:spcPts val="0"/>
              </a:spcAft>
            </a:pPr>
            <a:r>
              <a:rPr sz="1000" b="0" i="0">
                <a:solidFill>
                  <a:srgbClr val="C2CCD8"/>
                </a:solidFill>
                <a:latin typeface="Poppins"/>
              </a:rPr>
              <a:t>2016-2018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486400" y="4864608"/>
            <a:ext cx="2194560" cy="2331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2000"/>
              </a:lnSpc>
              <a:spcAft>
                <a:spcPts val="0"/>
              </a:spcAft>
            </a:pPr>
            <a:r>
              <a:rPr sz="1000" b="0" i="0">
                <a:solidFill>
                  <a:srgbClr val="C2CCD8"/>
                </a:solidFill>
                <a:latin typeface="Poppins"/>
              </a:rPr>
              <a:t>40%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7589520" y="4864608"/>
            <a:ext cx="2194560" cy="2331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2000"/>
              </a:lnSpc>
              <a:spcAft>
                <a:spcPts val="0"/>
              </a:spcAft>
            </a:pPr>
            <a:r>
              <a:rPr sz="1000" b="0" i="0">
                <a:solidFill>
                  <a:srgbClr val="C2CCD8"/>
                </a:solidFill>
                <a:latin typeface="Poppins"/>
              </a:rPr>
              <a:t>1.5×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9692640" y="4864608"/>
            <a:ext cx="2194560" cy="2331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2000"/>
              </a:lnSpc>
              <a:spcAft>
                <a:spcPts val="0"/>
              </a:spcAft>
            </a:pPr>
            <a:r>
              <a:rPr sz="1000" b="0" i="0">
                <a:solidFill>
                  <a:srgbClr val="C2CCD8"/>
                </a:solidFill>
                <a:latin typeface="Poppins"/>
              </a:rPr>
              <a:t>+16%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566928" y="5097780"/>
            <a:ext cx="2651760" cy="2331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Poppins"/>
              </a:rPr>
              <a:t>Zalaris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3291840" y="5097780"/>
            <a:ext cx="2194560" cy="2331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2000"/>
              </a:lnSpc>
              <a:spcAft>
                <a:spcPts val="0"/>
              </a:spcAft>
            </a:pPr>
            <a:r>
              <a:rPr sz="1000" b="0" i="0">
                <a:solidFill>
                  <a:srgbClr val="C2CCD8"/>
                </a:solidFill>
                <a:latin typeface="Poppins"/>
              </a:rPr>
              <a:t>2018-2025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5486400" y="5097780"/>
            <a:ext cx="2194560" cy="2331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2000"/>
              </a:lnSpc>
              <a:spcAft>
                <a:spcPts val="0"/>
              </a:spcAft>
            </a:pPr>
            <a:r>
              <a:rPr sz="1000" b="0" i="0">
                <a:solidFill>
                  <a:srgbClr val="C2CCD8"/>
                </a:solidFill>
                <a:latin typeface="Poppins"/>
              </a:rPr>
              <a:t>26%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7589520" y="5097780"/>
            <a:ext cx="2194560" cy="2331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2000"/>
              </a:lnSpc>
              <a:spcAft>
                <a:spcPts val="0"/>
              </a:spcAft>
            </a:pPr>
            <a:r>
              <a:rPr sz="1000" b="0" i="0">
                <a:solidFill>
                  <a:srgbClr val="C2CCD8"/>
                </a:solidFill>
                <a:latin typeface="Poppins"/>
              </a:rPr>
              <a:t>1.5×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692640" y="5097780"/>
            <a:ext cx="2194560" cy="2331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2000"/>
              </a:lnSpc>
              <a:spcAft>
                <a:spcPts val="0"/>
              </a:spcAft>
            </a:pPr>
            <a:r>
              <a:rPr sz="1000" b="0" i="0">
                <a:solidFill>
                  <a:srgbClr val="C2CCD8"/>
                </a:solidFill>
                <a:latin typeface="Poppins"/>
              </a:rPr>
              <a:t>+16%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566928" y="5330952"/>
            <a:ext cx="2651760" cy="2331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Poppins"/>
              </a:rPr>
              <a:t>Robit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3291840" y="5330952"/>
            <a:ext cx="2194560" cy="2331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2000"/>
              </a:lnSpc>
              <a:spcAft>
                <a:spcPts val="0"/>
              </a:spcAft>
            </a:pPr>
            <a:r>
              <a:rPr sz="1000" b="0" i="0">
                <a:solidFill>
                  <a:srgbClr val="C2CCD8"/>
                </a:solidFill>
                <a:latin typeface="Poppins"/>
              </a:rPr>
              <a:t>2015-2020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5486400" y="5330952"/>
            <a:ext cx="2194560" cy="2331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2000"/>
              </a:lnSpc>
              <a:spcAft>
                <a:spcPts val="0"/>
              </a:spcAft>
            </a:pPr>
            <a:r>
              <a:rPr sz="1000" b="0" i="0">
                <a:solidFill>
                  <a:srgbClr val="C2CCD8"/>
                </a:solidFill>
                <a:latin typeface="Poppins"/>
              </a:rPr>
              <a:t>14%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589520" y="5330952"/>
            <a:ext cx="2194560" cy="2331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2000"/>
              </a:lnSpc>
              <a:spcAft>
                <a:spcPts val="0"/>
              </a:spcAft>
            </a:pPr>
            <a:r>
              <a:rPr sz="1000" b="0" i="0">
                <a:solidFill>
                  <a:srgbClr val="C2CCD8"/>
                </a:solidFill>
                <a:latin typeface="Poppins"/>
              </a:rPr>
              <a:t>1.4×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9692640" y="5330952"/>
            <a:ext cx="2194560" cy="2331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2000"/>
              </a:lnSpc>
              <a:spcAft>
                <a:spcPts val="0"/>
              </a:spcAft>
            </a:pPr>
            <a:r>
              <a:rPr sz="1000" b="0" i="0">
                <a:solidFill>
                  <a:srgbClr val="C2CCD8"/>
                </a:solidFill>
                <a:latin typeface="Poppins"/>
              </a:rPr>
              <a:t>+8%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566928" y="5564124"/>
            <a:ext cx="2651760" cy="2331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Poppins"/>
              </a:rPr>
              <a:t>DistIt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3291840" y="5564124"/>
            <a:ext cx="2194560" cy="2331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2000"/>
              </a:lnSpc>
              <a:spcAft>
                <a:spcPts val="0"/>
              </a:spcAft>
            </a:pPr>
            <a:r>
              <a:rPr sz="1000" b="0" i="0">
                <a:solidFill>
                  <a:srgbClr val="C2CCD8"/>
                </a:solidFill>
                <a:latin typeface="Poppins"/>
              </a:rPr>
              <a:t>2015-2025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5486400" y="5564124"/>
            <a:ext cx="2194560" cy="2331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2000"/>
              </a:lnSpc>
              <a:spcAft>
                <a:spcPts val="0"/>
              </a:spcAft>
            </a:pPr>
            <a:r>
              <a:rPr sz="1000" b="0" i="0">
                <a:solidFill>
                  <a:srgbClr val="C2CCD8"/>
                </a:solidFill>
                <a:latin typeface="Poppins"/>
              </a:rPr>
              <a:t>7%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7589520" y="5564124"/>
            <a:ext cx="2194560" cy="2331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2000"/>
              </a:lnSpc>
              <a:spcAft>
                <a:spcPts val="0"/>
              </a:spcAft>
            </a:pPr>
            <a:r>
              <a:rPr sz="1000" b="0" i="0">
                <a:solidFill>
                  <a:srgbClr val="C2CCD8"/>
                </a:solidFill>
                <a:latin typeface="Poppins"/>
              </a:rPr>
              <a:t>1.2×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9692640" y="5564124"/>
            <a:ext cx="2194560" cy="2331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2000"/>
              </a:lnSpc>
              <a:spcAft>
                <a:spcPts val="0"/>
              </a:spcAft>
            </a:pPr>
            <a:r>
              <a:rPr sz="1000" b="0" i="0">
                <a:solidFill>
                  <a:srgbClr val="C2CCD8"/>
                </a:solidFill>
                <a:latin typeface="Poppins"/>
              </a:rPr>
              <a:t>-1%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566928" y="5797296"/>
            <a:ext cx="2651760" cy="2331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Poppins"/>
              </a:rPr>
              <a:t>Catella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3291840" y="5797296"/>
            <a:ext cx="2194560" cy="2331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2000"/>
              </a:lnSpc>
              <a:spcAft>
                <a:spcPts val="0"/>
              </a:spcAft>
            </a:pPr>
            <a:r>
              <a:rPr sz="1000" b="0" i="0">
                <a:solidFill>
                  <a:srgbClr val="C2CCD8"/>
                </a:solidFill>
                <a:latin typeface="Poppins"/>
              </a:rPr>
              <a:t>2020-2025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5486400" y="5797296"/>
            <a:ext cx="2194560" cy="2331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2000"/>
              </a:lnSpc>
              <a:spcAft>
                <a:spcPts val="0"/>
              </a:spcAft>
            </a:pPr>
            <a:r>
              <a:rPr sz="1000" b="0" i="0">
                <a:solidFill>
                  <a:srgbClr val="C2CCD8"/>
                </a:solidFill>
                <a:latin typeface="Poppins"/>
              </a:rPr>
              <a:t>12%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7589520" y="5797296"/>
            <a:ext cx="2194560" cy="2331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2000"/>
              </a:lnSpc>
              <a:spcAft>
                <a:spcPts val="0"/>
              </a:spcAft>
            </a:pPr>
            <a:r>
              <a:rPr sz="1000" b="0" i="0">
                <a:solidFill>
                  <a:srgbClr val="C2CCD8"/>
                </a:solidFill>
                <a:latin typeface="Poppins"/>
              </a:rPr>
              <a:t>1.2×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9692640" y="5797296"/>
            <a:ext cx="2194560" cy="2331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2000"/>
              </a:lnSpc>
              <a:spcAft>
                <a:spcPts val="0"/>
              </a:spcAft>
            </a:pPr>
            <a:r>
              <a:rPr sz="1000" b="0" i="0">
                <a:solidFill>
                  <a:srgbClr val="C2CCD8"/>
                </a:solidFill>
                <a:latin typeface="Poppins"/>
              </a:rPr>
              <a:t>+2%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566928" y="6030468"/>
            <a:ext cx="2651760" cy="2331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Poppins"/>
              </a:rPr>
              <a:t>Tempest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3291840" y="6030468"/>
            <a:ext cx="2194560" cy="2331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2000"/>
              </a:lnSpc>
              <a:spcAft>
                <a:spcPts val="0"/>
              </a:spcAft>
            </a:pPr>
            <a:r>
              <a:rPr sz="1000" b="0" i="0">
                <a:solidFill>
                  <a:srgbClr val="C2CCD8"/>
                </a:solidFill>
                <a:latin typeface="Poppins"/>
              </a:rPr>
              <a:t>2018-2025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5486400" y="6030468"/>
            <a:ext cx="2194560" cy="2331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2000"/>
              </a:lnSpc>
              <a:spcAft>
                <a:spcPts val="0"/>
              </a:spcAft>
            </a:pPr>
            <a:r>
              <a:rPr sz="1000" b="0" i="0">
                <a:solidFill>
                  <a:srgbClr val="C2CCD8"/>
                </a:solidFill>
                <a:latin typeface="Poppins"/>
              </a:rPr>
              <a:t>12%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7589520" y="6030468"/>
            <a:ext cx="2194560" cy="2331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2000"/>
              </a:lnSpc>
              <a:spcAft>
                <a:spcPts val="0"/>
              </a:spcAft>
            </a:pPr>
            <a:r>
              <a:rPr sz="1000" b="0" i="0">
                <a:solidFill>
                  <a:srgbClr val="C2CCD8"/>
                </a:solidFill>
                <a:latin typeface="Poppins"/>
              </a:rPr>
              <a:t>1.2×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9692640" y="6030468"/>
            <a:ext cx="2194560" cy="2331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2000"/>
              </a:lnSpc>
              <a:spcAft>
                <a:spcPts val="0"/>
              </a:spcAft>
            </a:pPr>
            <a:r>
              <a:rPr sz="1000" b="0" i="0">
                <a:solidFill>
                  <a:srgbClr val="C2CCD8"/>
                </a:solidFill>
                <a:latin typeface="Poppins"/>
              </a:rPr>
              <a:t>+3%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566928" y="6263640"/>
            <a:ext cx="2651760" cy="2331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000" b="1" i="1">
                <a:solidFill>
                  <a:srgbClr val="8A97A6"/>
                </a:solidFill>
                <a:latin typeface="Poppins"/>
              </a:rPr>
              <a:t>Actic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3291840" y="6263640"/>
            <a:ext cx="2194560" cy="2331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2000"/>
              </a:lnSpc>
              <a:spcAft>
                <a:spcPts val="0"/>
              </a:spcAft>
            </a:pPr>
            <a:r>
              <a:rPr sz="1000" b="0" i="1">
                <a:solidFill>
                  <a:srgbClr val="8A97A6"/>
                </a:solidFill>
                <a:latin typeface="Poppins"/>
              </a:rPr>
              <a:t>2017-2023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5486400" y="6263640"/>
            <a:ext cx="2194560" cy="2331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2000"/>
              </a:lnSpc>
              <a:spcAft>
                <a:spcPts val="0"/>
              </a:spcAft>
            </a:pPr>
            <a:r>
              <a:rPr sz="1000" b="0" i="1">
                <a:solidFill>
                  <a:srgbClr val="8A97A6"/>
                </a:solidFill>
                <a:latin typeface="Poppins"/>
              </a:rPr>
              <a:t>-27%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7589520" y="6263640"/>
            <a:ext cx="2194560" cy="2331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2000"/>
              </a:lnSpc>
              <a:spcAft>
                <a:spcPts val="0"/>
              </a:spcAft>
            </a:pPr>
            <a:r>
              <a:rPr sz="1000" b="0" i="1">
                <a:solidFill>
                  <a:srgbClr val="8A97A6"/>
                </a:solidFill>
                <a:latin typeface="Poppins"/>
              </a:rPr>
              <a:t>0.4×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9692640" y="6263640"/>
            <a:ext cx="2194560" cy="2331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2000"/>
              </a:lnSpc>
              <a:spcAft>
                <a:spcPts val="0"/>
              </a:spcAft>
            </a:pPr>
            <a:r>
              <a:rPr sz="1000" b="0" i="1">
                <a:solidFill>
                  <a:srgbClr val="8A97A6"/>
                </a:solidFill>
                <a:latin typeface="Poppins"/>
              </a:rPr>
              <a:t>-33%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566928" y="6542532"/>
            <a:ext cx="11064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00" b="0" i="0">
                <a:solidFill>
                  <a:srgbClr val="8A97A6"/>
                </a:solidFill>
                <a:latin typeface="Poppins"/>
              </a:rPr>
              <a:t>Gross deal-level figures, AIP Fund II to 2025; “n.m.” where holding periods are too short to annualise. Past performance is not a guide to future returns.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411480"/>
            <a:ext cx="1106424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3000" b="1">
                <a:solidFill>
                  <a:srgbClr val="3E9CFF"/>
                </a:solidFill>
                <a:latin typeface="Poppins"/>
              </a:rPr>
              <a:t>16. </a:t>
            </a:r>
            <a:r>
              <a:rPr sz="3000" b="1">
                <a:solidFill>
                  <a:srgbClr val="FFFFFF"/>
                </a:solidFill>
                <a:latin typeface="Poppins"/>
              </a:rPr>
              <a:t>Why a listed trust is the ideal home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4592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050" b="0" i="0">
                <a:solidFill>
                  <a:srgbClr val="3E9CFF"/>
                </a:solidFill>
                <a:latin typeface="Poppins"/>
              </a:rPr>
              <a:t>SECTION 6 · STRUCTURE &amp; GOVERNANCE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298448"/>
            <a:ext cx="108813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1350" b="0" i="0">
                <a:solidFill>
                  <a:srgbClr val="8A97A6"/>
                </a:solidFill>
                <a:latin typeface="Poppins"/>
              </a:rPr>
              <a:t>A closed-end structure matches long-horizon engaged ownership better than any open-ended wrapper.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6437376"/>
            <a:ext cx="11091672" cy="10160"/>
          </a:xfrm>
          <a:prstGeom prst="rect">
            <a:avLst/>
          </a:prstGeom>
          <a:solidFill>
            <a:srgbClr val="2A3B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649224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00" b="0" i="0">
                <a:solidFill>
                  <a:srgbClr val="8A97A6"/>
                </a:solidFill>
                <a:latin typeface="Poppins"/>
              </a:rPr>
              <a:t>Athanase  ·  strictly confidential  ·  professional &amp; intermediary use only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92240"/>
            <a:ext cx="868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  <a:spcAft>
                <a:spcPts val="0"/>
              </a:spcAft>
            </a:pPr>
            <a:r>
              <a:rPr sz="800" b="0" i="0">
                <a:solidFill>
                  <a:srgbClr val="8A97A6"/>
                </a:solidFill>
                <a:latin typeface="Poppins"/>
              </a:rPr>
              <a:t>16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2148840"/>
            <a:ext cx="10881360" cy="4206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22000"/>
              </a:lnSpc>
              <a:spcAft>
                <a:spcPts val="1400"/>
              </a:spcAft>
            </a:pPr>
            <a:r>
              <a:rPr sz="1350" b="1">
                <a:solidFill>
                  <a:srgbClr val="3E9CFF"/>
                </a:solidFill>
                <a:latin typeface="Poppins"/>
              </a:rPr>
              <a:t>→  </a:t>
            </a:r>
            <a:r>
              <a:rPr sz="1350" b="1">
                <a:solidFill>
                  <a:srgbClr val="FFFFFF"/>
                </a:solidFill>
                <a:latin typeface="Poppins"/>
              </a:rPr>
              <a:t>Permanent capital = patient capital — </a:t>
            </a:r>
            <a:r>
              <a:rPr sz="1350">
                <a:solidFill>
                  <a:srgbClr val="C2CCD8"/>
                </a:solidFill>
                <a:latin typeface="Poppins"/>
              </a:rPr>
              <a:t>no forced redemptions, so we are never a forced seller; the multi-year engagement is protected and dislocations become opportunities.</a:t>
            </a:r>
          </a:p>
          <a:p>
            <a:pPr>
              <a:lnSpc>
                <a:spcPct val="122000"/>
              </a:lnSpc>
              <a:spcAft>
                <a:spcPts val="1400"/>
              </a:spcAft>
            </a:pPr>
            <a:r>
              <a:rPr sz="1350" b="1">
                <a:solidFill>
                  <a:srgbClr val="3E9CFF"/>
                </a:solidFill>
                <a:latin typeface="Poppins"/>
              </a:rPr>
              <a:t>→  </a:t>
            </a:r>
            <a:r>
              <a:rPr sz="1350" b="1">
                <a:solidFill>
                  <a:srgbClr val="FFFFFF"/>
                </a:solidFill>
                <a:latin typeface="Poppins"/>
              </a:rPr>
              <a:t>Daily liquidity for clients — </a:t>
            </a:r>
            <a:r>
              <a:rPr sz="1350">
                <a:solidFill>
                  <a:srgbClr val="C2CCD8"/>
                </a:solidFill>
                <a:latin typeface="Poppins"/>
              </a:rPr>
              <a:t>shares trade on the LSE — daily dealing, no capital calls — while evergreen PE funds gate redemptions (Partners Group, June 2026).</a:t>
            </a:r>
          </a:p>
          <a:p>
            <a:pPr>
              <a:lnSpc>
                <a:spcPct val="122000"/>
              </a:lnSpc>
              <a:spcAft>
                <a:spcPts val="1400"/>
              </a:spcAft>
            </a:pPr>
            <a:r>
              <a:rPr sz="1350" b="1">
                <a:solidFill>
                  <a:srgbClr val="3E9CFF"/>
                </a:solidFill>
                <a:latin typeface="Poppins"/>
              </a:rPr>
              <a:t>→  </a:t>
            </a:r>
            <a:r>
              <a:rPr sz="1350" b="1">
                <a:solidFill>
                  <a:srgbClr val="FFFFFF"/>
                </a:solidFill>
                <a:latin typeface="Poppins"/>
              </a:rPr>
              <a:t>An independent board — </a:t>
            </a:r>
            <a:r>
              <a:rPr sz="1350">
                <a:solidFill>
                  <a:srgbClr val="C2CCD8"/>
                </a:solidFill>
                <a:latin typeface="Poppins"/>
              </a:rPr>
              <a:t>a majority-independent board oversees the manager on shareholders’ behalf.</a:t>
            </a:r>
          </a:p>
          <a:p>
            <a:pPr>
              <a:lnSpc>
                <a:spcPct val="122000"/>
              </a:lnSpc>
              <a:spcAft>
                <a:spcPts val="1400"/>
              </a:spcAft>
            </a:pPr>
            <a:r>
              <a:rPr sz="1350" b="1">
                <a:solidFill>
                  <a:srgbClr val="3E9CFF"/>
                </a:solidFill>
                <a:latin typeface="Poppins"/>
              </a:rPr>
              <a:t>→  </a:t>
            </a:r>
            <a:r>
              <a:rPr sz="1350" b="1">
                <a:solidFill>
                  <a:srgbClr val="FFFFFF"/>
                </a:solidFill>
                <a:latin typeface="Poppins"/>
              </a:rPr>
              <a:t>Tier-one providers — </a:t>
            </a:r>
            <a:r>
              <a:rPr sz="1350">
                <a:solidFill>
                  <a:srgbClr val="C2CCD8"/>
                </a:solidFill>
                <a:latin typeface="Poppins"/>
              </a:rPr>
              <a:t>operations, valuation and audit segregated from investment — SEB · MUFG · KPMG.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5486400"/>
            <a:ext cx="11064240" cy="777240"/>
          </a:xfrm>
          <a:prstGeom prst="roundRect">
            <a:avLst>
              <a:gd name="adj" fmla="val 6000"/>
            </a:avLst>
          </a:prstGeom>
          <a:solidFill>
            <a:srgbClr val="162439"/>
          </a:solidFill>
          <a:ln w="12700">
            <a:solidFill>
              <a:srgbClr val="2A3B5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66928" y="5486400"/>
            <a:ext cx="64008" cy="777240"/>
          </a:xfrm>
          <a:prstGeom prst="rect">
            <a:avLst/>
          </a:prstGeom>
          <a:solidFill>
            <a:srgbClr val="3E9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5486400"/>
            <a:ext cx="10515600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1300" b="0" i="0">
                <a:solidFill>
                  <a:srgbClr val="FFFFFF"/>
                </a:solidFill>
                <a:latin typeface="Poppins"/>
              </a:rPr>
              <a:t>An institutional strategy clients can buy and sell like any listed share — without giving up the patient capital it needs.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411480"/>
            <a:ext cx="1106424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3000" b="1">
                <a:solidFill>
                  <a:srgbClr val="3E9CFF"/>
                </a:solidFill>
                <a:latin typeface="Poppins"/>
              </a:rPr>
              <a:t>17. </a:t>
            </a:r>
            <a:r>
              <a:rPr sz="3000" b="1">
                <a:solidFill>
                  <a:srgbClr val="FFFFFF"/>
                </a:solidFill>
                <a:latin typeface="Poppins"/>
              </a:rPr>
              <a:t>Income and discount control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4592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050" b="0" i="0">
                <a:solidFill>
                  <a:srgbClr val="3E9CFF"/>
                </a:solidFill>
                <a:latin typeface="Poppins"/>
              </a:rPr>
              <a:t>SECTION 6 · STRUCTURE &amp; GOVERNANCE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298448"/>
            <a:ext cx="108813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1350" b="0" i="0">
                <a:solidFill>
                  <a:srgbClr val="8A97A6"/>
                </a:solidFill>
                <a:latin typeface="Poppins"/>
              </a:rPr>
              <a:t>A total-return strategy that the trust structure can still wrap with a predictable income and a tight discount.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6437376"/>
            <a:ext cx="11091672" cy="10160"/>
          </a:xfrm>
          <a:prstGeom prst="rect">
            <a:avLst/>
          </a:prstGeom>
          <a:solidFill>
            <a:srgbClr val="2A3B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649224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00" b="0" i="0">
                <a:solidFill>
                  <a:srgbClr val="8A97A6"/>
                </a:solidFill>
                <a:latin typeface="Poppins"/>
              </a:rPr>
              <a:t>Athanase  ·  strictly confidential  ·  professional &amp; intermediary use only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92240"/>
            <a:ext cx="868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  <a:spcAft>
                <a:spcPts val="0"/>
              </a:spcAft>
            </a:pPr>
            <a:r>
              <a:rPr sz="800" b="0" i="0">
                <a:solidFill>
                  <a:srgbClr val="8A97A6"/>
                </a:solidFill>
                <a:latin typeface="Poppins"/>
              </a:rPr>
              <a:t>17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66928" y="2148840"/>
            <a:ext cx="5440680" cy="3017520"/>
          </a:xfrm>
          <a:prstGeom prst="roundRect">
            <a:avLst>
              <a:gd name="adj" fmla="val 5000"/>
            </a:avLst>
          </a:prstGeom>
          <a:solidFill>
            <a:srgbClr val="162439"/>
          </a:solidFill>
          <a:ln w="12700">
            <a:solidFill>
              <a:srgbClr val="2A3B5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2386584"/>
            <a:ext cx="4928616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500" b="1" i="0">
                <a:solidFill>
                  <a:srgbClr val="3E9CFF"/>
                </a:solidFill>
                <a:latin typeface="Poppins"/>
              </a:rPr>
              <a:t>Distribution policy (proposed)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3017520"/>
            <a:ext cx="4928616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2000"/>
              </a:lnSpc>
              <a:spcAft>
                <a:spcPts val="0"/>
              </a:spcAft>
            </a:pPr>
            <a:r>
              <a:rPr sz="1200" b="0" i="0">
                <a:solidFill>
                  <a:srgbClr val="C2CCD8"/>
                </a:solidFill>
                <a:latin typeface="Poppins"/>
              </a:rPr>
              <a:t>Capital growth at the core — realised as listed gains. UK trusts can pay a smoothed annual dividend from realised gains and revenue reserves, so a steady, quarterly income is available where advisers want it. Target yield and frequency to be set at launch.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90488" y="2148840"/>
            <a:ext cx="5440680" cy="3017520"/>
          </a:xfrm>
          <a:prstGeom prst="roundRect">
            <a:avLst>
              <a:gd name="adj" fmla="val 5000"/>
            </a:avLst>
          </a:prstGeom>
          <a:solidFill>
            <a:srgbClr val="162439"/>
          </a:solidFill>
          <a:ln w="12700">
            <a:solidFill>
              <a:srgbClr val="2A3B5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46520" y="2386584"/>
            <a:ext cx="4928616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500" b="1" i="0">
                <a:solidFill>
                  <a:srgbClr val="3E9CFF"/>
                </a:solidFill>
                <a:latin typeface="Poppins"/>
              </a:rPr>
              <a:t>Discount control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46520" y="3017520"/>
            <a:ext cx="4928616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2000"/>
              </a:lnSpc>
              <a:spcAft>
                <a:spcPts val="0"/>
              </a:spcAft>
            </a:pPr>
            <a:r>
              <a:rPr sz="1200" b="0" i="0">
                <a:solidFill>
                  <a:srgbClr val="C2CCD8"/>
                </a:solidFill>
                <a:latin typeface="Poppins"/>
              </a:rPr>
              <a:t>A buyback policy that triggers when the shares trade materially below NAV — supported by realised exit gains — to keep any discount tight. Listing on the LSE Main Market or Specialist Fund Segment, weighed on index eligibility, investor base and compliance.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66928" y="6263640"/>
            <a:ext cx="10972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00" b="0" i="0">
                <a:solidFill>
                  <a:srgbClr val="8A97A6"/>
                </a:solidFill>
                <a:latin typeface="Poppins"/>
              </a:rPr>
              <a:t>Proposed; distribution policy, yield and discount mechanism to be agreed with the sponsor and board, subject to reserves and regulation.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411480"/>
            <a:ext cx="1106424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3000" b="1">
                <a:solidFill>
                  <a:srgbClr val="3E9CFF"/>
                </a:solidFill>
                <a:latin typeface="Poppins"/>
              </a:rPr>
              <a:t>18. </a:t>
            </a:r>
            <a:r>
              <a:rPr sz="3000" b="1">
                <a:solidFill>
                  <a:srgbClr val="FFFFFF"/>
                </a:solidFill>
                <a:latin typeface="Poppins"/>
              </a:rPr>
              <a:t>An indicative launch timetable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4592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050" b="0" i="0">
                <a:solidFill>
                  <a:srgbClr val="3E9CFF"/>
                </a:solidFill>
                <a:latin typeface="Poppins"/>
              </a:rPr>
              <a:t>SECTION 6 · STRUCTURE &amp; GOVERNANCE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298448"/>
            <a:ext cx="108813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1350" b="0" i="0">
                <a:solidFill>
                  <a:srgbClr val="8A97A6"/>
                </a:solidFill>
                <a:latin typeface="Poppins"/>
              </a:rPr>
              <a:t>A standard 3–4 month roadmap from mandate to admission.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6437376"/>
            <a:ext cx="11091672" cy="10160"/>
          </a:xfrm>
          <a:prstGeom prst="rect">
            <a:avLst/>
          </a:prstGeom>
          <a:solidFill>
            <a:srgbClr val="2A3B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649224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00" b="0" i="0">
                <a:solidFill>
                  <a:srgbClr val="8A97A6"/>
                </a:solidFill>
                <a:latin typeface="Poppins"/>
              </a:rPr>
              <a:t>Athanase  ·  strictly confidential  ·  professional &amp; intermediary use only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92240"/>
            <a:ext cx="868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  <a:spcAft>
                <a:spcPts val="0"/>
              </a:spcAft>
            </a:pPr>
            <a:r>
              <a:rPr sz="800" b="0" i="0">
                <a:solidFill>
                  <a:srgbClr val="8A97A6"/>
                </a:solidFill>
                <a:latin typeface="Poppins"/>
              </a:rPr>
              <a:t>18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66928" y="2148840"/>
            <a:ext cx="2670048" cy="2194560"/>
          </a:xfrm>
          <a:prstGeom prst="roundRect">
            <a:avLst>
              <a:gd name="adj" fmla="val 6000"/>
            </a:avLst>
          </a:prstGeom>
          <a:solidFill>
            <a:srgbClr val="162439"/>
          </a:solidFill>
          <a:ln w="12700">
            <a:solidFill>
              <a:srgbClr val="2A3B5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04672" y="2368296"/>
            <a:ext cx="221284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800"/>
              </a:spcAft>
            </a:pPr>
            <a:r>
              <a:rPr sz="1400" b="1" i="0">
                <a:solidFill>
                  <a:srgbClr val="3E9CFF"/>
                </a:solidFill>
                <a:latin typeface="Poppins"/>
              </a:rPr>
              <a:t>MONTH 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4672" y="2926080"/>
            <a:ext cx="2212848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0" i="0">
                <a:solidFill>
                  <a:srgbClr val="C2CCD8"/>
                </a:solidFill>
                <a:latin typeface="Poppins"/>
              </a:rPr>
              <a:t>Structuring, board and provider appointments; mandate and policies agreed.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383280" y="2148840"/>
            <a:ext cx="2670048" cy="2194560"/>
          </a:xfrm>
          <a:prstGeom prst="roundRect">
            <a:avLst>
              <a:gd name="adj" fmla="val 6000"/>
            </a:avLst>
          </a:prstGeom>
          <a:solidFill>
            <a:srgbClr val="162439"/>
          </a:solidFill>
          <a:ln w="12700">
            <a:solidFill>
              <a:srgbClr val="2A3B5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621024" y="2368296"/>
            <a:ext cx="221284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800"/>
              </a:spcAft>
            </a:pPr>
            <a:r>
              <a:rPr sz="1400" b="1" i="0">
                <a:solidFill>
                  <a:srgbClr val="3E9CFF"/>
                </a:solidFill>
                <a:latin typeface="Poppins"/>
              </a:rPr>
              <a:t>MONTH 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21024" y="2926080"/>
            <a:ext cx="2212848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0" i="0">
                <a:solidFill>
                  <a:srgbClr val="C2CCD8"/>
                </a:solidFill>
                <a:latin typeface="Poppins"/>
              </a:rPr>
              <a:t>Draft prospectus and due diligence; discount and distribution policies finalised.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99632" y="2148840"/>
            <a:ext cx="2670048" cy="2194560"/>
          </a:xfrm>
          <a:prstGeom prst="roundRect">
            <a:avLst>
              <a:gd name="adj" fmla="val 6000"/>
            </a:avLst>
          </a:prstGeom>
          <a:solidFill>
            <a:srgbClr val="162439"/>
          </a:solidFill>
          <a:ln w="12700">
            <a:solidFill>
              <a:srgbClr val="2A3B5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37376" y="2368296"/>
            <a:ext cx="221284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800"/>
              </a:spcAft>
            </a:pPr>
            <a:r>
              <a:rPr sz="1400" b="1" i="0">
                <a:solidFill>
                  <a:srgbClr val="3E9CFF"/>
                </a:solidFill>
                <a:latin typeface="Poppins"/>
              </a:rPr>
              <a:t>MONTH 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37376" y="2926080"/>
            <a:ext cx="2212848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0" i="0">
                <a:solidFill>
                  <a:srgbClr val="C2CCD8"/>
                </a:solidFill>
                <a:latin typeface="Poppins"/>
              </a:rPr>
              <a:t>Regulatory review; marketing and cornerstone engagement.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015984" y="2148840"/>
            <a:ext cx="2670048" cy="2194560"/>
          </a:xfrm>
          <a:prstGeom prst="roundRect">
            <a:avLst>
              <a:gd name="adj" fmla="val 6000"/>
            </a:avLst>
          </a:prstGeom>
          <a:solidFill>
            <a:srgbClr val="162439"/>
          </a:solidFill>
          <a:ln w="12700">
            <a:solidFill>
              <a:srgbClr val="2A3B5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253728" y="2368296"/>
            <a:ext cx="221284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800"/>
              </a:spcAft>
            </a:pPr>
            <a:r>
              <a:rPr sz="1400" b="1" i="0">
                <a:solidFill>
                  <a:srgbClr val="3E9CFF"/>
                </a:solidFill>
                <a:latin typeface="Poppins"/>
              </a:rPr>
              <a:t>MONTH 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253728" y="2926080"/>
            <a:ext cx="2212848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0" i="0">
                <a:solidFill>
                  <a:srgbClr val="C2CCD8"/>
                </a:solidFill>
                <a:latin typeface="Poppins"/>
              </a:rPr>
              <a:t>Roadshow, book-build and admission to listing.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66928" y="5989320"/>
            <a:ext cx="11064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00" b="0" i="0">
                <a:solidFill>
                  <a:srgbClr val="8A97A6"/>
                </a:solidFill>
                <a:latin typeface="Poppins"/>
              </a:rPr>
              <a:t>Illustrative; actual timetable, venue and discount policy subject to the sponsor, board and regulatory approval.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logo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" y="502920"/>
            <a:ext cx="2125065" cy="45720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585216" y="2286000"/>
            <a:ext cx="548640" cy="38100"/>
          </a:xfrm>
          <a:prstGeom prst="rect">
            <a:avLst/>
          </a:prstGeom>
          <a:solidFill>
            <a:srgbClr val="3E9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2468880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3400" b="1" i="0">
                <a:solidFill>
                  <a:srgbClr val="FFFFFF"/>
                </a:solidFill>
                <a:latin typeface="Poppins"/>
              </a:rPr>
              <a:t>Bringing institutional engaged ownership to UK wealth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3657600"/>
            <a:ext cx="1097280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25000"/>
              </a:lnSpc>
              <a:spcAft>
                <a:spcPts val="1400"/>
              </a:spcAft>
            </a:pPr>
            <a:r>
              <a:rPr sz="1500" b="1">
                <a:solidFill>
                  <a:srgbClr val="3E9CFF"/>
                </a:solidFill>
                <a:latin typeface="Poppins"/>
              </a:rPr>
              <a:t>For your clients:</a:t>
            </a:r>
            <a:r>
              <a:rPr sz="1500" b="0">
                <a:solidFill>
                  <a:srgbClr val="C2CCD8"/>
                </a:solidFill>
                <a:latin typeface="Poppins"/>
              </a:rPr>
              <a:t> a liquid, listed, differentiated equity holding — a 20-year net track record, real diversification and downside protection, daily dealing.</a:t>
            </a:r>
          </a:p>
          <a:p>
            <a:pPr>
              <a:lnSpc>
                <a:spcPct val="125000"/>
              </a:lnSpc>
              <a:spcAft>
                <a:spcPts val="1400"/>
              </a:spcAft>
            </a:pPr>
            <a:r>
              <a:rPr sz="1500" b="1">
                <a:solidFill>
                  <a:srgbClr val="3E9CFF"/>
                </a:solidFill>
                <a:latin typeface="Poppins"/>
              </a:rPr>
              <a:t>Why now:</a:t>
            </a:r>
            <a:r>
              <a:rPr sz="1500" b="0">
                <a:solidFill>
                  <a:srgbClr val="C2CCD8"/>
                </a:solidFill>
                <a:latin typeface="Poppins"/>
              </a:rPr>
              <a:t> expensive, concentrated markets, gating private equity and decaying analytical alpha — the hedge is bought before the crack.</a:t>
            </a:r>
          </a:p>
          <a:p>
            <a:pPr>
              <a:lnSpc>
                <a:spcPct val="125000"/>
              </a:lnSpc>
              <a:spcAft>
                <a:spcPts val="1400"/>
              </a:spcAft>
            </a:pPr>
            <a:r>
              <a:rPr sz="1500" b="1">
                <a:solidFill>
                  <a:srgbClr val="3E9CFF"/>
                </a:solidFill>
                <a:latin typeface="Poppins"/>
              </a:rPr>
              <a:t>The proposal:</a:t>
            </a:r>
            <a:r>
              <a:rPr sz="1500" b="0">
                <a:solidFill>
                  <a:srgbClr val="C2CCD8"/>
                </a:solidFill>
                <a:latin typeface="Poppins"/>
              </a:rPr>
              <a:t> partner to launch a UK investment trust on this strategy.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5897880"/>
            <a:ext cx="10972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300" b="0" i="0">
                <a:solidFill>
                  <a:srgbClr val="8A97A6"/>
                </a:solidFill>
                <a:latin typeface="Poppins"/>
              </a:rPr>
              <a:t>Stefan Charette   ·   Athanase Industrial Partner   ·   charette@athanase.se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