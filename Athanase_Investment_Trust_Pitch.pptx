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870104" cy="40234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26080"/>
            <a:ext cx="365769" cy="3251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389632"/>
            <a:ext cx="804692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FOR DISCUSSION · A PROPOSED UK INVESTMENT TRUST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121152"/>
            <a:ext cx="8632151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ownership, in a listed trust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437888"/>
            <a:ext cx="8193228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80" b="0" i="1">
                <a:solidFill>
                  <a:srgbClr val="E2E5E9"/>
                </a:solidFill>
                <a:latin typeface="Times New Roman"/>
              </a:rPr>
              <a:t>A 20-year institutional engaged-ownership strategy — proposed as a UK investment trust, giving wealth portfolios listed, liquid access.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22" y="6456883"/>
            <a:ext cx="877845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Athanase Industrial Partner    ·    Strictly confidential    ·    For professional and intermediary use 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Section 1 · Fund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320" b="0" i="0" spc="-87">
                <a:solidFill>
                  <a:srgbClr val="314359"/>
                </a:solidFill>
                <a:latin typeface="Times New Roman"/>
              </a:rPr>
              <a:t>The proposition, in brief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listed wrapper around a proven, 20-year engaged-ownership strategy — built for UK wealth portfolios.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1229" y="6876288"/>
            <a:ext cx="3218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40" b="0" i="0">
                <a:solidFill>
                  <a:srgbClr val="556A83"/>
                </a:solidFill>
                <a:latin typeface="Arial"/>
              </a:rPr>
              <a:t>Strictly confidential  ·  professional &amp; intermediary use only     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340864"/>
            <a:ext cx="8705305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The mandate.  </a:t>
            </a:r>
            <a:r>
              <a:rPr sz="1120">
                <a:solidFill>
                  <a:srgbClr val="0E1620"/>
                </a:solidFill>
                <a:latin typeface="Arial"/>
              </a:rPr>
              <a:t>long-term capital growth through engaged ownership of quality, mispriced listed Nordic and European mid-caps — value we create from the boardroom, not market direction.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The proof.  </a:t>
            </a:r>
            <a:r>
              <a:rPr sz="1120">
                <a:solidFill>
                  <a:srgbClr val="0E1620"/>
                </a:solidFill>
                <a:latin typeface="Arial"/>
              </a:rPr>
              <a:t>~16% net p.a. over 20 years (+10 pts a year vs the index), a 92% deal hit rate, and no investor loss over a full holding period.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The wrapper.  </a:t>
            </a:r>
            <a:r>
              <a:rPr sz="1120">
                <a:solidFill>
                  <a:srgbClr val="0E1620"/>
                </a:solidFill>
                <a:latin typeface="Arial"/>
              </a:rPr>
              <a:t>a closed-end trust gives the strategy permanent (patient) capital, and gives your clients daily dealing on the London Stock Exchange.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Why now.  </a:t>
            </a:r>
            <a:r>
              <a:rPr sz="1120">
                <a:solidFill>
                  <a:srgbClr val="0E1620"/>
                </a:solidFill>
                <a:latin typeface="Arial"/>
              </a:rPr>
              <a:t>expensive, concentrated markets and AI-driven alpha decay make a created-alpha, low-correlation diversifier timely.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An institutional strategy, in a structure your clients can buy and sell like any listed share.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Section 1 · Fund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320" b="0" i="0" spc="-87">
                <a:solidFill>
                  <a:srgbClr val="314359"/>
                </a:solidFill>
                <a:latin typeface="Times New Roman"/>
              </a:rPr>
              <a:t>The proposed trust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Indicative parameters for discussion — final terms to be set with the sponsor and in the prospectus.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1229" y="6876288"/>
            <a:ext cx="3218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40" b="0" i="0">
                <a:solidFill>
                  <a:srgbClr val="556A83"/>
                </a:solidFill>
                <a:latin typeface="Arial"/>
              </a:rPr>
              <a:t>Strictly confidential  ·  professional &amp; intermediary use only      2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340864"/>
            <a:ext cx="8873559" cy="38039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340864"/>
            <a:ext cx="2414076" cy="38039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969" y="2340864"/>
            <a:ext cx="2194614" cy="3803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84676" y="2340864"/>
            <a:ext cx="6225390" cy="3803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840">
                <a:solidFill>
                  <a:srgbClr val="0E1620"/>
                </a:solidFill>
                <a:latin typeface="Arial"/>
              </a:rPr>
              <a:t>UK closed-end investment trust, London-listed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22" y="2721254"/>
            <a:ext cx="8873559" cy="38039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22" y="2721254"/>
            <a:ext cx="2414076" cy="38039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2721254"/>
            <a:ext cx="2194614" cy="3803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 i="0">
                <a:solidFill>
                  <a:srgbClr val="FFFFFF"/>
                </a:solidFill>
                <a:latin typeface="Arial"/>
              </a:rPr>
              <a:t>Listing venue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84676" y="2721254"/>
            <a:ext cx="6225390" cy="3803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840">
                <a:solidFill>
                  <a:srgbClr val="0E1620"/>
                </a:solidFill>
                <a:latin typeface="Arial"/>
              </a:rPr>
              <a:t>LSE Main Market or Specialist Fund Segment</a:t>
            </a:r>
            <a:r>
              <a:rPr sz="680" i="1">
                <a:solidFill>
                  <a:srgbClr val="556A83"/>
                </a:solidFill>
                <a:latin typeface="Arial"/>
              </a:rPr>
              <a:t>   (indicative — to be agreed)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3101644"/>
            <a:ext cx="8873559" cy="38039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22" y="3101644"/>
            <a:ext cx="2414076" cy="38039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5969" y="3101644"/>
            <a:ext cx="2194614" cy="3803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Investment objective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84676" y="3101644"/>
            <a:ext cx="6225390" cy="3803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840">
                <a:solidFill>
                  <a:srgbClr val="0E1620"/>
                </a:solidFill>
                <a:latin typeface="Arial"/>
              </a:rPr>
              <a:t>Long-term capital growth via engaged ownership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3482035"/>
            <a:ext cx="8873559" cy="38039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8922" y="3482035"/>
            <a:ext cx="2414076" cy="38039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969" y="3482035"/>
            <a:ext cx="2194614" cy="3803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 i="0">
                <a:solidFill>
                  <a:srgbClr val="FFFFFF"/>
                </a:solidFill>
                <a:latin typeface="Arial"/>
              </a:rPr>
              <a:t>Portfolio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84676" y="3482035"/>
            <a:ext cx="6225390" cy="3803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840">
                <a:solidFill>
                  <a:srgbClr val="0E1620"/>
                </a:solidFill>
                <a:latin typeface="Arial"/>
              </a:rPr>
              <a:t>8–12 high-conviction listed positions; Nordic / European mid-caps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3862425"/>
            <a:ext cx="8873559" cy="38039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8922" y="3862425"/>
            <a:ext cx="2414076" cy="38039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5969" y="3862425"/>
            <a:ext cx="2194614" cy="3803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Reference index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84676" y="3862425"/>
            <a:ext cx="6225390" cy="3803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840">
                <a:solidFill>
                  <a:srgbClr val="0E1620"/>
                </a:solidFill>
                <a:latin typeface="Arial"/>
              </a:rPr>
              <a:t>Global / European equities, total return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4242816"/>
            <a:ext cx="8873559" cy="38039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8922" y="4242816"/>
            <a:ext cx="2414076" cy="38039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5969" y="4242816"/>
            <a:ext cx="2194614" cy="3803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 i="0">
                <a:solidFill>
                  <a:srgbClr val="FFFFFF"/>
                </a:solidFill>
                <a:latin typeface="Arial"/>
              </a:rPr>
              <a:t>Target raise &amp; fees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84676" y="4242816"/>
            <a:ext cx="6225390" cy="3803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840">
                <a:solidFill>
                  <a:srgbClr val="0E1620"/>
                </a:solidFill>
                <a:latin typeface="Arial"/>
              </a:rPr>
              <a:t>to be agreed with the sponsor</a:t>
            </a:r>
            <a:r>
              <a:rPr sz="680" i="1">
                <a:solidFill>
                  <a:srgbClr val="556A83"/>
                </a:solidFill>
                <a:latin typeface="Arial"/>
              </a:rPr>
              <a:t>   (indicative — to be agreed)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4623206"/>
            <a:ext cx="8873559" cy="38039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38922" y="4623206"/>
            <a:ext cx="2414076" cy="38039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55969" y="4623206"/>
            <a:ext cx="2194614" cy="3803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84676" y="4623206"/>
            <a:ext cx="6225390" cy="3803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840">
                <a:solidFill>
                  <a:srgbClr val="0E1620"/>
                </a:solidFill>
                <a:latin typeface="Arial"/>
              </a:rPr>
              <a:t>daily dealing in the listed shares; no capital calls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8922" y="5003596"/>
            <a:ext cx="8873559" cy="38039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38922" y="5003596"/>
            <a:ext cx="2414076" cy="38039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55969" y="5003596"/>
            <a:ext cx="2194614" cy="3803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 i="0">
                <a:solidFill>
                  <a:srgbClr val="FFFFFF"/>
                </a:solidFill>
                <a:latin typeface="Arial"/>
              </a:rPr>
              <a:t>Discount control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84676" y="5003596"/>
            <a:ext cx="6225390" cy="3803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840">
                <a:solidFill>
                  <a:srgbClr val="0E1620"/>
                </a:solidFill>
                <a:latin typeface="Arial"/>
              </a:rPr>
              <a:t>buyback when shares trade materially below NAV</a:t>
            </a:r>
            <a:r>
              <a:rPr sz="680" i="1">
                <a:solidFill>
                  <a:srgbClr val="556A83"/>
                </a:solidFill>
                <a:latin typeface="Arial"/>
              </a:rPr>
              <a:t>   (indicative — to be agreed)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5383987"/>
            <a:ext cx="8873559" cy="38039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38922" y="5383987"/>
            <a:ext cx="2414076" cy="38039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55969" y="5383987"/>
            <a:ext cx="2194614" cy="3803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Manager alignment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84676" y="5383987"/>
            <a:ext cx="6225390" cy="3803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840">
                <a:solidFill>
                  <a:srgbClr val="0E1620"/>
                </a:solidFill>
                <a:latin typeface="Arial"/>
              </a:rPr>
              <a:t>significant team co-investment alongside shareholders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38922" y="5764377"/>
            <a:ext cx="8873559" cy="38039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38922" y="5764377"/>
            <a:ext cx="2414076" cy="38039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55969" y="5764377"/>
            <a:ext cx="2194614" cy="3803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 i="0">
                <a:solidFill>
                  <a:srgbClr val="FFFFFF"/>
                </a:solidFill>
                <a:latin typeface="Arial"/>
              </a:rPr>
              <a:t>Service providers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84676" y="5764377"/>
            <a:ext cx="6225390" cy="3803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840">
                <a:solidFill>
                  <a:srgbClr val="0E1620"/>
                </a:solidFill>
                <a:latin typeface="Arial"/>
              </a:rPr>
              <a:t>Custody SEB · Administration MUFG · Audit KPMG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8922" y="6388608"/>
            <a:ext cx="885161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40" b="0" i="1">
                <a:solidFill>
                  <a:srgbClr val="556A83"/>
                </a:solidFill>
                <a:latin typeface="Arial"/>
              </a:rPr>
              <a:t>Indicative only and subject to contract, regulatory approval and final fund documentation. Not an offer of securities.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Section 1 · Fund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320" b="0" i="0" spc="-87">
                <a:solidFill>
                  <a:srgbClr val="314359"/>
                </a:solidFill>
                <a:latin typeface="Times New Roman"/>
              </a:rPr>
              <a:t>The team, and its alignment with shareholders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Boutique conviction, tier-one governance — and real skin in the game.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1229" y="6876288"/>
            <a:ext cx="3218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40" b="0" i="0">
                <a:solidFill>
                  <a:srgbClr val="556A83"/>
                </a:solidFill>
                <a:latin typeface="Arial"/>
              </a:rPr>
              <a:t>Strictly confidential  ·  professional &amp; intermediary use only     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340864"/>
            <a:ext cx="8705305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A 20-year team.  </a:t>
            </a:r>
            <a:r>
              <a:rPr sz="1120">
                <a:solidFill>
                  <a:srgbClr val="0E1620"/>
                </a:solidFill>
                <a:latin typeface="Arial"/>
              </a:rPr>
              <a:t>the same people compounding capital through multiple cycles — deep operating and boardroom experience, not a single star manager.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Skin in the game.  </a:t>
            </a:r>
            <a:r>
              <a:rPr sz="1120">
                <a:solidFill>
                  <a:srgbClr val="0E1620"/>
                </a:solidFill>
                <a:latin typeface="Arial"/>
              </a:rPr>
              <a:t>the team co-invests its own capital alongside shareholders — aligned to net realised returns, not assets gathered.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A proprietary edge.  </a:t>
            </a:r>
            <a:r>
              <a:rPr sz="1120">
                <a:solidFill>
                  <a:srgbClr val="0E1620"/>
                </a:solidFill>
                <a:latin typeface="Arial"/>
              </a:rPr>
              <a:t>a database of ~20,000 CEOs and a behavioural diligence model — the discipline behind a 92% deal-level hit rate.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An institutional fortress.  </a:t>
            </a:r>
            <a:r>
              <a:rPr sz="1120">
                <a:solidFill>
                  <a:srgbClr val="0E1620"/>
                </a:solidFill>
                <a:latin typeface="Arial"/>
              </a:rPr>
              <a:t>operations, risk and valuation independent of investment decisions; custody, administration and audit by SEB, MUFG and KPMG.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The combination wealth committees ask for: conviction, alignment and independent, tier-one governance.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Section 2 · 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320" b="0" i="0" spc="-87">
                <a:solidFill>
                  <a:srgbClr val="314359"/>
                </a:solidFill>
                <a:latin typeface="Times New Roman"/>
              </a:rPr>
              <a:t>Your clients own the most crowded trade in a generation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Passive equity has become a concentrated, expensive bet on a handful of mega-caps — correlated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1229" y="6876288"/>
            <a:ext cx="3218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40" b="0" i="0">
                <a:solidFill>
                  <a:srgbClr val="556A83"/>
                </a:solidFill>
                <a:latin typeface="Arial"/>
              </a:rPr>
              <a:t>Strictly confidential  ·  professional &amp; intermediary use only     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340864"/>
            <a:ext cx="8705305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A concentrated factor bet.  </a:t>
            </a:r>
            <a:r>
              <a:rPr sz="1160">
                <a:solidFill>
                  <a:srgbClr val="0E1620"/>
                </a:solidFill>
                <a:latin typeface="Arial"/>
              </a:rPr>
              <a:t>the index is more concentrated, and more expensive, than at almost any point in 50 years — the same names, owned by everyone.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It falls together.  </a:t>
            </a:r>
            <a:r>
              <a:rPr sz="1160">
                <a:solidFill>
                  <a:srgbClr val="0E1620"/>
                </a:solidFill>
                <a:latin typeface="Arial"/>
              </a:rPr>
              <a:t>when the leaders re-rate down, “diversified” passive falls with them; there is no hiding place in more of the same.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The de-rated alternative.  </a:t>
            </a:r>
            <a:r>
              <a:rPr sz="1160">
                <a:solidFill>
                  <a:srgbClr val="0E1620"/>
                </a:solidFill>
                <a:latin typeface="Arial"/>
              </a:rPr>
              <a:t>engaged ownership of quality mid-caps offers an attractive entry — a return earned from corporate change, not from the same mega-caps re-rating ever higher.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The opportunity: a liquid, differentiated equity holding that earns its return from company change, not market direction.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Section 2 · 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320" b="0" i="0" spc="-87">
                <a:solidFill>
                  <a:srgbClr val="314359"/>
                </a:solidFill>
                <a:latin typeface="Times New Roman"/>
              </a:rPr>
              <a:t>An inefficiency AI can’t arbitrage away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edge is not faster analysis — it is governance and ownership, where the inefficiency persists.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1229" y="6876288"/>
            <a:ext cx="3218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40" b="0" i="0">
                <a:solidFill>
                  <a:srgbClr val="556A83"/>
                </a:solidFill>
                <a:latin typeface="Arial"/>
              </a:rPr>
              <a:t>Strictly confidential  ·  professional &amp; intermediary use only     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340864"/>
            <a:ext cx="8705305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Under-researched, under-governed.  </a:t>
            </a:r>
            <a:r>
              <a:rPr sz="1160">
                <a:solidFill>
                  <a:srgbClr val="0E1620"/>
                </a:solidFill>
                <a:latin typeface="Arial"/>
              </a:rPr>
              <a:t>rising regulation and falling broker coverage leave quality mid-caps mispriced — and many carry a correctable capital-allocation or governance gap.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Analytical alpha is commoditizing.  </a:t>
            </a:r>
            <a:r>
              <a:rPr sz="1160">
                <a:solidFill>
                  <a:srgbClr val="0E1620"/>
                </a:solidFill>
                <a:latin typeface="Arial"/>
              </a:rPr>
              <a:t>AI lets every manager run the same financial analysis instantly; the screenable names get bid up and that edge decays toward zero.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Created, not discovered.  </a:t>
            </a:r>
            <a:r>
              <a:rPr sz="1160">
                <a:solidFill>
                  <a:srgbClr val="0E1620"/>
                </a:solidFill>
                <a:latin typeface="Arial"/>
              </a:rPr>
              <a:t>our return comes from board control and operational change — you cannot download a board seat, so the edge endures as analysis commoditizes.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5803392"/>
            <a:ext cx="870530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40" b="0" i="1">
                <a:solidFill>
                  <a:srgbClr val="556A83"/>
                </a:solidFill>
                <a:latin typeface="Arial"/>
              </a:rPr>
              <a:t>Mechanism documented: LLMs already perform financial-statement analysis at analyst level (Kim, Muhn &amp; Nikolaev, 2024); predictability decays once a strategy is replicable (McLean &amp; Pontiff, 2016).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261811"/>
            <a:ext cx="8895505" cy="54620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261811"/>
            <a:ext cx="863215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As analytical alpha commoditizes, engaged-ownership alpha becomes scarcer — and more valuable.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Section 2 · 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320" b="0" i="0" spc="-87">
                <a:solidFill>
                  <a:srgbClr val="314359"/>
                </a:solidFill>
                <a:latin typeface="Times New Roman"/>
              </a:rPr>
              <a:t>When valuations crack, where will your clients be holding?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 record valuations the cycle will turn — and the hedge can only be bought before the crack, not after.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1229" y="6876288"/>
            <a:ext cx="3218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40" b="0" i="0">
                <a:solidFill>
                  <a:srgbClr val="556A83"/>
                </a:solidFill>
                <a:latin typeface="Arial"/>
              </a:rPr>
              <a:t>Strictly confidential  ·  professional &amp; intermediary use only     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340864"/>
            <a:ext cx="8705305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5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Global equities — fully exposed.  </a:t>
            </a:r>
            <a:r>
              <a:rPr sz="1160">
                <a:solidFill>
                  <a:srgbClr val="0E1620"/>
                </a:solidFill>
                <a:latin typeface="Arial"/>
              </a:rPr>
              <a:t>your clients own the most-expensive, most-concentrated names, with nothing to do when they fall.</a:t>
            </a:r>
          </a:p>
          <a:p>
            <a:pPr>
              <a:lnSpc>
                <a:spcPct val="118000"/>
              </a:lnSpc>
              <a:spcAft>
                <a:spcPts val="15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Private equity — the trap.  </a:t>
            </a:r>
            <a:r>
              <a:rPr sz="1160">
                <a:solidFill>
                  <a:srgbClr val="0E1620"/>
                </a:solidFill>
                <a:latin typeface="Arial"/>
              </a:rPr>
              <a:t>marks lag then catch down, while illiquidity blocks the exit exactly when it is needed.</a:t>
            </a:r>
          </a:p>
          <a:p>
            <a:pPr>
              <a:lnSpc>
                <a:spcPct val="118000"/>
              </a:lnSpc>
              <a:spcAft>
                <a:spcPts val="15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This trust — the hedge.  </a:t>
            </a:r>
            <a:r>
              <a:rPr sz="1160">
                <a:solidFill>
                  <a:srgbClr val="0E1620"/>
                </a:solidFill>
                <a:latin typeface="Arial"/>
              </a:rPr>
              <a:t>board control floors the risk, the shares stay liquid, and the dislocation becomes the entry point — not the trap.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The time to own a liquid, low-correlation hedge is while markets are still expensive.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Section 3 · Strategy &amp; philosophy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320" b="0" i="0" spc="-87">
                <a:solidFill>
                  <a:srgbClr val="314359"/>
                </a:solidFill>
                <a:latin typeface="Times New Roman"/>
              </a:rPr>
              <a:t>We don’t pick stocks — we build companies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Quality-core constructivism: own good businesses, and make them better from the boardroom.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1229" y="6876288"/>
            <a:ext cx="3218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40" b="0" i="0">
                <a:solidFill>
                  <a:srgbClr val="556A83"/>
                </a:solidFill>
                <a:latin typeface="Arial"/>
              </a:rPr>
              <a:t>Strictly confidential  ·  professional &amp; intermediary use only     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340864"/>
            <a:ext cx="8705305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Quality at a discount.  </a:t>
            </a:r>
            <a:r>
              <a:rPr sz="1120">
                <a:solidFill>
                  <a:srgbClr val="0E1620"/>
                </a:solidFill>
                <a:latin typeface="Arial"/>
              </a:rPr>
              <a:t>profitable, high-return businesses bought below intrinsic value — never broken companies or turnarounds we cannot underwrite.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Value we create, not discover.  </a:t>
            </a:r>
            <a:r>
              <a:rPr sz="1120">
                <a:solidFill>
                  <a:srgbClr val="0E1620"/>
                </a:solidFill>
                <a:latin typeface="Arial"/>
              </a:rPr>
              <a:t>board control, capital-allocation discipline and operational change — not leverage or financial engineering.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Returns from earnings, not re-rating.  </a:t>
            </a:r>
            <a:r>
              <a:rPr sz="1120">
                <a:solidFill>
                  <a:srgbClr val="0E1620"/>
                </a:solidFill>
                <a:latin typeface="Arial"/>
              </a:rPr>
              <a:t>the gain comes from the business improving under our influence — bankable cash, not a hoped-for multiple.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Constructive, by agreement.  </a:t>
            </a:r>
            <a:r>
              <a:rPr sz="1120">
                <a:solidFill>
                  <a:srgbClr val="0E1620"/>
                </a:solidFill>
                <a:latin typeface="Arial"/>
              </a:rPr>
              <a:t>board seats won collaboratively, not proxy wars fought — a Nordic governance model, 20 years honed.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Private-equity-style value creation — in transparent, listed, daily-liquid form.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Section 3 · Strategy &amp; philosophy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320" b="0" i="0" spc="-87">
                <a:solidFill>
                  <a:srgbClr val="314359"/>
                </a:solidFill>
                <a:latin typeface="Times New Roman"/>
              </a:rPr>
              <a:t>What makes a target — the tollgates every idea must clear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underwriting bar, applied before a single pound is committed.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1229" y="6876288"/>
            <a:ext cx="3218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40" b="0" i="0">
                <a:solidFill>
                  <a:srgbClr val="556A83"/>
                </a:solidFill>
                <a:latin typeface="Arial"/>
              </a:rPr>
              <a:t>Strictly confidential  ·  professional &amp; intermediary use only     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340864"/>
            <a:ext cx="8705305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A high-quality core.  </a:t>
            </a:r>
            <a:r>
              <a:rPr sz="1120">
                <a:solidFill>
                  <a:srgbClr val="0E1620"/>
                </a:solidFill>
                <a:latin typeface="Arial"/>
              </a:rPr>
              <a:t>durable franchise economics and high returns on incremental capital (ROIIC) — “attractive even if we change nothing.”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A structural margin of safety.  </a:t>
            </a:r>
            <a:r>
              <a:rPr sz="1120">
                <a:solidFill>
                  <a:srgbClr val="0E1620"/>
                </a:solidFill>
                <a:latin typeface="Arial"/>
              </a:rPr>
              <a:t>the core alone justifies the price; a ~30–40% discount to intrinsic value underwrites the downside.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A correctable gap.  </a:t>
            </a:r>
            <a:r>
              <a:rPr sz="1120">
                <a:solidFill>
                  <a:srgbClr val="0E1620"/>
                </a:solidFill>
                <a:latin typeface="Arial"/>
              </a:rPr>
              <a:t>an identifiable capital-allocation, cost or governance issue we can fix from the board.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A credible path to alignment.  </a:t>
            </a:r>
            <a:r>
              <a:rPr sz="1120">
                <a:solidFill>
                  <a:srgbClr val="0E1620"/>
                </a:solidFill>
                <a:latin typeface="Arial"/>
              </a:rPr>
              <a:t>a realistic route to a board seat — no path, no position (our walk-away discipline).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Roughly one new investment a year clears all three tollgates — selectivity is the first risk control.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Section 3 · Strategy &amp; philosophy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320" b="0" i="0" spc="-87">
                <a:solidFill>
                  <a:srgbClr val="314359"/>
                </a:solidFill>
                <a:latin typeface="Times New Roman"/>
              </a:rPr>
              <a:t>Portfolio architecture: concentrated, governed, floored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Deep ownership where we have influence — sized so no single position can dominate.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1229" y="6876288"/>
            <a:ext cx="3218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40" b="0" i="0">
                <a:solidFill>
                  <a:srgbClr val="556A83"/>
                </a:solidFill>
                <a:latin typeface="Arial"/>
              </a:rPr>
              <a:t>Strictly confidential  ·  professional &amp; intermediary use only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340864"/>
            <a:ext cx="8705305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8–12 high-conviction positions.  </a:t>
            </a:r>
            <a:r>
              <a:rPr sz="1120">
                <a:solidFill>
                  <a:srgbClr val="0E1620"/>
                </a:solidFill>
                <a:latin typeface="Arial"/>
              </a:rPr>
              <a:t>concentration is the source of return and of boardroom influence — we own enough to matter.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Built in stages.  </a:t>
            </a:r>
            <a:r>
              <a:rPr sz="1120">
                <a:solidFill>
                  <a:srgbClr val="0E1620"/>
                </a:solidFill>
                <a:latin typeface="Arial"/>
              </a:rPr>
              <a:t>a researched toehold, then board alignment secured, then sized to conviction — never sized to conviction before alignment.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Hardened guardrails.  </a:t>
            </a:r>
            <a:r>
              <a:rPr sz="1120">
                <a:solidFill>
                  <a:srgbClr val="0E1620"/>
                </a:solidFill>
                <a:latin typeface="Arial"/>
              </a:rPr>
              <a:t>position and concentration limits, plus automatic −10 / −20 / −30% re-underwrite triggers — the determined-seller framework.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Liquidity by design.  </a:t>
            </a:r>
            <a:r>
              <a:rPr sz="1120">
                <a:solidFill>
                  <a:srgbClr val="0E1620"/>
                </a:solidFill>
                <a:latin typeface="Arial"/>
              </a:rPr>
              <a:t>listed holdings the trust can exit at will — no lock-ups, no capital-call queue, no blind pool.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Concentrated enough to influence; governed and floored so no holding can blow up the trust.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Section 4 · Process &amp; engagement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320" b="0" i="0" spc="-87">
                <a:solidFill>
                  <a:srgbClr val="314359"/>
                </a:solidFill>
                <a:latin typeface="Times New Roman"/>
              </a:rPr>
              <a:t>The investment process, end to 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disciplined lifecycle from idea to exit — with an independent Investment Committee at the gate.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1229" y="6876288"/>
            <a:ext cx="3218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40" b="0" i="0">
                <a:solidFill>
                  <a:srgbClr val="556A83"/>
                </a:solidFill>
                <a:latin typeface="Arial"/>
              </a:rPr>
              <a:t>Strictly confidential  ·  professional &amp; intermediary use only     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340864"/>
            <a:ext cx="2125118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6707" y="2340864"/>
            <a:ext cx="197881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1 · SOURCE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828544"/>
            <a:ext cx="2125118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1338" y="2945587"/>
            <a:ext cx="1934918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Screen ~20,000 scored companies for tangible profits and correctable gaps; TR-1 / ownership signals and executive networks.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20149" y="2750515"/>
            <a:ext cx="21946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80" b="0" i="0">
                <a:solidFill>
                  <a:srgbClr val="556A83"/>
                </a:solidFill>
                <a:latin typeface="Arial"/>
              </a:rPr>
              <a:t>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81087" y="2340864"/>
            <a:ext cx="2125118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68872" y="2340864"/>
            <a:ext cx="197881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2 · UNDERWRITE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81087" y="2828544"/>
            <a:ext cx="2125118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83503" y="2945587"/>
            <a:ext cx="1934918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Desktop modelling, site visits and management touchpoints; board and management quality scored as rigorously as the numbers.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2314" y="2750515"/>
            <a:ext cx="21946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80" b="0" i="0">
                <a:solidFill>
                  <a:srgbClr val="556A83"/>
                </a:solidFill>
                <a:latin typeface="Arial"/>
              </a:rPr>
              <a:t>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23252" y="2340864"/>
            <a:ext cx="2125118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11037" y="2340864"/>
            <a:ext cx="197881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3 · TOLLGATES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23252" y="2828544"/>
            <a:ext cx="2125118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5668" y="2945587"/>
            <a:ext cx="1934918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An independent Investment Committee owns sizing and the Go / No-Go — three tollgates before capital is committed.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04479" y="2750515"/>
            <a:ext cx="21946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80" b="0" i="0">
                <a:solidFill>
                  <a:srgbClr val="556A83"/>
                </a:solidFill>
                <a:latin typeface="Arial"/>
              </a:rPr>
              <a:t>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5417" y="2340864"/>
            <a:ext cx="2125118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3202" y="2340864"/>
            <a:ext cx="197881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4 · ENGAGE &amp;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65417" y="2828544"/>
            <a:ext cx="2125118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67833" y="2945587"/>
            <a:ext cx="1934918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Secure the board seat, execute the plan, and sell on a changed thesis — completely, on the facts.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6261811"/>
            <a:ext cx="8895505" cy="54620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5230" y="6261811"/>
            <a:ext cx="863215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Repeatable and governed — the same blueprint behind a 20-year record.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Section 4 · Process &amp; engagement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320" b="0" i="0" spc="-87">
                <a:solidFill>
                  <a:srgbClr val="314359"/>
                </a:solidFill>
                <a:latin typeface="Times New Roman"/>
              </a:rPr>
              <a:t>Active engagement: how the value is created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high-touch, boardroom strategy — value built one disciplined decision at a 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1229" y="6876288"/>
            <a:ext cx="3218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40" b="0" i="0">
                <a:solidFill>
                  <a:srgbClr val="556A83"/>
                </a:solidFill>
                <a:latin typeface="Arial"/>
              </a:rPr>
              <a:t>Strictly confidential  ·  professional &amp; intermediary use only     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340864"/>
            <a:ext cx="8705305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Capital allocation first.  </a:t>
            </a:r>
            <a:r>
              <a:rPr sz="1120">
                <a:solidFill>
                  <a:srgbClr val="0E1620"/>
                </a:solidFill>
                <a:latin typeface="Arial"/>
              </a:rPr>
              <a:t>redirect cash to its highest return — disciplined M&amp;A, buybacks where the stock is cheap, and an end to value-destructive spending.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Operational improvement.  </a:t>
            </a:r>
            <a:r>
              <a:rPr sz="1120">
                <a:solidFill>
                  <a:srgbClr val="0E1620"/>
                </a:solidFill>
                <a:latin typeface="Arial"/>
              </a:rPr>
              <a:t>cost base, pricing and focus — working with the management we back, and replacing it where we must.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Incentives realigned.  </a:t>
            </a:r>
            <a:r>
              <a:rPr sz="1120">
                <a:solidFill>
                  <a:srgbClr val="0E1620"/>
                </a:solidFill>
                <a:latin typeface="Arial"/>
              </a:rPr>
              <a:t>pay-for-performance and ownership, so management is paid to compound value, not to grow assets.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Consensus, not confrontation.  </a:t>
            </a:r>
            <a:r>
              <a:rPr sz="1120">
                <a:solidFill>
                  <a:srgbClr val="0E1620"/>
                </a:solidFill>
                <a:latin typeface="Arial"/>
              </a:rPr>
              <a:t>we win the boardroom one conversation at a time — so decisions pass quietly, not in a public fight.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The board seat is the lever — it de-risks the asset and turns governance into the return engine.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Section 4 · Process &amp; engagement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320" b="0" i="0" spc="-87">
                <a:solidFill>
                  <a:srgbClr val="314359"/>
                </a:solidFill>
                <a:latin typeface="Times New Roman"/>
              </a:rPr>
              <a:t>A risk system we use — and keep building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engagement tests the system; our own mistakes are written back into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1229" y="6876288"/>
            <a:ext cx="3218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40" b="0" i="0">
                <a:solidFill>
                  <a:srgbClr val="556A83"/>
                </a:solidFill>
                <a:latin typeface="Arial"/>
              </a:rPr>
              <a:t>Strictly confidential  ·  professional &amp; intermediary use only     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340864"/>
            <a:ext cx="8705305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Agreement before capital.  </a:t>
            </a:r>
            <a:r>
              <a:rPr sz="1120">
                <a:solidFill>
                  <a:srgbClr val="0E1620"/>
                </a:solidFill>
                <a:latin typeface="Arial"/>
              </a:rPr>
              <a:t>no credible path to board alignment, no position — and if alignment fails, we walk away (e.g. Robit: exited at ~14% IRR; the shares later roughly halved).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The determined-seller framework.  </a:t>
            </a:r>
            <a:r>
              <a:rPr sz="1120">
                <a:solidFill>
                  <a:srgbClr val="0E1620"/>
                </a:solidFill>
                <a:latin typeface="Arial"/>
              </a:rPr>
              <a:t>when the thesis breaks, exit completely on the facts — born from selling DistIT too gradually.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Mechanised, not emotional.  </a:t>
            </a:r>
            <a:r>
              <a:rPr sz="1120">
                <a:solidFill>
                  <a:srgbClr val="0E1620"/>
                </a:solidFill>
                <a:latin typeface="Arial"/>
              </a:rPr>
              <a:t>−10 / −20 / −30% triggers force a re-underwrite; sizing and exits owned by the Investment Committee.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Avoid the un-recoverable.  </a:t>
            </a:r>
            <a:r>
              <a:rPr sz="1120">
                <a:solidFill>
                  <a:srgbClr val="0E1620"/>
                </a:solidFill>
                <a:latin typeface="Arial"/>
              </a:rPr>
              <a:t>we accept optical volatility, but underwrite against the permanent loss that ends a track record.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Discipline that protected capital — and got sharper each time it was tested.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Section 5 · 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320" b="0" i="0" spc="-87">
                <a:solidFill>
                  <a:srgbClr val="314359"/>
                </a:solidFill>
                <a:latin typeface="Times New Roman"/>
              </a:rPr>
              <a:t>Representative investments — the strategy in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selection from the current strategy (AIP Fund II) — winners, and the discipline on the ones that disappoint.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1229" y="6876288"/>
            <a:ext cx="3218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40" b="0" i="0">
                <a:solidFill>
                  <a:srgbClr val="556A83"/>
                </a:solidFill>
                <a:latin typeface="Arial"/>
              </a:rPr>
              <a:t>Strictly confidential  ·  professional &amp; intermediary use only     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340864"/>
            <a:ext cx="2487230" cy="33162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76" y="2340864"/>
            <a:ext cx="2370184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26153" y="2340864"/>
            <a:ext cx="1901999" cy="33162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99307" y="2340864"/>
            <a:ext cx="1784953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28152" y="2340864"/>
            <a:ext cx="1463076" cy="33162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01306" y="2340864"/>
            <a:ext cx="1346030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Gross IRR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91229" y="2340864"/>
            <a:ext cx="1463076" cy="33162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4383" y="2340864"/>
            <a:ext cx="1346030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54305" y="2340864"/>
            <a:ext cx="1558176" cy="33162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27459" y="2340864"/>
            <a:ext cx="1441130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22" y="2672486"/>
            <a:ext cx="2487230" cy="33162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76" y="2672486"/>
            <a:ext cx="2370184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26153" y="2672486"/>
            <a:ext cx="1901999" cy="33162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99307" y="2672486"/>
            <a:ext cx="1784953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28152" y="2672486"/>
            <a:ext cx="1463076" cy="33162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01306" y="2672486"/>
            <a:ext cx="1346030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91229" y="2672486"/>
            <a:ext cx="1463076" cy="33162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383" y="2672486"/>
            <a:ext cx="1346030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2.0×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54305" y="2672486"/>
            <a:ext cx="1558176" cy="33162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27459" y="2672486"/>
            <a:ext cx="1441130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3004108"/>
            <a:ext cx="2487230" cy="3316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2076" y="3004108"/>
            <a:ext cx="2370184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26153" y="3004108"/>
            <a:ext cx="1901999" cy="3316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99307" y="3004108"/>
            <a:ext cx="1784953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28152" y="3004108"/>
            <a:ext cx="1463076" cy="3316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01306" y="3004108"/>
            <a:ext cx="1346030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91229" y="3004108"/>
            <a:ext cx="1463076" cy="3316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64383" y="3004108"/>
            <a:ext cx="1346030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1.2×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54305" y="3004108"/>
            <a:ext cx="1558176" cy="3316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827459" y="3004108"/>
            <a:ext cx="1441130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8922" y="3335731"/>
            <a:ext cx="2487230" cy="33162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2076" y="3335731"/>
            <a:ext cx="2370184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926153" y="3335731"/>
            <a:ext cx="1901999" cy="33162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999307" y="3335731"/>
            <a:ext cx="1784953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828152" y="3335731"/>
            <a:ext cx="1463076" cy="33162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901306" y="3335731"/>
            <a:ext cx="1346030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91229" y="3335731"/>
            <a:ext cx="1463076" cy="33162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64383" y="3335731"/>
            <a:ext cx="1346030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6.2×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54305" y="3335731"/>
            <a:ext cx="1558176" cy="33162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827459" y="3335731"/>
            <a:ext cx="1441130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38922" y="3667353"/>
            <a:ext cx="2487230" cy="3316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12076" y="3667353"/>
            <a:ext cx="2370184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26153" y="3667353"/>
            <a:ext cx="1901999" cy="3316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999307" y="3667353"/>
            <a:ext cx="1784953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828152" y="3667353"/>
            <a:ext cx="1463076" cy="3316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901306" y="3667353"/>
            <a:ext cx="1346030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291229" y="3667353"/>
            <a:ext cx="1463076" cy="3316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64383" y="3667353"/>
            <a:ext cx="1346030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1.7×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754305" y="3667353"/>
            <a:ext cx="1558176" cy="3316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827459" y="3667353"/>
            <a:ext cx="1441130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38922" y="3998976"/>
            <a:ext cx="2487230" cy="33162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12076" y="3998976"/>
            <a:ext cx="2370184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926153" y="3998976"/>
            <a:ext cx="1901999" cy="33162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999307" y="3998976"/>
            <a:ext cx="1784953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828152" y="3998976"/>
            <a:ext cx="1463076" cy="33162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1306" y="3998976"/>
            <a:ext cx="1346030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291229" y="3998976"/>
            <a:ext cx="1463076" cy="33162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64383" y="3998976"/>
            <a:ext cx="1346030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1.5×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754305" y="3998976"/>
            <a:ext cx="1558176" cy="33162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827459" y="3998976"/>
            <a:ext cx="1441130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38922" y="4330598"/>
            <a:ext cx="2487230" cy="3316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12076" y="4330598"/>
            <a:ext cx="2370184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926153" y="4330598"/>
            <a:ext cx="1901999" cy="3316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999307" y="4330598"/>
            <a:ext cx="1784953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828152" y="4330598"/>
            <a:ext cx="1463076" cy="3316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901306" y="4330598"/>
            <a:ext cx="1346030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291229" y="4330598"/>
            <a:ext cx="1463076" cy="3316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364383" y="4330598"/>
            <a:ext cx="1346030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2.8×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754305" y="4330598"/>
            <a:ext cx="1558176" cy="3316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827459" y="4330598"/>
            <a:ext cx="1441130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38922" y="4662220"/>
            <a:ext cx="2487230" cy="33162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12076" y="4662220"/>
            <a:ext cx="2370184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926153" y="4662220"/>
            <a:ext cx="1901999" cy="33162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999307" y="4662220"/>
            <a:ext cx="1784953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828152" y="4662220"/>
            <a:ext cx="1463076" cy="33162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01306" y="4662220"/>
            <a:ext cx="1346030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291229" y="4662220"/>
            <a:ext cx="1463076" cy="33162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64383" y="4662220"/>
            <a:ext cx="1346030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5.1×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754305" y="4662220"/>
            <a:ext cx="1558176" cy="33162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827459" y="4662220"/>
            <a:ext cx="1441130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38922" y="4993843"/>
            <a:ext cx="2487230" cy="3316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12076" y="4993843"/>
            <a:ext cx="2370184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926153" y="4993843"/>
            <a:ext cx="1901999" cy="3316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999307" y="4993843"/>
            <a:ext cx="1784953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828152" y="4993843"/>
            <a:ext cx="1463076" cy="3316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901306" y="4993843"/>
            <a:ext cx="1346030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291229" y="4993843"/>
            <a:ext cx="1463076" cy="3316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364383" y="4993843"/>
            <a:ext cx="1346030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1.2×</a:t>
            </a:r>
          </a:p>
        </p:txBody>
      </p:sp>
      <p:sp>
        <p:nvSpPr>
          <p:cNvPr id="97" name="Rectangle 96"/>
          <p:cNvSpPr/>
          <p:nvPr/>
        </p:nvSpPr>
        <p:spPr>
          <a:xfrm>
            <a:off x="7754305" y="4993843"/>
            <a:ext cx="1558176" cy="3316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827459" y="4993843"/>
            <a:ext cx="1441130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99" name="Rectangle 98"/>
          <p:cNvSpPr/>
          <p:nvPr/>
        </p:nvSpPr>
        <p:spPr>
          <a:xfrm>
            <a:off x="438922" y="5325465"/>
            <a:ext cx="2487230" cy="33162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512076" y="5325465"/>
            <a:ext cx="2370184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2926153" y="5325465"/>
            <a:ext cx="1901999" cy="33162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2999307" y="5325465"/>
            <a:ext cx="1784953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4828152" y="5325465"/>
            <a:ext cx="1463076" cy="33162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4901306" y="5325465"/>
            <a:ext cx="1346030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6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291229" y="5325465"/>
            <a:ext cx="1463076" cy="33162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364383" y="5325465"/>
            <a:ext cx="1346030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60" b="0" i="1">
                <a:solidFill>
                  <a:srgbClr val="556A83"/>
                </a:solidFill>
                <a:latin typeface="Arial"/>
              </a:rPr>
              <a:t>0.4×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7754305" y="5325465"/>
            <a:ext cx="1558176" cy="33162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7827459" y="5325465"/>
            <a:ext cx="1441130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76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38922" y="5774131"/>
            <a:ext cx="8851613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640" b="0" i="1">
                <a:solidFill>
                  <a:srgbClr val="556A83"/>
                </a:solidFill>
                <a:latin typeface="Arial"/>
              </a:rPr>
              <a:t>Gross deal-level figures, AIP Fund II, to 2025; “n.m.” where holding periods are short. Selected holdings, not the full portfolio. Past performance is not a guide to future returns.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38922" y="6261811"/>
            <a:ext cx="8895505" cy="54620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85230" y="6261811"/>
            <a:ext cx="863215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 92% hit rate over 38 deals — and the few that disappoint are sold with discipline, not hope.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Section 6 · Track record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320" b="0" i="0" spc="-87">
                <a:solidFill>
                  <a:srgbClr val="314359"/>
                </a:solidFill>
                <a:latin typeface="Times New Roman"/>
              </a:rPr>
              <a:t>Two decades of net returns, independently validated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20-year record built on operating improvement — reconciled and audited by tier-one institutions.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1229" y="6876288"/>
            <a:ext cx="3218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40" b="0" i="0">
                <a:solidFill>
                  <a:srgbClr val="556A83"/>
                </a:solidFill>
                <a:latin typeface="Arial"/>
              </a:rPr>
              <a:t>Strictly confidential  ·  professional &amp; intermediary use only     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340864"/>
            <a:ext cx="2136091" cy="12192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496921"/>
            <a:ext cx="213609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160" b="0" i="0" spc="-81">
                <a:solidFill>
                  <a:srgbClr val="314359"/>
                </a:solidFill>
                <a:latin typeface="Times New Roman"/>
              </a:rPr>
              <a:t>~16%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76" y="3121152"/>
            <a:ext cx="1989784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net p.a. over 20 years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84745" y="2340864"/>
            <a:ext cx="2136091" cy="12192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84745" y="2496921"/>
            <a:ext cx="213609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160" b="0" i="0" spc="-81">
                <a:solidFill>
                  <a:srgbClr val="314359"/>
                </a:solidFill>
                <a:latin typeface="Times New Roman"/>
              </a:rPr>
              <a:t>+10 pts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57899" y="3121152"/>
            <a:ext cx="1989784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a year vs the index, net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30568" y="2340864"/>
            <a:ext cx="2136091" cy="12192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30568" y="2496921"/>
            <a:ext cx="213609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160" b="0" i="0" spc="-81">
                <a:solidFill>
                  <a:srgbClr val="314359"/>
                </a:solidFill>
                <a:latin typeface="Times New Roman"/>
              </a:rPr>
              <a:t>18×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3721" y="3121152"/>
            <a:ext cx="1989784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growth of capital since 2006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76390" y="2340864"/>
            <a:ext cx="2136091" cy="12192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76390" y="2496921"/>
            <a:ext cx="213609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160" b="0" i="0" spc="-81">
                <a:solidFill>
                  <a:srgbClr val="314359"/>
                </a:solidFill>
                <a:latin typeface="Times New Roman"/>
              </a:rPr>
              <a:t>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9544" y="3121152"/>
            <a:ext cx="1989784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investor loss over a holding period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53" y="3803904"/>
            <a:ext cx="8705305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Downside protection.  </a:t>
            </a:r>
            <a:r>
              <a:rPr sz="1080">
                <a:solidFill>
                  <a:srgbClr val="0E1620"/>
                </a:solidFill>
                <a:latin typeface="Arial"/>
              </a:rPr>
              <a:t>two market drawdowns fully recovered (2010, 2020); Sortino ratio 2.40 — return with genuine resilience.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Entry timing is a non-risk.  </a:t>
            </a:r>
            <a:r>
              <a:rPr sz="1080">
                <a:solidFill>
                  <a:srgbClr val="0E1620"/>
                </a:solidFill>
                <a:latin typeface="Arial"/>
              </a:rPr>
              <a:t>even the worst entry month in 20 years still compounded at +7% net.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Independently verified.  </a:t>
            </a:r>
            <a:r>
              <a:rPr sz="1080">
                <a:solidFill>
                  <a:srgbClr val="0E1620"/>
                </a:solidFill>
                <a:latin typeface="Arial"/>
              </a:rPr>
              <a:t>custody by SEB, administration by MUFG, audit by KPMG.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5910681"/>
            <a:ext cx="885161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40" b="0" i="1">
                <a:solidFill>
                  <a:srgbClr val="556A83"/>
                </a:solidFill>
                <a:latin typeface="Arial"/>
              </a:rPr>
              <a:t>Net of fees, 2006–2025, independently reconciled. The trust is newly proposed; this is the manager’s existing strategy. Past performance is not a guide to future returns.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261811"/>
            <a:ext cx="8895505" cy="54620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30" y="6261811"/>
            <a:ext cx="863215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Returns from operating improvement — repeatable, and verified by tier-one institutions.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Section 6 · Track record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320" b="0" i="0" spc="-87">
                <a:solidFill>
                  <a:srgbClr val="314359"/>
                </a:solidFill>
                <a:latin typeface="Times New Roman"/>
              </a:rPr>
              <a:t>A genuine diversifier that defends the 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Low-correlation equity exposure that earns its place beside passive and private equity.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1229" y="6876288"/>
            <a:ext cx="3218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40" b="0" i="0">
                <a:solidFill>
                  <a:srgbClr val="556A83"/>
                </a:solidFill>
                <a:latin typeface="Arial"/>
              </a:rPr>
              <a:t>Strictly confidential  ·  professional &amp; intermediary use only     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340864"/>
            <a:ext cx="8705305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0.44 correlation to global equities.  </a:t>
            </a:r>
            <a:r>
              <a:rPr sz="1160">
                <a:solidFill>
                  <a:srgbClr val="0E1620"/>
                </a:solidFill>
                <a:latin typeface="Arial"/>
              </a:rPr>
              <a:t>real diversification — not more of what your clients already own through passive.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A board seat floors the fundamental risk.  </a:t>
            </a:r>
            <a:r>
              <a:rPr sz="1160">
                <a:solidFill>
                  <a:srgbClr val="0E1620"/>
                </a:solidFill>
                <a:latin typeface="Arial"/>
              </a:rPr>
              <a:t>we own the cash flow, capex and pay — so the asset is de-risked whatever the share price does.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Uncorrelated by construction.  </a:t>
            </a:r>
            <a:r>
              <a:rPr sz="1160">
                <a:solidFill>
                  <a:srgbClr val="0E1620"/>
                </a:solidFill>
                <a:latin typeface="Arial"/>
              </a:rPr>
              <a:t>returns come from earnings and governance change, not from the index re-rating — a different engine entirely.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When the index falls, this is built to defend the portfolio — not amplify the fall.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Section 6 · Track record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320" b="0" i="0" spc="-87">
                <a:solidFill>
                  <a:srgbClr val="314359"/>
                </a:solidFill>
                <a:latin typeface="Times New Roman"/>
              </a:rPr>
              <a:t>Distribution policy — designed around the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strategy is total-return; the trust structure can still deliver a predictable income to clients who want 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1229" y="6876288"/>
            <a:ext cx="3218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40" b="0" i="0">
                <a:solidFill>
                  <a:srgbClr val="556A83"/>
                </a:solidFill>
                <a:latin typeface="Arial"/>
              </a:rPr>
              <a:t>Strictly confidential  ·  professional &amp; intermediary use only      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340864"/>
            <a:ext cx="8705305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Primarily capital growth.  </a:t>
            </a:r>
            <a:r>
              <a:rPr sz="1120">
                <a:solidFill>
                  <a:srgbClr val="0E1620"/>
                </a:solidFill>
                <a:latin typeface="Arial"/>
              </a:rPr>
              <a:t>the engine is compounding corporate value, realised as listed gains — a total-return strategy at its core.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An optional managed distribution.  </a:t>
            </a:r>
            <a:r>
              <a:rPr sz="1120">
                <a:solidFill>
                  <a:srgbClr val="0E1620"/>
                </a:solidFill>
                <a:latin typeface="Arial"/>
              </a:rPr>
              <a:t>UK trusts can pay a smoothed annual dividend from realised gains and revenue reserves — a steady, predictable payout where advisers want income.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Quarterly and smoothed.  </a:t>
            </a:r>
            <a:r>
              <a:rPr sz="1120">
                <a:solidFill>
                  <a:srgbClr val="0E1620"/>
                </a:solidFill>
                <a:latin typeface="Arial"/>
              </a:rPr>
              <a:t>a target yield and frequency to be set at launch — funded from reserves so it does not force selling.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5803392"/>
            <a:ext cx="870530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40" b="0" i="1">
                <a:solidFill>
                  <a:srgbClr val="556A83"/>
                </a:solidFill>
                <a:latin typeface="Arial"/>
              </a:rPr>
              <a:t>Proposed; any distribution policy and yield to be set with the sponsor and board, subject to available reserves and regulation.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261811"/>
            <a:ext cx="8895505" cy="54620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261811"/>
            <a:ext cx="863215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Growth at the core — with the option of a smoothed income the trust wrapper makes possible.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Section 7 · Structure &amp; governance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320" b="0" i="0" spc="-87">
                <a:solidFill>
                  <a:srgbClr val="314359"/>
                </a:solidFill>
                <a:latin typeface="Times New Roman"/>
              </a:rPr>
              <a:t>Why a listed trust is the ideal home for this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closed-end structure matches long-horizon engaged ownership better than any open-ended wrapper.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1229" y="6876288"/>
            <a:ext cx="3218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40" b="0" i="0">
                <a:solidFill>
                  <a:srgbClr val="556A83"/>
                </a:solidFill>
                <a:latin typeface="Arial"/>
              </a:rPr>
              <a:t>Strictly confidential  ·  professional &amp; intermediary use only     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340864"/>
            <a:ext cx="8705305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Permanent capital = patient capital.  </a:t>
            </a:r>
            <a:r>
              <a:rPr sz="1120">
                <a:solidFill>
                  <a:srgbClr val="0E1620"/>
                </a:solidFill>
                <a:latin typeface="Arial"/>
              </a:rPr>
              <a:t>no forced redemptions, so we are never a forced seller — the multi-year engagement is protected and dislocations become opportunities.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Daily liquidity for your clients.  </a:t>
            </a:r>
            <a:r>
              <a:rPr sz="1120">
                <a:solidFill>
                  <a:srgbClr val="0E1620"/>
                </a:solidFill>
                <a:latin typeface="Arial"/>
              </a:rPr>
              <a:t>shares trade on the London Stock Exchange — an institutional strategy with daily dealing and no capital calls.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An independent board.  </a:t>
            </a:r>
            <a:r>
              <a:rPr sz="1120">
                <a:solidFill>
                  <a:srgbClr val="0E1620"/>
                </a:solidFill>
                <a:latin typeface="Arial"/>
              </a:rPr>
              <a:t>a majority-independent board oversees the manager on shareholders’ behalf — governance advisers and clients can rely on.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Tier-one service providers.  </a:t>
            </a:r>
            <a:r>
              <a:rPr sz="1120">
                <a:solidFill>
                  <a:srgbClr val="0E1620"/>
                </a:solidFill>
                <a:latin typeface="Arial"/>
              </a:rPr>
              <a:t>custody, administration and audit segregated from investment — SEB · MUFG · KPMG.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Institutional strategy, listed-share convenience, independent oversight — without giving up the patient capital it needs.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Section 7 · Structure &amp; governance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320" b="0" i="0" spc="-87">
                <a:solidFill>
                  <a:srgbClr val="314359"/>
                </a:solidFill>
                <a:latin typeface="Times New Roman"/>
              </a:rPr>
              <a:t>Discount control, listing and an indicative timetable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Proactive NAV discipline, a considered listing venue, and a standard launch roadmap.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1229" y="6876288"/>
            <a:ext cx="3218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40" b="0" i="0">
                <a:solidFill>
                  <a:srgbClr val="556A83"/>
                </a:solidFill>
                <a:latin typeface="Arial"/>
              </a:rPr>
              <a:t>Strictly confidential  ·  professional &amp; intermediary use only    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340864"/>
            <a:ext cx="877845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Discount control.  </a:t>
            </a:r>
            <a:r>
              <a:rPr sz="1120">
                <a:solidFill>
                  <a:srgbClr val="0E1620"/>
                </a:solidFill>
                <a:latin typeface="Arial"/>
              </a:rPr>
              <a:t>a buyback policy that triggers when the shares trade materially below NAV — keeping any discount tight, supported by realised exit gains.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Listing venue.  </a:t>
            </a:r>
            <a:r>
              <a:rPr sz="1120">
                <a:solidFill>
                  <a:srgbClr val="0E1620"/>
                </a:solidFill>
                <a:latin typeface="Arial"/>
              </a:rPr>
              <a:t>LSE Main Market or the Specialist Fund Segment — weighed on index eligibility, investor base and compliance.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3998976"/>
            <a:ext cx="2125118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6707" y="3998976"/>
            <a:ext cx="197881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MONTH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4486656"/>
            <a:ext cx="2125118" cy="12192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1338" y="4603699"/>
            <a:ext cx="1934918" cy="1024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Structuring, board and service-provider appointments; mandate and policies agreed.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20149" y="4408627"/>
            <a:ext cx="21946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80" b="0" i="0">
                <a:solidFill>
                  <a:srgbClr val="556A83"/>
                </a:solidFill>
                <a:latin typeface="Arial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81087" y="3998976"/>
            <a:ext cx="2125118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68872" y="3998976"/>
            <a:ext cx="197881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MONTH 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81087" y="4486656"/>
            <a:ext cx="2125118" cy="12192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83503" y="4603699"/>
            <a:ext cx="1934918" cy="1024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Draft prospectus and due diligence; discount and distribution policies finalised.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62314" y="4408627"/>
            <a:ext cx="21946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80" b="0" i="0">
                <a:solidFill>
                  <a:srgbClr val="556A83"/>
                </a:solidFill>
                <a:latin typeface="Arial"/>
              </a:rPr>
              <a:t>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23252" y="3998976"/>
            <a:ext cx="2125118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11037" y="3998976"/>
            <a:ext cx="197881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MONTH 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23252" y="4486656"/>
            <a:ext cx="2125118" cy="12192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5668" y="4603699"/>
            <a:ext cx="1934918" cy="1024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Regulatory review; marketing and cornerstone engagement.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04479" y="4408627"/>
            <a:ext cx="21946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80" b="0" i="0">
                <a:solidFill>
                  <a:srgbClr val="556A83"/>
                </a:solidFill>
                <a:latin typeface="Arial"/>
              </a:rPr>
              <a:t>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65417" y="3998976"/>
            <a:ext cx="2125118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53202" y="3998976"/>
            <a:ext cx="197881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MONTH 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65417" y="4486656"/>
            <a:ext cx="2125118" cy="12192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67833" y="4603699"/>
            <a:ext cx="1934918" cy="1024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Roadshow, book-build and admission to listing.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22" y="6339840"/>
            <a:ext cx="885161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40" b="0" i="1">
                <a:solidFill>
                  <a:srgbClr val="556A83"/>
                </a:solidFill>
                <a:latin typeface="Arial"/>
              </a:rPr>
              <a:t>Illustrative 3–4 month roadmap; actual timetable, venue and discount policy subject to the sponsor, board and regulatory approval.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00094" cy="36576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292096"/>
            <a:ext cx="365769" cy="3251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487168"/>
            <a:ext cx="8778459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0" i="0" spc="-90">
                <a:solidFill>
                  <a:srgbClr val="FFFFFF"/>
                </a:solidFill>
                <a:latin typeface="Times New Roman"/>
              </a:rPr>
              <a:t>Bringing institutional engaged ownership to UK wealth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60064"/>
            <a:ext cx="8778459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For your clients:</a:t>
            </a:r>
            <a:r>
              <a:rPr sz="1200">
                <a:solidFill>
                  <a:srgbClr val="E2E5E9"/>
                </a:solidFill>
                <a:latin typeface="Arial"/>
              </a:rPr>
              <a:t> a liquid, listed, differentiated equity holding — a 20-year net track record, real diversification and downside protection, with daily dealing.</a:t>
            </a:r>
          </a:p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Why now:</a:t>
            </a:r>
            <a:r>
              <a:rPr sz="1200">
                <a:solidFill>
                  <a:srgbClr val="E2E5E9"/>
                </a:solidFill>
                <a:latin typeface="Arial"/>
              </a:rPr>
              <a:t> expensive, concentrated markets and decaying analytical alpha make a created-alpha diversifier timely — and the hedge is bought before the crack.</a:t>
            </a:r>
          </a:p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The proposal:</a:t>
            </a:r>
            <a:r>
              <a:rPr sz="1200">
                <a:solidFill>
                  <a:srgbClr val="E2E5E9"/>
                </a:solidFill>
                <a:latin typeface="Arial"/>
              </a:rPr>
              <a:t> partner to launch a UK investment trust built on this strategy.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6193536"/>
            <a:ext cx="8778459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Stefan Charette   ·   Athanase Industrial Partner   ·   charette@athanase.se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