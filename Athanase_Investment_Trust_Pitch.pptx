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870104" cy="40234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26080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389632"/>
            <a:ext cx="8046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FOR DISCUSSION · A PROPOSED UK INVESTMENT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121152"/>
            <a:ext cx="8632151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ownership, in a listed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437888"/>
            <a:ext cx="8193228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80" b="0" i="1">
                <a:solidFill>
                  <a:srgbClr val="E2E5E9"/>
                </a:solidFill>
                <a:latin typeface="Times New Roman"/>
              </a:rPr>
              <a:t>A 20-year institutional engaged-ownership strategy — proposed as a UK investment trust, giving wealth portfolios listed, liquid access.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22" y="6456883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Athanase Industrial Partner    ·    Strictly confidential    ·    For professional and intermediary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proposition, in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listed wrapper around a proven, 20-year engaged-ownership strategy — built for UK wealth portfolios.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mandate.  </a:t>
            </a:r>
            <a:r>
              <a:rPr sz="1120">
                <a:solidFill>
                  <a:srgbClr val="0E1620"/>
                </a:solidFill>
                <a:latin typeface="Arial"/>
              </a:rPr>
              <a:t>long-term capital growth through engaged ownership of quality, mispriced listed Nordic and European mid-caps — value we create from the boardroom, not market direction.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proof.  </a:t>
            </a:r>
            <a:r>
              <a:rPr sz="1120">
                <a:solidFill>
                  <a:srgbClr val="0E1620"/>
                </a:solidFill>
                <a:latin typeface="Arial"/>
              </a:rPr>
              <a:t>~16% net p.a. over 20 years (+10 pts a year vs the index), a 92% deal hit rate, and no investor loss over a full holding period.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wrapper.  </a:t>
            </a:r>
            <a:r>
              <a:rPr sz="1120">
                <a:solidFill>
                  <a:srgbClr val="0E1620"/>
                </a:solidFill>
                <a:latin typeface="Arial"/>
              </a:rPr>
              <a:t>a closed-end trust gives the strategy permanent (patient) capital, and gives your clients daily dealing on the London Stock Exchange.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Why now.  </a:t>
            </a:r>
            <a:r>
              <a:rPr sz="1120">
                <a:solidFill>
                  <a:srgbClr val="0E1620"/>
                </a:solidFill>
                <a:latin typeface="Arial"/>
              </a:rPr>
              <a:t>expensive, concentrated markets and AI-driven alpha decay make a created-alpha, low-correlation diversifier timely.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An institutional strategy, in a structure your clients can buy and sell like any listed share.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proposed trust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Indicative parameters for discussion — final terms to be set with the sponsor and in the prospectus.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340864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69" y="234086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4676" y="234086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UK closed-end investment trust, London-listed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2721254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22" y="2721254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272125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Listing 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4676" y="272125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LSE Main Market or Specialist Fund Segment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3101644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3101644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310164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Investment 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4676" y="310164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Long-term capital growth via engaged ownership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482035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3482035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69" y="3482035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Portfolio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4676" y="3482035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8–12 high-conviction listed positions; Nordic / European mid-caps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3862425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22" y="3862425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5969" y="3862425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Reference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4676" y="3862425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Global / European equities, total return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242816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242816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969" y="424281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Target raise &amp; fees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84676" y="424281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to be agreed with the sponsor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4623206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922" y="4623206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5969" y="462320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84676" y="462320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daily dealing in the listed shares; no capital calls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22" y="5003596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8922" y="5003596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5969" y="500359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Discount control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84676" y="500359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buyback when shares trade materially below NAV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5383987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8922" y="5383987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5969" y="5383987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Manager alignment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84676" y="5383987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significant team co-investment alongside shareholders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22" y="5764377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8922" y="5764377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5969" y="5764377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Service providers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84676" y="5764377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Custody SEB · Administration MUFG · Audit KPMG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22" y="6388608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Indicative only and subject to contract, regulatory approval and final fund documentation. Not an offer of securities.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team, and its alignment with shareholders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Boutique conviction, tier-one governance — and real skin in the game.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20-year team.  </a:t>
            </a:r>
            <a:r>
              <a:rPr sz="1120">
                <a:solidFill>
                  <a:srgbClr val="0E1620"/>
                </a:solidFill>
                <a:latin typeface="Arial"/>
              </a:rPr>
              <a:t>the same people compounding capital through multiple cycles — deep operating and boardroom experience, not a single star manager.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Skin in the game.  </a:t>
            </a:r>
            <a:r>
              <a:rPr sz="1120">
                <a:solidFill>
                  <a:srgbClr val="0E1620"/>
                </a:solidFill>
                <a:latin typeface="Arial"/>
              </a:rPr>
              <a:t>the team co-invests its own capital alongside shareholders — aligned to net realised returns, not assets gathered.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proprietary edge.  </a:t>
            </a:r>
            <a:r>
              <a:rPr sz="1120">
                <a:solidFill>
                  <a:srgbClr val="0E1620"/>
                </a:solidFill>
                <a:latin typeface="Arial"/>
              </a:rPr>
              <a:t>a database of ~20,000 CEOs and a behavioural diligence model — the discipline behind a 92% deal-level hit rate.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institutional fortress.  </a:t>
            </a:r>
            <a:r>
              <a:rPr sz="1120">
                <a:solidFill>
                  <a:srgbClr val="0E1620"/>
                </a:solidFill>
                <a:latin typeface="Arial"/>
              </a:rPr>
              <a:t>operations, risk and valuation independent of investment decisions; custody, administration and audit by SEB, MUFG and KPMG.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combination wealth committees ask for: conviction, alignment and independent, tier-one governance.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Your clients own the most crowded trade in a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Passive equity has become a concentrated, expensive bet on a handful of mega-caps — correlated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concentrated factor bet.  </a:t>
            </a:r>
            <a:r>
              <a:rPr sz="1160">
                <a:solidFill>
                  <a:srgbClr val="0E1620"/>
                </a:solidFill>
                <a:latin typeface="Arial"/>
              </a:rPr>
              <a:t>the index is more concentrated, and more expensive, than at almost any point in 50 years — the same names, owned by everyone.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It falls together.  </a:t>
            </a:r>
            <a:r>
              <a:rPr sz="1160">
                <a:solidFill>
                  <a:srgbClr val="0E1620"/>
                </a:solidFill>
                <a:latin typeface="Arial"/>
              </a:rPr>
              <a:t>when the leaders re-rate down, “diversified” passive falls with them; there is no hiding place in more of the same.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The de-rated alternative.  </a:t>
            </a:r>
            <a:r>
              <a:rPr sz="1160">
                <a:solidFill>
                  <a:srgbClr val="0E1620"/>
                </a:solidFill>
                <a:latin typeface="Arial"/>
              </a:rPr>
              <a:t>engaged ownership of quality mid-caps offers an attractive entry — a return earned from corporate change, not from the same mega-caps re-rating ever higher.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opportunity: a liquid, differentiated equity holding that earns its return from company change, not market direction.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An inefficiency AI can’t arbitrage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is not faster analysis — it is governance and ownership, where the inefficiency persists.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Under-researched, under-governed.  </a:t>
            </a:r>
            <a:r>
              <a:rPr sz="1160">
                <a:solidFill>
                  <a:srgbClr val="0E1620"/>
                </a:solidFill>
                <a:latin typeface="Arial"/>
              </a:rPr>
              <a:t>rising regulation and falling broker coverage leave quality mid-caps mispriced — and many carry a correctable capital-allocation or governance gap.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Analytical alpha is commoditizing.  </a:t>
            </a:r>
            <a:r>
              <a:rPr sz="1160">
                <a:solidFill>
                  <a:srgbClr val="0E1620"/>
                </a:solidFill>
                <a:latin typeface="Arial"/>
              </a:rPr>
              <a:t>AI lets every manager run the same financial analysis instantly; the screenable names get bid up and that edge decays toward zero.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Created, not discovered.  </a:t>
            </a:r>
            <a:r>
              <a:rPr sz="1160">
                <a:solidFill>
                  <a:srgbClr val="0E1620"/>
                </a:solidFill>
                <a:latin typeface="Arial"/>
              </a:rPr>
              <a:t>our return comes from board control and operational change — you cannot download a board seat, so the edge endures as analysis commoditizes.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5803392"/>
            <a:ext cx="87053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Mechanism documented: LLMs already perform financial-statement analysis at analyst level (Kim, Muhn &amp; Nikolaev, 2024); predictability decays once a strategy is replicable (McLean &amp; Pontiff, 2016).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engaged-ownership alpha becomes scarcer — and more valuable.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When valuations crack, where will your clients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the cycle will turn — and the hedge can only be bought before the crack, not after.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Global equities — fully exposed.  </a:t>
            </a:r>
            <a:r>
              <a:rPr sz="1160">
                <a:solidFill>
                  <a:srgbClr val="0E1620"/>
                </a:solidFill>
                <a:latin typeface="Arial"/>
              </a:rPr>
              <a:t>your clients own the most-expensive, most-concentrated names, with nothing to do when they fall.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Private equity — the trap.  </a:t>
            </a:r>
            <a:r>
              <a:rPr sz="1160">
                <a:solidFill>
                  <a:srgbClr val="0E1620"/>
                </a:solidFill>
                <a:latin typeface="Arial"/>
              </a:rPr>
              <a:t>marks lag then catch down, while illiquidity blocks the exit exactly when it is needed.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This trust — the hedge.  </a:t>
            </a:r>
            <a:r>
              <a:rPr sz="1160">
                <a:solidFill>
                  <a:srgbClr val="0E1620"/>
                </a:solidFill>
                <a:latin typeface="Arial"/>
              </a:rPr>
              <a:t>board control floors the risk, the shares stay liquid, and the dislocation becomes the entry point — not the trap.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5188915"/>
            <a:ext cx="8895505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5188915"/>
            <a:ext cx="58523" cy="93634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807" y="5296204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LIVE — JUNE 2026  ·  BLOOMBERG / CNBC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5579059"/>
            <a:ext cx="859557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Partners Group capped redemptions in its $8.6bn evergreen private-equity fund at 5% of NAV after withdrawal requests hit 9.8% — KKR, Blackstone and Ares fell on the news. The PE exit is closing, exactly as feared.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While evergreen PE gates redemptions, a listed trust trades every day the market is open — the liquidity your clients keep when it matters.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We don’t pick stocks — we build companies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Quality-core constructivism: own good businesses, and make them better from the boardroom.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Quality at a discount.  </a:t>
            </a:r>
            <a:r>
              <a:rPr sz="1120">
                <a:solidFill>
                  <a:srgbClr val="0E1620"/>
                </a:solidFill>
                <a:latin typeface="Arial"/>
              </a:rPr>
              <a:t>profitable, high-return businesses bought below intrinsic value — never broken companies or turnarounds we cannot underwrite.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Value we create, not discover.  </a:t>
            </a:r>
            <a:r>
              <a:rPr sz="1120">
                <a:solidFill>
                  <a:srgbClr val="0E1620"/>
                </a:solidFill>
                <a:latin typeface="Arial"/>
              </a:rPr>
              <a:t>board control, capital-allocation discipline and operational change — not leverage or financial engineering.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Returns from earnings, not re-rating.  </a:t>
            </a:r>
            <a:r>
              <a:rPr sz="1120">
                <a:solidFill>
                  <a:srgbClr val="0E1620"/>
                </a:solidFill>
                <a:latin typeface="Arial"/>
              </a:rPr>
              <a:t>the gain comes from the business improving under our influence — bankable cash, not a hoped-for multiple.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Constructive, by agreement.  </a:t>
            </a:r>
            <a:r>
              <a:rPr sz="1120">
                <a:solidFill>
                  <a:srgbClr val="0E1620"/>
                </a:solidFill>
                <a:latin typeface="Arial"/>
              </a:rPr>
              <a:t>board seats won collaboratively, not proxy wars fought — a Nordic governance model, 20 years honed.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Private-equity-style value creation — in transparent, listed, daily-liquid 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What makes a target — the tollgates every idea must 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underwriting bar, applied before a single pound is committed.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high-quality core.  </a:t>
            </a:r>
            <a:r>
              <a:rPr sz="1120">
                <a:solidFill>
                  <a:srgbClr val="0E1620"/>
                </a:solidFill>
                <a:latin typeface="Arial"/>
              </a:rPr>
              <a:t>durable franchise economics and high returns on incremental capital (ROIIC) — “attractive even if we change nothing.”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structural margin of safety.  </a:t>
            </a:r>
            <a:r>
              <a:rPr sz="1120">
                <a:solidFill>
                  <a:srgbClr val="0E1620"/>
                </a:solidFill>
                <a:latin typeface="Arial"/>
              </a:rPr>
              <a:t>the core alone justifies the price; a ~30–40% discount to intrinsic value underwrites the downside.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correctable gap.  </a:t>
            </a:r>
            <a:r>
              <a:rPr sz="1120">
                <a:solidFill>
                  <a:srgbClr val="0E1620"/>
                </a:solidFill>
                <a:latin typeface="Arial"/>
              </a:rPr>
              <a:t>an identifiable capital-allocation, cost or governance issue we can fix from the board.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credible path to alignment.  </a:t>
            </a:r>
            <a:r>
              <a:rPr sz="1120">
                <a:solidFill>
                  <a:srgbClr val="0E1620"/>
                </a:solidFill>
                <a:latin typeface="Arial"/>
              </a:rPr>
              <a:t>a realistic route to a board seat — no path, no position (our walk-away discipline).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Roughly one new investment a year clears all three tollgates — selectivity is the first risk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Portfolio architecture: concentrated, governed, floored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Deep ownership where we have influence — sized so no single position can dominate.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8–12 high-conviction positions.  </a:t>
            </a:r>
            <a:r>
              <a:rPr sz="1120">
                <a:solidFill>
                  <a:srgbClr val="0E1620"/>
                </a:solidFill>
                <a:latin typeface="Arial"/>
              </a:rPr>
              <a:t>concentration is the source of return and of boardroom influence — we own enough to matter.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Built in stages.  </a:t>
            </a:r>
            <a:r>
              <a:rPr sz="1120">
                <a:solidFill>
                  <a:srgbClr val="0E1620"/>
                </a:solidFill>
                <a:latin typeface="Arial"/>
              </a:rPr>
              <a:t>a researched toehold, then board alignment secured, then sized to conviction — never sized to conviction before alignment.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Hardened guardrails.  </a:t>
            </a:r>
            <a:r>
              <a:rPr sz="1120">
                <a:solidFill>
                  <a:srgbClr val="0E1620"/>
                </a:solidFill>
                <a:latin typeface="Arial"/>
              </a:rPr>
              <a:t>position and concentration limits, plus automatic −10 / −20 / −30% re-underwrite triggers — the determined-seller framework.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Liquidity by design.  </a:t>
            </a:r>
            <a:r>
              <a:rPr sz="1120">
                <a:solidFill>
                  <a:srgbClr val="0E1620"/>
                </a:solidFill>
                <a:latin typeface="Arial"/>
              </a:rPr>
              <a:t>listed holdings the trust can exit at will — no lock-ups, no capital-call queue, no blind pool.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Concentrated enough to influence; governed and floored so no holding can blow up the trust.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investment process,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disciplined lifecycle from idea to exit — with an independent Investment Committee at the gate.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1 · 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Screen ~20,000 scored companies for tangible profits and correctable gaps; TR-1 / ownership signals and executive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0149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1087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8872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2 · UNDERWRITE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1087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3503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Desktop modelling, site visits and management touchpoints; board and management quality scored as rigorously as the numbers.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314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23252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11037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3 · TOLLGATES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23252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5668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An independent Investment Committee owns sizing and the Go / No-Go — three tollgates before capital is committed.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479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5417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3202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4 · ENGAGE &amp;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65417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7833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Secure the board seat, execute the plan, and sell on a changed thesis — completely, on the facts.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Repeatable and governed — the same blueprint behind a 20-year record.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Active engagement: how the value is created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high-touch, boardroom strategy — value built one disciplined decision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Capital allocation first.  </a:t>
            </a:r>
            <a:r>
              <a:rPr sz="1120">
                <a:solidFill>
                  <a:srgbClr val="0E1620"/>
                </a:solidFill>
                <a:latin typeface="Arial"/>
              </a:rPr>
              <a:t>redirect cash to its highest return — disciplined M&amp;A, buybacks where the stock is cheap, and an end to value-destructive spending.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Operational improvement.  </a:t>
            </a:r>
            <a:r>
              <a:rPr sz="1120">
                <a:solidFill>
                  <a:srgbClr val="0E1620"/>
                </a:solidFill>
                <a:latin typeface="Arial"/>
              </a:rPr>
              <a:t>cost base, pricing and focus — working with the management we back, and replacing it where we must.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Incentives realigned.  </a:t>
            </a:r>
            <a:r>
              <a:rPr sz="1120">
                <a:solidFill>
                  <a:srgbClr val="0E1620"/>
                </a:solidFill>
                <a:latin typeface="Arial"/>
              </a:rPr>
              <a:t>pay-for-performance and ownership, so management is paid to compound value, not to grow assets.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Consensus, not confrontation.  </a:t>
            </a:r>
            <a:r>
              <a:rPr sz="1120">
                <a:solidFill>
                  <a:srgbClr val="0E1620"/>
                </a:solidFill>
                <a:latin typeface="Arial"/>
              </a:rPr>
              <a:t>we win the boardroom one conversation at a time — so decisions pass quietly, not in a public fight.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board seat is the lever — it de-risks the asset and turns governance into the return engine.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 risk system we use — and keep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engagement tests the system; our own mistakes are written back into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Agreement before capital.  </a:t>
            </a:r>
            <a:r>
              <a:rPr sz="1120">
                <a:solidFill>
                  <a:srgbClr val="0E1620"/>
                </a:solidFill>
                <a:latin typeface="Arial"/>
              </a:rPr>
              <a:t>no credible path to board alignment, no position — and if alignment fails, we walk away (e.g. Robit: exited at ~14% IRR; the shares later roughly halved).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determined-seller framework.  </a:t>
            </a:r>
            <a:r>
              <a:rPr sz="1120">
                <a:solidFill>
                  <a:srgbClr val="0E1620"/>
                </a:solidFill>
                <a:latin typeface="Arial"/>
              </a:rPr>
              <a:t>when the thesis breaks, exit completely on the facts — born from selling DistIT too gradually.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Mechanised, not emotional.  </a:t>
            </a:r>
            <a:r>
              <a:rPr sz="1120">
                <a:solidFill>
                  <a:srgbClr val="0E1620"/>
                </a:solidFill>
                <a:latin typeface="Arial"/>
              </a:rPr>
              <a:t>−10 / −20 / −30% triggers force a re-underwrite; sizing and exits owned by the Investment Committee.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Avoid the un-recoverable.  </a:t>
            </a:r>
            <a:r>
              <a:rPr sz="1120">
                <a:solidFill>
                  <a:srgbClr val="0E1620"/>
                </a:solidFill>
                <a:latin typeface="Arial"/>
              </a:rPr>
              <a:t>we accept optical volatility, but underwrite against the permanent loss that ends a track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Discipline that protected capital — and got sharper each time it was tested.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5 ·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Every investment in the current fund (AIP Fund 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full book, not a selection — winners, and the discipline on the one that disappointed.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340922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340864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845" y="2340864"/>
            <a:ext cx="1755691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52999" y="2340864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35537" y="2340864"/>
            <a:ext cx="1536230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691" y="2340864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Gross IRR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767" y="2340864"/>
            <a:ext cx="1463076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921" y="2340864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34844" y="2340864"/>
            <a:ext cx="1777638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7998" y="2340864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570073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76" y="2570073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79845" y="2570073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52999" y="2570073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5537" y="2570073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8691" y="2570073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71767" y="2570073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921" y="2570073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6.2×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34844" y="2570073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07998" y="2570073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2799283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76" y="2799283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9845" y="2799283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52999" y="2799283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5537" y="2799283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08691" y="2799283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71767" y="2799283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44921" y="2799283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5.4×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34844" y="2799283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07998" y="2799283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3028492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76" y="3028492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79845" y="3028492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52999" y="3028492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35537" y="3028492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08691" y="3028492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1767" y="3028492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44921" y="3028492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5.1×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34844" y="3028492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7998" y="3028492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3257702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2076" y="3257702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79845" y="3257702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52999" y="3257702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35537" y="3257702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08691" y="3257702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71767" y="3257702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4921" y="3257702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2.8×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34844" y="3257702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07998" y="3257702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3486912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2076" y="3486912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79845" y="3486912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852999" y="3486912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35537" y="3486912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08691" y="3486912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71767" y="3486912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44921" y="3486912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2.0×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534844" y="3486912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07998" y="3486912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3716121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2076" y="3716121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79845" y="3716121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852999" y="3716121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35537" y="3716121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08691" y="3716121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71767" y="3716121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44921" y="3716121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1.7×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534844" y="3716121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07998" y="3716121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3945331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2076" y="3945331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79845" y="3945331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852999" y="3945331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35537" y="3945331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08691" y="3945331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071767" y="3945331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4921" y="3945331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1.7×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34844" y="3945331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07998" y="3945331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4174540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2076" y="4174540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79845" y="4174540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852999" y="4174540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35537" y="4174540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08691" y="4174540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071767" y="4174540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144921" y="4174540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1.6×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534844" y="4174540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607998" y="4174540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38922" y="4403750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2076" y="4403750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79845" y="4403750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852999" y="4403750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35537" y="4403750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608691" y="4403750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071767" y="4403750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44921" y="4403750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1.6×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534844" y="4403750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607998" y="4403750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8922" y="4632960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12076" y="4632960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779845" y="4632960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852999" y="4632960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35537" y="4632960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608691" y="4632960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071767" y="4632960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44921" y="4632960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1.6×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534844" y="4632960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7998" y="4632960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38922" y="4862169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2076" y="4862169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79845" y="4862169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852999" y="4862169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535537" y="4862169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608691" y="4862169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071767" y="4862169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144921" y="4862169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1.5×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534844" y="4862169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607998" y="4862169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38922" y="5091379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12076" y="5091379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79845" y="5091379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852999" y="5091379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535537" y="5091379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08691" y="5091379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71767" y="5091379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144921" y="5091379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1.5×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534844" y="5091379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607998" y="5091379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38922" y="5320588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12076" y="5320588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779845" y="5320588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852999" y="5320588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535537" y="5320588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608691" y="5320588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071767" y="5320588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44921" y="5320588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1.4×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534844" y="5320588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607998" y="5320588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38922" y="5549798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12076" y="5549798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779845" y="5549798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852999" y="5549798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535537" y="5549798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608691" y="5549798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071767" y="5549798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144921" y="5549798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1.2×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534844" y="5549798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07998" y="5549798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38922" y="5779008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12076" y="5779008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779845" y="5779008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852999" y="5779008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535537" y="5779008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608691" y="5779008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071767" y="5779008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144921" y="5779008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1.2×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534844" y="5779008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7607998" y="5779008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38922" y="6008217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2076" y="6008217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779845" y="6008217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852999" y="6008217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35537" y="6008217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608691" y="6008217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071767" y="6008217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144921" y="6008217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1.2×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534844" y="6008217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607998" y="6008217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38922" y="6237427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12076" y="6237427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779845" y="6237427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2852999" y="6237427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535537" y="6237427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4608691" y="6237427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071767" y="6237427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144921" y="6237427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0.4×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7534844" y="6237427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607998" y="6237427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8922" y="6544665"/>
            <a:ext cx="8851613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Gross deal-level figures, AIP Fund II, to 2025, ranked by money multiple; “n.m.” where holding periods are too short to annualise. Past performance is not a guide to future returns.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£1 has become ~£18, net — versus ~£3 for the index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Twenty years of compounding from operating improvement — reconciled and audited by tier-one institutions.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14</a:t>
            </a:r>
          </a:p>
        </p:txBody>
      </p:sp>
      <p:pic>
        <p:nvPicPr>
          <p:cNvPr id="9" name="Picture 8" descr="trust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92" y="2438400"/>
            <a:ext cx="5047614" cy="2751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9691" y="2487168"/>
            <a:ext cx="365769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~16%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9691" y="2945587"/>
            <a:ext cx="365769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net p.a. over 20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691" y="3325977"/>
            <a:ext cx="365769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+10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691" y="3784396"/>
            <a:ext cx="365769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 year vs the index, 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4164787"/>
            <a:ext cx="365769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9691" y="4623206"/>
            <a:ext cx="365769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investor loss over a holding 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9691" y="5003596"/>
            <a:ext cx="365769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2.40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691" y="5462016"/>
            <a:ext cx="365769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Sortino ratio — downside-aware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691" y="5842406"/>
            <a:ext cx="36576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Two market drawdowns (2010, 2020) fully recovered; even the worst entry month still compounded at +7% net.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92" y="6300825"/>
            <a:ext cx="508419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Cumulative growth of capital, net of fees, 2006–2025 (log scale); SEB · MUFG · KPMG. Newly-proposed trust; manager’s existing strategy. Past performance is not a guide to future returns.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 genuine diversifier that defends the 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Low-correlation equity exposure that earns its place beside passive and private equity.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0.44 correlation to global equities.  </a:t>
            </a:r>
            <a:r>
              <a:rPr sz="1160">
                <a:solidFill>
                  <a:srgbClr val="0E1620"/>
                </a:solidFill>
                <a:latin typeface="Arial"/>
              </a:rPr>
              <a:t>real diversification — not more of what your clients already own through passive.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board seat floors the fundamental risk.  </a:t>
            </a:r>
            <a:r>
              <a:rPr sz="1160">
                <a:solidFill>
                  <a:srgbClr val="0E1620"/>
                </a:solidFill>
                <a:latin typeface="Arial"/>
              </a:rPr>
              <a:t>we own the cash flow, capex and pay — so the asset is de-risked whatever the share price does.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Uncorrelated by construction.  </a:t>
            </a:r>
            <a:r>
              <a:rPr sz="1160">
                <a:solidFill>
                  <a:srgbClr val="0E1620"/>
                </a:solidFill>
                <a:latin typeface="Arial"/>
              </a:rPr>
              <a:t>returns come from earnings and governance change, not from the index re-rating — a different engine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index falls, this is built to defend the portfolio — not amplify the fall.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Distribution policy — designed around the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strategy is total-return; the trust structure can still deliver a predictable income to clients who want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Primarily capital growth.  </a:t>
            </a:r>
            <a:r>
              <a:rPr sz="1120">
                <a:solidFill>
                  <a:srgbClr val="0E1620"/>
                </a:solidFill>
                <a:latin typeface="Arial"/>
              </a:rPr>
              <a:t>the engine is compounding corporate value, realised as listed gains — a total-return strategy at its core.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optional managed distribution.  </a:t>
            </a:r>
            <a:r>
              <a:rPr sz="1120">
                <a:solidFill>
                  <a:srgbClr val="0E1620"/>
                </a:solidFill>
                <a:latin typeface="Arial"/>
              </a:rPr>
              <a:t>UK trusts can pay a smoothed annual dividend from realised gains and revenue reserves — a steady, predictable payout where advisers want income.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Quarterly and smoothed.  </a:t>
            </a:r>
            <a:r>
              <a:rPr sz="1120">
                <a:solidFill>
                  <a:srgbClr val="0E1620"/>
                </a:solidFill>
                <a:latin typeface="Arial"/>
              </a:rPr>
              <a:t>a target yield and frequency to be set at launch — funded from reserves so it does not force selling.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5803392"/>
            <a:ext cx="87053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Proposed; any distribution policy and yield to be set with the sponsor and board, subject to available reserves and regulation.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Growth at the core — with the option of a smoothed income the trust wrapper makes possible.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7 · Structure &amp;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Why a listed trust is the ideal home for this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closed-end structure matches long-horizon engaged ownership better than any open-ended wrapper.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Permanent capital = patient capital.  </a:t>
            </a:r>
            <a:r>
              <a:rPr sz="1120">
                <a:solidFill>
                  <a:srgbClr val="0E1620"/>
                </a:solidFill>
                <a:latin typeface="Arial"/>
              </a:rPr>
              <a:t>no forced redemptions, so we are never a forced seller — the multi-year engagement is protected and dislocations become opportunities.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Daily liquidity for your clients.  </a:t>
            </a:r>
            <a:r>
              <a:rPr sz="1120">
                <a:solidFill>
                  <a:srgbClr val="0E1620"/>
                </a:solidFill>
                <a:latin typeface="Arial"/>
              </a:rPr>
              <a:t>shares trade on the London Stock Exchange — daily dealing and no capital calls, while evergreen PE funds are gating redemptions (Partners Group, June 2026).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independent board.  </a:t>
            </a:r>
            <a:r>
              <a:rPr sz="1120">
                <a:solidFill>
                  <a:srgbClr val="0E1620"/>
                </a:solidFill>
                <a:latin typeface="Arial"/>
              </a:rPr>
              <a:t>a majority-independent board oversees the manager on shareholders’ behalf — governance advisers and clients can rely on.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Tier-one service providers.  </a:t>
            </a:r>
            <a:r>
              <a:rPr sz="1120">
                <a:solidFill>
                  <a:srgbClr val="0E1620"/>
                </a:solidFill>
                <a:latin typeface="Arial"/>
              </a:rPr>
              <a:t>custody, administration and audit segregated from investment — SEB · MUFG · KPMG.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Institutional strategy, listed-share convenience, independent oversight — without giving up the patient capital it needs.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7 · Structure &amp;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Discount control, listing and an indicative timetable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Proactive NAV discipline, a considered listing venue, and a standard launch roadmap.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7845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Discount control.  </a:t>
            </a:r>
            <a:r>
              <a:rPr sz="1120">
                <a:solidFill>
                  <a:srgbClr val="0E1620"/>
                </a:solidFill>
                <a:latin typeface="Arial"/>
              </a:rPr>
              <a:t>a buyback policy that triggers when the shares trade materially below NAV — keeping any discount tight, supported by realised exit gains.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Listing venue.  </a:t>
            </a:r>
            <a:r>
              <a:rPr sz="1120">
                <a:solidFill>
                  <a:srgbClr val="0E1620"/>
                </a:solidFill>
                <a:latin typeface="Arial"/>
              </a:rPr>
              <a:t>LSE Main Market or the Specialist Fund Segment — weighed on index eligibility, investor base and compliance.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707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338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Structuring, board and service-provider appointments; mandate and policies agreed.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0149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81087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8872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1087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3503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Draft prospectus and due diligence; discount and distribution policies finalised.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314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23252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1037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3252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5668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Regulatory review; marketing and cornerstone engagement.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479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65417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3202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65417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7833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Roadshow, book-build and admission to listing.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22" y="6339840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Illustrative 3–4 month roadmap; actual timetable, venue and discount policy subject to the sponsor, board and regulatory approval.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00094" cy="3657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292096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487168"/>
            <a:ext cx="8778459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0" spc="-90">
                <a:solidFill>
                  <a:srgbClr val="FFFFFF"/>
                </a:solidFill>
                <a:latin typeface="Times New Roman"/>
              </a:rPr>
              <a:t>Bringing institutional engaged ownership to UK 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60064"/>
            <a:ext cx="8778459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For your clients:</a:t>
            </a:r>
            <a:r>
              <a:rPr sz="1200">
                <a:solidFill>
                  <a:srgbClr val="E2E5E9"/>
                </a:solidFill>
                <a:latin typeface="Arial"/>
              </a:rPr>
              <a:t> a liquid, listed, differentiated equity holding — a 20-year net track record, real diversification and downside protection, with daily dealing.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Why now:</a:t>
            </a:r>
            <a:r>
              <a:rPr sz="1200">
                <a:solidFill>
                  <a:srgbClr val="E2E5E9"/>
                </a:solidFill>
                <a:latin typeface="Arial"/>
              </a:rPr>
              <a:t> expensive, concentrated markets and decaying analytical alpha make a created-alpha diversifier timely — and the hedge is bought before the crack.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The proposal:</a:t>
            </a:r>
            <a:r>
              <a:rPr sz="1200">
                <a:solidFill>
                  <a:srgbClr val="E2E5E9"/>
                </a:solidFill>
                <a:latin typeface="Arial"/>
              </a:rPr>
              <a:t> partner to launch a UK investment trust built on this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6193536"/>
            <a:ext cx="877845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Stefan Charette   ·   Athanase Industrial Partner   ·   charette@athanase.se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