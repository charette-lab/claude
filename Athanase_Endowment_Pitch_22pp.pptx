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6"/>
  </p:notesMasterIdLst>
  <p:sldIdLst>
    <p:sldId id="256" r:id="rId5"/>
    <p:sldId id="260" r:id="rId6"/>
    <p:sldId id="263" r:id="rId7"/>
    <p:sldId id="267" r:id="rId8"/>
    <p:sldId id="284" r:id="rId9"/>
    <p:sldId id="271" r:id="rId10"/>
    <p:sldId id="341" r:id="rId11"/>
    <p:sldId id="342" r:id="rId34"/>
    <p:sldId id="278" r:id="rId12"/>
    <p:sldId id="339" r:id="rId13"/>
    <p:sldId id="279" r:id="rId14"/>
    <p:sldId id="340" r:id="rId33"/>
    <p:sldId id="285" r:id="rId15"/>
    <p:sldId id="282" r:id="rId16"/>
    <p:sldId id="289" r:id="rId18"/>
    <p:sldId id="327" r:id="rId19"/>
    <p:sldId id="326" r:id="rId20"/>
    <p:sldId id="328" r:id="rId21"/>
    <p:sldId id="325" r:id="rId22"/>
    <p:sldId id="329" r:id="rId23"/>
    <p:sldId id="317" r:id="rId24"/>
    <p:sldId id="321" r:id="rId25"/>
  </p:sldIdLst>
  <p:sldSz cx="9753600" cy="7315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4CFD312-D45A-4B19-8463-6466AF1AAD16}" v="2" dt="2026-06-09T10:28:35.78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8" d="100"/>
          <a:sy n="108" d="100"/>
        </p:scale>
        <p:origin x="80" y="4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31" Type="http://schemas.microsoft.com/office/2016/11/relationships/changesInfo" Target="changesInfos/changesInfo1.xml"/><Relationship Id="rId32" Type="http://schemas.microsoft.com/office/2015/10/relationships/revisionInfo" Target="revisionInfo.xml"/><Relationship Id="rId33" Type="http://schemas.openxmlformats.org/officeDocument/2006/relationships/slide" Target="slides/slide12.xml"/><Relationship Id="rId34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fan Charette" userId="0db9b4c6-585a-4616-ab53-47ba82066cad" providerId="ADAL" clId="{42E455C0-5321-4BA4-9654-3C8921CE5DA4}"/>
    <pc:docChg chg="custSel modSld">
      <pc:chgData name="Stefan Charette" userId="0db9b4c6-585a-4616-ab53-47ba82066cad" providerId="ADAL" clId="{42E455C0-5321-4BA4-9654-3C8921CE5DA4}" dt="2026-06-09T10:30:30.470" v="340" actId="478"/>
      <pc:docMkLst>
        <pc:docMk/>
      </pc:docMkLst>
      <pc:sldChg chg="delSp modSp mod">
        <pc:chgData name="Stefan Charette" userId="0db9b4c6-585a-4616-ab53-47ba82066cad" providerId="ADAL" clId="{42E455C0-5321-4BA4-9654-3C8921CE5DA4}" dt="2026-06-09T10:30:30.470" v="340" actId="478"/>
        <pc:sldMkLst>
          <pc:docMk/>
          <pc:sldMk cId="0" sldId="256"/>
        </pc:sldMkLst>
        <pc:spChg chg="mod">
          <ac:chgData name="Stefan Charette" userId="0db9b4c6-585a-4616-ab53-47ba82066cad" providerId="ADAL" clId="{42E455C0-5321-4BA4-9654-3C8921CE5DA4}" dt="2026-06-09T10:30:25.904" v="339" actId="20577"/>
          <ac:spMkLst>
            <pc:docMk/>
            <pc:sldMk cId="0" sldId="256"/>
            <ac:spMk id="5" creationId="{00000000-0000-0000-0000-000000000000}"/>
          </ac:spMkLst>
        </pc:spChg>
        <pc:spChg chg="del">
          <ac:chgData name="Stefan Charette" userId="0db9b4c6-585a-4616-ab53-47ba82066cad" providerId="ADAL" clId="{42E455C0-5321-4BA4-9654-3C8921CE5DA4}" dt="2026-06-09T10:30:30.470" v="340" actId="478"/>
          <ac:spMkLst>
            <pc:docMk/>
            <pc:sldMk cId="0" sldId="256"/>
            <ac:spMk id="6" creationId="{00000000-0000-0000-0000-000000000000}"/>
          </ac:spMkLst>
        </pc:spChg>
      </pc:sldChg>
      <pc:sldChg chg="modSp mod">
        <pc:chgData name="Stefan Charette" userId="0db9b4c6-585a-4616-ab53-47ba82066cad" providerId="ADAL" clId="{42E455C0-5321-4BA4-9654-3C8921CE5DA4}" dt="2026-06-09T08:13:12.051" v="23" actId="20577"/>
        <pc:sldMkLst>
          <pc:docMk/>
          <pc:sldMk cId="0" sldId="268"/>
        </pc:sldMkLst>
        <pc:spChg chg="mod">
          <ac:chgData name="Stefan Charette" userId="0db9b4c6-585a-4616-ab53-47ba82066cad" providerId="ADAL" clId="{42E455C0-5321-4BA4-9654-3C8921CE5DA4}" dt="2026-06-09T08:13:12.051" v="23" actId="20577"/>
          <ac:spMkLst>
            <pc:docMk/>
            <pc:sldMk cId="0" sldId="268"/>
            <ac:spMk id="8" creationId="{00000000-0000-0000-0000-000000000000}"/>
          </ac:spMkLst>
        </pc:spChg>
      </pc:sldChg>
      <pc:sldChg chg="modSp mod">
        <pc:chgData name="Stefan Charette" userId="0db9b4c6-585a-4616-ab53-47ba82066cad" providerId="ADAL" clId="{42E455C0-5321-4BA4-9654-3C8921CE5DA4}" dt="2026-06-09T08:13:34.859" v="41" actId="20577"/>
        <pc:sldMkLst>
          <pc:docMk/>
          <pc:sldMk cId="0" sldId="269"/>
        </pc:sldMkLst>
        <pc:spChg chg="mod">
          <ac:chgData name="Stefan Charette" userId="0db9b4c6-585a-4616-ab53-47ba82066cad" providerId="ADAL" clId="{42E455C0-5321-4BA4-9654-3C8921CE5DA4}" dt="2026-06-09T08:13:34.859" v="41" actId="20577"/>
          <ac:spMkLst>
            <pc:docMk/>
            <pc:sldMk cId="0" sldId="269"/>
            <ac:spMk id="8" creationId="{00000000-0000-0000-0000-000000000000}"/>
          </ac:spMkLst>
        </pc:spChg>
      </pc:sldChg>
      <pc:sldChg chg="modSp mod">
        <pc:chgData name="Stefan Charette" userId="0db9b4c6-585a-4616-ab53-47ba82066cad" providerId="ADAL" clId="{42E455C0-5321-4BA4-9654-3C8921CE5DA4}" dt="2026-06-09T10:29:33.258" v="301" actId="20577"/>
        <pc:sldMkLst>
          <pc:docMk/>
          <pc:sldMk cId="0" sldId="339"/>
        </pc:sldMkLst>
        <pc:spChg chg="mod">
          <ac:chgData name="Stefan Charette" userId="0db9b4c6-585a-4616-ab53-47ba82066cad" providerId="ADAL" clId="{42E455C0-5321-4BA4-9654-3C8921CE5DA4}" dt="2026-06-09T10:29:33.258" v="301" actId="20577"/>
          <ac:spMkLst>
            <pc:docMk/>
            <pc:sldMk cId="0" sldId="339"/>
            <ac:spMk id="20" creationId="{00000000-0000-0000-0000-000000000000}"/>
          </ac:spMkLst>
        </pc:spChg>
        <pc:spChg chg="mod">
          <ac:chgData name="Stefan Charette" userId="0db9b4c6-585a-4616-ab53-47ba82066cad" providerId="ADAL" clId="{42E455C0-5321-4BA4-9654-3C8921CE5DA4}" dt="2026-06-09T10:29:20.676" v="300" actId="20577"/>
          <ac:spMkLst>
            <pc:docMk/>
            <pc:sldMk cId="0" sldId="339"/>
            <ac:spMk id="24" creationId="{00000000-0000-0000-0000-000000000000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8121-44FE-B2F6-B09CBC8BB4F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100"/>
          <c:min val="0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18791784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096E-4765-9E38-E47A72446DD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096E-4765-9E38-E47A72446DD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2-096E-4765-9E38-E47A72446DD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600"/>
          <c:min val="0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18791784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800"/>
          </a:pPr>
          <a:endParaRPr lang="sv-SE"/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20">
                    <a:solidFill>
                      <a:srgbClr val="0E1620"/>
                    </a:solidFill>
                  </a:defRPr>
                </a:pPr>
                <a:endParaRPr lang="sv-SE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E970-45BA-8499-251F9C2C08E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20">
                    <a:solidFill>
                      <a:srgbClr val="0E1620"/>
                    </a:solidFill>
                  </a:defRPr>
                </a:pPr>
                <a:endParaRPr lang="sv-SE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E970-45BA-8499-251F9C2C08E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  <a:endParaRPr lang="sv-SE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  <a:endParaRPr lang="sv-SE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880"/>
          </a:pPr>
          <a:endParaRPr lang="sv-SE"/>
        </a:p>
      </c:txPr>
    </c:legend>
    <c:plotVisOnly val="1"/>
    <c:dispBlanksAs val="gap"/>
    <c:showDLblsOverMax val="1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697395-2D59-4227-B53D-BB43A6595B5E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8C4698-2B99-4D89-860A-947FB274513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0857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8C4698-2B99-4D89-860A-947FB2745133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875954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9471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en-GB" sz="3360" spc="-126" dirty="0">
                <a:solidFill>
                  <a:srgbClr val="FFFFFF"/>
                </a:solidFill>
                <a:latin typeface="Times New Roman"/>
              </a:rPr>
              <a:t>Investor Presentation</a:t>
            </a:r>
            <a:endParaRPr sz="3360" b="0" i="0" spc="-126" dirty="0">
              <a:solidFill>
                <a:srgbClr val="FFFFFF"/>
              </a:solidFill>
              <a:latin typeface="Times New Roman"/>
            </a:endParaRP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GB" sz="1920" b="0" i="1" spc="-72" dirty="0">
                <a:solidFill>
                  <a:srgbClr val="E2E5E9"/>
                </a:solidFill>
                <a:latin typeface="Times New Roman"/>
              </a:rPr>
              <a:t>June 2026</a:t>
            </a:r>
            <a:endParaRPr sz="1920" b="0" i="1" spc="-72" dirty="0">
              <a:solidFill>
                <a:srgbClr val="E2E5E9"/>
              </a:solidFill>
              <a:latin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Passive has become a concentrated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cap-weighted index puts the most money into the stocks that have already risen the most — concentration and factor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53" y="2506675"/>
            <a:ext cx="2852999" cy="1170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of the S&amp;P 500 in its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10 largest stocks*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7960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547960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47960" y="2506675"/>
            <a:ext cx="2852999" cy="1170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in the “Magnificent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Seven” alone*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7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547267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47267" y="2506675"/>
            <a:ext cx="2852999" cy="1170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~50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since US equity was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this concentrated*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3969715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Cap-weighting buys high by design.</a:t>
            </a:r>
            <a:r>
              <a:rPr sz="1120">
                <a:solidFill>
                  <a:srgbClr val="0E1620"/>
                </a:solidFill>
                <a:latin typeface="Arial"/>
              </a:rPr>
              <a:t>  The more a stock rises, the more of it you must own — the opposite of buy-low discipline.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A concentrated factor bet.</a:t>
            </a:r>
            <a:r>
              <a:rPr sz="1120">
                <a:solidFill>
                  <a:srgbClr val="0E1620"/>
                </a:solidFill>
                <a:latin typeface="Arial"/>
              </a:rPr>
              <a:t>  The “diversified” index is now a leveraged position in large-cap growth, momentum and a single theme (AI) — not diversification.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Breadth is fragile.</a:t>
            </a:r>
            <a:r>
              <a:rPr sz="1120">
                <a:solidFill>
                  <a:srgbClr val="0E1620"/>
                </a:solidFill>
                <a:latin typeface="Arial"/>
              </a:rPr>
              <a:t>  A stumble in a handful of mega-caps now moves the entire index; the rest of the market has been left behind.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*Illustrative, recent data (2024–25); source: S&amp;P Dow Jones Indices. Index concentration and factor tilts change over time.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From passive risk to active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expensive, concentrated, passive-dominated market is exactly the environment active management is built for — and as analysis itself commoditises, the most durable edge is ownership, not stock-picking.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The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Expensive equities, record index concentration, and price-insensitive passive flows that inflate the most crowded names.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Why active now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Wider mispricing and dispersion; valuation discipline is rewarded again. The “active underperforms” critique is cyclical — and weakest in exactly this market.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A better kind of active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Other genuine edges exist — quant and specialist alpha — but they compete on analysing the same public data, which is what commoditises fastest. The most durable edge is ownership: buying mispriced businesses and changing the outcome.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614" y="3511296"/>
            <a:ext cx="329192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498" y="3511296"/>
            <a:ext cx="329192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the index is the crowded, expensive, fragile trade, the answer is not to pick stocks and hope — it is to own undervalued businesses and make them better. That is engaged ownership.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AI changes — and what it can’t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As machine analysis becomes ubiquitous, information-based edges are competed away faster. Engaged ownership creates the change rather than reads it — the least commoditised style.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01173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1821530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Investment style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50653" y="2292096"/>
            <a:ext cx="3767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553068" y="2292096"/>
            <a:ext cx="3577222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AI changes 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2292096"/>
            <a:ext cx="307246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20490" y="2292096"/>
            <a:ext cx="2882260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Effect on the edge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01173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1338" y="2682240"/>
            <a:ext cx="1821530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Quantitative / factor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50653" y="2682240"/>
            <a:ext cx="3767422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553068" y="2682240"/>
            <a:ext cx="3577222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Known signals are replicated and arbitraged at machine speed.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2682240"/>
            <a:ext cx="307246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20490" y="2682240"/>
            <a:ext cx="2882260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More crowded — published factors already fade ~58% post-publication (McLean &amp; Pontiff, 2016).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443020"/>
            <a:ext cx="201173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41338" y="3443020"/>
            <a:ext cx="1821530" cy="81930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&amp; value (fundamental)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50653" y="3443020"/>
            <a:ext cx="3767422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553068" y="3443020"/>
            <a:ext cx="3577222" cy="81930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LLMs already match or beat analysts at predicting the direction of earnings (Kim, Muhn &amp; Nikolaev, 2024).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8075" y="3443020"/>
            <a:ext cx="307246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20490" y="3443020"/>
            <a:ext cx="2882260" cy="81930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analytical edge commoditises; the crowd grows and the edge thins.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262323"/>
            <a:ext cx="201173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41338" y="4262323"/>
            <a:ext cx="1821530" cy="6437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Passive / index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50653" y="4262323"/>
            <a:ext cx="3767422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553068" y="4262323"/>
            <a:ext cx="3577222" cy="6437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Method unchanged — but more capital chases a shrinking pool of active alpha.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8075" y="4262323"/>
            <a:ext cx="307246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320490" y="4262323"/>
            <a:ext cx="2882260" cy="6437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Concentration and reflexivity risk rise (see §2–3).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906060"/>
            <a:ext cx="2011730" cy="103388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41338" y="4906060"/>
            <a:ext cx="1821530" cy="10338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Engaged ownership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50653" y="4906060"/>
            <a:ext cx="3767422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553068" y="4906060"/>
            <a:ext cx="3577222" cy="10338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Alpha comes from changing the earnings trajectory from a board seat — not from reading public data faster. AI augments our sourcing and diligence; it can’t replicate access, influence or execution.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8075" y="4906060"/>
            <a:ext cx="3072460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20490" y="4906060"/>
            <a:ext cx="2882260" cy="10338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Least commoditised — the edge is created, not discovered.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76492"/>
            <a:ext cx="8851613" cy="53644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85230" y="6076492"/>
            <a:ext cx="855899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everyone can analyse, analysis stops being an edge. The durable edge is the one AI can’t run — changing the company itself.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61913"/>
            <a:ext cx="8924767" cy="4096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46" y="6369100"/>
            <a:ext cx="8924767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And the opportunity set is deep and global: ~50,000 listed companies worldwide (World Federation of Exchanges, 2024); the investable MSCI ACWI IMI spans ~8,800 large-, mid- and small-cap names across 23 developed and 24 emerging markets — about 1,600 of them mid-caps (MSCI, 2024). Our €50m–€3bn target band, in markets with a stable legal system, is a large subset.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mid-caps are more often mispriced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companies that are easiest to improve are also the most likely to be mispriced — three structural features of the mid-market leave more value on the 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Thin analyst coverage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Far fewer sell-side analysts follow a mid-cap than a mega-cap, and many have little or no coverage at all. Less information reaches the market, so price discovery is slower and the gap between price and intrinsic value persists for longer.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Fewer sophisticated investors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segment is too small to move the needle for the largest institutions, so it is under-owned by the most resourced investors. Pricing is set at the margin by less-informed holders — leaving more frequent, and larger, mispricings.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Higher earnings volatility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Mid-caps’ earnings swing more than large caps’ — they are less diversified and earlier in their growth. The market over-extrapolates each swing, over-punishing a soft quarter and widening the discount to an otherwise durable core.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Less coverage, fewer expert owners and lumpier earnings mean mid-caps are mispriced more often and by more — a deeper opportunity set of low-risk entry points for a disciplined engaged owner.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this opportunity isn’t arbitraged away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is hard, uncomfortable and off-mandate for most investors — so the crowd stays away and the inefficiency is never competed out. Four barriers keep the lane open.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9122" y="2418892"/>
            <a:ext cx="402346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Fear keeps the crowd on the sidelines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828544"/>
            <a:ext cx="3994199" cy="1267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Most investors avoid a company while it is underperforming and wait for the turn — buying back only once results visibly improve, and the price with them. We do the opposite: we buy at the point of maximum doubt and create the improvement ourselves.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171975" y="2418892"/>
            <a:ext cx="402346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skill bar is genuinely high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828544"/>
            <a:ext cx="3994199" cy="1267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It takes three things at once — operating credibility, deep investment experience, and the psychological strength to convince a board and fellow shareholders you are right. Few managers have all three, so few can even attempt it.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38922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29122" y="4467148"/>
            <a:ext cx="402346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Career risk — and the wrong mandate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76800"/>
            <a:ext cx="3994199" cy="1267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Voicing a public or private view on what a company must do carries real career risk; the typical, risk-averse equity manager would rather stay quiet. And most funds have no mandate to engage at all — they simply vote with their feet and sell.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981775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171975" y="4467148"/>
            <a:ext cx="402346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They misread the discount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76800"/>
            <a:ext cx="3994199" cy="1267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crowd assumes a cheap, troubled company is even worse than it looks — and is often right. We play a different game: we buy good businesses hidden inside a poorly-run structure — quality at a discount, not a value trap.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388608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85230" y="6388608"/>
            <a:ext cx="8632151" cy="487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Each barrier filters out the typical manager; together they keep the opportunity uncrowded — and clearing all four at once is exactly what our combination of operating and investing experience is built to do.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Why Athanase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Athanase is the firm best built to capture this inefficiency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Harvesting this mispricing takes four capabilities at once — find the hidden core, win real control, fix it from the boardroom, and prove it repeats. Few managers have one; we have built all four.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We find what others miss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proprietary universe</a:t>
            </a:r>
            <a:r>
              <a:rPr sz="720">
                <a:solidFill>
                  <a:srgbClr val="0E1620"/>
                </a:solidFill>
                <a:latin typeface="Arial"/>
              </a:rPr>
              <a:t> — ~60,000 companies restated to economic reality, separating the profitable core from the value-destroying pivot.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Moat- and CEO-scored</a:t>
            </a:r>
            <a:r>
              <a:rPr sz="720">
                <a:solidFill>
                  <a:srgbClr val="0E1620"/>
                </a:solidFill>
                <a:latin typeface="Arial"/>
              </a:rPr>
              <a:t> — ~20,000 names ranked; about 1 in 1,000 screened is ever bought.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Hidden cores, not broken companies</a:t>
            </a:r>
            <a:r>
              <a:rPr sz="720">
                <a:solidFill>
                  <a:srgbClr val="0E1620"/>
                </a:solidFill>
                <a:latin typeface="Arial"/>
              </a:rPr>
              <a:t> — market leaders attractive even if we change nothing — no adverse selection.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We can actually change 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operator’s edge, not an analyst’s</a:t>
            </a:r>
            <a:r>
              <a:rPr sz="720">
                <a:solidFill>
                  <a:srgbClr val="0E1620"/>
                </a:solidFill>
                <a:latin typeface="Arial"/>
              </a:rPr>
              <a:t> — one integrated team for 20 years; 30+ public board seats; former CEOs and CIOs.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Control from the boardroom</a:t>
            </a:r>
            <a:r>
              <a:rPr sz="720">
                <a:solidFill>
                  <a:srgbClr val="0E1620"/>
                </a:solidFill>
                <a:latin typeface="Arial"/>
              </a:rPr>
              <a:t> — the experience to fix capital allocation, M&amp;A and focus — not merely to advise.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edge AI cannot replicate</a:t>
            </a:r>
            <a:r>
              <a:rPr sz="720">
                <a:solidFill>
                  <a:srgbClr val="0E1620"/>
                </a:solidFill>
                <a:latin typeface="Arial"/>
              </a:rPr>
              <a:t> — access, influence and execution, not reading public data faster.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We own the lane others abandoned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811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The mid-market sweet spot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€50m–€3bn, where a single board seat genuinely moves the outcome.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Uncontested by the giants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mega</a:t>
            </a:r>
            <a:r>
              <a:rPr lang="en-GB" sz="720" dirty="0">
                <a:solidFill>
                  <a:srgbClr val="0E1620"/>
                </a:solidFill>
                <a:latin typeface="Arial"/>
              </a:rPr>
              <a:t>-</a:t>
            </a:r>
            <a:r>
              <a:rPr sz="720" dirty="0">
                <a:solidFill>
                  <a:srgbClr val="0E1620"/>
                </a:solidFill>
                <a:latin typeface="Arial"/>
              </a:rPr>
              <a:t>cap activists left it behind as they scaled: high return, low competition.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Control by agreement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a </a:t>
            </a:r>
            <a:r>
              <a:rPr lang="en-GB" sz="720" dirty="0">
                <a:solidFill>
                  <a:srgbClr val="0E1620"/>
                </a:solidFill>
                <a:latin typeface="Arial"/>
              </a:rPr>
              <a:t>we invest after we have agreed on board engagement with the other shareholders</a:t>
            </a:r>
            <a:endParaRPr sz="720" dirty="0">
              <a:solidFill>
                <a:srgbClr val="0E1620"/>
              </a:solidFill>
              <a:latin typeface="Arial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And we have proven it repeats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743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1</a:t>
            </a:r>
            <a:r>
              <a:rPr lang="en-GB" sz="720" b="1" dirty="0">
                <a:solidFill>
                  <a:srgbClr val="314359"/>
                </a:solidFill>
                <a:latin typeface="Arial"/>
              </a:rPr>
              <a:t>9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% net p.a., capital grown 18×</a:t>
            </a:r>
            <a:r>
              <a:rPr lang="en-GB" sz="720" b="1" dirty="0">
                <a:solidFill>
                  <a:srgbClr val="314359"/>
                </a:solidFill>
                <a:latin typeface="Arial"/>
              </a:rPr>
              <a:t>, </a:t>
            </a:r>
            <a:r>
              <a:rPr lang="en-US" sz="700" b="1" dirty="0">
                <a:solidFill>
                  <a:srgbClr val="314359"/>
                </a:solidFill>
              </a:rPr>
              <a:t>7% worst-entry record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through two full market cycles, net of every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92% deal-level hit rate (35 of 38)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a 5× MOIC roughly every two years: skill, not luck.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93% up / 43% down capture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we harvest the inefficiency and protect the downside.</a:t>
            </a:r>
            <a:endParaRPr lang="en-GB" sz="720" dirty="0">
              <a:solidFill>
                <a:srgbClr val="0E1620"/>
              </a:solidFill>
              <a:latin typeface="Arial"/>
            </a:endParaRP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endParaRPr sz="720" dirty="0">
              <a:solidFill>
                <a:srgbClr val="0E162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Our Edge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Operators and investors in one 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rare combination behind our model: we have run real companies as chief executives — industrial conglomerates, consumer durables and services — and invested with this exact playbook, driving operating change from the boardroom, for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We have run the companies, not just modelled them.</a:t>
            </a:r>
            <a:r>
              <a:rPr sz="1160">
                <a:solidFill>
                  <a:srgbClr val="0E1620"/>
                </a:solidFill>
                <a:latin typeface="Arial"/>
              </a:rPr>
              <a:t>  Former CEOs and senior operators of industrial, consumer-durables and services businesses — we have sat in the chief executive’s seat and lived the operational “how”.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We have invested this way for two decades.</a:t>
            </a:r>
            <a:r>
              <a:rPr sz="1160">
                <a:solidFill>
                  <a:srgbClr val="0E1620"/>
                </a:solidFill>
                <a:latin typeface="Arial"/>
              </a:rPr>
              <a:t>  38 companies owned and 30+ public board seats — value created by operating change through board representation, the heart of our model.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The combination is the edge.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mispriced value and a C-suite operating lens to realise it — few managers have genuinely done both.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 · CONSTANT MULTIPLE)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+40% is pure earnings and mix — the same multiple on a cleaner, higher-ROIIC core. Any re-rating is upside we underwrite at zero.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 dirty="0">
                <a:solidFill>
                  <a:srgbClr val="314359"/>
                </a:solidFill>
                <a:latin typeface="Arial"/>
              </a:rPr>
              <a:t>Asymmetric capture (93% up / 43% down) and a validated 16.3%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46" y="7003084"/>
            <a:ext cx="9217382" cy="3121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De-smoothed large-buyout correlation to small/mid-cap equities ~0.89 (Two Sigma / Venn, 2024; Couts, Gonçalves &amp; Rossi, 2020; Boyer et al., 2018). Athanase correlation 0.44 (real). See references.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A drawdown you can actually defend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fear is defending a halved position in a live crisis review. The arithmetic — and the down-capture — make this the line item you point to with relief, not apology.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279499" cy="41452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41452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807" y="2467660"/>
            <a:ext cx="395030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FULL-FUND ARITHMETIC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2877312"/>
            <a:ext cx="3950306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 i="0" spc="-90">
                <a:solidFill>
                  <a:srgbClr val="314359"/>
                </a:solidFill>
                <a:latin typeface="Times New Roman"/>
              </a:rPr>
              <a:t>≈ 1% of the fund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807" y="3540556"/>
            <a:ext cx="3950306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is what a 50% drawdown in a 2% sleeve costs at the total-fund level — inside a normal month’s equity noise.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4291582"/>
            <a:ext cx="3950306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≈ 1.5% at a 3% sleeve — recoverable, and small.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807" y="4925568"/>
            <a:ext cx="3950306" cy="1267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Sized so that no single name — and no sleeve-wide drawdown — can move the fund’s outcome. The position is liquid and daily-priced, so the committee can exit at will: it is never locked in defending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7614" y="2292096"/>
            <a:ext cx="4352652" cy="4145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WHY IT CUSHIONS, NOT AMPLIFIES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At 43% down-capture, in a macro selloff the sleeve falls roughly half as much as the equity book — it softens the crisis, it doesn’t add to it.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Down months average ~1.5% versus the market’s ~3.8%.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Daily marks and zero capital calls — no forced selling of good assets at the bottom (the denominator effect that traps PE allocators).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two ~50% episodes were idiosyncratic and fully recovered (2010, 2020); Sortino 2.40.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A 50% drawdown on a small, liquid, low-down-capture sleeve is a ~1% fund event you can exit at will — not a career-defining hole you are locked into. The PE alternative is also down ~50%, but invisible and illiquid.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15.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e27318a-0826-4810-8988-cc3e5c2e3a20">
      <Terms xmlns="http://schemas.microsoft.com/office/infopath/2007/PartnerControls"/>
    </lcf76f155ced4ddcb4097134ff3c332f>
    <TaxCatchAll xmlns="4124b31e-6573-4802-b7ef-311f4d26277d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6310709CD82A6741BE5E8B9BFA41D3C0" ma:contentTypeVersion="13" ma:contentTypeDescription="Skapa ett nytt dokument." ma:contentTypeScope="" ma:versionID="ea70554b132df1325a42697029f21ce4">
  <xsd:schema xmlns:xsd="http://www.w3.org/2001/XMLSchema" xmlns:xs="http://www.w3.org/2001/XMLSchema" xmlns:p="http://schemas.microsoft.com/office/2006/metadata/properties" xmlns:ns2="5e27318a-0826-4810-8988-cc3e5c2e3a20" xmlns:ns3="4124b31e-6573-4802-b7ef-311f4d26277d" targetNamespace="http://schemas.microsoft.com/office/2006/metadata/properties" ma:root="true" ma:fieldsID="cc21193230fc81558174baefa7095284" ns2:_="" ns3:_="">
    <xsd:import namespace="5e27318a-0826-4810-8988-cc3e5c2e3a20"/>
    <xsd:import namespace="4124b31e-6573-4802-b7ef-311f4d2627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27318a-0826-4810-8988-cc3e5c2e3a2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Bildmarkeringar" ma:readOnly="false" ma:fieldId="{5cf76f15-5ced-4ddc-b409-7134ff3c332f}" ma:taxonomyMulti="true" ma:sspId="7f99c0e0-a277-4309-9e70-fff5b915cc5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124b31e-6573-4802-b7ef-311f4d26277d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9270a8ef-2ce6-4f9b-a60c-abb7e201e7ac}" ma:internalName="TaxCatchAll" ma:showField="CatchAllData" ma:web="4124b31e-6573-4802-b7ef-311f4d2627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ehållstyp"/>
        <xsd:element ref="dc:title" minOccurs="0" maxOccurs="1" ma:index="4" ma:displayName="Rubrik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F09CEDA-D96E-4DE0-BD69-05CF6CA08BCA}">
  <ds:schemaRefs>
    <ds:schemaRef ds:uri="http://schemas.microsoft.com/office/2006/metadata/properties"/>
    <ds:schemaRef ds:uri="http://schemas.microsoft.com/office/infopath/2007/PartnerControls"/>
    <ds:schemaRef ds:uri="5e27318a-0826-4810-8988-cc3e5c2e3a20"/>
    <ds:schemaRef ds:uri="4124b31e-6573-4802-b7ef-311f4d26277d"/>
  </ds:schemaRefs>
</ds:datastoreItem>
</file>

<file path=customXml/itemProps2.xml><?xml version="1.0" encoding="utf-8"?>
<ds:datastoreItem xmlns:ds="http://schemas.openxmlformats.org/officeDocument/2006/customXml" ds:itemID="{E9B4E500-B9BC-47AF-8F6B-49D89CFF5B8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e27318a-0826-4810-8988-cc3e5c2e3a20"/>
    <ds:schemaRef ds:uri="4124b31e-6573-4802-b7ef-311f4d2627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2B94E596-B65B-4BD7-8F65-8C8EB76BBAF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4280</Words>
  <Application>Microsoft Office PowerPoint</Application>
  <PresentationFormat>Custom</PresentationFormat>
  <Paragraphs>414</Paragraphs>
  <Slides>21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Aptos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Stefan Charette</cp:lastModifiedBy>
  <cp:revision>1</cp:revision>
  <dcterms:created xsi:type="dcterms:W3CDTF">2013-01-27T09:14:16Z</dcterms:created>
  <dcterms:modified xsi:type="dcterms:W3CDTF">2026-06-09T10:30:30Z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0x0101006310709CD82A6741BE5E8B9BFA41D3C0</vt:lpwstr>
  </property>
</Properties>
</file>