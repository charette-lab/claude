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sldIdLst>
    <p:sldId id="256" r:id="rId5"/>
    <p:sldId id="343" r:id="rId34"/>
    <p:sldId id="260" r:id="rId6"/>
    <p:sldId id="263" r:id="rId7"/>
    <p:sldId id="267" r:id="rId8"/>
    <p:sldId id="284" r:id="rId9"/>
    <p:sldId id="271" r:id="rId10"/>
    <p:sldId id="341" r:id="rId11"/>
    <p:sldId id="342" r:id="rId12"/>
    <p:sldId id="278" r:id="rId13"/>
    <p:sldId id="339" r:id="rId14"/>
    <p:sldId id="279" r:id="rId15"/>
    <p:sldId id="340" r:id="rId16"/>
    <p:sldId id="285" r:id="rId17"/>
    <p:sldId id="282" r:id="rId18"/>
    <p:sldId id="327" r:id="rId20"/>
    <p:sldId id="330" r:id="rId21"/>
    <p:sldId id="326" r:id="rId22"/>
    <p:sldId id="325" r:id="rId23"/>
    <p:sldId id="329" r:id="rId24"/>
    <p:sldId id="317" r:id="rId25"/>
    <p:sldId id="321" r:id="rId26"/>
  </p:sldIdLst>
  <p:sldSz cx="97536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CFD312-D45A-4B19-8463-6466AF1AAD16}" v="3" dt="2026-06-09T15:02:11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80" y="4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6/11/relationships/changesInfo" Target="changesInfos/changesInfo1.xml"/><Relationship Id="rId33" Type="http://schemas.microsoft.com/office/2015/10/relationships/revisionInfo" Target="revisionInfo.xml"/><Relationship Id="rId34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Charette" userId="0db9b4c6-585a-4616-ab53-47ba82066cad" providerId="ADAL" clId="{42E455C0-5321-4BA4-9654-3C8921CE5DA4}"/>
    <pc:docChg chg="custSel addSld modSld">
      <pc:chgData name="Stefan Charette" userId="0db9b4c6-585a-4616-ab53-47ba82066cad" providerId="ADAL" clId="{42E455C0-5321-4BA4-9654-3C8921CE5DA4}" dt="2026-06-09T15:02:11.765" v="341"/>
      <pc:docMkLst>
        <pc:docMk/>
      </pc:docMkLst>
      <pc:sldChg chg="delSp modSp mod">
        <pc:chgData name="Stefan Charette" userId="0db9b4c6-585a-4616-ab53-47ba82066cad" providerId="ADAL" clId="{42E455C0-5321-4BA4-9654-3C8921CE5DA4}" dt="2026-06-09T10:30:30.470" v="340" actId="478"/>
        <pc:sldMkLst>
          <pc:docMk/>
          <pc:sldMk cId="0" sldId="256"/>
        </pc:sldMkLst>
        <pc:spChg chg="mod">
          <ac:chgData name="Stefan Charette" userId="0db9b4c6-585a-4616-ab53-47ba82066cad" providerId="ADAL" clId="{42E455C0-5321-4BA4-9654-3C8921CE5DA4}" dt="2026-06-09T10:30:25.904" v="339" actId="20577"/>
          <ac:spMkLst>
            <pc:docMk/>
            <pc:sldMk cId="0" sldId="256"/>
            <ac:spMk id="5" creationId="{00000000-0000-0000-0000-000000000000}"/>
          </ac:spMkLst>
        </pc:spChg>
        <pc:spChg chg="del">
          <ac:chgData name="Stefan Charette" userId="0db9b4c6-585a-4616-ab53-47ba82066cad" providerId="ADAL" clId="{42E455C0-5321-4BA4-9654-3C8921CE5DA4}" dt="2026-06-09T10:30:30.470" v="340" actId="478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Stefan Charette" userId="0db9b4c6-585a-4616-ab53-47ba82066cad" providerId="ADAL" clId="{42E455C0-5321-4BA4-9654-3C8921CE5DA4}" dt="2026-06-09T08:13:12.051" v="23" actId="20577"/>
        <pc:sldMkLst>
          <pc:docMk/>
          <pc:sldMk cId="0" sldId="268"/>
        </pc:sldMkLst>
        <pc:spChg chg="mod">
          <ac:chgData name="Stefan Charette" userId="0db9b4c6-585a-4616-ab53-47ba82066cad" providerId="ADAL" clId="{42E455C0-5321-4BA4-9654-3C8921CE5DA4}" dt="2026-06-09T08:13:12.051" v="23" actId="20577"/>
          <ac:spMkLst>
            <pc:docMk/>
            <pc:sldMk cId="0" sldId="268"/>
            <ac:spMk id="8" creationId="{00000000-0000-0000-0000-000000000000}"/>
          </ac:spMkLst>
        </pc:spChg>
      </pc:sldChg>
      <pc:sldChg chg="modSp mod">
        <pc:chgData name="Stefan Charette" userId="0db9b4c6-585a-4616-ab53-47ba82066cad" providerId="ADAL" clId="{42E455C0-5321-4BA4-9654-3C8921CE5DA4}" dt="2026-06-09T08:13:34.859" v="41" actId="20577"/>
        <pc:sldMkLst>
          <pc:docMk/>
          <pc:sldMk cId="0" sldId="269"/>
        </pc:sldMkLst>
        <pc:spChg chg="mod">
          <ac:chgData name="Stefan Charette" userId="0db9b4c6-585a-4616-ab53-47ba82066cad" providerId="ADAL" clId="{42E455C0-5321-4BA4-9654-3C8921CE5DA4}" dt="2026-06-09T08:13:34.859" v="41" actId="20577"/>
          <ac:spMkLst>
            <pc:docMk/>
            <pc:sldMk cId="0" sldId="269"/>
            <ac:spMk id="8" creationId="{00000000-0000-0000-0000-000000000000}"/>
          </ac:spMkLst>
        </pc:spChg>
      </pc:sldChg>
      <pc:sldChg chg="add">
        <pc:chgData name="Stefan Charette" userId="0db9b4c6-585a-4616-ab53-47ba82066cad" providerId="ADAL" clId="{42E455C0-5321-4BA4-9654-3C8921CE5DA4}" dt="2026-06-09T15:02:11.765" v="341"/>
        <pc:sldMkLst>
          <pc:docMk/>
          <pc:sldMk cId="0" sldId="330"/>
        </pc:sldMkLst>
      </pc:sldChg>
      <pc:sldChg chg="modSp mod">
        <pc:chgData name="Stefan Charette" userId="0db9b4c6-585a-4616-ab53-47ba82066cad" providerId="ADAL" clId="{42E455C0-5321-4BA4-9654-3C8921CE5DA4}" dt="2026-06-09T10:29:33.258" v="301" actId="20577"/>
        <pc:sldMkLst>
          <pc:docMk/>
          <pc:sldMk cId="0" sldId="339"/>
        </pc:sldMkLst>
        <pc:spChg chg="mod">
          <ac:chgData name="Stefan Charette" userId="0db9b4c6-585a-4616-ab53-47ba82066cad" providerId="ADAL" clId="{42E455C0-5321-4BA4-9654-3C8921CE5DA4}" dt="2026-06-09T10:29:33.258" v="301" actId="20577"/>
          <ac:spMkLst>
            <pc:docMk/>
            <pc:sldMk cId="0" sldId="339"/>
            <ac:spMk id="20" creationId="{00000000-0000-0000-0000-000000000000}"/>
          </ac:spMkLst>
        </pc:spChg>
        <pc:spChg chg="mod">
          <ac:chgData name="Stefan Charette" userId="0db9b4c6-585a-4616-ab53-47ba82066cad" providerId="ADAL" clId="{42E455C0-5321-4BA4-9654-3C8921CE5DA4}" dt="2026-06-09T10:29:20.676" v="300" actId="20577"/>
          <ac:spMkLst>
            <pc:docMk/>
            <pc:sldMk cId="0" sldId="339"/>
            <ac:spMk id="24" creationId="{00000000-0000-0000-0000-000000000000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880">
                <a:solidFill>
                  <a:srgbClr val="556A83"/>
                </a:solidFill>
              </a:rPr>
              <a:t>Figure 1.  “Probability decay”: strategy efficiency over a CEO cycle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Strategy efficiency</c:v>
                </c:pt>
              </c:strCache>
            </c:strRef>
          </c:tx>
          <c:spPr>
            <a:ln w="31750">
              <a:solidFill>
                <a:srgbClr val="152130"/>
              </a:solidFill>
            </a:ln>
          </c:spPr>
          <c:cat>
            <c:strRef>
              <c:f>Sheet1!$A$2:$A$9</c:f>
              <c:strCache>
                <c:ptCount val="8"/>
                <c:pt idx="0">
                  <c:v>Yr 1</c:v>
                </c:pt>
                <c:pt idx="1">
                  <c:v>Yr 2</c:v>
                </c:pt>
                <c:pt idx="2">
                  <c:v>Yr 3</c:v>
                </c:pt>
                <c:pt idx="3">
                  <c:v>Yr 4</c:v>
                </c:pt>
                <c:pt idx="4">
                  <c:v>Yr 5</c:v>
                </c:pt>
                <c:pt idx="5">
                  <c:v>Yr 6</c:v>
                </c:pt>
                <c:pt idx="6">
                  <c:v>Yr 7</c:v>
                </c:pt>
                <c:pt idx="7">
                  <c:v>Yr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80</c:v>
                </c:pt>
                <c:pt idx="1">
                  <c:v>76</c:v>
                </c:pt>
                <c:pt idx="2">
                  <c:v>71</c:v>
                </c:pt>
                <c:pt idx="3">
                  <c:v>65</c:v>
                </c:pt>
                <c:pt idx="4">
                  <c:v>60</c:v>
                </c:pt>
                <c:pt idx="5">
                  <c:v>55</c:v>
                </c:pt>
                <c:pt idx="6">
                  <c:v>52</c:v>
                </c:pt>
                <c:pt idx="7">
                  <c:v>50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121-44FE-B2F6-B09CBC8BB4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  <a:endParaRPr lang="sv-S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  <a:endParaRPr lang="sv-SE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44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880">
                <a:solidFill>
                  <a:srgbClr val="556A83"/>
                </a:solidFill>
              </a:rPr>
              <a:t>Figure 6.  Growth of a 100 sleeve through a market cycle (indexed)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Athanase (18%)</c:v>
                </c:pt>
              </c:strCache>
            </c:strRef>
          </c:tx>
          <c:spPr>
            <a:ln w="38100">
              <a:solidFill>
                <a:srgbClr val="152130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118</c:v>
                </c:pt>
                <c:pt idx="2">
                  <c:v>140</c:v>
                </c:pt>
                <c:pt idx="3">
                  <c:v>166</c:v>
                </c:pt>
                <c:pt idx="4">
                  <c:v>197</c:v>
                </c:pt>
                <c:pt idx="5">
                  <c:v>233</c:v>
                </c:pt>
                <c:pt idx="6">
                  <c:v>236</c:v>
                </c:pt>
                <c:pt idx="7">
                  <c:v>296</c:v>
                </c:pt>
                <c:pt idx="8">
                  <c:v>366</c:v>
                </c:pt>
                <c:pt idx="9">
                  <c:v>442</c:v>
                </c:pt>
                <c:pt idx="10">
                  <c:v>523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96E-4765-9E38-E47A72446D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activist (10.5%)</c:v>
                </c:pt>
              </c:strCache>
            </c:strRef>
          </c:tx>
          <c:spPr>
            <a:ln w="25400">
              <a:solidFill>
                <a:srgbClr val="556A83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</c:v>
                </c:pt>
                <c:pt idx="1">
                  <c:v>111</c:v>
                </c:pt>
                <c:pt idx="2">
                  <c:v>123</c:v>
                </c:pt>
                <c:pt idx="3">
                  <c:v>137</c:v>
                </c:pt>
                <c:pt idx="4">
                  <c:v>152</c:v>
                </c:pt>
                <c:pt idx="5">
                  <c:v>168</c:v>
                </c:pt>
                <c:pt idx="6">
                  <c:v>150</c:v>
                </c:pt>
                <c:pt idx="7">
                  <c:v>182</c:v>
                </c:pt>
                <c:pt idx="8">
                  <c:v>214</c:v>
                </c:pt>
                <c:pt idx="9">
                  <c:v>244</c:v>
                </c:pt>
                <c:pt idx="10">
                  <c:v>271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96E-4765-9E38-E47A72446D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Long-only global (7.6%)</c:v>
                </c:pt>
              </c:strCache>
            </c:strRef>
          </c:tx>
          <c:spPr>
            <a:ln w="25400">
              <a:solidFill>
                <a:srgbClr val="E2E5E9"/>
              </a:solidFill>
              <a:prstDash val="sysDash"/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</c:v>
                </c:pt>
                <c:pt idx="1">
                  <c:v>108</c:v>
                </c:pt>
                <c:pt idx="2">
                  <c:v>117</c:v>
                </c:pt>
                <c:pt idx="3">
                  <c:v>126</c:v>
                </c:pt>
                <c:pt idx="4">
                  <c:v>136</c:v>
                </c:pt>
                <c:pt idx="5">
                  <c:v>147</c:v>
                </c:pt>
                <c:pt idx="6">
                  <c:v>119</c:v>
                </c:pt>
                <c:pt idx="7">
                  <c:v>142</c:v>
                </c:pt>
                <c:pt idx="8">
                  <c:v>168</c:v>
                </c:pt>
                <c:pt idx="9">
                  <c:v>190</c:v>
                </c:pt>
                <c:pt idx="10">
                  <c:v>208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096E-4765-9E38-E47A72446D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  <a:endParaRPr lang="sv-S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60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  <a:endParaRPr lang="sv-SE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sv-SE"/>
        </a:p>
      </c:txPr>
    </c:legend>
    <c:plotVisOnly val="1"/>
    <c:dispBlanksAs val="gap"/>
    <c:showDLblsOverMax val="0"/>
  </c:chart>
  <c:txPr>
    <a:bodyPr/>
    <a:lstStyle/>
    <a:p>
      <a:pPr>
        <a:defRPr sz="144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t>Figure 5.  Growth of capital since 2006 (×)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Athanase</c:v>
                </c:pt>
              </c:strCache>
            </c:strRef>
          </c:tx>
          <c:spPr>
            <a:solidFill>
              <a:srgbClr val="152130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20">
                    <a:solidFill>
                      <a:srgbClr val="0E1620"/>
                    </a:solidFill>
                  </a:defRPr>
                </a:pPr>
                <a:endParaRPr lang="sv-S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Since 2006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18.0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970-45BA-8499-251F9C2C08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MSCI IMI</c:v>
                </c:pt>
              </c:strCache>
            </c:strRef>
          </c:tx>
          <c:spPr>
            <a:solidFill>
              <a:srgbClr val="556A83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20">
                    <a:solidFill>
                      <a:srgbClr val="0E1620"/>
                    </a:solidFill>
                  </a:defRPr>
                </a:pPr>
                <a:endParaRPr lang="sv-S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Since 2006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970-45BA-8499-251F9C2C08E0}"/>
            </c:ext>
          </c:extLst>
        </c:ser>
        <c:dLbls>
          <c:numFmt formatCode="0.0&quot;×&quot;" sourceLinked="0"/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E1620"/>
                </a:solidFill>
              </a:defRPr>
            </a:pPr>
            <a:endParaRPr lang="sv-S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E1620"/>
                </a:solidFill>
              </a:defRPr>
            </a:pPr>
            <a:endParaRPr lang="sv-SE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80"/>
          </a:pPr>
          <a:endParaRPr lang="sv-SE"/>
        </a:p>
      </c:txPr>
    </c:legend>
    <c:plotVisOnly val="1"/>
    <c:dispBlanksAs val="gap"/>
    <c:showDLblsOverMax val="1"/>
  </c:chart>
  <c:txPr>
    <a:bodyPr/>
    <a:lstStyle/>
    <a:p>
      <a:pPr>
        <a:defRPr sz="144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97395-2D59-4227-B53D-BB43A6595B5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8C4698-2B99-4D89-860A-947FB2745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08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8C4698-2B99-4D89-860A-947FB274513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75954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22" y="536448"/>
            <a:ext cx="1768098" cy="38039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389120"/>
            <a:ext cx="365769" cy="29802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22" y="4632960"/>
            <a:ext cx="8632151" cy="947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GB" sz="3360" spc="-126" dirty="0">
                <a:solidFill>
                  <a:srgbClr val="FFFFFF"/>
                </a:solidFill>
                <a:latin typeface="Times New Roman"/>
              </a:rPr>
              <a:t>Investor Presentation</a:t>
            </a:r>
            <a:endParaRPr sz="3360" b="0" i="0" spc="-126" dirty="0">
              <a:solidFill>
                <a:srgbClr val="FFFFFF"/>
              </a:solidFill>
              <a:latin typeface="Times New Roman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920" b="0" i="1" spc="-72" dirty="0">
                <a:solidFill>
                  <a:srgbClr val="E2E5E9"/>
                </a:solidFill>
                <a:latin typeface="Times New Roman"/>
              </a:rPr>
              <a:t>June 2026</a:t>
            </a:r>
            <a:endParaRPr sz="1920" b="0" i="1" spc="-72" dirty="0">
              <a:solidFill>
                <a:srgbClr val="E2E5E9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0241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Table of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76" y="1589836"/>
            <a:ext cx="4279499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Times New Roman"/>
              </a:rPr>
              <a:t>Part I  ·  The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76" y="1960473"/>
            <a:ext cx="4279499" cy="5462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3   </a:t>
            </a:r>
            <a:r>
              <a:rPr sz="800">
                <a:solidFill>
                  <a:srgbClr val="314359"/>
                </a:solidFill>
                <a:latin typeface="Arial"/>
              </a:rPr>
              <a:t>Passive has become a concentrated bet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4   </a:t>
            </a:r>
            <a:r>
              <a:rPr sz="800">
                <a:solidFill>
                  <a:srgbClr val="314359"/>
                </a:solidFill>
                <a:latin typeface="Arial"/>
              </a:rPr>
              <a:t>From passive risk to active opportunity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5   </a:t>
            </a:r>
            <a:r>
              <a:rPr sz="800">
                <a:solidFill>
                  <a:srgbClr val="314359"/>
                </a:solidFill>
                <a:latin typeface="Arial"/>
              </a:rPr>
              <a:t>What AI changes — and what it can’t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6   </a:t>
            </a:r>
            <a:r>
              <a:rPr sz="800">
                <a:solidFill>
                  <a:srgbClr val="314359"/>
                </a:solidFill>
                <a:latin typeface="Arial"/>
              </a:rPr>
              <a:t>The inefficiency Athanase harvests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7   </a:t>
            </a:r>
            <a:r>
              <a:rPr sz="800">
                <a:solidFill>
                  <a:srgbClr val="314359"/>
                </a:solidFill>
                <a:latin typeface="Arial"/>
              </a:rPr>
              <a:t>Why mid-market is the sweet spot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8   </a:t>
            </a:r>
            <a:r>
              <a:rPr sz="800">
                <a:solidFill>
                  <a:srgbClr val="314359"/>
                </a:solidFill>
                <a:latin typeface="Arial"/>
              </a:rPr>
              <a:t>Why mid-caps are more often mispriced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9   </a:t>
            </a:r>
            <a:r>
              <a:rPr sz="800">
                <a:solidFill>
                  <a:srgbClr val="314359"/>
                </a:solidFill>
                <a:latin typeface="Arial"/>
              </a:rPr>
              <a:t>Why this opportunity isn’t arbitraged away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/>
            </a:r>
            <a:r>
              <a:rPr sz="800">
                <a:solidFill>
                  <a:srgbClr val="314359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Times New Roman"/>
              </a:rPr>
              <a:t>Part II  ·  Why Athanase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10   </a:t>
            </a:r>
            <a:r>
              <a:rPr sz="800">
                <a:solidFill>
                  <a:srgbClr val="314359"/>
                </a:solidFill>
                <a:latin typeface="Arial"/>
              </a:rPr>
              <a:t>Athanase at a glance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11   </a:t>
            </a:r>
            <a:r>
              <a:rPr sz="800">
                <a:solidFill>
                  <a:srgbClr val="314359"/>
                </a:solidFill>
                <a:latin typeface="Arial"/>
              </a:rPr>
              <a:t>Why Athanase is best built to capture it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12   </a:t>
            </a:r>
            <a:r>
              <a:rPr sz="800">
                <a:solidFill>
                  <a:srgbClr val="314359"/>
                </a:solidFill>
                <a:latin typeface="Arial"/>
              </a:rPr>
              <a:t>Operators and investors in one team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13   </a:t>
            </a:r>
            <a:r>
              <a:rPr sz="800">
                <a:solidFill>
                  <a:srgbClr val="314359"/>
                </a:solidFill>
                <a:latin typeface="Arial"/>
              </a:rPr>
              <a:t>The people behind the track record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14   </a:t>
            </a:r>
            <a:r>
              <a:rPr sz="800">
                <a:solidFill>
                  <a:srgbClr val="314359"/>
                </a:solidFill>
                <a:latin typeface="Arial"/>
              </a:rPr>
              <a:t>We buy hidden cores, not broken companies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15   </a:t>
            </a:r>
            <a:r>
              <a:rPr sz="800">
                <a:solidFill>
                  <a:srgbClr val="314359"/>
                </a:solidFill>
                <a:latin typeface="Arial"/>
              </a:rPr>
              <a:t>The ownership playbook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345" y="1589836"/>
            <a:ext cx="4279499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Times New Roman"/>
              </a:rPr>
              <a:t>Part III  ·  Your portfolio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7345" y="1960473"/>
            <a:ext cx="4279499" cy="5462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16   </a:t>
            </a:r>
            <a:r>
              <a:rPr sz="800">
                <a:solidFill>
                  <a:srgbClr val="314359"/>
                </a:solidFill>
                <a:latin typeface="Arial"/>
              </a:rPr>
              <a:t>A complement to global equities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17   </a:t>
            </a:r>
            <a:r>
              <a:rPr sz="800">
                <a:solidFill>
                  <a:srgbClr val="314359"/>
                </a:solidFill>
                <a:latin typeface="Arial"/>
              </a:rPr>
              <a:t>Built for down markets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18   </a:t>
            </a:r>
            <a:r>
              <a:rPr sz="800">
                <a:solidFill>
                  <a:srgbClr val="314359"/>
                </a:solidFill>
                <a:latin typeface="Arial"/>
              </a:rPr>
              <a:t>Lower downside risk compounds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19   </a:t>
            </a:r>
            <a:r>
              <a:rPr sz="800">
                <a:solidFill>
                  <a:srgbClr val="314359"/>
                </a:solidFill>
                <a:latin typeface="Arial"/>
              </a:rPr>
              <a:t>What it does to your portfolio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20   </a:t>
            </a:r>
            <a:r>
              <a:rPr sz="800">
                <a:solidFill>
                  <a:srgbClr val="314359"/>
                </a:solidFill>
                <a:latin typeface="Arial"/>
              </a:rPr>
              <a:t>What a blend does to the whole portfolio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/>
            </a:r>
            <a:r>
              <a:rPr sz="800">
                <a:solidFill>
                  <a:srgbClr val="314359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Times New Roman"/>
              </a:rPr>
              <a:t>Appendix  ·  Track record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21   </a:t>
            </a:r>
            <a:r>
              <a:rPr sz="800">
                <a:solidFill>
                  <a:srgbClr val="314359"/>
                </a:solidFill>
                <a:latin typeface="Arial"/>
              </a:rPr>
              <a:t>Outperformance with downside protection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22   </a:t>
            </a:r>
            <a:r>
              <a:rPr sz="800">
                <a:solidFill>
                  <a:srgbClr val="314359"/>
                </a:solidFill>
                <a:latin typeface="Arial"/>
              </a:rPr>
              <a:t>Independently validated: 20 years, net of fees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Market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Passive has become a concentrated bet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cap-weighted index puts the most money into the stocks that have already risen the most — concentration and factor risk dressed as diversification.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53" y="2292096"/>
            <a:ext cx="2852999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53" y="2292096"/>
            <a:ext cx="2852999" cy="5852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53" y="2506675"/>
            <a:ext cx="2852999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~38%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of the S&amp;P 500 in its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10 largest stocks*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47960" y="2292096"/>
            <a:ext cx="2852999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47960" y="2292096"/>
            <a:ext cx="2852999" cy="5852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47960" y="2506675"/>
            <a:ext cx="2852999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~33%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in the “Magnificent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Seven” alone*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47267" y="2292096"/>
            <a:ext cx="2852999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47267" y="2292096"/>
            <a:ext cx="2852999" cy="5852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47267" y="2506675"/>
            <a:ext cx="2852999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~50 yrs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since US equity was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this concentrated*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53" y="3969715"/>
            <a:ext cx="870530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3580" indent="-163580">
              <a:lnSpc>
                <a:spcPct val="112000"/>
              </a:lnSpc>
              <a:spcAft>
                <a:spcPts val="12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Cap-weighting buys high by design.</a:t>
            </a:r>
            <a:r>
              <a:rPr sz="1120">
                <a:solidFill>
                  <a:srgbClr val="0E1620"/>
                </a:solidFill>
                <a:latin typeface="Arial"/>
              </a:rPr>
              <a:t>  The more a stock rises, the more of it you must own — the opposite of buy-low discipline.</a:t>
            </a:r>
          </a:p>
          <a:p>
            <a:pPr marL="163580" indent="-163580">
              <a:lnSpc>
                <a:spcPct val="112000"/>
              </a:lnSpc>
              <a:spcAft>
                <a:spcPts val="12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A concentrated factor bet.</a:t>
            </a:r>
            <a:r>
              <a:rPr sz="1120">
                <a:solidFill>
                  <a:srgbClr val="0E1620"/>
                </a:solidFill>
                <a:latin typeface="Arial"/>
              </a:rPr>
              <a:t>  The “diversified” index is now a leveraged position in large-cap growth, momentum and a single theme (AI) — not diversification.</a:t>
            </a:r>
          </a:p>
          <a:p>
            <a:pPr marL="163580" indent="-163580">
              <a:lnSpc>
                <a:spcPct val="112000"/>
              </a:lnSpc>
              <a:spcAft>
                <a:spcPts val="12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Breadth is fragile.</a:t>
            </a:r>
            <a:r>
              <a:rPr sz="1120">
                <a:solidFill>
                  <a:srgbClr val="0E1620"/>
                </a:solidFill>
                <a:latin typeface="Arial"/>
              </a:rPr>
              <a:t>  A stumble in a handful of mega-caps now moves the entire index; the rest of the market has been left behind.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22" y="6944563"/>
            <a:ext cx="5852306" cy="351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*Illustrative, recent data (2024–25); source: S&amp;P Dow Jones Indices. Index concentration and factor tilts change over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Market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From passive risk to active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An expensive, concentrated, passive-dominated market is exactly the environment active management is built for — and as analysis itself commoditises, the most durable edge is ownership, not stock-picking.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4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22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1 · The 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22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9861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Expensive equities, record index concentration, and price-insensitive passive flows that inflate the most crowded names.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806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806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2 · Why active now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806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5745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Wider mispricing and dispersion; valuation discipline is rewarded again. The “active underperforms” critique is cyclical — and weakest in exactly this market.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0690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690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3 · A better kind of active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10690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1629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Other genuine edges exist — quant and specialist alpha — but they compete on analysing the same public data, which is what commoditises fastest. The most durable edge is ownership: buying mispriced businesses and changing the outcome.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614" y="3511296"/>
            <a:ext cx="32919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80" b="1" i="0">
                <a:solidFill>
                  <a:srgbClr val="556A83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498" y="3511296"/>
            <a:ext cx="32919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80" b="1" i="0">
                <a:solidFill>
                  <a:srgbClr val="556A83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22" y="6164275"/>
            <a:ext cx="8873559" cy="604723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5230" y="6164275"/>
            <a:ext cx="8558998" cy="6047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FFFFFF"/>
                </a:solidFill>
                <a:latin typeface="Arial"/>
              </a:rPr>
              <a:t>When the index is the crowded, expensive, fragile trade, the answer is not to pick stocks and hope — it is to own undervalued businesses and make them better. That is engaged ownership.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What AI changes — and what it can’t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As machine analysis becomes ubiquitous, information-based edges are competed away faster. Engaged ownership creates the change rather than reads it — the least commoditised style.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22" y="2292096"/>
            <a:ext cx="2011730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1338" y="2292096"/>
            <a:ext cx="1821530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</a:rPr>
              <a:t>Investment style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50653" y="2292096"/>
            <a:ext cx="3767422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53068" y="2292096"/>
            <a:ext cx="3577222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</a:rPr>
              <a:t>How AI changes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8075" y="2292096"/>
            <a:ext cx="3072460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20490" y="2292096"/>
            <a:ext cx="2882260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</a:rPr>
              <a:t>Effect on the edge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22" y="2682240"/>
            <a:ext cx="2011730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1338" y="2682240"/>
            <a:ext cx="1821530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Quantitative / factor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50653" y="2682240"/>
            <a:ext cx="3767422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53068" y="2682240"/>
            <a:ext cx="3577222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Known signals are replicated and arbitraged at machine speed.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8075" y="2682240"/>
            <a:ext cx="3072460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0490" y="2682240"/>
            <a:ext cx="2882260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More crowded — published factors already fade ~58% post-publication (McLean &amp; Pontiff, 2016).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22" y="3443020"/>
            <a:ext cx="2011730" cy="8193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1338" y="3443020"/>
            <a:ext cx="1821530" cy="819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Growth &amp; value (fundamental)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50653" y="3443020"/>
            <a:ext cx="3767422" cy="8193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53068" y="3443020"/>
            <a:ext cx="3577222" cy="819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LLMs already match or beat analysts at predicting the direction of earnings (Kim, Muhn &amp; Nikolaev, 2024).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8075" y="3443020"/>
            <a:ext cx="3072460" cy="8193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20490" y="3443020"/>
            <a:ext cx="2882260" cy="819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The analytical edge commoditises; the crowd grows and the edge thins.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22" y="4262323"/>
            <a:ext cx="2011730" cy="643737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1338" y="4262323"/>
            <a:ext cx="1821530" cy="6437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Passive / index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50653" y="4262323"/>
            <a:ext cx="3767422" cy="643737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53068" y="4262323"/>
            <a:ext cx="3577222" cy="6437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Method unchanged — but more capital chases a shrinking pool of active alpha.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8075" y="4262323"/>
            <a:ext cx="3072460" cy="643737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20490" y="4262323"/>
            <a:ext cx="2882260" cy="6437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Concentration and reflexivity risk rise (see p.3).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22" y="4906060"/>
            <a:ext cx="2011730" cy="103388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1338" y="4906060"/>
            <a:ext cx="1821530" cy="10338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Arial"/>
              </a:rPr>
              <a:t>Engaged ownership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50653" y="4906060"/>
            <a:ext cx="3767422" cy="1033881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553068" y="4906060"/>
            <a:ext cx="3577222" cy="10338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Alpha comes from changing the earnings trajectory from a board seat — not from reading public data faster. AI augments our sourcing and diligence; it can’t replicate access, influence or execution.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8075" y="4906060"/>
            <a:ext cx="3072460" cy="1033881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20490" y="4906060"/>
            <a:ext cx="2882260" cy="10338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Least commoditised — the edge is created, not discovered.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22" y="6076492"/>
            <a:ext cx="8851613" cy="53644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5230" y="6076492"/>
            <a:ext cx="8558998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1">
                <a:solidFill>
                  <a:srgbClr val="FFFFFF"/>
                </a:solidFill>
                <a:latin typeface="Arial"/>
              </a:rPr>
              <a:t>When everyone can analyse, analysis stops being an edge. The durable edge is the one AI can’t run — changing the company itself.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The inefficiency Athanase harvests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Corporate decay is structural — it continuously recreates low-risk, high-return entry 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76" y="2292096"/>
            <a:ext cx="4608691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Duration mismatch.</a:t>
            </a:r>
            <a:r>
              <a:rPr sz="1080">
                <a:solidFill>
                  <a:srgbClr val="0E1620"/>
                </a:solidFill>
                <a:latin typeface="Arial"/>
              </a:rPr>
              <a:t>  CEOs run 7–8 year defensive cycles while moats erode at hyper-speed; an 80%-correct strategy decays to ~50% efficient.</a:t>
            </a:r>
          </a:p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The prestige trap.</a:t>
            </a:r>
            <a:r>
              <a:rPr sz="1080">
                <a:solidFill>
                  <a:srgbClr val="0E1620"/>
                </a:solidFill>
                <a:latin typeface="Arial"/>
              </a:rPr>
              <a:t>  Empire-building and the sunk-cost fallacy lead management to double down on unprofitable ventures.</a:t>
            </a:r>
          </a:p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Shareholder exhaustion.</a:t>
            </a:r>
            <a:r>
              <a:rPr sz="1080">
                <a:solidFill>
                  <a:srgbClr val="0E1620"/>
                </a:solidFill>
                <a:latin typeface="Arial"/>
              </a:rPr>
              <a:t>  As patience runs out, price hits a long-term low and liquidity dries up — Athanase becomes the “buyer of last resort” at a discount.</a:t>
            </a:r>
          </a:p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Low competition.</a:t>
            </a:r>
            <a:r>
              <a:rPr sz="1080">
                <a:solidFill>
                  <a:srgbClr val="0E1620"/>
                </a:solidFill>
                <a:latin typeface="Arial"/>
              </a:rPr>
              <a:t>  Passive buys the most expensive names; active managers wait for proof; PE needs 10× the capital — leaving these bargains open.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230498" y="2487168"/>
          <a:ext cx="4169768" cy="3511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230498" y="6047232"/>
            <a:ext cx="4169768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Even an excellent team’s edge erodes as the external environment shifts.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Why mid-market is the sweet spot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Big enough to run well, small enough to change — and to grow. The engaged-ownership opportunity is richest in the middle.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46" y="2292096"/>
            <a:ext cx="1828845" cy="390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0130" y="2292096"/>
            <a:ext cx="1682538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31191" y="2292096"/>
            <a:ext cx="2377499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18976" y="2292096"/>
            <a:ext cx="2231191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Small-cap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08691" y="2292096"/>
            <a:ext cx="2560384" cy="390144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96475" y="2292096"/>
            <a:ext cx="2414076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Mid-market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9075" y="2292096"/>
            <a:ext cx="2121461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56859" y="2292096"/>
            <a:ext cx="1975153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Large-cap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46" y="2682240"/>
            <a:ext cx="1828845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0130" y="2682240"/>
            <a:ext cx="1682538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Organisational depth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31191" y="2682240"/>
            <a:ext cx="2377499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18976" y="2682240"/>
            <a:ext cx="2231191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Often too thin to support a capable team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8691" y="2682240"/>
            <a:ext cx="2560384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96475" y="2682240"/>
            <a:ext cx="2414076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Enough structure for a real management team and processes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69075" y="2682240"/>
            <a:ext cx="2121461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56859" y="2682240"/>
            <a:ext cx="1975153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Deep, but layered and slow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46" y="3443020"/>
            <a:ext cx="1828845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0130" y="3443020"/>
            <a:ext cx="1682538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Growth runway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31191" y="3443020"/>
            <a:ext cx="2377499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318976" y="3443020"/>
            <a:ext cx="2231191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Long, but fragile and under-resourced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08691" y="3443020"/>
            <a:ext cx="2560384" cy="76078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96475" y="3443020"/>
            <a:ext cx="2414076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Still long — small enough to compound for years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69075" y="3443020"/>
            <a:ext cx="2121461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56859" y="3443020"/>
            <a:ext cx="1975153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Largely played out; growth is incremental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46" y="4203801"/>
            <a:ext cx="1828845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0130" y="4203801"/>
            <a:ext cx="1682538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Speed of change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31191" y="4203801"/>
            <a:ext cx="2377499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318976" y="4203801"/>
            <a:ext cx="2231191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Fast, but limited resources to execute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08691" y="4203801"/>
            <a:ext cx="2560384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96475" y="4203801"/>
            <a:ext cx="2414076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Operational change lands within ~1.5 years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69075" y="4203801"/>
            <a:ext cx="2121461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56859" y="4203801"/>
            <a:ext cx="1975153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Years to turn; entrenched complexity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46" y="4964582"/>
            <a:ext cx="1828845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0130" y="4964582"/>
            <a:ext cx="1682538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Owner influence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31191" y="4964582"/>
            <a:ext cx="2377499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318976" y="4964582"/>
            <a:ext cx="2231191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High, but little to work with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08691" y="4964582"/>
            <a:ext cx="2560384" cy="76078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696475" y="4964582"/>
            <a:ext cx="2414076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A board seat genuinely moves the outcome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69075" y="4964582"/>
            <a:ext cx="2121461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56859" y="4964582"/>
            <a:ext cx="1975153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Diluted; one owner rarely shifts the agenda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46" y="5861913"/>
            <a:ext cx="8924767" cy="4096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314359"/>
                </a:solidFill>
                <a:latin typeface="Arial"/>
              </a:rPr>
              <a:t>Mid-market companies are run well enough to be worth owning, yet small enough that an engaged owner can still change — and grow — them.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46" y="6369100"/>
            <a:ext cx="8924767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760" b="0" i="0">
                <a:solidFill>
                  <a:srgbClr val="556A83"/>
                </a:solidFill>
                <a:latin typeface="Arial"/>
              </a:rPr>
              <a:t>And the opportunity set is deep and global: ~50,000 listed companies worldwide (World Federation of Exchanges, 2024); the investable MSCI ACWI IMI spans ~8,800 large-, mid- and small-cap names across 23 developed and 24 emerging markets — about 1,600 of them mid-caps (MSCI, 2024). Our €50m–€3bn target band, in markets with a stable legal system, is a large subset.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Why mid-caps are more often mispriced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The companies that are easiest to improve are also the most likely to be mispriced — three structural features of the mid-market leave more value on the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8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22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1 · Thin analyst coverage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22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9861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Far fewer sell-side analysts follow a mid-cap than a mega-cap, and many have little or no coverage at all. Less information reaches the market, so price discovery is slower and the gap between price and intrinsic value persists for longer.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806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806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2 · Fewer sophisticated investors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806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5745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The segment is too small to move the needle for the largest institutions, so it is under-owned by the most resourced investors. Pricing is set at the margin by less-informed holders — leaving more frequent, and larger, mispricings.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0690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690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3 · Higher earnings volatility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10690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1629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Mid-caps’ earnings swing more than large caps’ — they are less diversified and earlier in their growth. The market over-extrapolates each swing, over-punishing a soft quarter and widening the discount to an otherwise durable core.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22" y="6164275"/>
            <a:ext cx="8873559" cy="604723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5230" y="6164275"/>
            <a:ext cx="8558998" cy="6047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FFFFFF"/>
                </a:solidFill>
                <a:latin typeface="Arial"/>
              </a:rPr>
              <a:t>Less coverage, fewer expert owners and lumpier earnings mean mid-caps are mispriced more often and by more — a deeper opportunity set of low-risk entry points for a disciplined engaged owner.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Barriers to Entry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Why this opportunity isn’t arbitraged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Engaged ownership is hard, uncomfortable and off-mandate for most investors — so the crowd stays away and the inefficiency is never competed out. Four barriers keep the lane open.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9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4330706" cy="189219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22" y="2292096"/>
            <a:ext cx="51207" cy="189219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122" y="2418892"/>
            <a:ext cx="4023460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152130"/>
                </a:solidFill>
                <a:latin typeface="Times New Roman"/>
              </a:rPr>
              <a:t>Fear keeps the crowd on the sidelines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22" y="2828544"/>
            <a:ext cx="3994199" cy="1267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Most investors avoid a company while it is underperforming and wait for the turn — buying back only once results visibly improve, and the price with them. We do the opposite: we buy at the point of maximum doubt and create the improvement ourselves.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1775" y="2292096"/>
            <a:ext cx="4330706" cy="189219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81775" y="2292096"/>
            <a:ext cx="51207" cy="189219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71975" y="2418892"/>
            <a:ext cx="4023460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152130"/>
                </a:solidFill>
                <a:latin typeface="Times New Roman"/>
              </a:rPr>
              <a:t>The skill bar is genuinely 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1975" y="2828544"/>
            <a:ext cx="3994199" cy="1267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It takes three things at once — operating credibility, deep investment experience, and the psychological strength to convince a board and fellow shareholders you are right. Few managers have all three, so few can even attempt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22" y="4340352"/>
            <a:ext cx="4330706" cy="189219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22" y="4340352"/>
            <a:ext cx="51207" cy="189219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122" y="4467148"/>
            <a:ext cx="4023460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152130"/>
                </a:solidFill>
                <a:latin typeface="Times New Roman"/>
              </a:rPr>
              <a:t>Career risk — and the wrong mandate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22" y="4876800"/>
            <a:ext cx="3994199" cy="1267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Voicing a public or private view on what a company must do carries real career risk; the typical, risk-averse equity manager would rather stay quiet. And most funds have no mandate to engage at all — they simply vote with their feet and sell.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1775" y="4340352"/>
            <a:ext cx="4330706" cy="189219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981775" y="4340352"/>
            <a:ext cx="51207" cy="189219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71975" y="4467148"/>
            <a:ext cx="4023460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152130"/>
                </a:solidFill>
                <a:latin typeface="Times New Roman"/>
              </a:rPr>
              <a:t>They misread the discount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1975" y="4876800"/>
            <a:ext cx="3994199" cy="1267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The crowd assumes a cheap, troubled company is even worse than it looks — and is often right. We play a different game: we buy good businesses hidden inside a poorly-run structure — quality at a discount, not a value trap.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22" y="6388608"/>
            <a:ext cx="8895505" cy="4876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5230" y="6388608"/>
            <a:ext cx="8632151" cy="487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Each barrier filters out the typical manager; together they keep the opportunity uncrowded — and clearing all four at once is exactly what our combination of operating and investing experience is built to 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0241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Athanase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53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53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38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investments as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engaged owners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8368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8368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19%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avg annualised NET,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any entry month*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8083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8083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7%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worst-ever entry,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still positive*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17798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17798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18×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growth of capital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since 2006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53" y="3998976"/>
            <a:ext cx="870530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5264" indent="-175264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314359"/>
                </a:solidFill>
                <a:latin typeface="Arial"/>
              </a:rPr>
              <a:t>›  ~19% average annualised return*</a:t>
            </a:r>
            <a:r>
              <a:rPr sz="1200">
                <a:solidFill>
                  <a:srgbClr val="0E1620"/>
                </a:solidFill>
                <a:latin typeface="Arial"/>
              </a:rPr>
              <a:t>  whatever month you invested and held to today — entry timing has barely mattered.</a:t>
            </a:r>
          </a:p>
          <a:p>
            <a:pPr marL="175264" indent="-175264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314359"/>
                </a:solidFill>
                <a:latin typeface="Arial"/>
              </a:rPr>
              <a:t>›  ~7% in the single worst entry month</a:t>
            </a:r>
            <a:r>
              <a:rPr sz="1200">
                <a:solidFill>
                  <a:srgbClr val="0E1620"/>
                </a:solidFill>
                <a:latin typeface="Arial"/>
              </a:rPr>
              <a:t>  even the unluckiest possible entry still compounded at a mid-single-digit net return — no investor lost over the holding period.</a:t>
            </a:r>
          </a:p>
          <a:p>
            <a:pPr marL="175264" indent="-175264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314359"/>
                </a:solidFill>
                <a:latin typeface="Arial"/>
              </a:rPr>
              <a:t>›  16.3% time-weighted NET since 2006</a:t>
            </a:r>
            <a:r>
              <a:rPr sz="1200">
                <a:solidFill>
                  <a:srgbClr val="0E1620"/>
                </a:solidFill>
                <a:latin typeface="Arial"/>
              </a:rPr>
              <a:t>  vs MSCI IMI 6.2% — net of all fees.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53" y="6583680"/>
            <a:ext cx="8632151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556A83"/>
                </a:solidFill>
                <a:latin typeface="Arial"/>
              </a:rPr>
              <a:t>*Average of the annualised NET return earned investing in each individual month and holding to the end (107 entry months, AIPFII). Time-weighted figure annualised over actual invested time. Past performance is not indicative of future results.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Why Athanase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Why Athanase is the firm best built to capture this inefficiency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Harvesting this mispricing takes four capabilities at once — find the hidden core, win real control, fix it from the boardroom, and prove it repeats. Few managers have one; we have built all four.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553" y="2292096"/>
            <a:ext cx="4286814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0599" y="2292096"/>
            <a:ext cx="4067352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1 · We find what others miss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3553" y="2740761"/>
            <a:ext cx="4286814" cy="169712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30" y="2857804"/>
            <a:ext cx="4023460" cy="1502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A proprietary universe</a:t>
            </a:r>
            <a:r>
              <a:rPr sz="720">
                <a:solidFill>
                  <a:srgbClr val="0E1620"/>
                </a:solidFill>
                <a:latin typeface="Arial"/>
              </a:rPr>
              <a:t> — ~60,000 companies restated to economic reality, separating the profitable core from the value-destroying pivot.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Moat- and CEO-scored</a:t>
            </a:r>
            <a:r>
              <a:rPr sz="720">
                <a:solidFill>
                  <a:srgbClr val="0E1620"/>
                </a:solidFill>
                <a:latin typeface="Arial"/>
              </a:rPr>
              <a:t> — ~20,000 names ranked; about 1 in 1,000 screened is ever bought.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Hidden cores, not broken companies</a:t>
            </a:r>
            <a:r>
              <a:rPr sz="720">
                <a:solidFill>
                  <a:srgbClr val="0E1620"/>
                </a:solidFill>
                <a:latin typeface="Arial"/>
              </a:rPr>
              <a:t> — market leaders attractive even if we change nothing — no adverse selection.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2045" y="2292096"/>
            <a:ext cx="4286814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9091" y="2292096"/>
            <a:ext cx="4067352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2 · We can actually change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2045" y="2740761"/>
            <a:ext cx="4286814" cy="169712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03721" y="2857804"/>
            <a:ext cx="4023460" cy="1502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An operator’s edge, not an analyst’s</a:t>
            </a:r>
            <a:r>
              <a:rPr sz="720">
                <a:solidFill>
                  <a:srgbClr val="0E1620"/>
                </a:solidFill>
                <a:latin typeface="Arial"/>
              </a:rPr>
              <a:t> — one integrated team for 20 years; 30+ public board seats; former CEOs and CIOs.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Control from the boardroom</a:t>
            </a:r>
            <a:r>
              <a:rPr sz="720">
                <a:solidFill>
                  <a:srgbClr val="0E1620"/>
                </a:solidFill>
                <a:latin typeface="Arial"/>
              </a:rPr>
              <a:t> — the experience to fix capital allocation, M&amp;A and focus — not merely to advise.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The edge AI cannot replicate</a:t>
            </a:r>
            <a:r>
              <a:rPr sz="720">
                <a:solidFill>
                  <a:srgbClr val="0E1620"/>
                </a:solidFill>
                <a:latin typeface="Arial"/>
              </a:rPr>
              <a:t> — access, influence and execution, not reading public data faster.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553" y="4535424"/>
            <a:ext cx="4286814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0599" y="4535424"/>
            <a:ext cx="4067352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3 · We own the lane others abandoned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553" y="4984089"/>
            <a:ext cx="4286814" cy="169712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230" y="5101132"/>
            <a:ext cx="4023460" cy="811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The mid-market sweet spot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€50m–€3bn, where a single board seat genuinely moves the outcome.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Uncontested by the giants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mega</a:t>
            </a:r>
            <a:r>
              <a:rPr lang="en-GB" sz="720" dirty="0">
                <a:solidFill>
                  <a:srgbClr val="0E1620"/>
                </a:solidFill>
                <a:latin typeface="Arial"/>
              </a:rPr>
              <a:t>-</a:t>
            </a:r>
            <a:r>
              <a:rPr sz="720" dirty="0">
                <a:solidFill>
                  <a:srgbClr val="0E1620"/>
                </a:solidFill>
                <a:latin typeface="Arial"/>
              </a:rPr>
              <a:t>cap activists left it behind as they scaled: high return, low competition.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Control by agreement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we invest only after securing agreement on board engagement with the other shareholders.</a:t>
            </a:r>
            <a:r>
              <a:rPr lang="en-GB" sz="720" dirty="0">
                <a:solidFill>
                  <a:srgbClr val="0E1620"/>
                </a:solidFill>
                <a:latin typeface="Arial"/>
              </a:rPr>
              <a:t/>
            </a:r>
            <a:endParaRPr sz="720" dirty="0">
              <a:solidFill>
                <a:srgbClr val="0E1620"/>
              </a:solidFill>
              <a:latin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872045" y="4535424"/>
            <a:ext cx="4286814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89091" y="4535424"/>
            <a:ext cx="4067352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4 · And we have proven it repeats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72045" y="4984089"/>
            <a:ext cx="4286814" cy="169712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03721" y="5101132"/>
            <a:ext cx="4023460" cy="74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1</a:t>
            </a:r>
            <a:r>
              <a:rPr lang="en-GB" sz="720" b="1" dirty="0">
                <a:solidFill>
                  <a:srgbClr val="314359"/>
                </a:solidFill>
                <a:latin typeface="Arial"/>
              </a:rPr>
              <a:t>9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% net p.a., capital grown 18×*</a:t>
            </a:r>
            <a:r>
              <a:rPr lang="en-GB" sz="720" b="1" dirty="0">
                <a:solidFill>
                  <a:srgbClr val="314359"/>
                </a:solidFill>
                <a:latin typeface="Arial"/>
              </a:rPr>
              <a:t>, </a:t>
            </a:r>
            <a:r>
              <a:rPr lang="en-US" sz="700" b="1" dirty="0">
                <a:solidFill>
                  <a:srgbClr val="314359"/>
                </a:solidFill>
              </a:rPr>
              <a:t>7% worst-entry record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through two full market cycles, net of every fee.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92% deal-level hit rate (35 of 38)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a 5× MOIC roughly every two years: skill, not luck.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93% up / 43% down capture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we harvest the inefficiency and protect the downside.</a:t>
            </a:r>
            <a:endParaRPr lang="en-GB" sz="720" dirty="0">
              <a:solidFill>
                <a:srgbClr val="0E1620"/>
              </a:solidFill>
              <a:latin typeface="Arial"/>
            </a:endParaRP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endParaRPr sz="720" dirty="0">
              <a:solidFill>
                <a:srgbClr val="0E1620"/>
              </a:solidFill>
              <a:latin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6748272"/>
            <a:ext cx="5943600" cy="2743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r>
              <a:rPr sz="720">
                <a:solidFill>
                  <a:srgbClr val="556A83"/>
                </a:solidFill>
                <a:latin typeface="Arial"/>
              </a:rPr>
              <a:t>*18× = cumulative growth of capital since inception (2006) — not an annual or average figure.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Our 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Operators and investors in one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The rare combination behind our model: we have run real companies as chief executives — industrial conglomerates, consumer durables and services — and invested with this exact playbook, driving operating change from the boardroom, for 20 years.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0461" y="2701747"/>
            <a:ext cx="7242229" cy="21674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22" y="2292096"/>
            <a:ext cx="1463076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1992</a:t>
            </a:r>
          </a:p>
        </p:txBody>
      </p:sp>
      <p:sp>
        <p:nvSpPr>
          <p:cNvPr id="11" name="Oval 10"/>
          <p:cNvSpPr/>
          <p:nvPr/>
        </p:nvSpPr>
        <p:spPr>
          <a:xfrm>
            <a:off x="1104622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9" y="2857804"/>
            <a:ext cx="16093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Öresund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99" y="2292096"/>
            <a:ext cx="1463076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1996</a:t>
            </a:r>
          </a:p>
        </p:txBody>
      </p:sp>
      <p:sp>
        <p:nvSpPr>
          <p:cNvPr id="14" name="Oval 13"/>
          <p:cNvSpPr/>
          <p:nvPr/>
        </p:nvSpPr>
        <p:spPr>
          <a:xfrm>
            <a:off x="3518699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79845" y="2857804"/>
            <a:ext cx="16093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Custos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7075" y="2292096"/>
            <a:ext cx="1463076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2006</a:t>
            </a:r>
          </a:p>
        </p:txBody>
      </p:sp>
      <p:sp>
        <p:nvSpPr>
          <p:cNvPr id="17" name="Oval 16"/>
          <p:cNvSpPr/>
          <p:nvPr/>
        </p:nvSpPr>
        <p:spPr>
          <a:xfrm>
            <a:off x="5932775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93921" y="2857804"/>
            <a:ext cx="16093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Creades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1152" y="2292096"/>
            <a:ext cx="1463076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2015</a:t>
            </a:r>
          </a:p>
        </p:txBody>
      </p:sp>
      <p:sp>
        <p:nvSpPr>
          <p:cNvPr id="20" name="Oval 19"/>
          <p:cNvSpPr/>
          <p:nvPr/>
        </p:nvSpPr>
        <p:spPr>
          <a:xfrm>
            <a:off x="8346852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07998" y="2857804"/>
            <a:ext cx="16093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Athanase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53" y="3511296"/>
            <a:ext cx="870530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We have run the companies, not just modelled them.</a:t>
            </a:r>
            <a:r>
              <a:rPr sz="1160">
                <a:solidFill>
                  <a:srgbClr val="0E1620"/>
                </a:solidFill>
                <a:latin typeface="Arial"/>
              </a:rPr>
              <a:t>  Former CEOs and senior operators of industrial, consumer-durables and services businesses — we have sat in the chief executive’s seat and lived the operational “how”.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We have invested this way for two decades.</a:t>
            </a:r>
            <a:r>
              <a:rPr sz="1160">
                <a:solidFill>
                  <a:srgbClr val="0E1620"/>
                </a:solidFill>
                <a:latin typeface="Arial"/>
              </a:rPr>
              <a:t>  38 companies owned and 30+ public board seats — value created by operating change through board representation, the heart of our model.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The combination is the edge.</a:t>
            </a:r>
            <a:r>
              <a:rPr sz="1160">
                <a:solidFill>
                  <a:srgbClr val="0E1620"/>
                </a:solidFill>
                <a:latin typeface="Arial"/>
              </a:rPr>
              <a:t>  A forensic investing lens to find the mispriced value and a C-suite operating lens to realise it — few managers have genuinely done both.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Skin in the game.</a:t>
            </a:r>
            <a:r>
              <a:rPr sz="1160">
                <a:solidFill>
                  <a:srgbClr val="0E1620"/>
                </a:solidFill>
                <a:latin typeface="Arial"/>
              </a:rPr>
              <a:t>  The team uses Athanase as its own investment vehicle and shares in the success economics.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Institutional memory.</a:t>
            </a:r>
            <a:r>
              <a:rPr sz="1160">
                <a:solidFill>
                  <a:srgbClr val="0E1620"/>
                </a:solidFill>
                <a:latin typeface="Arial"/>
              </a:rPr>
              <a:t>  Multiple market cycles together eliminate key-person risk and prevent repeating historical mistakes.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The people behind the track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An integrated investment team — and an independent operations, finance and control function that safeguards investor capital.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22" y="2126284"/>
            <a:ext cx="585230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INVESTMENT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22" y="2438400"/>
            <a:ext cx="1704484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22" y="2438400"/>
            <a:ext cx="43892" cy="146304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30" y="2565196"/>
            <a:ext cx="14703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Stefan Charette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30" y="2848051"/>
            <a:ext cx="147039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CIO &amp; PARTNER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30" y="3101644"/>
            <a:ext cx="1455761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CEO/CIO of Custos, Investment AB Öresund and Creades; CEO of Brokk; investment banker at Lehman Brothers and Salomon Smith Barney.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1191" y="2438400"/>
            <a:ext cx="1704484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231191" y="2438400"/>
            <a:ext cx="43892" cy="146304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77499" y="2565196"/>
            <a:ext cx="14703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Kenth Eriksson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99" y="2848051"/>
            <a:ext cx="147039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SENIOR PM &amp; 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99" y="3101644"/>
            <a:ext cx="1455761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Ex-CEO of Tradimus; Senior VP, Electrolux; tech owner-operator.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460" y="2438400"/>
            <a:ext cx="1704484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023460" y="2438400"/>
            <a:ext cx="43892" cy="146304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9768" y="2565196"/>
            <a:ext cx="14703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Sven Thorén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9768" y="2848051"/>
            <a:ext cx="147039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PM &amp; PARTNER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9768" y="3101644"/>
            <a:ext cx="1455761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Ex-PM at Adrigo, Catella, Pan Capital and Nordea.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15729" y="2438400"/>
            <a:ext cx="1704484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15729" y="2438400"/>
            <a:ext cx="43892" cy="146304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62037" y="2565196"/>
            <a:ext cx="14703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Anders Elsell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62037" y="2848051"/>
            <a:ext cx="147039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SENIOR PM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2037" y="3101644"/>
            <a:ext cx="1455761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On the team since 1996; ex-CEO/CIO of HQ Fonder; Carnegie.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07998" y="2438400"/>
            <a:ext cx="1704484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07998" y="2438400"/>
            <a:ext cx="43892" cy="146304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54305" y="2565196"/>
            <a:ext cx="14703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Daniel Nyhrén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305" y="2848051"/>
            <a:ext cx="147039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PARTNER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54305" y="3101644"/>
            <a:ext cx="1455761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On the team since 2006; ex-CFO of Global Batterier.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22" y="4096512"/>
            <a:ext cx="65838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OPERATIONS, FINANCE &amp; CONTROL — INDEPENDENT OF THE INVESTMENT TEAM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22" y="4408626"/>
            <a:ext cx="2165353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8922" y="4408626"/>
            <a:ext cx="43892" cy="141427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5230" y="4535422"/>
            <a:ext cx="193126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Malin Norrman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30" y="4818277"/>
            <a:ext cx="193126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CFO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30" y="5071870"/>
            <a:ext cx="1916630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Ex-COO/CFO of Captor Fund Mgmt; risk manager at Carnegie and AB Industrivärden.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99376" y="4408626"/>
            <a:ext cx="2165353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699376" y="4408626"/>
            <a:ext cx="43892" cy="141427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845683" y="4535422"/>
            <a:ext cx="193126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Grant Loon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45683" y="4818277"/>
            <a:ext cx="193126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HEAD OF FUND OPERATIONS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45683" y="5071870"/>
            <a:ext cx="1916630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Ex-COO of Madrague Capital and Port Capital; Soros, Commerzbank, Morgan Stanley.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59829" y="4408626"/>
            <a:ext cx="2165353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959829" y="4408626"/>
            <a:ext cx="43892" cy="141427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06137" y="4535422"/>
            <a:ext cx="193126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Eva Andersson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06137" y="4818277"/>
            <a:ext cx="193126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FUND OPERATIONS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06137" y="5071870"/>
            <a:ext cx="1916630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MBA, Business School London; sales-executive background.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0283" y="4408626"/>
            <a:ext cx="2165353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220283" y="4408626"/>
            <a:ext cx="43892" cy="141427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66590" y="4535422"/>
            <a:ext cx="193126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Zetong Liu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6590" y="4818277"/>
            <a:ext cx="193126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TECHNOLOGY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6590" y="5071870"/>
            <a:ext cx="1916630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MSc applied &amp; computational mathematics, KTH; projects for the Swiss Finance Institute / EPFL.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22" y="6164275"/>
            <a:ext cx="8873559" cy="604723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85230" y="6164275"/>
            <a:ext cx="8558998" cy="6047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Segregation of duties protects investors: operations, valuation and risk sit apart from investment decisions — with SEB (custody), MUFG (administration) and KPMG (audit) independently verifying every NAV and fee.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Investment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We don’t buy broken companies — we buy hidden 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The classic objection to activism is adverse selection. Our model inverts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76" y="2292096"/>
            <a:ext cx="468184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The critique.</a:t>
            </a:r>
            <a:r>
              <a:rPr sz="1080">
                <a:solidFill>
                  <a:srgbClr val="0E1620"/>
                </a:solidFill>
                <a:latin typeface="Arial"/>
              </a:rPr>
              <a:t>  Buy “cheap and troubled” and you select for lemons — worse than they look. The market discounted them for a reason.</a:t>
            </a:r>
          </a:p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Our precondition removes it.</a:t>
            </a:r>
            <a:r>
              <a:rPr sz="1080">
                <a:solidFill>
                  <a:srgbClr val="0E1620"/>
                </a:solidFill>
                <a:latin typeface="Arial"/>
              </a:rPr>
              <a:t>  We invest only where the core is a market leader earning high returns on capital — attractive even if we change nothing. No structurally weak turnarounds.</a:t>
            </a:r>
          </a:p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The real setup.</a:t>
            </a:r>
            <a:r>
              <a:rPr sz="1080">
                <a:solidFill>
                  <a:srgbClr val="0E1620"/>
                </a:solidFill>
                <a:latin typeface="Arial"/>
              </a:rPr>
              <a:t>  Profitable leaders whose management pivoted into weak adjacencies — chasing growth as the core matured. A capital-allocation overlay on a good asset, not a bad asset.</a:t>
            </a:r>
          </a:p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The inversion.</a:t>
            </a:r>
            <a:r>
              <a:rPr sz="1080">
                <a:solidFill>
                  <a:srgbClr val="0E1620"/>
                </a:solidFill>
                <a:latin typeface="Arial"/>
              </a:rPr>
              <a:t>  Blended results make it look mediocre, so it is priced mediocre. The appearance understates reality.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0229" y="2243328"/>
            <a:ext cx="395030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Figure 2  ·  SUM-OF-THE-PARTS (ILLUSTRATIVE · CONSTANT MULTIPLE)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306" y="3706368"/>
            <a:ext cx="1170461" cy="1658112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52306" y="3355238"/>
            <a:ext cx="1170461" cy="312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Arial"/>
              </a:rP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9691" y="5462016"/>
            <a:ext cx="1755691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1" i="0">
                <a:solidFill>
                  <a:srgbClr val="0E1620"/>
                </a:solidFill>
                <a:latin typeface="Arial"/>
              </a:rPr>
              <a:t>Market price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(blended optics)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305" y="3043123"/>
            <a:ext cx="1170461" cy="2321356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54305" y="2691993"/>
            <a:ext cx="1170461" cy="312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Arial"/>
              </a:rPr>
              <a:t>140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1690" y="5462016"/>
            <a:ext cx="1755691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1" i="0">
                <a:solidFill>
                  <a:srgbClr val="0E1620"/>
                </a:solidFill>
                <a:latin typeface="Arial"/>
              </a:rPr>
              <a:t>Core alone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(high ROIIC)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306" y="3706368"/>
            <a:ext cx="2487230" cy="16256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741882" y="3043123"/>
            <a:ext cx="20320" cy="6632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62037" y="3082137"/>
            <a:ext cx="2633537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+40% hidden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76" y="6291072"/>
            <a:ext cx="8778459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314359"/>
                </a:solidFill>
                <a:latin typeface="Arial"/>
              </a:rPr>
              <a:t>The +40% is pure earnings and mix — the same multiple on a cleaner, higher-ROIIC core. Any re-rating is upside we underwrite at zero.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Ownership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The ownership playbook, honed over 38 investments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repeatable sequence that turns a board seat into operational value — refocusing a good core, then growing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9861" y="2487168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307" y="2526182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Secure the board seat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807" y="3091891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Often a precondition to invest — the nomination committee proposes an AIP director.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6283" y="2292096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77222" y="2487168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4668" y="2526182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Align the 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9168" y="3091891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Collaborate with management and stakeholders to agree where the value is and what must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93644" y="2292096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54583" y="2487168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2029" y="2526182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Refocus to drive earnings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6529" y="3091891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Cut overhead and admin, optimise the footprint, exit loss-making “growth-trap” ventures.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4125772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9861" y="4320844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307" y="4359859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Reallocate to winners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807" y="4925568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Redeploy freed-up capital into the profitable core and its strongest adjacencies; lift R&amp;D where it pays.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16283" y="4125772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577222" y="4320844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4668" y="4359859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Grow by acquisition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9168" y="4925568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Add complementary products, geographies or scale through value-accretive bolt-ons.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93644" y="4125772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554583" y="4320844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2029" y="4359859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Exit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6529" y="4925568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Realise via M&amp;A or in the equity market once the core is refocused and compounding.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22" y="6339840"/>
            <a:ext cx="8924767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1">
                <a:solidFill>
                  <a:srgbClr val="314359"/>
                </a:solidFill>
                <a:latin typeface="Arial"/>
              </a:rPr>
              <a:t>The same playbook across 38 companies — value created by fixing capital allocation, not by financial engineering or leverage.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A complement to global equities, not a duplicate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What a global-equity holder asks of a new manager: do you keep up in rallies, lose less in selloffs, and add something the index can’t?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16</a:t>
            </a:r>
          </a:p>
        </p:txBody>
      </p:sp>
      <p:pic>
        <p:nvPicPr>
          <p:cNvPr id="10" name="Picture 9" descr="mc_cap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46" y="2194560"/>
            <a:ext cx="3627489" cy="299930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791575" y="2243328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52514" y="2360371"/>
            <a:ext cx="421366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CAPTURE ASYMMETRY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2514" y="2594457"/>
            <a:ext cx="4213660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93% up  /  43% 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2514" y="2965094"/>
            <a:ext cx="42136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Keeps pace with rallies but takes less than half of selloffs — the essence of the edge.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1575" y="3530803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52514" y="3647846"/>
            <a:ext cx="421366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DIVERSIFICATION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2514" y="3881932"/>
            <a:ext cx="4213660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0.44 correlation  ·  0.73 beta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2514" y="4252569"/>
            <a:ext cx="42136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Low correlation to your existing equity book — a genuine diversifier, not levered beta.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91575" y="4818278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52514" y="4935321"/>
            <a:ext cx="421366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RELIABILITY OVER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2514" y="5169408"/>
            <a:ext cx="4213660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Beat MSCI in 90% of 5-yr and 100% of 7-yr windows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2514" y="5540044"/>
            <a:ext cx="42136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Over every rolling 7-year holding period in 20 years, Athanase out-returned the index.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Athanase captures 93% of the market’s upside but only 43% of its downside — at 0.44 correlation, it improves the whole portfolio, not just one line of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22" y="6983577"/>
            <a:ext cx="9217382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Source: monthly net returns, 235 months (2006–2025). Capture = compounded Athanase return in the market’s up/down months ÷ the market’s. Past performance is not indicative of future results.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 dirty="0">
                <a:solidFill>
                  <a:srgbClr val="314359"/>
                </a:solidFill>
                <a:latin typeface="Times New Roman"/>
              </a:rPr>
              <a:t>Built for down markets — where the record is made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The edge shows most when the market falls: a small positive return in the average down month, and outperformance in four of the last five stress years.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3145614" cy="33162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22" y="2292096"/>
            <a:ext cx="51207" cy="3316224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807" y="2526182"/>
            <a:ext cx="2852999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IN THE AVERAGE MONTH OF A DOWN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807" y="3052876"/>
            <a:ext cx="2852999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+0.2%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807" y="3755136"/>
            <a:ext cx="270669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Athanase — a small gain in the average month of a down year.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807" y="4340352"/>
            <a:ext cx="2852999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 i="0" spc="-120">
                <a:solidFill>
                  <a:srgbClr val="556A83"/>
                </a:solidFill>
                <a:latin typeface="Times New Roman"/>
              </a:rPr>
              <a:t>−1.7%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807" y="5042611"/>
            <a:ext cx="270669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MSCI World IMI — the market itself.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7152" y="2292096"/>
            <a:ext cx="5413383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OUTPERFORMANCE IN STRESS YEARS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152" y="2877312"/>
            <a:ext cx="731538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2008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1845" y="2999232"/>
            <a:ext cx="384330" cy="29260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53960" y="2877312"/>
            <a:ext cx="950999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+2.2%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7152" y="3413760"/>
            <a:ext cx="731538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2011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1845" y="3535680"/>
            <a:ext cx="1380096" cy="29260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49725" y="3413760"/>
            <a:ext cx="950999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+7.9%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7152" y="3950208"/>
            <a:ext cx="731538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2015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1845" y="4072128"/>
            <a:ext cx="2061409" cy="29260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31038" y="3950208"/>
            <a:ext cx="950999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+11.8%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77152" y="4486656"/>
            <a:ext cx="731538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2018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1845" y="4608576"/>
            <a:ext cx="296982" cy="292608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66612" y="4486656"/>
            <a:ext cx="950999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556A83"/>
                </a:solidFill>
                <a:latin typeface="Arial"/>
              </a:rPr>
              <a:t>−1.7%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77152" y="5023104"/>
            <a:ext cx="731538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2022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1845" y="5145024"/>
            <a:ext cx="3511383" cy="29260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81013" y="5023104"/>
            <a:ext cx="950999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+20.1%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77152" y="5618073"/>
            <a:ext cx="5413383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40" b="0" i="1">
                <a:solidFill>
                  <a:srgbClr val="556A83"/>
                </a:solidFill>
                <a:latin typeface="Arial"/>
              </a:rPr>
              <a:t>The risk system forces diversification of business exposures and screens out weak competitive positions and untrustworthy management — which pays in demanding markets.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22" y="6242304"/>
            <a:ext cx="8873559" cy="4876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5230" y="6242304"/>
            <a:ext cx="8558998" cy="487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1">
                <a:solidFill>
                  <a:srgbClr val="FFFFFF"/>
                </a:solidFill>
                <a:latin typeface="Arial"/>
              </a:rPr>
              <a:t>When the market falls, the discipline pays — outperformance in four of the last five stress years, and a gain in the average down month.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22" y="6847027"/>
            <a:ext cx="9217382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1">
                <a:solidFill>
                  <a:srgbClr val="556A83"/>
                </a:solidFill>
                <a:latin typeface="Arial"/>
              </a:rPr>
              <a:t>Down-year figure: average monthly return across all months of the years in which the MSCI World IMI finished down. Annual figures: AIP net return − MSCI IMI. Source: Athanase, April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Lower downside risk compounds into better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Athanase carries higher total volatility than the market — but its downside volatility is lower, which is what protects compounding.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22" y="2292096"/>
            <a:ext cx="2889576" cy="12484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30" y="2428646"/>
            <a:ext cx="2596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ANNUALISED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30" y="2740761"/>
            <a:ext cx="2596960" cy="780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80">
                <a:solidFill>
                  <a:srgbClr val="556A83"/>
                </a:solidFill>
                <a:latin typeface="Arial"/>
              </a:rPr>
              <a:t>MSCI  </a:t>
            </a:r>
            <a:r>
              <a:rPr sz="1520" b="1">
                <a:solidFill>
                  <a:srgbClr val="314359"/>
                </a:solidFill>
                <a:latin typeface="Times New Roman"/>
              </a:rPr>
              <a:t>6.2%</a:t>
            </a:r>
          </a:p>
          <a:p>
            <a:r>
              <a:rPr sz="880">
                <a:solidFill>
                  <a:srgbClr val="556A83"/>
                </a:solidFill>
                <a:latin typeface="Arial"/>
              </a:rPr>
              <a:t>AIP   </a:t>
            </a:r>
            <a:r>
              <a:rPr sz="1520" b="1">
                <a:solidFill>
                  <a:srgbClr val="152130"/>
                </a:solidFill>
                <a:latin typeface="Times New Roman"/>
              </a:rPr>
              <a:t>16.3%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6283" y="2292096"/>
            <a:ext cx="2889576" cy="12484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2591" y="2428646"/>
            <a:ext cx="2596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TOTAL VOLATILITY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2591" y="2740761"/>
            <a:ext cx="2596960" cy="780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80">
                <a:solidFill>
                  <a:srgbClr val="556A83"/>
                </a:solidFill>
                <a:latin typeface="Arial"/>
              </a:rPr>
              <a:t>MSCI  </a:t>
            </a:r>
            <a:r>
              <a:rPr sz="1520" b="1">
                <a:solidFill>
                  <a:srgbClr val="314359"/>
                </a:solidFill>
                <a:latin typeface="Times New Roman"/>
              </a:rPr>
              <a:t>16.3%</a:t>
            </a:r>
          </a:p>
          <a:p>
            <a:r>
              <a:rPr sz="880">
                <a:solidFill>
                  <a:srgbClr val="556A83"/>
                </a:solidFill>
                <a:latin typeface="Arial"/>
              </a:rPr>
              <a:t>AIP   </a:t>
            </a:r>
            <a:r>
              <a:rPr sz="1520" b="1">
                <a:solidFill>
                  <a:srgbClr val="152130"/>
                </a:solidFill>
                <a:latin typeface="Times New Roman"/>
              </a:rPr>
              <a:t>27.0%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93644" y="2292096"/>
            <a:ext cx="2889576" cy="12484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9952" y="2428646"/>
            <a:ext cx="2596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DOWNSIDE VOLATILITY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9952" y="2740761"/>
            <a:ext cx="2596960" cy="780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80">
                <a:solidFill>
                  <a:srgbClr val="556A83"/>
                </a:solidFill>
                <a:latin typeface="Arial"/>
              </a:rPr>
              <a:t>MSCI  </a:t>
            </a:r>
            <a:r>
              <a:rPr sz="1520" b="1">
                <a:solidFill>
                  <a:srgbClr val="314359"/>
                </a:solidFill>
                <a:latin typeface="Times New Roman"/>
              </a:rPr>
              <a:t>11.5%</a:t>
            </a:r>
          </a:p>
          <a:p>
            <a:r>
              <a:rPr sz="880">
                <a:solidFill>
                  <a:srgbClr val="556A83"/>
                </a:solidFill>
                <a:latin typeface="Arial"/>
              </a:rPr>
              <a:t>AIP   </a:t>
            </a:r>
            <a:r>
              <a:rPr sz="1520" b="1">
                <a:solidFill>
                  <a:srgbClr val="152130"/>
                </a:solidFill>
                <a:latin typeface="Times New Roman"/>
              </a:rPr>
              <a:t>10.9%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360" y="3579571"/>
            <a:ext cx="2889576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152130"/>
                </a:solidFill>
                <a:latin typeface="Arial"/>
              </a:rPr>
              <a:t>↑ Athanase downside volatility is LOWER than the market’s.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22" y="3901440"/>
            <a:ext cx="877845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EXPECTED VALUE OF 100 INVESTED, BY HOLDING PERIOD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4194048"/>
            <a:ext cx="2560384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6707" y="4194048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99307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87091" y="419404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3 years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8148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5933" y="419404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5 years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6990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44775" y="419404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7 years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35832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23617" y="419404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10 years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22" y="4535424"/>
            <a:ext cx="2560384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6707" y="4535424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Median outcome — MSCI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99307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072460" y="453542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8148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51302" y="453542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56990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30144" y="453542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152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35832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08986" y="453542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182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22" y="4876800"/>
            <a:ext cx="2560384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6707" y="4876800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152130"/>
                </a:solidFill>
                <a:latin typeface="Arial"/>
              </a:rPr>
              <a:t>Median outcome — Athanase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99307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072460" y="4876800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157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8148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51302" y="4876800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213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56990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30144" y="4876800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287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35832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08986" y="4876800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452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22" y="5218176"/>
            <a:ext cx="2560384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26707" y="5218176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Adverse case* — MSCI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99307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072460" y="5218176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99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8148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651302" y="5218176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105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56990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30144" y="5218176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114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35832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08986" y="5218176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129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8922" y="5559552"/>
            <a:ext cx="2560384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6707" y="5559552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152130"/>
                </a:solidFill>
                <a:latin typeface="Arial"/>
              </a:rPr>
              <a:t>Adverse case* — Athanase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99307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072460" y="5559552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133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8148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51302" y="5559552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172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56990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30144" y="5559552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223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35832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808986" y="5559552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335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8922" y="5900928"/>
            <a:ext cx="2560384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26707" y="5900928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Chance of a loss — MSCI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999307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072460" y="590092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18%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8148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651302" y="590092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11%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56990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30144" y="590092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8%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35832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808986" y="590092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4%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8922" y="6242304"/>
            <a:ext cx="2560384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26707" y="6242304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152130"/>
                </a:solidFill>
                <a:latin typeface="Arial"/>
              </a:rPr>
              <a:t>Chance of a loss — Athanase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999307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072460" y="624230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8148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651302" y="624230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56990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230144" y="624230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735832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808986" y="624230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38922" y="6661708"/>
            <a:ext cx="8873559" cy="370636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70599" y="6661708"/>
            <a:ext cx="8632151" cy="3706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1">
                <a:solidFill>
                  <a:srgbClr val="FFFFFF"/>
                </a:solidFill>
                <a:latin typeface="Arial"/>
              </a:rPr>
              <a:t>Even in the adverse case, Athanase’s lower downside volatility leaves an investor ahead at every horizon — and the gap widens with time.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8922" y="7110374"/>
            <a:ext cx="9217382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Source: monthly net returns, 235 months (2006–2025). *Adverse case = one downside-deviation outcome (≈1-in-6), narrowing with horizon as dd/√T. Illustrative; past performance is not indicative of future results.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Portfolio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What it does to an allocator’s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Illustrative: redirecting a sleeve into Athanase rather than a long-only global fund or another activist.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38922" y="2340864"/>
          <a:ext cx="4901306" cy="4096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3526014" y="2896819"/>
            <a:ext cx="12192" cy="2926080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94476" y="2643225"/>
            <a:ext cx="14630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Down-market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537" y="4392177"/>
            <a:ext cx="1170461" cy="253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1" i="0">
                <a:solidFill>
                  <a:srgbClr val="314359"/>
                </a:solidFill>
                <a:latin typeface="Arial"/>
              </a:rPr>
              <a:t>Athanase: holds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537" y="5248689"/>
            <a:ext cx="1170461" cy="253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 i="0">
                <a:solidFill>
                  <a:srgbClr val="556A83"/>
                </a:solidFill>
                <a:latin typeface="Arial"/>
              </a:rPr>
              <a:t>Long-only: −19%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575" y="2828544"/>
            <a:ext cx="9509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523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575" y="4584192"/>
            <a:ext cx="9509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271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575" y="5169408"/>
            <a:ext cx="9509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208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8883" y="2340864"/>
            <a:ext cx="3365076" cy="536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Table 15.  Annual uplift to TOTAL-portfolio return (bps), by sleeve size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88883" y="2896819"/>
            <a:ext cx="1097307" cy="44866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62037" y="2896819"/>
            <a:ext cx="98026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Sleeve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86190" y="2896819"/>
            <a:ext cx="1133884" cy="44866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59344" y="2896819"/>
            <a:ext cx="1016838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vs Long-only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0075" y="2896819"/>
            <a:ext cx="1426499" cy="44866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93228" y="2896819"/>
            <a:ext cx="1309453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vs Other activist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8883" y="3345484"/>
            <a:ext cx="1097307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62037" y="3345484"/>
            <a:ext cx="98026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3%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86190" y="3345484"/>
            <a:ext cx="1133884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59344" y="3345484"/>
            <a:ext cx="1016838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+31 bps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0075" y="3345484"/>
            <a:ext cx="1426499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93228" y="3345484"/>
            <a:ext cx="1309453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+23 bps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88883" y="3794150"/>
            <a:ext cx="1097307" cy="448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62037" y="3794150"/>
            <a:ext cx="98026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86190" y="3794150"/>
            <a:ext cx="1133884" cy="448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59344" y="3794150"/>
            <a:ext cx="1016838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+52 bps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0075" y="3794150"/>
            <a:ext cx="1426499" cy="448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93228" y="3794150"/>
            <a:ext cx="1309453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+38 bps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88883" y="4242816"/>
            <a:ext cx="1097307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62037" y="4242816"/>
            <a:ext cx="98026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86190" y="4242816"/>
            <a:ext cx="1133884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59344" y="4242816"/>
            <a:ext cx="1016838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+83 bps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20075" y="4242816"/>
            <a:ext cx="1426499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93228" y="4242816"/>
            <a:ext cx="1309453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+60 bps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88883" y="4847539"/>
            <a:ext cx="33650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HOW THE PATH IS EARNED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88883" y="5140147"/>
            <a:ext cx="3365076" cy="2145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The smooth line is not won by chasing rallies. On average monthly returns (p.18), Athanase roughly matches the market up (1.2% vs 1.3%) but protects sharply down (+0.2% vs −1.7%).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Losing less in the down months — not winning more up — is what compounds the lines apart: a steadier path, not just a higher one.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22" y="6973824"/>
            <a:ext cx="6510690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Illustrative only; not a projection. Athanase 18% (headline net IRR); other activist 10.5%; long-only 7.6% (MSCI IMI). Uplift = sleeve × return spread; growth = annual compounding. Past performance ≠ future results.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What a blend does to the whole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Adding Athanase to a global-equity book moves the portfolio up and to the left — more return for less downside risk, thanks to low correlation.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20</a:t>
            </a:r>
          </a:p>
        </p:txBody>
      </p:sp>
      <p:pic>
        <p:nvPicPr>
          <p:cNvPr id="10" name="Picture 9" descr="mc_fron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46" y="2194560"/>
            <a:ext cx="6002145" cy="299930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10690" y="2262835"/>
            <a:ext cx="2816422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1629" y="2379878"/>
            <a:ext cx="2494545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ALL GLOBAL EQUITIES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1629" y="2633472"/>
            <a:ext cx="249454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80" b="1">
                <a:solidFill>
                  <a:srgbClr val="314359"/>
                </a:solidFill>
                <a:latin typeface="Times New Roman"/>
              </a:rPr>
              <a:t>6.1% return</a:t>
            </a:r>
            <a:r>
              <a:rPr sz="960">
                <a:solidFill>
                  <a:srgbClr val="314359"/>
                </a:solidFill>
                <a:latin typeface="Arial"/>
              </a:rPr>
              <a:t>   ·   11.5% downside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1629" y="3062630"/>
            <a:ext cx="249454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100% MSCI World IMI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0690" y="3569817"/>
            <a:ext cx="2816422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1629" y="3686860"/>
            <a:ext cx="2494545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ADD A PRUDENT 8% SLEEVE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1629" y="3940454"/>
            <a:ext cx="249454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80" b="1">
                <a:solidFill>
                  <a:srgbClr val="314359"/>
                </a:solidFill>
                <a:latin typeface="Times New Roman"/>
              </a:rPr>
              <a:t>7.3% return</a:t>
            </a:r>
            <a:r>
              <a:rPr sz="960">
                <a:solidFill>
                  <a:srgbClr val="314359"/>
                </a:solidFill>
                <a:latin typeface="Arial"/>
              </a:rPr>
              <a:t>   ·   11.1% downside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1629" y="4369612"/>
            <a:ext cx="249454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92% MSCI  /  8% Athanase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690" y="4896307"/>
            <a:ext cx="281642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HOW TO READ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690" y="5169408"/>
            <a:ext cx="2816422" cy="1853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Every blend on the curve beats holding equities alone, and the benefit keeps building until past half the portfolio (downside risk bottoms near 60%). That is a directional case to size up — within prudent limits — not a target: a 59% position would breach concentration, liquidity and the 3–8% sizing discipline. Even an 8% sleeve already moves the portfolio the right way.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The blend is not a trade-off: every allocation raises return and lowers downside risk — so to a committee this is a mathematical risk-reduction tool, not a risky bet, sized within prudent 3–8% limits.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22" y="6983577"/>
            <a:ext cx="9217382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Source: monthly net returns, 235 months (2006–2025), monthly rebalanced blends. The minimum-risk point is in-sample and shown for shape, not as advice. Illustrative; past performance is not indicative of future results.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Track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0241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Proof: outperformance with downside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12076" y="1901952"/>
          <a:ext cx="5193921" cy="4096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25460" y="1999488"/>
            <a:ext cx="3365076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80" b="1" i="0">
                <a:solidFill>
                  <a:srgbClr val="314359"/>
                </a:solidFill>
                <a:latin typeface="Times New Roman"/>
              </a:rPr>
              <a:t>Win by losing less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Athanase keeps pace in up markets but takes less than half the downside — 93% up-capture, 43% down-capture. The asymmetry, not outsized rallies, is the edge.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80" b="1" i="0">
                <a:solidFill>
                  <a:srgbClr val="314359"/>
                </a:solidFill>
                <a:latin typeface="Times New Roman"/>
              </a:rPr>
              <a:t>And it compounds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Losing less in every drawdown leaves more capital working in the recovery. Since 2006 that turned each €1 into ~€18 of capital — 18× growth, versus ~3.2× for the market.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80" b="1" i="0">
                <a:solidFill>
                  <a:srgbClr val="314359"/>
                </a:solidFill>
                <a:latin typeface="Times New Roman"/>
              </a:rPr>
              <a:t>Net of every fee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16.3% net per year versus the market’s 6.2% — about +10 points a year, after all fees and across two full market cycles.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Independent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Independently validated: 20 years, net of every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prospective LP’s investment committee reconciled the security-level (StatPro) data against the LP-level NET return series.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53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53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+1,743%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cumulative NET return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over 19.3 years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8368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8368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+16.3%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annualised NET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(net of all fees)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8083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8083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+10 pts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annualised alpha,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net, vs the market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17798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17798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5.8×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the relevant equity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benchmark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53" y="4291582"/>
            <a:ext cx="870530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3580" indent="-163580">
              <a:lnSpc>
                <a:spcPct val="112000"/>
              </a:lnSpc>
              <a:spcAft>
                <a:spcPts val="10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Two full cycles, survived.</a:t>
            </a:r>
            <a:r>
              <a:rPr sz="1120">
                <a:solidFill>
                  <a:srgbClr val="0E1620"/>
                </a:solidFill>
                <a:latin typeface="Arial"/>
              </a:rPr>
              <a:t>  Drawdowns of −52.8% (2008, recovered by 2010) and −45.9% (2017–2020, recovered by Sep 2020) — navigated live with the same philosophy, not back-tested.</a:t>
            </a:r>
          </a:p>
          <a:p>
            <a:pPr marL="163580" indent="-163580">
              <a:lnSpc>
                <a:spcPct val="112000"/>
              </a:lnSpc>
              <a:spcAft>
                <a:spcPts val="10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Top-tier downside-adjusted return.</a:t>
            </a:r>
            <a:r>
              <a:rPr sz="1120">
                <a:solidFill>
                  <a:srgbClr val="0E1620"/>
                </a:solidFill>
                <a:latin typeface="Arial"/>
              </a:rPr>
              <a:t>  20-year Sortino 1.54; AIPFII Sortino 2.40, with upside volatility 3.9× the downside.</a:t>
            </a:r>
          </a:p>
          <a:p>
            <a:pPr marL="163580" indent="-163580">
              <a:lnSpc>
                <a:spcPct val="112000"/>
              </a:lnSpc>
              <a:spcAft>
                <a:spcPts val="10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Realised cash, not marks.</a:t>
            </a:r>
            <a:r>
              <a:rPr sz="1120">
                <a:solidFill>
                  <a:srgbClr val="0E1620"/>
                </a:solidFill>
                <a:latin typeface="Arial"/>
              </a:rPr>
              <a:t>  The largest contributors are realised LP cash — removing the mark-to-model objection.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53" y="6778752"/>
            <a:ext cx="8632151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Source: independent institutional due-diligence review, May 2026, on StatPro security-level data and LP-level NET monthly returns (2006–2026).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52130"/>
      </a:dk1>
      <a:lt1>
        <a:srgbClr val="FFFFFF"/>
      </a:lt1>
      <a:dk2>
        <a:srgbClr val="0E1620"/>
      </a:dk2>
      <a:lt2>
        <a:srgbClr val="F6F7F9"/>
      </a:lt2>
      <a:accent1>
        <a:srgbClr val="152130"/>
      </a:accent1>
      <a:accent2>
        <a:srgbClr val="314359"/>
      </a:accent2>
      <a:accent3>
        <a:srgbClr val="556A83"/>
      </a:accent3>
      <a:accent4>
        <a:srgbClr val="0E1620"/>
      </a:accent4>
      <a:accent5>
        <a:srgbClr val="E2E5E9"/>
      </a:accent5>
      <a:accent6>
        <a:srgbClr val="F6F7F9"/>
      </a:accent6>
      <a:hlink>
        <a:srgbClr val="314359"/>
      </a:hlink>
      <a:folHlink>
        <a:srgbClr val="556A83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27318a-0826-4810-8988-cc3e5c2e3a20">
      <Terms xmlns="http://schemas.microsoft.com/office/infopath/2007/PartnerControls"/>
    </lcf76f155ced4ddcb4097134ff3c332f>
    <TaxCatchAll xmlns="4124b31e-6573-4802-b7ef-311f4d26277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310709CD82A6741BE5E8B9BFA41D3C0" ma:contentTypeVersion="13" ma:contentTypeDescription="Skapa ett nytt dokument." ma:contentTypeScope="" ma:versionID="ea70554b132df1325a42697029f21ce4">
  <xsd:schema xmlns:xsd="http://www.w3.org/2001/XMLSchema" xmlns:xs="http://www.w3.org/2001/XMLSchema" xmlns:p="http://schemas.microsoft.com/office/2006/metadata/properties" xmlns:ns2="5e27318a-0826-4810-8988-cc3e5c2e3a20" xmlns:ns3="4124b31e-6573-4802-b7ef-311f4d26277d" targetNamespace="http://schemas.microsoft.com/office/2006/metadata/properties" ma:root="true" ma:fieldsID="cc21193230fc81558174baefa7095284" ns2:_="" ns3:_="">
    <xsd:import namespace="5e27318a-0826-4810-8988-cc3e5c2e3a20"/>
    <xsd:import namespace="4124b31e-6573-4802-b7ef-311f4d2627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27318a-0826-4810-8988-cc3e5c2e3a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ildmarkeringar" ma:readOnly="false" ma:fieldId="{5cf76f15-5ced-4ddc-b409-7134ff3c332f}" ma:taxonomyMulti="true" ma:sspId="7f99c0e0-a277-4309-9e70-fff5b915c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24b31e-6573-4802-b7ef-311f4d26277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70a8ef-2ce6-4f9b-a60c-abb7e201e7ac}" ma:internalName="TaxCatchAll" ma:showField="CatchAllData" ma:web="4124b31e-6573-4802-b7ef-311f4d2627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09CEDA-D96E-4DE0-BD69-05CF6CA08BCA}">
  <ds:schemaRefs>
    <ds:schemaRef ds:uri="http://schemas.microsoft.com/office/2006/metadata/properties"/>
    <ds:schemaRef ds:uri="http://schemas.microsoft.com/office/infopath/2007/PartnerControls"/>
    <ds:schemaRef ds:uri="5e27318a-0826-4810-8988-cc3e5c2e3a20"/>
    <ds:schemaRef ds:uri="4124b31e-6573-4802-b7ef-311f4d26277d"/>
  </ds:schemaRefs>
</ds:datastoreItem>
</file>

<file path=customXml/itemProps2.xml><?xml version="1.0" encoding="utf-8"?>
<ds:datastoreItem xmlns:ds="http://schemas.openxmlformats.org/officeDocument/2006/customXml" ds:itemID="{2B94E596-B65B-4BD7-8F65-8C8EB76BBA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B4E500-B9BC-47AF-8F6B-49D89CFF5B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27318a-0826-4810-8988-cc3e5c2e3a20"/>
    <ds:schemaRef ds:uri="4124b31e-6573-4802-b7ef-311f4d2627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4505</Words>
  <Application>Microsoft Office PowerPoint</Application>
  <PresentationFormat>Custom</PresentationFormat>
  <Paragraphs>433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Stefan Charette</cp:lastModifiedBy>
  <cp:revision>1</cp:revision>
  <dcterms:created xsi:type="dcterms:W3CDTF">2013-01-27T09:14:16Z</dcterms:created>
  <dcterms:modified xsi:type="dcterms:W3CDTF">2026-06-09T15:02:21Z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0x0101006310709CD82A6741BE5E8B9BFA41D3C0</vt:lpwstr>
  </property>
</Properties>
</file>