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323088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4846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56A83"/>
                </a:solidFill>
                <a:latin typeface="Arial"/>
              </a:rPr>
              <a:t>ATHANASE · PROCESS ATTESTATION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 i="0">
                <a:solidFill>
                  <a:srgbClr val="314359"/>
                </a:solidFill>
                <a:latin typeface="Times New Roman"/>
              </a:rPr>
              <a:t>Investment process — say what we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1">
                <a:solidFill>
                  <a:srgbClr val="556A83"/>
                </a:solidFill>
                <a:latin typeface="Arial"/>
              </a:rPr>
              <a:t>Tick each claim from the presentation against the matching action in this letter — we say it, the letter does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56A83"/>
                </a:solidFill>
                <a:latin typeface="Arial"/>
              </a:rPr>
              <a:t>Strictly confidential · for professional and intermediary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56A83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WHAT WE SAY  (in the presentation)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103120"/>
            <a:ext cx="5806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WHAT WE DO  (in this letter)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50592"/>
            <a:ext cx="11091672" cy="17780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06040"/>
            <a:ext cx="219456" cy="219456"/>
          </a:xfrm>
          <a:prstGeom prst="rect">
            <a:avLst/>
          </a:prstGeom>
          <a:noFill/>
          <a:ln w="15240">
            <a:solidFill>
              <a:srgbClr val="556A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542032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Selective, high-conviction sourcing.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542032"/>
            <a:ext cx="5806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~One new investment a year, from a scored universe of ~20,000 companies; the sourcing funnel is documented.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172968"/>
            <a:ext cx="219456" cy="219456"/>
          </a:xfrm>
          <a:prstGeom prst="rect">
            <a:avLst/>
          </a:prstGeom>
          <a:noFill/>
          <a:ln w="15240">
            <a:solidFill>
              <a:srgbClr val="556A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108960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Three tollgates before any capital.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108960"/>
            <a:ext cx="5806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Each idea is minuted through Tollgate 1 (valuation), 2 (plan + board-seat path) and 3 (IC Go/No-Go), with named decision-makers.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75888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739896"/>
            <a:ext cx="219456" cy="219456"/>
          </a:xfrm>
          <a:prstGeom prst="rect">
            <a:avLst/>
          </a:prstGeom>
          <a:noFill/>
          <a:ln w="15240">
            <a:solidFill>
              <a:srgbClr val="556A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675888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Buy quality at a discount — never broken turnarounds.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675888"/>
            <a:ext cx="5806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Tollgate 1 requires the core alone to justify the price — a 30–40% margin of safety versus a PE bidder.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42816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306824"/>
            <a:ext cx="219456" cy="219456"/>
          </a:xfrm>
          <a:prstGeom prst="rect">
            <a:avLst/>
          </a:prstGeom>
          <a:noFill/>
          <a:ln w="15240">
            <a:solidFill>
              <a:srgbClr val="556A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24281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Agreement before capital.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4242816"/>
            <a:ext cx="5806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No sizing to conviction without a secured path to a board seat; if alignment fails, the position is unwound (walk-away ledger).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809744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873752"/>
            <a:ext cx="219456" cy="219456"/>
          </a:xfrm>
          <a:prstGeom prst="rect">
            <a:avLst/>
          </a:prstGeom>
          <a:noFill/>
          <a:ln w="15240">
            <a:solidFill>
              <a:srgbClr val="556A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809744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We create the value from the boardroom.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4809744"/>
            <a:ext cx="5806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30+ public board seats; the ownership playbook — refocus, reallocate, bolt-on, exit — executed per holding.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376672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440680"/>
            <a:ext cx="219456" cy="219456"/>
          </a:xfrm>
          <a:prstGeom prst="rect">
            <a:avLst/>
          </a:prstGeom>
          <a:noFill/>
          <a:ln w="15240">
            <a:solidFill>
              <a:srgbClr val="556A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376672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Returns from earnings, not re-rating.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5376672"/>
            <a:ext cx="5806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Underwritten to a constant exit multiple; portfolio companies grew EBITA ~14.5% a year during our ownership.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943600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6007608"/>
            <a:ext cx="219456" cy="219456"/>
          </a:xfrm>
          <a:prstGeom prst="rect">
            <a:avLst/>
          </a:prstGeom>
          <a:noFill/>
          <a:ln w="15240">
            <a:solidFill>
              <a:srgbClr val="556A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943600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Determined, not forced, sellers.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5943600"/>
            <a:ext cx="5806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We exit on a changed thesis, completely and on the facts — never forced by a fund clock or capital calls.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510528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323088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4846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56A83"/>
                </a:solidFill>
                <a:latin typeface="Arial"/>
              </a:rPr>
              <a:t>ATHANASE · PROCESS ATTESTATION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 i="0">
                <a:solidFill>
                  <a:srgbClr val="314359"/>
                </a:solidFill>
                <a:latin typeface="Times New Roman"/>
              </a:rPr>
              <a:t>Risk process — do what we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1">
                <a:solidFill>
                  <a:srgbClr val="556A83"/>
                </a:solidFill>
                <a:latin typeface="Arial"/>
              </a:rPr>
              <a:t>The same map for risk — each safeguard we describe is a mechanism the letter commits to and the team applies.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56A83"/>
                </a:solidFill>
                <a:latin typeface="Arial"/>
              </a:rPr>
              <a:t>Strictly confidential · for professional and intermediary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56A83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WHAT WE SAY  (in the presentation)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103120"/>
            <a:ext cx="5806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WHAT WE DO  (in this letter)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50592"/>
            <a:ext cx="11091672" cy="17780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06040"/>
            <a:ext cx="219456" cy="219456"/>
          </a:xfrm>
          <a:prstGeom prst="rect">
            <a:avLst/>
          </a:prstGeom>
          <a:noFill/>
          <a:ln w="15240">
            <a:solidFill>
              <a:srgbClr val="556A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542032"/>
            <a:ext cx="4480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Permanent loss is engineered out before we invest.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542032"/>
            <a:ext cx="5806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Only durable, market-leading cores; we value the rectifiable core, with zero value for “growth-trap” divisions.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44952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219456" cy="219456"/>
          </a:xfrm>
          <a:prstGeom prst="rect">
            <a:avLst/>
          </a:prstGeom>
          <a:noFill/>
          <a:ln w="15240">
            <a:solidFill>
              <a:srgbClr val="556A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044952"/>
            <a:ext cx="4480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Every idea clears an entry gauntlet.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044952"/>
            <a:ext cx="5806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Approval requires ≥12% expected IRR and ≤20% probability of a 30% drawdown.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47872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11880"/>
            <a:ext cx="219456" cy="219456"/>
          </a:xfrm>
          <a:prstGeom prst="rect">
            <a:avLst/>
          </a:prstGeom>
          <a:noFill/>
          <a:ln w="15240">
            <a:solidFill>
              <a:srgbClr val="556A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547872"/>
            <a:ext cx="4480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Diversification by hard limits.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547872"/>
            <a:ext cx="5806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Capped exposures — sector ≤30%, plus economic-cycle, maturity and geography limits — monitored continuously.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50792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219456" cy="219456"/>
          </a:xfrm>
          <a:prstGeom prst="rect">
            <a:avLst/>
          </a:prstGeom>
          <a:noFill/>
          <a:ln w="15240">
            <a:solidFill>
              <a:srgbClr val="556A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050792"/>
            <a:ext cx="4480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Mechanised discipline, not emotion.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4050792"/>
            <a:ext cx="5806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Automatic −10 / −20 / −30% triggers force a re-underwrite, and an exit where the thesis is broken.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53712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617720"/>
            <a:ext cx="219456" cy="219456"/>
          </a:xfrm>
          <a:prstGeom prst="rect">
            <a:avLst/>
          </a:prstGeom>
          <a:noFill/>
          <a:ln w="15240">
            <a:solidFill>
              <a:srgbClr val="556A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553712"/>
            <a:ext cx="4480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The board seat is the kill switch.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4553712"/>
            <a:ext cx="5806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Board control freezes poor capital allocation and changes management — risk falls the moment control is secured.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056632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120640"/>
            <a:ext cx="219456" cy="219456"/>
          </a:xfrm>
          <a:prstGeom prst="rect">
            <a:avLst/>
          </a:prstGeom>
          <a:noFill/>
          <a:ln w="15240">
            <a:solidFill>
              <a:srgbClr val="556A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056632"/>
            <a:ext cx="4480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No leverage at the fund.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5056632"/>
            <a:ext cx="5806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Any leverage is isolated to single investments, never applied at the fund level.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559552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623560"/>
            <a:ext cx="219456" cy="219456"/>
          </a:xfrm>
          <a:prstGeom prst="rect">
            <a:avLst/>
          </a:prstGeom>
          <a:noFill/>
          <a:ln w="15240">
            <a:solidFill>
              <a:srgbClr val="556A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559552"/>
            <a:ext cx="4480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Independent checks, segregated duties.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5559552"/>
            <a:ext cx="5806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Operations, valuation and risk sit apart from investment; custody SEB, administration MUFG, audit KPMG.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062472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6126480"/>
            <a:ext cx="219456" cy="219456"/>
          </a:xfrm>
          <a:prstGeom prst="rect">
            <a:avLst/>
          </a:prstGeom>
          <a:noFill/>
          <a:ln w="15240">
            <a:solidFill>
              <a:srgbClr val="556A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6062472"/>
            <a:ext cx="4480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Sized so no single mark can dominate.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6062472"/>
            <a:ext cx="5806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8–12 concentrated positions within hard limits, on a pre-agreed drawdown tolerance minuted with the Investment Committee.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6565392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