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path through time — upside and downside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Same axes for both. Athanase’s cone fans wide on the upside but holds firm on the downside; the market’s is symmetric and far lower.</a:t>
            </a:r>
          </a:p>
        </p:txBody>
      </p:sp>
      <p:pic>
        <p:nvPicPr>
          <p:cNvPr id="8" name="Picture 7" descr="cone_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92" y="2194560"/>
            <a:ext cx="3767380" cy="2962730"/>
          </a:xfrm>
          <a:prstGeom prst="rect">
            <a:avLst/>
          </a:prstGeom>
        </p:spPr>
      </p:pic>
      <p:pic>
        <p:nvPicPr>
          <p:cNvPr id="9" name="Picture 8" descr="cone_ms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1037" y="2194560"/>
            <a:ext cx="3767380" cy="29627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38922" y="6339840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0599" y="6339840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upside deviation 25% vs downside 11% — the volatility is mostly upside. Even its 10-year downside edge stays above the market’s expected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6944563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Envelope = expected path ±1 annualised up/downside deviation, widening with √time; faint lines are sample simulated paths.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