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7536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Risk-Adjusted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Lower downside risk compounds into better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Athanase carries higher total volatility than the market — but its downside volatility is lower, which is what protects compounding.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22" y="2145792"/>
            <a:ext cx="2889576" cy="12484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30" y="2282342"/>
            <a:ext cx="2596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ANNUALISED RETURN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30" y="2594457"/>
            <a:ext cx="2596960" cy="780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80">
                <a:solidFill>
                  <a:srgbClr val="556A83"/>
                </a:solidFill>
                <a:latin typeface="Arial"/>
              </a:rPr>
              <a:t>MSCI  </a:t>
            </a:r>
            <a:r>
              <a:rPr sz="1520" b="1">
                <a:solidFill>
                  <a:srgbClr val="314359"/>
                </a:solidFill>
                <a:latin typeface="Times New Roman"/>
              </a:rPr>
              <a:t>6.1%</a:t>
            </a:r>
          </a:p>
          <a:p>
            <a:r>
              <a:rPr sz="880">
                <a:solidFill>
                  <a:srgbClr val="556A83"/>
                </a:solidFill>
                <a:latin typeface="Arial"/>
              </a:rPr>
              <a:t>AIP   </a:t>
            </a:r>
            <a:r>
              <a:rPr sz="1520" b="1">
                <a:solidFill>
                  <a:srgbClr val="152130"/>
                </a:solidFill>
                <a:latin typeface="Times New Roman"/>
              </a:rPr>
              <a:t>16.0%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16283" y="2145792"/>
            <a:ext cx="2889576" cy="12484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2591" y="2282342"/>
            <a:ext cx="2596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TOTAL VOLATILITY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2591" y="2594457"/>
            <a:ext cx="2596960" cy="780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80">
                <a:solidFill>
                  <a:srgbClr val="556A83"/>
                </a:solidFill>
                <a:latin typeface="Arial"/>
              </a:rPr>
              <a:t>MSCI  </a:t>
            </a:r>
            <a:r>
              <a:rPr sz="1520" b="1">
                <a:solidFill>
                  <a:srgbClr val="314359"/>
                </a:solidFill>
                <a:latin typeface="Times New Roman"/>
              </a:rPr>
              <a:t>16.3%</a:t>
            </a:r>
          </a:p>
          <a:p>
            <a:r>
              <a:rPr sz="880">
                <a:solidFill>
                  <a:srgbClr val="556A83"/>
                </a:solidFill>
                <a:latin typeface="Arial"/>
              </a:rPr>
              <a:t>AIP   </a:t>
            </a:r>
            <a:r>
              <a:rPr sz="1520" b="1">
                <a:solidFill>
                  <a:srgbClr val="152130"/>
                </a:solidFill>
                <a:latin typeface="Times New Roman"/>
              </a:rPr>
              <a:t>27.0%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93644" y="2145792"/>
            <a:ext cx="2889576" cy="12484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9952" y="2282342"/>
            <a:ext cx="2596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DOWNSIDE VOLATILITY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9952" y="2594457"/>
            <a:ext cx="2596960" cy="780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80">
                <a:solidFill>
                  <a:srgbClr val="556A83"/>
                </a:solidFill>
                <a:latin typeface="Arial"/>
              </a:rPr>
              <a:t>MSCI  </a:t>
            </a:r>
            <a:r>
              <a:rPr sz="1520" b="1">
                <a:solidFill>
                  <a:srgbClr val="314359"/>
                </a:solidFill>
                <a:latin typeface="Times New Roman"/>
              </a:rPr>
              <a:t>11.5%</a:t>
            </a:r>
          </a:p>
          <a:p>
            <a:r>
              <a:rPr sz="880">
                <a:solidFill>
                  <a:srgbClr val="556A83"/>
                </a:solidFill>
                <a:latin typeface="Arial"/>
              </a:rPr>
              <a:t>AIP   </a:t>
            </a:r>
            <a:r>
              <a:rPr sz="1520" b="1">
                <a:solidFill>
                  <a:srgbClr val="152130"/>
                </a:solidFill>
                <a:latin typeface="Times New Roman"/>
              </a:rPr>
              <a:t>10.9%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1360" y="3452774"/>
            <a:ext cx="2889576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 i="0">
                <a:solidFill>
                  <a:srgbClr val="152130"/>
                </a:solidFill>
                <a:latin typeface="Arial"/>
              </a:rPr>
              <a:t>↑ Athanase downside volatility is LOWER than the market’s.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22" y="3784395"/>
            <a:ext cx="87784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TABLE 1.  EXPECTED VALUE OF 100 INVESTED, BY HOLDING PERIOD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22" y="4077003"/>
            <a:ext cx="2560384" cy="365760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6707" y="4077003"/>
            <a:ext cx="24140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2999307" y="4077003"/>
            <a:ext cx="1578841" cy="365760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87091" y="4077003"/>
            <a:ext cx="14325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3 years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8148" y="4077003"/>
            <a:ext cx="1578841" cy="365760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5933" y="4077003"/>
            <a:ext cx="14325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5 years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56990" y="4077003"/>
            <a:ext cx="1578841" cy="365760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4775" y="4077003"/>
            <a:ext cx="14325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7 years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35832" y="4077003"/>
            <a:ext cx="1578841" cy="365760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23617" y="4077003"/>
            <a:ext cx="14325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10 years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22" y="4442763"/>
            <a:ext cx="2560384" cy="3657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6707" y="4442763"/>
            <a:ext cx="24140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Median outcome — MSCI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99307" y="4442763"/>
            <a:ext cx="1578841" cy="3657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72460" y="4442763"/>
            <a:ext cx="14325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119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8148" y="4442763"/>
            <a:ext cx="1578841" cy="3657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51302" y="4442763"/>
            <a:ext cx="14325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134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56990" y="4442763"/>
            <a:ext cx="1578841" cy="3657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30144" y="4442763"/>
            <a:ext cx="14325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151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35832" y="4442763"/>
            <a:ext cx="1578841" cy="3657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08986" y="4442763"/>
            <a:ext cx="14325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181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22" y="4808523"/>
            <a:ext cx="2560384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6707" y="4808523"/>
            <a:ext cx="24140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1" i="0">
                <a:solidFill>
                  <a:srgbClr val="152130"/>
                </a:solidFill>
                <a:latin typeface="Arial"/>
              </a:rPr>
              <a:t>Median outcome — Athanase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99307" y="4808523"/>
            <a:ext cx="1578841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72460" y="4808523"/>
            <a:ext cx="14325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156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8148" y="4808523"/>
            <a:ext cx="1578841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51302" y="4808523"/>
            <a:ext cx="14325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210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56990" y="4808523"/>
            <a:ext cx="1578841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30144" y="4808523"/>
            <a:ext cx="14325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283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35832" y="4808523"/>
            <a:ext cx="1578841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08986" y="4808523"/>
            <a:ext cx="14325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443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8922" y="5174283"/>
            <a:ext cx="2560384" cy="3657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6707" y="5174283"/>
            <a:ext cx="24140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Adverse case* — MSCI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99307" y="5174283"/>
            <a:ext cx="1578841" cy="3657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72460" y="5174283"/>
            <a:ext cx="14325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98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8148" y="5174283"/>
            <a:ext cx="1578841" cy="3657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51302" y="5174283"/>
            <a:ext cx="14325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105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56990" y="5174283"/>
            <a:ext cx="1578841" cy="3657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30144" y="5174283"/>
            <a:ext cx="14325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113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35832" y="5174283"/>
            <a:ext cx="1578841" cy="3657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08986" y="5174283"/>
            <a:ext cx="14325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128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8922" y="5540043"/>
            <a:ext cx="2560384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26707" y="5540043"/>
            <a:ext cx="24140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1" i="0">
                <a:solidFill>
                  <a:srgbClr val="152130"/>
                </a:solidFill>
                <a:latin typeface="Arial"/>
              </a:rPr>
              <a:t>Adverse case* — Athanase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999307" y="5540043"/>
            <a:ext cx="1578841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72460" y="5540043"/>
            <a:ext cx="14325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132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8148" y="5540043"/>
            <a:ext cx="1578841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651302" y="5540043"/>
            <a:ext cx="14325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170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56990" y="5540043"/>
            <a:ext cx="1578841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30144" y="5540043"/>
            <a:ext cx="14325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220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35832" y="5540043"/>
            <a:ext cx="1578841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808986" y="5540043"/>
            <a:ext cx="14325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328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8922" y="5905803"/>
            <a:ext cx="2560384" cy="3657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6707" y="5905803"/>
            <a:ext cx="24140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Chance of a loss — MSCI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999307" y="5905803"/>
            <a:ext cx="1578841" cy="3657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072460" y="5905803"/>
            <a:ext cx="14325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18%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8148" y="5905803"/>
            <a:ext cx="1578841" cy="3657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651302" y="5905803"/>
            <a:ext cx="14325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12%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56990" y="5905803"/>
            <a:ext cx="1578841" cy="3657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30144" y="5905803"/>
            <a:ext cx="14325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8%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735832" y="5905803"/>
            <a:ext cx="1578841" cy="3657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808986" y="5905803"/>
            <a:ext cx="14325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5%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38922" y="6271563"/>
            <a:ext cx="2560384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26707" y="6271563"/>
            <a:ext cx="24140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1" i="0">
                <a:solidFill>
                  <a:srgbClr val="152130"/>
                </a:solidFill>
                <a:latin typeface="Arial"/>
              </a:rPr>
              <a:t>Chance of a loss — Athanase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999307" y="6271563"/>
            <a:ext cx="1578841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072460" y="6271563"/>
            <a:ext cx="14325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1%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8148" y="6271563"/>
            <a:ext cx="1578841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651302" y="6271563"/>
            <a:ext cx="14325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0%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156990" y="6271563"/>
            <a:ext cx="1578841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230144" y="6271563"/>
            <a:ext cx="14325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0%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735832" y="6271563"/>
            <a:ext cx="1578841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808986" y="6271563"/>
            <a:ext cx="14325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0%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38922" y="6734859"/>
            <a:ext cx="8873559" cy="390144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70599" y="6734859"/>
            <a:ext cx="8632151" cy="390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1">
                <a:solidFill>
                  <a:srgbClr val="FFFFFF"/>
                </a:solidFill>
                <a:latin typeface="Arial"/>
              </a:rPr>
              <a:t>Even in the adverse case, Athanase’s lower downside volatility leaves an investor ahead at every horizon — and the gap widens with time.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38922" y="7139635"/>
            <a:ext cx="9217382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00" b="0" i="0">
                <a:solidFill>
                  <a:srgbClr val="556A83"/>
                </a:solidFill>
                <a:latin typeface="Arial"/>
              </a:rPr>
              <a:t>Source: monthly net returns, 235 months (2006–2025). Volatility annualised from monthly; downside volatility = annualised deviation of negative months (MAR 0). *Adverse case = one downside-deviation outcome (≈1-in-6), narrowing with horizon as dd/√T. Illustrative; past performance is not indicative of future results.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Risk-Adjusted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A complement to global equities, not a duplicate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What a global-equity holder asks of a new manager: do you keep up in rallies, lose less in selloffs, and add something the index can’t?</a:t>
            </a:r>
          </a:p>
        </p:txBody>
      </p:sp>
      <p:pic>
        <p:nvPicPr>
          <p:cNvPr id="8" name="Picture 7" descr="cap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46" y="2194560"/>
            <a:ext cx="3571283" cy="299930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791575" y="2243328"/>
            <a:ext cx="4535537" cy="11704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2514" y="2360371"/>
            <a:ext cx="421366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CAPTURE ASYMMETRY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2514" y="2594457"/>
            <a:ext cx="4213660" cy="34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60" b="1" i="0">
                <a:solidFill>
                  <a:srgbClr val="314359"/>
                </a:solidFill>
                <a:latin typeface="Times New Roman"/>
              </a:rPr>
              <a:t>93% up  /  43% 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2514" y="2965094"/>
            <a:ext cx="42136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Keeps pace with rallies but takes less than half of selloffs — the essence of the edge.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91575" y="3530803"/>
            <a:ext cx="4535537" cy="11704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52514" y="3647846"/>
            <a:ext cx="421366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DIVERSIFICATION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2514" y="3881932"/>
            <a:ext cx="4213660" cy="34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60" b="1" i="0">
                <a:solidFill>
                  <a:srgbClr val="314359"/>
                </a:solidFill>
                <a:latin typeface="Times New Roman"/>
              </a:rPr>
              <a:t>0.44 correlation  ·  0.73 beta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2514" y="4252569"/>
            <a:ext cx="42136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Low correlation to your existing equity book — a genuine diversifier, not levered beta.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91575" y="4818278"/>
            <a:ext cx="4535537" cy="11704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2514" y="4935321"/>
            <a:ext cx="421366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RELIABILITY OVER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2514" y="5169408"/>
            <a:ext cx="4213660" cy="34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60" b="1" i="0">
                <a:solidFill>
                  <a:srgbClr val="314359"/>
                </a:solidFill>
                <a:latin typeface="Times New Roman"/>
              </a:rPr>
              <a:t>Beat MSCI in 90% of 5-yr and 100% of 7-yr windows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2514" y="5540044"/>
            <a:ext cx="42136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Over every rolling 7-year holding period in 20 years, Athanase out-returned the index.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22" y="6456883"/>
            <a:ext cx="8873559" cy="448665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0599" y="6456883"/>
            <a:ext cx="8632151" cy="4486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1">
                <a:solidFill>
                  <a:srgbClr val="FFFFFF"/>
                </a:solidFill>
                <a:latin typeface="Arial"/>
              </a:rPr>
              <a:t>Athanase captures 93% of the market’s upside but only 43% of its downside — at 0.44 correlation, it improves the whole portfolio, not just one line of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22" y="6983577"/>
            <a:ext cx="9217382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00" b="0" i="0">
                <a:solidFill>
                  <a:srgbClr val="556A83"/>
                </a:solidFill>
                <a:latin typeface="Arial"/>
              </a:rPr>
              <a:t>Source: monthly net returns, 235 months (2006–2025). Capture = compounded Athanase return in the market’s up/down months ÷ the market’s. Beta/correlation and rolling-window win rates from the same series. Past performance is not indicative of future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52130"/>
      </a:dk1>
      <a:lt1>
        <a:srgbClr val="FFFFFF"/>
      </a:lt1>
      <a:dk2>
        <a:srgbClr val="0E1620"/>
      </a:dk2>
      <a:lt2>
        <a:srgbClr val="F6F7F9"/>
      </a:lt2>
      <a:accent1>
        <a:srgbClr val="152130"/>
      </a:accent1>
      <a:accent2>
        <a:srgbClr val="314359"/>
      </a:accent2>
      <a:accent3>
        <a:srgbClr val="556A83"/>
      </a:accent3>
      <a:accent4>
        <a:srgbClr val="0E1620"/>
      </a:accent4>
      <a:accent5>
        <a:srgbClr val="E2E5E9"/>
      </a:accent5>
      <a:accent6>
        <a:srgbClr val="F6F7F9"/>
      </a:accent6>
      <a:hlink>
        <a:srgbClr val="314359"/>
      </a:hlink>
      <a:folHlink>
        <a:srgbClr val="556A83"/>
      </a:folHlink>
    </a:clrScheme>
    <a:fontScheme name="Office">
      <a:maj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