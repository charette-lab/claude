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9753600" cy="73152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Lower downside risk compounds into better outcomes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Athanase carries higher total volatility than the market — but its downside volatility is lower, which is what protects compounding.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22" y="2145792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85230" y="2282342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ANNUALISED RETURN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5230" y="2594457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6.1%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16.0%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16283" y="2145792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62591" y="2282342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TOTAL VOLATILITY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2591" y="2594457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16.3%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27.0%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93644" y="2145792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9952" y="2282342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DOWNSIDE VOLATILITY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9952" y="2594457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11.5%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10.9%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81360" y="3452774"/>
            <a:ext cx="2889576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1" i="0">
                <a:solidFill>
                  <a:srgbClr val="152130"/>
                </a:solidFill>
                <a:latin typeface="Arial"/>
              </a:rPr>
              <a:t>↑ Athanase downside volatility is LOWER than the market’s.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22" y="3784395"/>
            <a:ext cx="877845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TABLE 1.  EXPECTED VALUE OF 100 INVESTED, BY HOLDING PERIOD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8922" y="4077003"/>
            <a:ext cx="2560384" cy="365760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26707" y="4077003"/>
            <a:ext cx="2414076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21" name="Rectangle 20"/>
          <p:cNvSpPr/>
          <p:nvPr/>
        </p:nvSpPr>
        <p:spPr>
          <a:xfrm>
            <a:off x="2999307" y="4077003"/>
            <a:ext cx="1578841" cy="365760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087091" y="4077003"/>
            <a:ext cx="14325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3 years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8148" y="4077003"/>
            <a:ext cx="1578841" cy="365760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65933" y="4077003"/>
            <a:ext cx="14325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5 years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56990" y="4077003"/>
            <a:ext cx="1578841" cy="365760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44775" y="4077003"/>
            <a:ext cx="14325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7 years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35832" y="4077003"/>
            <a:ext cx="1578841" cy="365760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823617" y="4077003"/>
            <a:ext cx="14325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10 years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8922" y="4442763"/>
            <a:ext cx="2560384" cy="365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26707" y="4442763"/>
            <a:ext cx="2414076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Median outcome — MSCI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999307" y="4442763"/>
            <a:ext cx="1578841" cy="365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072460" y="4442763"/>
            <a:ext cx="14325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8148" y="4442763"/>
            <a:ext cx="1578841" cy="365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651302" y="4442763"/>
            <a:ext cx="14325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134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156990" y="4442763"/>
            <a:ext cx="1578841" cy="365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230144" y="4442763"/>
            <a:ext cx="14325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151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35832" y="4442763"/>
            <a:ext cx="1578841" cy="365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808986" y="4442763"/>
            <a:ext cx="14325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181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38922" y="4808523"/>
            <a:ext cx="2560384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26707" y="4808523"/>
            <a:ext cx="2414076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Median outcome — Athanase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999307" y="4808523"/>
            <a:ext cx="1578841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072460" y="4808523"/>
            <a:ext cx="14325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156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578148" y="4808523"/>
            <a:ext cx="1578841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651302" y="4808523"/>
            <a:ext cx="14325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210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156990" y="4808523"/>
            <a:ext cx="1578841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230144" y="4808523"/>
            <a:ext cx="14325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283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735832" y="4808523"/>
            <a:ext cx="1578841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808986" y="4808523"/>
            <a:ext cx="14325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443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38922" y="5174283"/>
            <a:ext cx="2560384" cy="365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26707" y="5174283"/>
            <a:ext cx="2414076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Adverse case* — MSCI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999307" y="5174283"/>
            <a:ext cx="1578841" cy="365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072460" y="5174283"/>
            <a:ext cx="14325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98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578148" y="5174283"/>
            <a:ext cx="1578841" cy="365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651302" y="5174283"/>
            <a:ext cx="14325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105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156990" y="5174283"/>
            <a:ext cx="1578841" cy="365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230144" y="5174283"/>
            <a:ext cx="14325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113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735832" y="5174283"/>
            <a:ext cx="1578841" cy="365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808986" y="5174283"/>
            <a:ext cx="14325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128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38922" y="5540043"/>
            <a:ext cx="2560384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26707" y="5540043"/>
            <a:ext cx="2414076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Adverse case* — Athanase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999307" y="5540043"/>
            <a:ext cx="1578841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072460" y="5540043"/>
            <a:ext cx="14325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132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578148" y="5540043"/>
            <a:ext cx="1578841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651302" y="5540043"/>
            <a:ext cx="14325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170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156990" y="5540043"/>
            <a:ext cx="1578841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230144" y="5540043"/>
            <a:ext cx="14325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220</a:t>
            </a:r>
          </a:p>
        </p:txBody>
      </p:sp>
      <p:sp>
        <p:nvSpPr>
          <p:cNvPr id="67" name="Rectangle 66"/>
          <p:cNvSpPr/>
          <p:nvPr/>
        </p:nvSpPr>
        <p:spPr>
          <a:xfrm>
            <a:off x="7735832" y="5540043"/>
            <a:ext cx="1578841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808986" y="5540043"/>
            <a:ext cx="14325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328</a:t>
            </a:r>
          </a:p>
        </p:txBody>
      </p:sp>
      <p:sp>
        <p:nvSpPr>
          <p:cNvPr id="69" name="Rectangle 68"/>
          <p:cNvSpPr/>
          <p:nvPr/>
        </p:nvSpPr>
        <p:spPr>
          <a:xfrm>
            <a:off x="438922" y="5905803"/>
            <a:ext cx="2560384" cy="365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26707" y="5905803"/>
            <a:ext cx="2414076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Chance of a loss — MSCI</a:t>
            </a:r>
          </a:p>
        </p:txBody>
      </p:sp>
      <p:sp>
        <p:nvSpPr>
          <p:cNvPr id="71" name="Rectangle 70"/>
          <p:cNvSpPr/>
          <p:nvPr/>
        </p:nvSpPr>
        <p:spPr>
          <a:xfrm>
            <a:off x="2999307" y="5905803"/>
            <a:ext cx="1578841" cy="365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072460" y="5905803"/>
            <a:ext cx="14325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18%</a:t>
            </a:r>
          </a:p>
        </p:txBody>
      </p:sp>
      <p:sp>
        <p:nvSpPr>
          <p:cNvPr id="73" name="Rectangle 72"/>
          <p:cNvSpPr/>
          <p:nvPr/>
        </p:nvSpPr>
        <p:spPr>
          <a:xfrm>
            <a:off x="4578148" y="5905803"/>
            <a:ext cx="1578841" cy="365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4651302" y="5905803"/>
            <a:ext cx="14325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156990" y="5905803"/>
            <a:ext cx="1578841" cy="365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230144" y="5905803"/>
            <a:ext cx="14325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8%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735832" y="5905803"/>
            <a:ext cx="1578841" cy="365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808986" y="5905803"/>
            <a:ext cx="14325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5%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438922" y="6271563"/>
            <a:ext cx="2560384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526707" y="6271563"/>
            <a:ext cx="2414076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Chance of a loss — Athanase</a:t>
            </a:r>
          </a:p>
        </p:txBody>
      </p:sp>
      <p:sp>
        <p:nvSpPr>
          <p:cNvPr id="81" name="Rectangle 80"/>
          <p:cNvSpPr/>
          <p:nvPr/>
        </p:nvSpPr>
        <p:spPr>
          <a:xfrm>
            <a:off x="2999307" y="6271563"/>
            <a:ext cx="1578841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3072460" y="6271563"/>
            <a:ext cx="14325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4578148" y="6271563"/>
            <a:ext cx="1578841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651302" y="6271563"/>
            <a:ext cx="14325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5" name="Rectangle 84"/>
          <p:cNvSpPr/>
          <p:nvPr/>
        </p:nvSpPr>
        <p:spPr>
          <a:xfrm>
            <a:off x="6156990" y="6271563"/>
            <a:ext cx="1578841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230144" y="6271563"/>
            <a:ext cx="14325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7" name="Rectangle 86"/>
          <p:cNvSpPr/>
          <p:nvPr/>
        </p:nvSpPr>
        <p:spPr>
          <a:xfrm>
            <a:off x="7735832" y="6271563"/>
            <a:ext cx="1578841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7808986" y="6271563"/>
            <a:ext cx="14325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38922" y="6734859"/>
            <a:ext cx="8873559" cy="39014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70599" y="6734859"/>
            <a:ext cx="8632151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1">
                <a:solidFill>
                  <a:srgbClr val="FFFFFF"/>
                </a:solidFill>
                <a:latin typeface="Arial"/>
              </a:rPr>
              <a:t>Even in the adverse case, Athanase’s lower downside volatility leaves an investor ahead at every horizon — and the gap widens with time.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38922" y="7139635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Volatility annualised from monthly; downside volatility = annualised deviation of negative months (MAR 0). *Adverse case = one downside-deviation outcome (≈1-in-6), narrowing with horizon as dd/√T. Illustrative; past performance is not indicative of future results.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A complement to global equities, not a duplicate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What a global-equity holder asks of a new manager: do you keep up in rallies, lose less in selloffs, and add something the index can’t?</a:t>
            </a:r>
          </a:p>
        </p:txBody>
      </p:sp>
      <p:pic>
        <p:nvPicPr>
          <p:cNvPr id="8" name="Picture 7" descr="cap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194560"/>
            <a:ext cx="3627489" cy="299930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4791575" y="2243328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52514" y="2360371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CAPTURE ASYMMETRY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52514" y="2594457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93% up  /  43% down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52514" y="2965094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Keeps pace with rallies but takes less than half of selloffs — the essence of the edge.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91575" y="3530803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52514" y="3647846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DIVERSIFICATION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52514" y="3881932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0.44 correlation  ·  0.73 beta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52514" y="4252569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Low correlation to your existing equity book — a genuine diversifier, not levered beta.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791575" y="4818278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52514" y="4935321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RELIABILITY OVER TIME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52514" y="5169408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Beat MSCI in 90% of 5-yr and 100% of 7-yr windows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52514" y="5540044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Over every rolling 7-year holding period in 20 years, Athanase out-returned the index.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Athanase captures 93% of the market’s upside but only 43% of its downside — at 0.44 correlation, it improves the whole portfolio, not just one line of it.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Capture = compounded Athanase return in the market’s up/down months ÷ the market’s. Beta/correlation and rolling-window win rates from the same series. Past performance is not indicative of future results.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What a blend does to the whole portfolio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Adding Athanase to a global-equity book moves the portfolio up and to the left — more return for less downside risk, thanks to low correlation.</a:t>
            </a:r>
          </a:p>
        </p:txBody>
      </p:sp>
      <p:pic>
        <p:nvPicPr>
          <p:cNvPr id="8" name="Picture 7" descr="fronti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194560"/>
            <a:ext cx="6002145" cy="299930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510690" y="2292096"/>
            <a:ext cx="2816422" cy="12192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1629" y="2409139"/>
            <a:ext cx="2494545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ALL GLOBAL EQUITIES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1629" y="2682240"/>
            <a:ext cx="2494545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60" b="1">
                <a:solidFill>
                  <a:srgbClr val="314359"/>
                </a:solidFill>
                <a:latin typeface="Times New Roman"/>
              </a:rPr>
              <a:t>6.1% return</a:t>
            </a:r>
            <a:r>
              <a:rPr sz="1040">
                <a:solidFill>
                  <a:srgbClr val="314359"/>
                </a:solidFill>
                <a:latin typeface="Arial"/>
              </a:rPr>
              <a:t>   ·   11.5% downside risk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1629" y="3130905"/>
            <a:ext cx="249454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100% MSCI World IMI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10690" y="3686860"/>
            <a:ext cx="2816422" cy="12192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1629" y="3803904"/>
            <a:ext cx="2494545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ADD A 30% SLEEVE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1629" y="4077004"/>
            <a:ext cx="2494545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60" b="1">
                <a:solidFill>
                  <a:srgbClr val="314359"/>
                </a:solidFill>
                <a:latin typeface="Times New Roman"/>
              </a:rPr>
              <a:t>9.5% return</a:t>
            </a:r>
            <a:r>
              <a:rPr sz="1040">
                <a:solidFill>
                  <a:srgbClr val="314359"/>
                </a:solidFill>
                <a:latin typeface="Arial"/>
              </a:rPr>
              <a:t>   ·   10.5% downside risk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1629" y="4525670"/>
            <a:ext cx="249454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70% MSCI  /  30% Athanase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10690" y="5081625"/>
            <a:ext cx="2816422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Arial"/>
              </a:rPr>
              <a:t>+3.4 pts of return while downside risk FALLS by 1.0 pts.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The blend is not a trade-off — a 30% sleeve raises return AND lowers downside risk versus holding global equities alone.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(2006–2025), monthly rebalanced blends. Downside volatility = annualised deviation of negative months (MAR 0). Illustrative; past performance is not indicative of future results.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52130"/>
      </a:dk1>
      <a:lt1>
        <a:srgbClr val="FFFFFF"/>
      </a:lt1>
      <a:dk2>
        <a:srgbClr val="0E1620"/>
      </a:dk2>
      <a:lt2>
        <a:srgbClr val="F6F7F9"/>
      </a:lt2>
      <a:accent1>
        <a:srgbClr val="152130"/>
      </a:accent1>
      <a:accent2>
        <a:srgbClr val="314359"/>
      </a:accent2>
      <a:accent3>
        <a:srgbClr val="556A83"/>
      </a:accent3>
      <a:accent4>
        <a:srgbClr val="0E1620"/>
      </a:accent4>
      <a:accent5>
        <a:srgbClr val="E2E5E9"/>
      </a:accent5>
      <a:accent6>
        <a:srgbClr val="F6F7F9"/>
      </a:accent6>
      <a:hlink>
        <a:srgbClr val="314359"/>
      </a:hlink>
      <a:folHlink>
        <a:srgbClr val="556A83"/>
      </a:folHlink>
    </a:clrScheme>
    <a:fontScheme name="Office">
      <a:majorFont>
        <a:latin typeface="Times New Roman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