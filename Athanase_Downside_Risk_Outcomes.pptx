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Lower downside risk compounds into better outcomes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2145792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5230" y="2282342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30" y="2594457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6.1%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16283" y="2145792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2591" y="2282342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2591" y="2594457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93644" y="2145792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9952" y="2282342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9952" y="2594457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81360" y="3452774"/>
            <a:ext cx="288957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22" y="3784395"/>
            <a:ext cx="87784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1.  EXPECTED VALUE OF 100 INVESTED, BY HOLDING PERIOD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22" y="4077003"/>
            <a:ext cx="2560384" cy="36576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6707" y="4077003"/>
            <a:ext cx="241407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2999307" y="4077003"/>
            <a:ext cx="1578841" cy="36576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87091" y="407700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8148" y="4077003"/>
            <a:ext cx="1578841" cy="36576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65933" y="407700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56990" y="4077003"/>
            <a:ext cx="1578841" cy="36576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44775" y="407700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35832" y="4077003"/>
            <a:ext cx="1578841" cy="36576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23617" y="407700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4442763"/>
            <a:ext cx="2560384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6707" y="4442763"/>
            <a:ext cx="241407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999307" y="4442763"/>
            <a:ext cx="1578841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072460" y="444276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8148" y="4442763"/>
            <a:ext cx="1578841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51302" y="444276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134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56990" y="4442763"/>
            <a:ext cx="1578841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30144" y="444276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35832" y="4442763"/>
            <a:ext cx="1578841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808986" y="444276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8922" y="4808523"/>
            <a:ext cx="2560384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26707" y="4808523"/>
            <a:ext cx="241407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999307" y="4808523"/>
            <a:ext cx="1578841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072460" y="480852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156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8148" y="4808523"/>
            <a:ext cx="1578841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651302" y="480852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156990" y="4808523"/>
            <a:ext cx="1578841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30144" y="480852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35832" y="4808523"/>
            <a:ext cx="1578841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808986" y="480852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443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38922" y="5174283"/>
            <a:ext cx="2560384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26707" y="5174283"/>
            <a:ext cx="241407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999307" y="5174283"/>
            <a:ext cx="1578841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072460" y="517428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98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8148" y="5174283"/>
            <a:ext cx="1578841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651302" y="517428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156990" y="5174283"/>
            <a:ext cx="1578841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230144" y="517428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113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735832" y="5174283"/>
            <a:ext cx="1578841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808986" y="517428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128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38922" y="5540043"/>
            <a:ext cx="2560384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26707" y="5540043"/>
            <a:ext cx="241407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999307" y="5540043"/>
            <a:ext cx="1578841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072460" y="554004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132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578148" y="5540043"/>
            <a:ext cx="1578841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651302" y="554004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170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156990" y="5540043"/>
            <a:ext cx="1578841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230144" y="554004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735832" y="5540043"/>
            <a:ext cx="1578841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808986" y="554004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328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38922" y="5905803"/>
            <a:ext cx="2560384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26707" y="5905803"/>
            <a:ext cx="241407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999307" y="5905803"/>
            <a:ext cx="1578841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072460" y="590580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578148" y="5905803"/>
            <a:ext cx="1578841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651302" y="590580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156990" y="5905803"/>
            <a:ext cx="1578841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230144" y="590580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735832" y="5905803"/>
            <a:ext cx="1578841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808986" y="590580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5%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38922" y="6271563"/>
            <a:ext cx="2560384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26707" y="6271563"/>
            <a:ext cx="241407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999307" y="6271563"/>
            <a:ext cx="1578841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072460" y="627156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578148" y="6271563"/>
            <a:ext cx="1578841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651302" y="627156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156990" y="6271563"/>
            <a:ext cx="1578841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230144" y="627156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7735832" y="6271563"/>
            <a:ext cx="1578841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808986" y="627156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38922" y="6734859"/>
            <a:ext cx="8873559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0599" y="6734859"/>
            <a:ext cx="8632151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38922" y="7139635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Volatility annualised from monthly; downside volatility = annualised deviation of negative months (MAR 0).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A complement to global equities, not a duplicate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pic>
        <p:nvPicPr>
          <p:cNvPr id="8" name="Picture 7" descr="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Beta/correlation and rolling-window win rates from the same series. Past performance is not indicative of future results.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a blend does to the whole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pic>
        <p:nvPicPr>
          <p:cNvPr id="8" name="Picture 7" descr="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 — every allocation improves the portfolio, so the case is to size up within prudent 3–8% limits, not to chase the mathematical optimum.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Downside volatility = annualised deviation of negative months (MAR 0).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