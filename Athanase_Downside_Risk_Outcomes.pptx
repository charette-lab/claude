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Lower downside risk compounds into better 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2145792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30" y="2282342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30" y="2594457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6283" y="2145792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2591" y="2282342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2591" y="2594457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93644" y="2145792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9952" y="2282342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9952" y="2594457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81360" y="3452774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22" y="3784395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1.  EXPECTED VALUE OF 100 INVESTED, BY HOLDING PERIOD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4077003"/>
            <a:ext cx="2560384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6707" y="407700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2999307" y="4077003"/>
            <a:ext cx="1578841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87091" y="40770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8148" y="4077003"/>
            <a:ext cx="1578841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5933" y="40770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56990" y="4077003"/>
            <a:ext cx="1578841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4775" y="40770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35832" y="4077003"/>
            <a:ext cx="1578841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23617" y="40770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4442763"/>
            <a:ext cx="2560384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6707" y="444276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99307" y="444276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72460" y="44427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8148" y="444276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51302" y="44427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56990" y="444276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30144" y="44427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35832" y="444276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08986" y="44427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22" y="4808523"/>
            <a:ext cx="2560384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6707" y="480852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99307" y="480852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72460" y="480852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8148" y="480852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51302" y="480852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56990" y="480852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30144" y="480852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35832" y="480852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08986" y="480852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8922" y="5174283"/>
            <a:ext cx="2560384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6707" y="517428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99307" y="517428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72460" y="517428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8148" y="517428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51302" y="517428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56990" y="517428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30144" y="517428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735832" y="517428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808986" y="517428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8922" y="5540043"/>
            <a:ext cx="2560384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26707" y="554004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99307" y="554004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072460" y="554004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8148" y="554004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651302" y="554004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56990" y="554004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30144" y="554004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35832" y="554004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08986" y="554004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328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38922" y="5905803"/>
            <a:ext cx="2560384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6707" y="590580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999307" y="590580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072460" y="59058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8148" y="590580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651302" y="59058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56990" y="590580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30144" y="59058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735832" y="590580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808986" y="59058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8922" y="6271563"/>
            <a:ext cx="2560384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26707" y="627156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999307" y="627156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072460" y="62715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578148" y="627156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651302" y="62715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156990" y="627156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30144" y="62715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735832" y="627156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808986" y="62715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38922" y="6734859"/>
            <a:ext cx="8873559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0599" y="6734859"/>
            <a:ext cx="863215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38922" y="7139635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Volatility annualised from monthly; downside volatility = annualised deviation of negative months (MAR 0).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