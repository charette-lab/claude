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2145792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30" y="2282342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30" y="2594457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6283" y="2145792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2591" y="2282342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2591" y="2594457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93644" y="2145792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9952" y="2282342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9952" y="2594457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1360" y="3452774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22" y="3784395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1.  EXPECTED VALUE OF 100 INVESTED, BY HOLDING PERIOD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4077003"/>
            <a:ext cx="2560384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6707" y="407700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2999307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87091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8148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5933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6990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4775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35832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23617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442763"/>
            <a:ext cx="2560384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6707" y="444276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99307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72460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8148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51302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56990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30144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35832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8986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22" y="4808523"/>
            <a:ext cx="25603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6707" y="480852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99307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72460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8148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51302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56990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30144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35832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08986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8922" y="5174283"/>
            <a:ext cx="2560384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6707" y="517428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99307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72460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8148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51302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56990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30144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35832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808986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8922" y="5540043"/>
            <a:ext cx="25603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26707" y="554004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99307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072460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8148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51302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56990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30144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35832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08986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328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38922" y="5905803"/>
            <a:ext cx="2560384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6707" y="590580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999307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072460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8148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651302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56990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30144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35832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08986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8922" y="6271563"/>
            <a:ext cx="25603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26707" y="627156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999307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072460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578148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651302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156990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30144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735832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08986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38922" y="6734859"/>
            <a:ext cx="8873559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0599" y="6734859"/>
            <a:ext cx="863215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8922" y="7139635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Volatility annualised from monthly; downside volatility = annualised deviation of negative months (MAR 0).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path through time — upside and downside envelope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Both series, one scale. Athanase’s envelope fans wide on the upside but holds firm below — its downside edge stays above the market’s best case.</a:t>
            </a:r>
          </a:p>
        </p:txBody>
      </p:sp>
      <p:pic>
        <p:nvPicPr>
          <p:cNvPr id="8" name="Picture 7" descr="cone_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7" y="2145792"/>
            <a:ext cx="6261051" cy="29993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8922" y="6339840"/>
            <a:ext cx="887355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6339840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upside deviation 25% vs downside 11% — the volatility is mostly upside. Even its 10-year downside edge stays above the market’s expected path.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22" y="6944563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Shaded band = expected path ±1 annualised up/downside deviation, widening with √time. Illustrative;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