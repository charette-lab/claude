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ngesInfos/changesInfo1.xml" ContentType="application/vnd.ms-powerpoint.changesinfo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4"/>
  </p:sldMasterIdLst>
  <p:notesMasterIdLst>
    <p:notesMasterId r:id="rId27"/>
  </p:notesMasterIdLst>
  <p:sldIdLst>
    <p:sldId id="256" r:id="rId5"/>
    <p:sldId id="343" r:id="rId34"/>
    <p:sldId id="260" r:id="rId6"/>
    <p:sldId id="263" r:id="rId7"/>
    <p:sldId id="267" r:id="rId8"/>
    <p:sldId id="284" r:id="rId9"/>
    <p:sldId id="271" r:id="rId10"/>
    <p:sldId id="341" r:id="rId11"/>
    <p:sldId id="342" r:id="rId12"/>
    <p:sldId id="278" r:id="rId13"/>
    <p:sldId id="339" r:id="rId14"/>
    <p:sldId id="279" r:id="rId15"/>
    <p:sldId id="340" r:id="rId16"/>
    <p:sldId id="285" r:id="rId17"/>
    <p:sldId id="282" r:id="rId18"/>
    <p:sldId id="327" r:id="rId20"/>
    <p:sldId id="330" r:id="rId21"/>
    <p:sldId id="326" r:id="rId22"/>
    <p:sldId id="325" r:id="rId23"/>
    <p:sldId id="329" r:id="rId24"/>
    <p:sldId id="321" r:id="rId26"/>
  </p:sldIdLst>
  <p:sldSz cx="9753600" cy="73152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C4CFD312-D45A-4B19-8463-6466AF1AAD16}" v="3" dt="2026-06-09T15:02:11.777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08" d="100"/>
          <a:sy n="108" d="100"/>
        </p:scale>
        <p:origin x="80" y="42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" Target="slides/slide1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slide" Target="slides/slide15.xml"/><Relationship Id="rId20" Type="http://schemas.openxmlformats.org/officeDocument/2006/relationships/slide" Target="slides/slide16.xml"/><Relationship Id="rId21" Type="http://schemas.openxmlformats.org/officeDocument/2006/relationships/slide" Target="slides/slide17.xml"/><Relationship Id="rId22" Type="http://schemas.openxmlformats.org/officeDocument/2006/relationships/slide" Target="slides/slide18.xml"/><Relationship Id="rId23" Type="http://schemas.openxmlformats.org/officeDocument/2006/relationships/slide" Target="slides/slide19.xml"/><Relationship Id="rId24" Type="http://schemas.openxmlformats.org/officeDocument/2006/relationships/slide" Target="slides/slide20.xml"/><Relationship Id="rId26" Type="http://schemas.openxmlformats.org/officeDocument/2006/relationships/slide" Target="slides/slide21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Relationship Id="rId32" Type="http://schemas.microsoft.com/office/2016/11/relationships/changesInfo" Target="changesInfos/changesInfo1.xml"/><Relationship Id="rId33" Type="http://schemas.microsoft.com/office/2015/10/relationships/revisionInfo" Target="revisionInfo.xml"/><Relationship Id="rId34" Type="http://schemas.openxmlformats.org/officeDocument/2006/relationships/slide" Target="slides/slide2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Stefan Charette" userId="0db9b4c6-585a-4616-ab53-47ba82066cad" providerId="ADAL" clId="{42E455C0-5321-4BA4-9654-3C8921CE5DA4}"/>
    <pc:docChg chg="custSel addSld modSld">
      <pc:chgData name="Stefan Charette" userId="0db9b4c6-585a-4616-ab53-47ba82066cad" providerId="ADAL" clId="{42E455C0-5321-4BA4-9654-3C8921CE5DA4}" dt="2026-06-09T15:02:11.765" v="341"/>
      <pc:docMkLst>
        <pc:docMk/>
      </pc:docMkLst>
      <pc:sldChg chg="delSp modSp mod">
        <pc:chgData name="Stefan Charette" userId="0db9b4c6-585a-4616-ab53-47ba82066cad" providerId="ADAL" clId="{42E455C0-5321-4BA4-9654-3C8921CE5DA4}" dt="2026-06-09T10:30:30.470" v="340" actId="478"/>
        <pc:sldMkLst>
          <pc:docMk/>
          <pc:sldMk cId="0" sldId="256"/>
        </pc:sldMkLst>
        <pc:spChg chg="mod">
          <ac:chgData name="Stefan Charette" userId="0db9b4c6-585a-4616-ab53-47ba82066cad" providerId="ADAL" clId="{42E455C0-5321-4BA4-9654-3C8921CE5DA4}" dt="2026-06-09T10:30:25.904" v="339" actId="20577"/>
          <ac:spMkLst>
            <pc:docMk/>
            <pc:sldMk cId="0" sldId="256"/>
            <ac:spMk id="5" creationId="{00000000-0000-0000-0000-000000000000}"/>
          </ac:spMkLst>
        </pc:spChg>
        <pc:spChg chg="del">
          <ac:chgData name="Stefan Charette" userId="0db9b4c6-585a-4616-ab53-47ba82066cad" providerId="ADAL" clId="{42E455C0-5321-4BA4-9654-3C8921CE5DA4}" dt="2026-06-09T10:30:30.470" v="340" actId="478"/>
          <ac:spMkLst>
            <pc:docMk/>
            <pc:sldMk cId="0" sldId="256"/>
            <ac:spMk id="6" creationId="{00000000-0000-0000-0000-000000000000}"/>
          </ac:spMkLst>
        </pc:spChg>
      </pc:sldChg>
      <pc:sldChg chg="modSp mod">
        <pc:chgData name="Stefan Charette" userId="0db9b4c6-585a-4616-ab53-47ba82066cad" providerId="ADAL" clId="{42E455C0-5321-4BA4-9654-3C8921CE5DA4}" dt="2026-06-09T08:13:12.051" v="23" actId="20577"/>
        <pc:sldMkLst>
          <pc:docMk/>
          <pc:sldMk cId="0" sldId="268"/>
        </pc:sldMkLst>
        <pc:spChg chg="mod">
          <ac:chgData name="Stefan Charette" userId="0db9b4c6-585a-4616-ab53-47ba82066cad" providerId="ADAL" clId="{42E455C0-5321-4BA4-9654-3C8921CE5DA4}" dt="2026-06-09T08:13:12.051" v="23" actId="20577"/>
          <ac:spMkLst>
            <pc:docMk/>
            <pc:sldMk cId="0" sldId="268"/>
            <ac:spMk id="8" creationId="{00000000-0000-0000-0000-000000000000}"/>
          </ac:spMkLst>
        </pc:spChg>
      </pc:sldChg>
      <pc:sldChg chg="modSp mod">
        <pc:chgData name="Stefan Charette" userId="0db9b4c6-585a-4616-ab53-47ba82066cad" providerId="ADAL" clId="{42E455C0-5321-4BA4-9654-3C8921CE5DA4}" dt="2026-06-09T08:13:34.859" v="41" actId="20577"/>
        <pc:sldMkLst>
          <pc:docMk/>
          <pc:sldMk cId="0" sldId="269"/>
        </pc:sldMkLst>
        <pc:spChg chg="mod">
          <ac:chgData name="Stefan Charette" userId="0db9b4c6-585a-4616-ab53-47ba82066cad" providerId="ADAL" clId="{42E455C0-5321-4BA4-9654-3C8921CE5DA4}" dt="2026-06-09T08:13:34.859" v="41" actId="20577"/>
          <ac:spMkLst>
            <pc:docMk/>
            <pc:sldMk cId="0" sldId="269"/>
            <ac:spMk id="8" creationId="{00000000-0000-0000-0000-000000000000}"/>
          </ac:spMkLst>
        </pc:spChg>
      </pc:sldChg>
      <pc:sldChg chg="add">
        <pc:chgData name="Stefan Charette" userId="0db9b4c6-585a-4616-ab53-47ba82066cad" providerId="ADAL" clId="{42E455C0-5321-4BA4-9654-3C8921CE5DA4}" dt="2026-06-09T15:02:11.765" v="341"/>
        <pc:sldMkLst>
          <pc:docMk/>
          <pc:sldMk cId="0" sldId="330"/>
        </pc:sldMkLst>
      </pc:sldChg>
      <pc:sldChg chg="modSp mod">
        <pc:chgData name="Stefan Charette" userId="0db9b4c6-585a-4616-ab53-47ba82066cad" providerId="ADAL" clId="{42E455C0-5321-4BA4-9654-3C8921CE5DA4}" dt="2026-06-09T10:29:33.258" v="301" actId="20577"/>
        <pc:sldMkLst>
          <pc:docMk/>
          <pc:sldMk cId="0" sldId="339"/>
        </pc:sldMkLst>
        <pc:spChg chg="mod">
          <ac:chgData name="Stefan Charette" userId="0db9b4c6-585a-4616-ab53-47ba82066cad" providerId="ADAL" clId="{42E455C0-5321-4BA4-9654-3C8921CE5DA4}" dt="2026-06-09T10:29:33.258" v="301" actId="20577"/>
          <ac:spMkLst>
            <pc:docMk/>
            <pc:sldMk cId="0" sldId="339"/>
            <ac:spMk id="20" creationId="{00000000-0000-0000-0000-000000000000}"/>
          </ac:spMkLst>
        </pc:spChg>
        <pc:spChg chg="mod">
          <ac:chgData name="Stefan Charette" userId="0db9b4c6-585a-4616-ab53-47ba82066cad" providerId="ADAL" clId="{42E455C0-5321-4BA4-9654-3C8921CE5DA4}" dt="2026-06-09T10:29:20.676" v="300" actId="20577"/>
          <ac:spMkLst>
            <pc:docMk/>
            <pc:sldMk cId="0" sldId="339"/>
            <ac:spMk id="24" creationId="{00000000-0000-0000-0000-000000000000}"/>
          </ac:spMkLst>
        </pc:spChg>
      </pc:sldChg>
    </pc:docChg>
  </pc:docChgLst>
</pc:chgInfo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r>
              <a:rPr lang="en-US" sz="880">
                <a:solidFill>
                  <a:srgbClr val="556A83"/>
                </a:solidFill>
              </a:rPr>
              <a:t>Figure 1.  “Probability decay”: strategy efficiency over a CEO cycle (%)</a:t>
            </a:r>
          </a:p>
        </c:rich>
      </c:tx>
      <c:overlay val="0"/>
    </c:title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Strategy efficiency</c:v>
                </c:pt>
              </c:strCache>
            </c:strRef>
          </c:tx>
          <c:spPr>
            <a:ln w="31750">
              <a:solidFill>
                <a:srgbClr val="152130"/>
              </a:solidFill>
            </a:ln>
          </c:spPr>
          <c:cat>
            <c:strRef>
              <c:f>Sheet1!$A$2:$A$9</c:f>
              <c:strCache>
                <c:ptCount val="8"/>
                <c:pt idx="0">
                  <c:v>Yr 1</c:v>
                </c:pt>
                <c:pt idx="1">
                  <c:v>Yr 2</c:v>
                </c:pt>
                <c:pt idx="2">
                  <c:v>Yr 3</c:v>
                </c:pt>
                <c:pt idx="3">
                  <c:v>Yr 4</c:v>
                </c:pt>
                <c:pt idx="4">
                  <c:v>Yr 5</c:v>
                </c:pt>
                <c:pt idx="5">
                  <c:v>Yr 6</c:v>
                </c:pt>
                <c:pt idx="6">
                  <c:v>Yr 7</c:v>
                </c:pt>
                <c:pt idx="7">
                  <c:v>Yr 8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80</c:v>
                </c:pt>
                <c:pt idx="1">
                  <c:v>76</c:v>
                </c:pt>
                <c:pt idx="2">
                  <c:v>71</c:v>
                </c:pt>
                <c:pt idx="3">
                  <c:v>65</c:v>
                </c:pt>
                <c:pt idx="4">
                  <c:v>60</c:v>
                </c:pt>
                <c:pt idx="5">
                  <c:v>55</c:v>
                </c:pt>
                <c:pt idx="6">
                  <c:v>52</c:v>
                </c:pt>
                <c:pt idx="7">
                  <c:v>50</c:v>
                </c:pt>
              </c:numCache>
            </c:numRef>
          </c:val>
          <c:smooth val="1"/>
          <c:extLst>
            <c:ext xmlns:c16="http://schemas.microsoft.com/office/drawing/2014/chart" uri="{C3380CC4-5D6E-409C-BE32-E72D297353CC}">
              <c16:uniqueId val="{00000000-8121-44FE-B2F6-B09CBC8BB4F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txPr>
          <a:bodyPr/>
          <a:lstStyle/>
          <a:p>
            <a:pPr>
              <a:defRPr sz="720"/>
            </a:pPr>
            <a:endParaRPr lang="sv-SE"/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orientation val="minMax"/>
          <c:max val="100"/>
          <c:min val="0"/>
        </c:scaling>
        <c:delete val="0"/>
        <c:axPos val="l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720"/>
            </a:pPr>
            <a:endParaRPr lang="sv-SE"/>
          </a:p>
        </c:txPr>
        <c:crossAx val="2118791784"/>
        <c:crosses val="autoZero"/>
        <c:crossBetween val="between"/>
      </c:valAx>
    </c:plotArea>
    <c:plotVisOnly val="1"/>
    <c:dispBlanksAs val="gap"/>
    <c:showDLblsOverMax val="0"/>
  </c:chart>
  <c:txPr>
    <a:bodyPr/>
    <a:lstStyle/>
    <a:p>
      <a:pPr>
        <a:defRPr sz="144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r>
              <a:rPr sz="880">
                <a:solidFill>
                  <a:srgbClr val="556A83"/>
                </a:solidFill>
              </a:rPr>
              <a:t>Figure 6.  Growth of a 100 sleeve through a market cycle (indexed)</a:t>
            </a:r>
          </a:p>
        </c:rich>
      </c:tx>
      <c:overlay val="0"/>
    </c:title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Athanase (18%)</c:v>
                </c:pt>
              </c:strCache>
            </c:strRef>
          </c:tx>
          <c:spPr>
            <a:ln w="38100">
              <a:solidFill>
                <a:srgbClr val="152130"/>
              </a:solidFill>
            </a:ln>
          </c:spPr>
          <c:marker>
            <c:symbol val="none"/>
          </c:marker>
          <c:cat>
            <c:strRef>
              <c:f>Sheet1!$A$2:$A$12</c:f>
              <c:strCache>
                <c:ptCount val="1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</c:strCache>
            </c: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100</c:v>
                </c:pt>
                <c:pt idx="1">
                  <c:v>118</c:v>
                </c:pt>
                <c:pt idx="2">
                  <c:v>140</c:v>
                </c:pt>
                <c:pt idx="3">
                  <c:v>166</c:v>
                </c:pt>
                <c:pt idx="4">
                  <c:v>197</c:v>
                </c:pt>
                <c:pt idx="5">
                  <c:v>233</c:v>
                </c:pt>
                <c:pt idx="6">
                  <c:v>236</c:v>
                </c:pt>
                <c:pt idx="7">
                  <c:v>296</c:v>
                </c:pt>
                <c:pt idx="8">
                  <c:v>366</c:v>
                </c:pt>
                <c:pt idx="9">
                  <c:v>442</c:v>
                </c:pt>
                <c:pt idx="10">
                  <c:v>523</c:v>
                </c:pt>
              </c:numCache>
            </c:numRef>
          </c:val>
          <c:smooth val="1"/>
          <c:extLst>
            <c:ext xmlns:c16="http://schemas.microsoft.com/office/drawing/2014/chart" uri="{C3380CC4-5D6E-409C-BE32-E72D297353CC}">
              <c16:uniqueId val="{00000000-096E-4765-9E38-E47A72446DD8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Other activist (10.5%)</c:v>
                </c:pt>
              </c:strCache>
            </c:strRef>
          </c:tx>
          <c:spPr>
            <a:ln w="25400">
              <a:solidFill>
                <a:srgbClr val="556A83"/>
              </a:solidFill>
            </a:ln>
          </c:spPr>
          <c:marker>
            <c:symbol val="none"/>
          </c:marker>
          <c:cat>
            <c:strRef>
              <c:f>Sheet1!$A$2:$A$12</c:f>
              <c:strCache>
                <c:ptCount val="1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</c:strCache>
            </c:strRef>
          </c:cat>
          <c:val>
            <c:numRef>
              <c:f>Sheet1!$C$2:$C$12</c:f>
              <c:numCache>
                <c:formatCode>General</c:formatCode>
                <c:ptCount val="11"/>
                <c:pt idx="0">
                  <c:v>100</c:v>
                </c:pt>
                <c:pt idx="1">
                  <c:v>111</c:v>
                </c:pt>
                <c:pt idx="2">
                  <c:v>123</c:v>
                </c:pt>
                <c:pt idx="3">
                  <c:v>137</c:v>
                </c:pt>
                <c:pt idx="4">
                  <c:v>152</c:v>
                </c:pt>
                <c:pt idx="5">
                  <c:v>168</c:v>
                </c:pt>
                <c:pt idx="6">
                  <c:v>150</c:v>
                </c:pt>
                <c:pt idx="7">
                  <c:v>182</c:v>
                </c:pt>
                <c:pt idx="8">
                  <c:v>214</c:v>
                </c:pt>
                <c:pt idx="9">
                  <c:v>244</c:v>
                </c:pt>
                <c:pt idx="10">
                  <c:v>271</c:v>
                </c:pt>
              </c:numCache>
            </c:numRef>
          </c:val>
          <c:smooth val="1"/>
          <c:extLst>
            <c:ext xmlns:c16="http://schemas.microsoft.com/office/drawing/2014/chart" uri="{C3380CC4-5D6E-409C-BE32-E72D297353CC}">
              <c16:uniqueId val="{00000001-096E-4765-9E38-E47A72446DD8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Long-only global (7.6%)</c:v>
                </c:pt>
              </c:strCache>
            </c:strRef>
          </c:tx>
          <c:spPr>
            <a:ln w="25400">
              <a:solidFill>
                <a:srgbClr val="E2E5E9"/>
              </a:solidFill>
              <a:prstDash val="sysDash"/>
            </a:ln>
          </c:spPr>
          <c:marker>
            <c:symbol val="none"/>
          </c:marker>
          <c:cat>
            <c:strRef>
              <c:f>Sheet1!$A$2:$A$12</c:f>
              <c:strCache>
                <c:ptCount val="1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</c:strCache>
            </c:strRef>
          </c:cat>
          <c:val>
            <c:numRef>
              <c:f>Sheet1!$D$2:$D$12</c:f>
              <c:numCache>
                <c:formatCode>General</c:formatCode>
                <c:ptCount val="11"/>
                <c:pt idx="0">
                  <c:v>100</c:v>
                </c:pt>
                <c:pt idx="1">
                  <c:v>108</c:v>
                </c:pt>
                <c:pt idx="2">
                  <c:v>117</c:v>
                </c:pt>
                <c:pt idx="3">
                  <c:v>126</c:v>
                </c:pt>
                <c:pt idx="4">
                  <c:v>136</c:v>
                </c:pt>
                <c:pt idx="5">
                  <c:v>147</c:v>
                </c:pt>
                <c:pt idx="6">
                  <c:v>119</c:v>
                </c:pt>
                <c:pt idx="7">
                  <c:v>142</c:v>
                </c:pt>
                <c:pt idx="8">
                  <c:v>168</c:v>
                </c:pt>
                <c:pt idx="9">
                  <c:v>190</c:v>
                </c:pt>
                <c:pt idx="10">
                  <c:v>208</c:v>
                </c:pt>
              </c:numCache>
            </c:numRef>
          </c:val>
          <c:smooth val="1"/>
          <c:extLst>
            <c:ext xmlns:c16="http://schemas.microsoft.com/office/drawing/2014/chart" uri="{C3380CC4-5D6E-409C-BE32-E72D297353CC}">
              <c16:uniqueId val="{00000002-096E-4765-9E38-E47A72446DD8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txPr>
          <a:bodyPr/>
          <a:lstStyle/>
          <a:p>
            <a:pPr>
              <a:defRPr sz="720"/>
            </a:pPr>
            <a:endParaRPr lang="sv-SE"/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orientation val="minMax"/>
          <c:max val="600"/>
          <c:min val="0"/>
        </c:scaling>
        <c:delete val="0"/>
        <c:axPos val="l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720"/>
            </a:pPr>
            <a:endParaRPr lang="sv-SE"/>
          </a:p>
        </c:txPr>
        <c:crossAx val="2118791784"/>
        <c:crosses val="autoZero"/>
        <c:crossBetween val="between"/>
      </c:valAx>
    </c:plotArea>
    <c:legend>
      <c:legendPos val="b"/>
      <c:overlay val="0"/>
      <c:txPr>
        <a:bodyPr/>
        <a:lstStyle/>
        <a:p>
          <a:pPr>
            <a:defRPr sz="800"/>
          </a:pPr>
          <a:endParaRPr lang="sv-SE"/>
        </a:p>
      </c:txPr>
    </c:legend>
    <c:plotVisOnly val="1"/>
    <c:dispBlanksAs val="gap"/>
    <c:showDLblsOverMax val="0"/>
  </c:chart>
  <c:txPr>
    <a:bodyPr/>
    <a:lstStyle/>
    <a:p>
      <a:pPr>
        <a:defRPr sz="144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9697395-2D59-4227-B53D-BB43A6595B5E}" type="datetimeFigureOut">
              <a:rPr lang="en-GB" smtClean="0"/>
              <a:t>09/06/2026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F8C4698-2B99-4D89-860A-947FB274513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5908576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F8C4698-2B99-4D89-860A-947FB2745133}" type="slidenum">
              <a:rPr lang="en-GB" smtClean="0"/>
              <a:t>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18759546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6/9/2026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6/9/2026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6/9/2026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6/9/2026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2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4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8922" y="536448"/>
            <a:ext cx="1768098" cy="380399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4389120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38922" y="4632960"/>
            <a:ext cx="8632151" cy="94718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lang="en-GB" sz="3360" spc="-126" dirty="0">
                <a:solidFill>
                  <a:srgbClr val="FFFFFF"/>
                </a:solidFill>
                <a:latin typeface="Times New Roman"/>
              </a:rPr>
              <a:t>Your index is now a bet on AI</a:t>
            </a:r>
            <a:br/>
            <a:r>
              <a:rPr lang="en-GB" sz="3360" spc="-126" dirty="0">
                <a:solidFill>
                  <a:srgbClr val="FFFFFF"/>
                </a:solidFill>
                <a:latin typeface="Times New Roman"/>
              </a:rPr>
              <a:t>— diversify it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lang="en-GB" sz="1920" b="0" i="1" spc="-72" dirty="0">
                <a:solidFill>
                  <a:srgbClr val="E2E5E9"/>
                </a:solidFill>
                <a:latin typeface="Times New Roman"/>
              </a:rPr>
              <a:t>June 2026</a:t>
            </a:r>
            <a:endParaRPr sz="1920" b="0" i="1" spc="-72" dirty="0">
              <a:solidFill>
                <a:srgbClr val="E2E5E9"/>
              </a:solidFill>
              <a:latin typeface="Times New Roman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Overview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Table of contents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12076" y="1589836"/>
            <a:ext cx="4279499" cy="3901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20" b="1" i="0">
                <a:solidFill>
                  <a:srgbClr val="314359"/>
                </a:solidFill>
                <a:latin typeface="Times New Roman"/>
              </a:rPr>
              <a:t>Part I  ·  The opportunity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2076" y="1960473"/>
            <a:ext cx="4279499" cy="546201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3   </a:t>
            </a:r>
            <a:r>
              <a:rPr sz="800">
                <a:solidFill>
                  <a:srgbClr val="314359"/>
                </a:solidFill>
                <a:latin typeface="Arial"/>
              </a:rPr>
              <a:t>Passive has become a concentrated bet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4   </a:t>
            </a:r>
            <a:r>
              <a:rPr sz="800">
                <a:solidFill>
                  <a:srgbClr val="314359"/>
                </a:solidFill>
                <a:latin typeface="Arial"/>
              </a:rPr>
              <a:t>From passive risk to active opportunity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5   </a:t>
            </a:r>
            <a:r>
              <a:rPr sz="800">
                <a:solidFill>
                  <a:srgbClr val="314359"/>
                </a:solidFill>
                <a:latin typeface="Arial"/>
              </a:rPr>
              <a:t>What AI changes — and what it can’t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6   </a:t>
            </a:r>
            <a:r>
              <a:rPr sz="800">
                <a:solidFill>
                  <a:srgbClr val="314359"/>
                </a:solidFill>
                <a:latin typeface="Arial"/>
              </a:rPr>
              <a:t>The inefficiency Athanase harvests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7   </a:t>
            </a:r>
            <a:r>
              <a:rPr sz="800">
                <a:solidFill>
                  <a:srgbClr val="314359"/>
                </a:solidFill>
                <a:latin typeface="Arial"/>
              </a:rPr>
              <a:t>Why mid-market is the sweet spot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8   </a:t>
            </a:r>
            <a:r>
              <a:rPr sz="800">
                <a:solidFill>
                  <a:srgbClr val="314359"/>
                </a:solidFill>
                <a:latin typeface="Arial"/>
              </a:rPr>
              <a:t>Why mid-caps are more often mispriced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9   </a:t>
            </a:r>
            <a:r>
              <a:rPr sz="800">
                <a:solidFill>
                  <a:srgbClr val="314359"/>
                </a:solidFill>
                <a:latin typeface="Arial"/>
              </a:rPr>
              <a:t>Why this opportunity isn’t arbitraged away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/>
            </a:r>
            <a:r>
              <a:rPr sz="800">
                <a:solidFill>
                  <a:srgbClr val="314359"/>
                </a:solidFill>
                <a:latin typeface="Arial"/>
              </a:rPr>
              <a:t/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20" b="1" i="0">
                <a:solidFill>
                  <a:srgbClr val="314359"/>
                </a:solidFill>
                <a:latin typeface="Times New Roman"/>
              </a:rPr>
              <a:t>Part II  ·  Why Athanase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10   </a:t>
            </a:r>
            <a:r>
              <a:rPr sz="800">
                <a:solidFill>
                  <a:srgbClr val="314359"/>
                </a:solidFill>
                <a:latin typeface="Arial"/>
              </a:rPr>
              <a:t>Athanase at a glance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11   </a:t>
            </a:r>
            <a:r>
              <a:rPr sz="800">
                <a:solidFill>
                  <a:srgbClr val="314359"/>
                </a:solidFill>
                <a:latin typeface="Arial"/>
              </a:rPr>
              <a:t>Why Athanase is best built to capture it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12   </a:t>
            </a:r>
            <a:r>
              <a:rPr sz="800">
                <a:solidFill>
                  <a:srgbClr val="314359"/>
                </a:solidFill>
                <a:latin typeface="Arial"/>
              </a:rPr>
              <a:t>Operators and investors in one team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13   </a:t>
            </a:r>
            <a:r>
              <a:rPr sz="800">
                <a:solidFill>
                  <a:srgbClr val="314359"/>
                </a:solidFill>
                <a:latin typeface="Arial"/>
              </a:rPr>
              <a:t>The people behind the track record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14   </a:t>
            </a:r>
            <a:r>
              <a:rPr sz="800">
                <a:solidFill>
                  <a:srgbClr val="314359"/>
                </a:solidFill>
                <a:latin typeface="Arial"/>
              </a:rPr>
              <a:t>We buy hidden cores, not broken companies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15   </a:t>
            </a:r>
            <a:r>
              <a:rPr sz="800">
                <a:solidFill>
                  <a:srgbClr val="314359"/>
                </a:solidFill>
                <a:latin typeface="Arial"/>
              </a:rPr>
              <a:t>The ownership playbook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57345" y="1589836"/>
            <a:ext cx="4279499" cy="3901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20" b="1" i="0">
                <a:solidFill>
                  <a:srgbClr val="314359"/>
                </a:solidFill>
                <a:latin typeface="Times New Roman"/>
              </a:rPr>
              <a:t>Part III  ·  Your portfolio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57345" y="1960473"/>
            <a:ext cx="4279499" cy="546201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16   </a:t>
            </a:r>
            <a:r>
              <a:rPr sz="800">
                <a:solidFill>
                  <a:srgbClr val="314359"/>
                </a:solidFill>
                <a:latin typeface="Arial"/>
              </a:rPr>
              <a:t>A complement to global equities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17   </a:t>
            </a:r>
            <a:r>
              <a:rPr sz="800">
                <a:solidFill>
                  <a:srgbClr val="314359"/>
                </a:solidFill>
                <a:latin typeface="Arial"/>
              </a:rPr>
              <a:t>Built for down markets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18   </a:t>
            </a:r>
            <a:r>
              <a:rPr sz="800">
                <a:solidFill>
                  <a:srgbClr val="314359"/>
                </a:solidFill>
                <a:latin typeface="Arial"/>
              </a:rPr>
              <a:t>Lower downside risk compounds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19   </a:t>
            </a:r>
            <a:r>
              <a:rPr sz="800">
                <a:solidFill>
                  <a:srgbClr val="314359"/>
                </a:solidFill>
                <a:latin typeface="Arial"/>
              </a:rPr>
              <a:t>What it does to your portfolio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20   </a:t>
            </a:r>
            <a:r>
              <a:rPr sz="800">
                <a:solidFill>
                  <a:srgbClr val="314359"/>
                </a:solidFill>
                <a:latin typeface="Arial"/>
              </a:rPr>
              <a:t>What a blend does to the whole portfolio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/>
            </a:r>
            <a:r>
              <a:rPr sz="800">
                <a:solidFill>
                  <a:srgbClr val="314359"/>
                </a:solidFill>
                <a:latin typeface="Arial"/>
              </a:rPr>
              <a:t/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20" b="1" i="0">
                <a:solidFill>
                  <a:srgbClr val="314359"/>
                </a:solidFill>
                <a:latin typeface="Times New Roman"/>
              </a:rPr>
              <a:t>Appendix  ·  Track record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21   </a:t>
            </a:r>
            <a:r>
              <a:rPr sz="800">
                <a:solidFill>
                  <a:srgbClr val="314359"/>
                </a:solidFill>
                <a:latin typeface="Arial"/>
              </a:rPr>
              <a:t>Independently validated: 20 years, net of fees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Market Context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Passive has become a concentrated bet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 cap-weighted index puts the most money into the stocks that have already risen the most — concentration and factor risk dressed as diversification.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53" y="2292096"/>
            <a:ext cx="2852999" cy="14630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548653" y="2292096"/>
            <a:ext cx="2852999" cy="58521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48653" y="2506675"/>
            <a:ext cx="2852999" cy="11704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3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~38%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of the S&amp;P 500 in its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10 largest stocks*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547960" y="2292096"/>
            <a:ext cx="2852999" cy="14630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3547960" y="2292096"/>
            <a:ext cx="2852999" cy="58521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3547960" y="2506675"/>
            <a:ext cx="2852999" cy="11704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3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~33%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in the “Magnificent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Seven” alone*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47267" y="2292096"/>
            <a:ext cx="2852999" cy="14630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6547267" y="2292096"/>
            <a:ext cx="2852999" cy="58521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547267" y="2506675"/>
            <a:ext cx="2852999" cy="11704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3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~50 yrs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since US equity was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this concentrated*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53" y="3969715"/>
            <a:ext cx="8705305" cy="45841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63580" indent="-163580">
              <a:lnSpc>
                <a:spcPct val="112000"/>
              </a:lnSpc>
              <a:spcAft>
                <a:spcPts val="1200"/>
              </a:spcAft>
            </a:pPr>
            <a:r>
              <a:rPr sz="1120" b="1">
                <a:solidFill>
                  <a:srgbClr val="314359"/>
                </a:solidFill>
                <a:latin typeface="Arial"/>
              </a:rPr>
              <a:t>›  Cap-weighting buys high by design.</a:t>
            </a:r>
            <a:r>
              <a:rPr sz="1120">
                <a:solidFill>
                  <a:srgbClr val="0E1620"/>
                </a:solidFill>
                <a:latin typeface="Arial"/>
              </a:rPr>
              <a:t>  The more a stock rises, the more of it you must own — the opposite of buy-low discipline.</a:t>
            </a:r>
          </a:p>
          <a:p>
            <a:pPr marL="163580" indent="-163580">
              <a:lnSpc>
                <a:spcPct val="112000"/>
              </a:lnSpc>
              <a:spcAft>
                <a:spcPts val="1200"/>
              </a:spcAft>
            </a:pPr>
            <a:r>
              <a:rPr sz="1120" b="1">
                <a:solidFill>
                  <a:srgbClr val="314359"/>
                </a:solidFill>
                <a:latin typeface="Arial"/>
              </a:rPr>
              <a:t>›  A concentrated factor bet.</a:t>
            </a:r>
            <a:r>
              <a:rPr sz="1120">
                <a:solidFill>
                  <a:srgbClr val="0E1620"/>
                </a:solidFill>
                <a:latin typeface="Arial"/>
              </a:rPr>
              <a:t>  The “diversified” index is now a leveraged position in large-cap growth, momentum and a single theme (AI) — not diversification.</a:t>
            </a:r>
          </a:p>
          <a:p>
            <a:pPr marL="163580" indent="-163580">
              <a:lnSpc>
                <a:spcPct val="112000"/>
              </a:lnSpc>
              <a:spcAft>
                <a:spcPts val="1200"/>
              </a:spcAft>
            </a:pPr>
            <a:r>
              <a:rPr sz="1120" b="1">
                <a:solidFill>
                  <a:srgbClr val="314359"/>
                </a:solidFill>
                <a:latin typeface="Arial"/>
              </a:rPr>
              <a:t>›  Breadth is fragile.</a:t>
            </a:r>
            <a:r>
              <a:rPr sz="1120">
                <a:solidFill>
                  <a:srgbClr val="0E1620"/>
                </a:solidFill>
                <a:latin typeface="Arial"/>
              </a:rPr>
              <a:t>  A stumble in a handful of mega-caps now moves the entire index; the rest of the market has been left behind.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8922" y="6944563"/>
            <a:ext cx="5852306" cy="35112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*Illustrative, recent data (2024–25); source: S&amp;P Dow Jones Indices. Index concentration and factor tilts change over time.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Market Context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From passive risk to active opportunity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An expensive, concentrated, passive-dominated market is exactly the environment active management is built for — and as analysis itself commoditises, the most durable edge is ownership, not stock-picking.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</a:t>
            </a:r>
          </a:p>
        </p:txBody>
      </p:sp>
      <p:sp>
        <p:nvSpPr>
          <p:cNvPr id="9" name="Rectangle 8"/>
          <p:cNvSpPr/>
          <p:nvPr/>
        </p:nvSpPr>
        <p:spPr>
          <a:xfrm>
            <a:off x="438922" y="2292096"/>
            <a:ext cx="2706691" cy="507187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38922" y="2292096"/>
            <a:ext cx="2706691" cy="50718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Times New Roman"/>
              </a:rPr>
              <a:t>1 · The setup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2799283"/>
            <a:ext cx="2706691" cy="26334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99861" y="2994355"/>
            <a:ext cx="2384814" cy="23408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Expensive equities, record index concentration, and price-insensitive passive flows that inflate the most crowded names.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74806" y="2292096"/>
            <a:ext cx="2706691" cy="507187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3474806" y="2292096"/>
            <a:ext cx="2706691" cy="50718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Times New Roman"/>
              </a:rPr>
              <a:t>2 · Why active now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474806" y="2799283"/>
            <a:ext cx="2706691" cy="26334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3635745" y="2994355"/>
            <a:ext cx="2384814" cy="23408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Wider mispricing and dispersion; valuation discipline is rewarded again. The “active underperforms” critique is cyclical — and weakest in exactly this market.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510690" y="2292096"/>
            <a:ext cx="2706691" cy="507187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510690" y="2292096"/>
            <a:ext cx="2706691" cy="50718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Times New Roman"/>
              </a:rPr>
              <a:t>3 · A better kind of active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510690" y="2799283"/>
            <a:ext cx="2706691" cy="26334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671629" y="2994355"/>
            <a:ext cx="2384814" cy="23408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Other genuine edges exist — quant and specialist alpha — but they compete on analysing the same public data, which is what commoditises fastest. The most durable edge is ownership: buying mispriced businesses and changing the outcome.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145614" y="3511296"/>
            <a:ext cx="329192" cy="58521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2080" b="1" i="0">
                <a:solidFill>
                  <a:srgbClr val="556A83"/>
                </a:solidFill>
                <a:latin typeface="Arial"/>
              </a:rPr>
              <a:t>→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181498" y="3511296"/>
            <a:ext cx="329192" cy="58521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2080" b="1" i="0">
                <a:solidFill>
                  <a:srgbClr val="556A83"/>
                </a:solidFill>
                <a:latin typeface="Arial"/>
              </a:rPr>
              <a:t>→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38922" y="6164275"/>
            <a:ext cx="8873559" cy="60472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585230" y="6164275"/>
            <a:ext cx="8558998" cy="604723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FFFFFF"/>
                </a:solidFill>
                <a:latin typeface="Arial"/>
              </a:rPr>
              <a:t>When the index is the crowded, expensive, fragile trade, the answer is not to pick stocks and hope — it is to own undervalued businesses and make them better. That is engaged ownership.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The Proposition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1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What AI changes — and what it can’t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As machine analysis becomes ubiquitous, information-based edges are competed away faster. Engaged ownership creates the change rather than reads it — the least commoditised style.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22" y="2292096"/>
            <a:ext cx="2011730" cy="390144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41338" y="2292096"/>
            <a:ext cx="1821530" cy="3901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>Investment style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450653" y="2292096"/>
            <a:ext cx="3767422" cy="390144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2553068" y="2292096"/>
            <a:ext cx="3577222" cy="3901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>How AI changes it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18075" y="2292096"/>
            <a:ext cx="3072460" cy="390144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320490" y="2292096"/>
            <a:ext cx="2882260" cy="3901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>Effect on the edge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8922" y="2682240"/>
            <a:ext cx="2011730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541338" y="2682240"/>
            <a:ext cx="1821530" cy="7607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Quantitative / factor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450653" y="2682240"/>
            <a:ext cx="3767422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2553068" y="2682240"/>
            <a:ext cx="3577222" cy="7607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Known signals are replicated and arbitraged at machine speed.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18075" y="2682240"/>
            <a:ext cx="3072460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320490" y="2682240"/>
            <a:ext cx="2882260" cy="7607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More crowded — published factors already fade ~58% post-publication (McLean &amp; Pontiff, 2016).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8922" y="3443020"/>
            <a:ext cx="2011730" cy="81930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541338" y="3443020"/>
            <a:ext cx="1821530" cy="81930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Growth &amp; value (fundamental)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450653" y="3443020"/>
            <a:ext cx="3767422" cy="81930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2553068" y="3443020"/>
            <a:ext cx="3577222" cy="81930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LLMs already match or beat analysts at predicting the direction of earnings (Kim, Muhn &amp; Nikolaev, 2024).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218075" y="3443020"/>
            <a:ext cx="3072460" cy="81930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6320490" y="3443020"/>
            <a:ext cx="2882260" cy="81930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analytical edge commoditises; the crowd grows and the edge thins.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38922" y="4262323"/>
            <a:ext cx="2011730" cy="64373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541338" y="4262323"/>
            <a:ext cx="1821530" cy="64373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Passive / index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450653" y="4262323"/>
            <a:ext cx="3767422" cy="64373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2553068" y="4262323"/>
            <a:ext cx="3577222" cy="64373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Method unchanged — but more capital chases a shrinking pool of active alpha.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18075" y="4262323"/>
            <a:ext cx="3072460" cy="64373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6320490" y="4262323"/>
            <a:ext cx="2882260" cy="64373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Concentration and reflexivity risk rise (see p.3).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38922" y="4906060"/>
            <a:ext cx="2011730" cy="1033881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541338" y="4906060"/>
            <a:ext cx="1821530" cy="103388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1" i="0">
                <a:solidFill>
                  <a:srgbClr val="FFFFFF"/>
                </a:solidFill>
                <a:latin typeface="Arial"/>
              </a:rPr>
              <a:t>Engaged ownership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450653" y="4906060"/>
            <a:ext cx="3767422" cy="1033881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2553068" y="4906060"/>
            <a:ext cx="3577222" cy="103388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Alpha comes from changing the earnings trajectory from a board seat — not from reading public data faster. AI augments our sourcing and diligence; it can’t replicate access, influence or execution.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218075" y="4906060"/>
            <a:ext cx="3072460" cy="1033881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6320490" y="4906060"/>
            <a:ext cx="2882260" cy="103388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Least commoditised — the edge is created, not discovered.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38922" y="6076492"/>
            <a:ext cx="8851613" cy="536448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585230" y="6076492"/>
            <a:ext cx="8558998" cy="5364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FFFFFF"/>
                </a:solidFill>
                <a:latin typeface="Arial"/>
              </a:rPr>
              <a:t>When everyone can analyse, analysis stops being an edge. The durable edge is the one AI can’t run — changing the company itself.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Market Opportunity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1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The inefficiency Athanase harvests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Corporate decay is structural — it continuously recreates low-risk, high-return entry points.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" y="2292096"/>
            <a:ext cx="4608691" cy="45841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57738" indent="-157738">
              <a:lnSpc>
                <a:spcPct val="112000"/>
              </a:lnSpc>
              <a:spcAft>
                <a:spcPts val="14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Duration mismatch.</a:t>
            </a:r>
            <a:r>
              <a:rPr sz="1080">
                <a:solidFill>
                  <a:srgbClr val="0E1620"/>
                </a:solidFill>
                <a:latin typeface="Arial"/>
              </a:rPr>
              <a:t>  CEOs run 7–8 year defensive cycles while moats erode at hyper-speed; an 80%-correct strategy decays to ~50% efficient.</a:t>
            </a:r>
          </a:p>
          <a:p>
            <a:pPr marL="157738" indent="-157738">
              <a:lnSpc>
                <a:spcPct val="112000"/>
              </a:lnSpc>
              <a:spcAft>
                <a:spcPts val="14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The prestige trap.</a:t>
            </a:r>
            <a:r>
              <a:rPr sz="1080">
                <a:solidFill>
                  <a:srgbClr val="0E1620"/>
                </a:solidFill>
                <a:latin typeface="Arial"/>
              </a:rPr>
              <a:t>  Empire-building and the sunk-cost fallacy lead management to double down on unprofitable ventures.</a:t>
            </a:r>
          </a:p>
          <a:p>
            <a:pPr marL="157738" indent="-157738">
              <a:lnSpc>
                <a:spcPct val="112000"/>
              </a:lnSpc>
              <a:spcAft>
                <a:spcPts val="14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Shareholder exhaustion.</a:t>
            </a:r>
            <a:r>
              <a:rPr sz="1080">
                <a:solidFill>
                  <a:srgbClr val="0E1620"/>
                </a:solidFill>
                <a:latin typeface="Arial"/>
              </a:rPr>
              <a:t>  As patience runs out, price hits a long-term low and liquidity dries up — Athanase becomes the “buyer of last resort” at a discount.</a:t>
            </a:r>
          </a:p>
          <a:p>
            <a:pPr marL="157738" indent="-157738">
              <a:lnSpc>
                <a:spcPct val="112000"/>
              </a:lnSpc>
              <a:spcAft>
                <a:spcPts val="14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Low competition.</a:t>
            </a:r>
            <a:r>
              <a:rPr sz="1080">
                <a:solidFill>
                  <a:srgbClr val="0E1620"/>
                </a:solidFill>
                <a:latin typeface="Arial"/>
              </a:rPr>
              <a:t>  Passive buys the most expensive names; active managers wait for proof; PE needs 10× the capital — leaving these bargains open.</a:t>
            </a:r>
          </a:p>
        </p:txBody>
      </p:sp>
      <p:graphicFrame>
        <p:nvGraphicFramePr>
          <p:cNvPr id="11" name="Chart 10"/>
          <p:cNvGraphicFramePr>
            <a:graphicFrameLocks noGrp="1"/>
          </p:cNvGraphicFramePr>
          <p:nvPr/>
        </p:nvGraphicFramePr>
        <p:xfrm>
          <a:off x="5230498" y="2487168"/>
          <a:ext cx="4169768" cy="351129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5230498" y="6047232"/>
            <a:ext cx="4169768" cy="3901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Even an excellent team’s edge erodes as the external environment shifts.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The Opportunity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2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Why mid-market is the sweet spot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Big enough to run well, small enough to change — and to grow. The engaged-ownership opportunity is richest in the middle.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7</a:t>
            </a:r>
          </a:p>
        </p:txBody>
      </p:sp>
      <p:sp>
        <p:nvSpPr>
          <p:cNvPr id="10" name="Rectangle 9"/>
          <p:cNvSpPr/>
          <p:nvPr/>
        </p:nvSpPr>
        <p:spPr>
          <a:xfrm>
            <a:off x="402346" y="2292096"/>
            <a:ext cx="1828845" cy="39014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90130" y="2292096"/>
            <a:ext cx="1682538" cy="3901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2231191" y="2292096"/>
            <a:ext cx="2377499" cy="390144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2318976" y="2292096"/>
            <a:ext cx="2231191" cy="3901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Small-cap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608691" y="2292096"/>
            <a:ext cx="2560384" cy="390144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4696475" y="2292096"/>
            <a:ext cx="2414076" cy="3901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Mid-market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169075" y="2292096"/>
            <a:ext cx="2121461" cy="390144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7256859" y="2292096"/>
            <a:ext cx="1975153" cy="3901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Large-cap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02346" y="2682240"/>
            <a:ext cx="1828845" cy="7607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490130" y="2682240"/>
            <a:ext cx="1682538" cy="7607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Organisational depth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231191" y="2682240"/>
            <a:ext cx="2377499" cy="7607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2318976" y="2682240"/>
            <a:ext cx="2231191" cy="7607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Often too thin to support a capable team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608691" y="2682240"/>
            <a:ext cx="2560384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4696475" y="2682240"/>
            <a:ext cx="2414076" cy="7607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Enough structure for a real management team and processes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169075" y="2682240"/>
            <a:ext cx="2121461" cy="7607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7256859" y="2682240"/>
            <a:ext cx="1975153" cy="7607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Deep, but layered and slow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02346" y="3443020"/>
            <a:ext cx="1828845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490130" y="3443020"/>
            <a:ext cx="1682538" cy="7607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Growth runway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231191" y="3443020"/>
            <a:ext cx="2377499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2318976" y="3443020"/>
            <a:ext cx="2231191" cy="7607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Long, but fragile and under-resourced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608691" y="3443020"/>
            <a:ext cx="2560384" cy="760780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4696475" y="3443020"/>
            <a:ext cx="2414076" cy="7607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Still long — small enough to compound for years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169075" y="3443020"/>
            <a:ext cx="2121461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7256859" y="3443020"/>
            <a:ext cx="1975153" cy="7607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Largely played out; growth is incremental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02346" y="4203801"/>
            <a:ext cx="1828845" cy="7607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490130" y="4203801"/>
            <a:ext cx="1682538" cy="7607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Speed of change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231191" y="4203801"/>
            <a:ext cx="2377499" cy="7607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2318976" y="4203801"/>
            <a:ext cx="2231191" cy="7607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Fast, but limited resources to execute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608691" y="4203801"/>
            <a:ext cx="2560384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4696475" y="4203801"/>
            <a:ext cx="2414076" cy="7607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Operational change lands within ~1.5 years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169075" y="4203801"/>
            <a:ext cx="2121461" cy="7607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7256859" y="4203801"/>
            <a:ext cx="1975153" cy="7607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Years to turn; entrenched complexity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02346" y="4964582"/>
            <a:ext cx="1828845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490130" y="4964582"/>
            <a:ext cx="1682538" cy="7607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Owner influence</a:t>
            </a:r>
          </a:p>
        </p:txBody>
      </p:sp>
      <p:sp>
        <p:nvSpPr>
          <p:cNvPr id="44" name="Rectangle 43"/>
          <p:cNvSpPr/>
          <p:nvPr/>
        </p:nvSpPr>
        <p:spPr>
          <a:xfrm>
            <a:off x="2231191" y="4964582"/>
            <a:ext cx="2377499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2318976" y="4964582"/>
            <a:ext cx="2231191" cy="7607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High, but little to work with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608691" y="4964582"/>
            <a:ext cx="2560384" cy="760780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4696475" y="4964582"/>
            <a:ext cx="2414076" cy="7607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A board seat genuinely moves the outcome</a:t>
            </a:r>
          </a:p>
        </p:txBody>
      </p:sp>
      <p:sp>
        <p:nvSpPr>
          <p:cNvPr id="48" name="Rectangle 47"/>
          <p:cNvSpPr/>
          <p:nvPr/>
        </p:nvSpPr>
        <p:spPr>
          <a:xfrm>
            <a:off x="7169075" y="4964582"/>
            <a:ext cx="2121461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TextBox 48"/>
          <p:cNvSpPr txBox="1"/>
          <p:nvPr/>
        </p:nvSpPr>
        <p:spPr>
          <a:xfrm>
            <a:off x="7256859" y="4964582"/>
            <a:ext cx="1975153" cy="7607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Diluted; one owner rarely shifts the agenda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02346" y="5861913"/>
            <a:ext cx="8924767" cy="40965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314359"/>
                </a:solidFill>
                <a:latin typeface="Arial"/>
              </a:rPr>
              <a:t>Mid-market companies are run well enough to be worth owning, yet small enough that an engaged owner can still change — and grow — them.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02346" y="6369100"/>
            <a:ext cx="8924767" cy="58521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760" b="0" i="0">
                <a:solidFill>
                  <a:srgbClr val="556A83"/>
                </a:solidFill>
                <a:latin typeface="Arial"/>
              </a:rPr>
              <a:t>And the opportunity set is deep and global: ~50,000 listed companies worldwide (World Federation of Exchanges, 2024); the investable MSCI ACWI IMI spans ~8,800 large-, mid- and small-cap names across 23 developed and 24 emerging markets — about 1,600 of them mid-caps (MSCI, 2024). Our €50m–€3bn target band, in markets with a stable legal system, is a large subset.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The Opportunity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Why mid-caps are more often mispriced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companies that are easiest to improve are also the most likely to be mispriced — three structural features of the mid-market leave more value on the table.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8</a:t>
            </a:r>
          </a:p>
        </p:txBody>
      </p:sp>
      <p:sp>
        <p:nvSpPr>
          <p:cNvPr id="9" name="Rectangle 8"/>
          <p:cNvSpPr/>
          <p:nvPr/>
        </p:nvSpPr>
        <p:spPr>
          <a:xfrm>
            <a:off x="438922" y="2292096"/>
            <a:ext cx="2706691" cy="507187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38922" y="2292096"/>
            <a:ext cx="2706691" cy="50718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Times New Roman"/>
              </a:rPr>
              <a:t>1 · Thin analyst coverage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2799283"/>
            <a:ext cx="2706691" cy="26334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99861" y="2994355"/>
            <a:ext cx="2384814" cy="23408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Far fewer sell-side analysts follow a mid-cap than a mega-cap, and many have little or no coverage at all. Less information reaches the market, so price discovery is slower and the gap between price and intrinsic value persists for longer.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74806" y="2292096"/>
            <a:ext cx="2706691" cy="507187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3474806" y="2292096"/>
            <a:ext cx="2706691" cy="50718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Times New Roman"/>
              </a:rPr>
              <a:t>2 · Fewer sophisticated investors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474806" y="2799283"/>
            <a:ext cx="2706691" cy="26334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3635745" y="2994355"/>
            <a:ext cx="2384814" cy="23408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The segment is too small to move the needle for the largest institutions, so it is under-owned by the most resourced investors. Pricing is set at the margin by less-informed holders — leaving more frequent, and larger, mispricings.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510690" y="2292096"/>
            <a:ext cx="2706691" cy="507187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510690" y="2292096"/>
            <a:ext cx="2706691" cy="50718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Times New Roman"/>
              </a:rPr>
              <a:t>3 · Higher earnings volatility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510690" y="2799283"/>
            <a:ext cx="2706691" cy="26334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671629" y="2994355"/>
            <a:ext cx="2384814" cy="23408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Mid-caps’ earnings swing more than large caps’ — they are less diversified and earlier in their growth. The market over-extrapolates each swing, over-punishing a soft quarter and widening the discount to an otherwise durable core.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38922" y="6164275"/>
            <a:ext cx="8873559" cy="60472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585230" y="6164275"/>
            <a:ext cx="8558998" cy="604723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FFFFFF"/>
                </a:solidFill>
                <a:latin typeface="Arial"/>
              </a:rPr>
              <a:t>Less coverage, fewer expert owners and lumpier earnings mean mid-caps are mispriced more often and by more — a deeper opportunity set of low-risk entry points for a disciplined engaged owner.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Barriers to Entry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Why this opportunity isn’t arbitraged away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Engaged ownership is hard, uncomfortable and off-mandate for most investors — so the crowd stays away and the inefficiency is never competed out. Four barriers keep the lane open.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9</a:t>
            </a:r>
          </a:p>
        </p:txBody>
      </p:sp>
      <p:sp>
        <p:nvSpPr>
          <p:cNvPr id="9" name="Rectangle 8"/>
          <p:cNvSpPr/>
          <p:nvPr/>
        </p:nvSpPr>
        <p:spPr>
          <a:xfrm>
            <a:off x="438922" y="2292096"/>
            <a:ext cx="4330706" cy="189219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438922" y="2292096"/>
            <a:ext cx="51207" cy="1892198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29122" y="2418892"/>
            <a:ext cx="4023460" cy="3901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152130"/>
                </a:solidFill>
                <a:latin typeface="Times New Roman"/>
              </a:rPr>
              <a:t>Fear keeps the crowd on the sidelines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9122" y="2828544"/>
            <a:ext cx="3994199" cy="12679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3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Most investors avoid a company while it is underperforming and wait for the turn — buying back only once results visibly improve, and the price with them. We do the opposite: we buy at the point of maximum doubt and create the improvement ourselves.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981775" y="2292096"/>
            <a:ext cx="4330706" cy="189219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4981775" y="2292096"/>
            <a:ext cx="51207" cy="1892198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5171975" y="2418892"/>
            <a:ext cx="4023460" cy="3901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152130"/>
                </a:solidFill>
                <a:latin typeface="Times New Roman"/>
              </a:rPr>
              <a:t>The skill bar is genuinely high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71975" y="2828544"/>
            <a:ext cx="3994199" cy="12679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3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It takes three things at once — operating credibility, deep investment experience, and the psychological strength to convince a board and fellow shareholders you are right. Few managers have all three, so few can even attempt it.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8922" y="4340352"/>
            <a:ext cx="4330706" cy="189219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438922" y="4340352"/>
            <a:ext cx="51207" cy="1892198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29122" y="4467148"/>
            <a:ext cx="4023460" cy="3901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152130"/>
                </a:solidFill>
                <a:latin typeface="Times New Roman"/>
              </a:rPr>
              <a:t>Career risk — and the wrong mandate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9122" y="4876800"/>
            <a:ext cx="3994199" cy="12679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3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Voicing a public or private view on what a company must do carries real career risk; the typical, risk-averse equity manager would rather stay quiet. And most funds have no mandate to engage at all — they simply vote with their feet and sell.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981775" y="4340352"/>
            <a:ext cx="4330706" cy="189219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4981775" y="4340352"/>
            <a:ext cx="51207" cy="1892198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5171975" y="4467148"/>
            <a:ext cx="4023460" cy="3901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152130"/>
                </a:solidFill>
                <a:latin typeface="Times New Roman"/>
              </a:rPr>
              <a:t>They misread the discount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171975" y="4876800"/>
            <a:ext cx="3994199" cy="12679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3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The crowd assumes a cheap, troubled company is even worse than it looks — and is often right. We play a different game: we buy good businesses hidden inside a poorly-run structure — quality at a discount, not a value trap.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38922" y="6388608"/>
            <a:ext cx="8895505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585230" y="6388608"/>
            <a:ext cx="8632151" cy="4876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Each barrier filters out the typical manager; together they keep the opportunity uncrowded — and clearing all four at once is exactly what our combination of operating and investing experience is built to do.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Overview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Athanase at a glance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10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53" y="1901952"/>
            <a:ext cx="2158037" cy="180441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48653" y="2175052"/>
            <a:ext cx="2158037" cy="13655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3200" b="0" i="0" spc="-120">
                <a:solidFill>
                  <a:srgbClr val="314359"/>
                </a:solidFill>
                <a:latin typeface="Times New Roman"/>
              </a:rPr>
              <a:t>38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investments as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engaged owners</a:t>
            </a:r>
          </a:p>
        </p:txBody>
      </p:sp>
      <p:sp>
        <p:nvSpPr>
          <p:cNvPr id="10" name="Rectangle 9"/>
          <p:cNvSpPr/>
          <p:nvPr/>
        </p:nvSpPr>
        <p:spPr>
          <a:xfrm>
            <a:off x="2838368" y="1901952"/>
            <a:ext cx="2158037" cy="180441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2838368" y="2175052"/>
            <a:ext cx="2158037" cy="13655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3200" b="0" i="0" spc="-120">
                <a:solidFill>
                  <a:srgbClr val="314359"/>
                </a:solidFill>
                <a:latin typeface="Times New Roman"/>
              </a:rPr>
              <a:t>19%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avg annualised NET,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any entry month*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128083" y="1901952"/>
            <a:ext cx="2158037" cy="180441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128083" y="2175052"/>
            <a:ext cx="2158037" cy="13655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3200" b="0" i="0" spc="-120">
                <a:solidFill>
                  <a:srgbClr val="314359"/>
                </a:solidFill>
                <a:latin typeface="Times New Roman"/>
              </a:rPr>
              <a:t>7%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worst-ever entry,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still positive*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417798" y="1901952"/>
            <a:ext cx="2158037" cy="180441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7417798" y="2175052"/>
            <a:ext cx="2158037" cy="13655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3200" b="0" i="0" spc="-120">
                <a:solidFill>
                  <a:srgbClr val="314359"/>
                </a:solidFill>
                <a:latin typeface="Times New Roman"/>
              </a:rPr>
              <a:t>18×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growth of capital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since 2006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53" y="3998976"/>
            <a:ext cx="8705305" cy="45841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75264" indent="-175264">
              <a:lnSpc>
                <a:spcPct val="112000"/>
              </a:lnSpc>
              <a:spcAft>
                <a:spcPts val="1000"/>
              </a:spcAft>
            </a:pPr>
            <a:r>
              <a:rPr sz="1200" b="1">
                <a:solidFill>
                  <a:srgbClr val="314359"/>
                </a:solidFill>
                <a:latin typeface="Arial"/>
              </a:rPr>
              <a:t>›  ~19% average annualised return*</a:t>
            </a:r>
            <a:r>
              <a:rPr sz="1200">
                <a:solidFill>
                  <a:srgbClr val="0E1620"/>
                </a:solidFill>
                <a:latin typeface="Arial"/>
              </a:rPr>
              <a:t>  whatever month you invested and held to today — entry timing has barely mattered.</a:t>
            </a:r>
          </a:p>
          <a:p>
            <a:pPr marL="175264" indent="-175264">
              <a:lnSpc>
                <a:spcPct val="112000"/>
              </a:lnSpc>
              <a:spcAft>
                <a:spcPts val="1000"/>
              </a:spcAft>
            </a:pPr>
            <a:r>
              <a:rPr sz="1200" b="1">
                <a:solidFill>
                  <a:srgbClr val="314359"/>
                </a:solidFill>
                <a:latin typeface="Arial"/>
              </a:rPr>
              <a:t>›  ~7% in the single worst entry month</a:t>
            </a:r>
            <a:r>
              <a:rPr sz="1200">
                <a:solidFill>
                  <a:srgbClr val="0E1620"/>
                </a:solidFill>
                <a:latin typeface="Arial"/>
              </a:rPr>
              <a:t>  even the unluckiest possible entry still compounded at a mid-single-digit net return — no investor lost over the holding period.</a:t>
            </a:r>
          </a:p>
          <a:p>
            <a:pPr marL="175264" indent="-175264">
              <a:lnSpc>
                <a:spcPct val="112000"/>
              </a:lnSpc>
              <a:spcAft>
                <a:spcPts val="1000"/>
              </a:spcAft>
            </a:pPr>
            <a:r>
              <a:rPr sz="1200" b="1">
                <a:solidFill>
                  <a:srgbClr val="314359"/>
                </a:solidFill>
                <a:latin typeface="Arial"/>
              </a:rPr>
              <a:t>›  16.3% time-weighted NET since 2006</a:t>
            </a:r>
            <a:r>
              <a:rPr sz="1200">
                <a:solidFill>
                  <a:srgbClr val="0E1620"/>
                </a:solidFill>
                <a:latin typeface="Arial"/>
              </a:rPr>
              <a:t>  vs MSCI IMI 6.2% — net of all fees.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53" y="6583680"/>
            <a:ext cx="8632151" cy="3901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556A83"/>
                </a:solidFill>
                <a:latin typeface="Arial"/>
              </a:rPr>
              <a:t>*Average of the annualised NET return earned investing in each individual month and holding to the end (107 entry months, AIPFII). Time-weighted figure annualised over actual invested time. Past performance is not indicative of future results.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Why Athanase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Why Athanase is the firm best built to capture this inefficiency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Harvesting this mispricing takes four capabilities at once — find the hidden core, win real control, fix it from the boardroom, and prove it repeats. Few managers have one; we have built all four.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11</a:t>
            </a:r>
          </a:p>
        </p:txBody>
      </p:sp>
      <p:sp>
        <p:nvSpPr>
          <p:cNvPr id="9" name="Rectangle 8"/>
          <p:cNvSpPr/>
          <p:nvPr/>
        </p:nvSpPr>
        <p:spPr>
          <a:xfrm>
            <a:off x="453553" y="2292096"/>
            <a:ext cx="4286814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70599" y="2292096"/>
            <a:ext cx="4067352" cy="44866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1 · We find what others miss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3553" y="2740761"/>
            <a:ext cx="4286814" cy="169712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85230" y="2857804"/>
            <a:ext cx="4023460" cy="150205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A proprietary universe</a:t>
            </a:r>
            <a:r>
              <a:rPr sz="720">
                <a:solidFill>
                  <a:srgbClr val="0E1620"/>
                </a:solidFill>
                <a:latin typeface="Arial"/>
              </a:rPr>
              <a:t> — ~60,000 companies restated to economic reality, separating the profitable core from the value-destroying pivot.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Moat- and CEO-scored</a:t>
            </a:r>
            <a:r>
              <a:rPr sz="720">
                <a:solidFill>
                  <a:srgbClr val="0E1620"/>
                </a:solidFill>
                <a:latin typeface="Arial"/>
              </a:rPr>
              <a:t> — ~20,000 names ranked; about 1 in 1,000 screened is ever bought.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Hidden cores, not broken companies</a:t>
            </a:r>
            <a:r>
              <a:rPr sz="720">
                <a:solidFill>
                  <a:srgbClr val="0E1620"/>
                </a:solidFill>
                <a:latin typeface="Arial"/>
              </a:rPr>
              <a:t> — market leaders attractive even if we change nothing — no adverse selection.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872045" y="2292096"/>
            <a:ext cx="4286814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989091" y="2292096"/>
            <a:ext cx="4067352" cy="44866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2 · We can actually change it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872045" y="2740761"/>
            <a:ext cx="4286814" cy="169712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5003721" y="2857804"/>
            <a:ext cx="4023460" cy="150205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An operator’s edge, not an analyst’s</a:t>
            </a:r>
            <a:r>
              <a:rPr sz="720">
                <a:solidFill>
                  <a:srgbClr val="0E1620"/>
                </a:solidFill>
                <a:latin typeface="Arial"/>
              </a:rPr>
              <a:t> — one integrated team for 20 years; 30+ public board seats; former CEOs and CIOs.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Control from the boardroom</a:t>
            </a:r>
            <a:r>
              <a:rPr sz="720">
                <a:solidFill>
                  <a:srgbClr val="0E1620"/>
                </a:solidFill>
                <a:latin typeface="Arial"/>
              </a:rPr>
              <a:t> — the experience to fix capital allocation, M&amp;A and focus — not merely to advise.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The edge AI cannot replicate</a:t>
            </a:r>
            <a:r>
              <a:rPr sz="720">
                <a:solidFill>
                  <a:srgbClr val="0E1620"/>
                </a:solidFill>
                <a:latin typeface="Arial"/>
              </a:rPr>
              <a:t> — access, influence and execution, not reading public data faster.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3553" y="4535424"/>
            <a:ext cx="4286814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570599" y="4535424"/>
            <a:ext cx="4067352" cy="44866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3 · We own the lane others abandoned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3553" y="4984089"/>
            <a:ext cx="4286814" cy="169712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585230" y="5101132"/>
            <a:ext cx="4023460" cy="8116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 dirty="0">
                <a:solidFill>
                  <a:srgbClr val="556A83"/>
                </a:solidFill>
                <a:latin typeface="Arial"/>
              </a:rPr>
              <a:t>›  </a:t>
            </a:r>
            <a:r>
              <a:rPr sz="720" b="1" dirty="0">
                <a:solidFill>
                  <a:srgbClr val="314359"/>
                </a:solidFill>
                <a:latin typeface="Arial"/>
              </a:rPr>
              <a:t>The mid-market sweet spot</a:t>
            </a:r>
            <a:r>
              <a:rPr sz="720" dirty="0">
                <a:solidFill>
                  <a:srgbClr val="0E1620"/>
                </a:solidFill>
                <a:latin typeface="Arial"/>
              </a:rPr>
              <a:t> — €50m–€3bn, where a single board seat genuinely moves the outcome.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 dirty="0">
                <a:solidFill>
                  <a:srgbClr val="556A83"/>
                </a:solidFill>
                <a:latin typeface="Arial"/>
              </a:rPr>
              <a:t>›  </a:t>
            </a:r>
            <a:r>
              <a:rPr sz="720" b="1" dirty="0">
                <a:solidFill>
                  <a:srgbClr val="314359"/>
                </a:solidFill>
                <a:latin typeface="Arial"/>
              </a:rPr>
              <a:t>Uncontested by the giants</a:t>
            </a:r>
            <a:r>
              <a:rPr sz="720" dirty="0">
                <a:solidFill>
                  <a:srgbClr val="0E1620"/>
                </a:solidFill>
                <a:latin typeface="Arial"/>
              </a:rPr>
              <a:t> — mega</a:t>
            </a:r>
            <a:r>
              <a:rPr lang="en-GB" sz="720" dirty="0">
                <a:solidFill>
                  <a:srgbClr val="0E1620"/>
                </a:solidFill>
                <a:latin typeface="Arial"/>
              </a:rPr>
              <a:t>-</a:t>
            </a:r>
            <a:r>
              <a:rPr sz="720" dirty="0">
                <a:solidFill>
                  <a:srgbClr val="0E1620"/>
                </a:solidFill>
                <a:latin typeface="Arial"/>
              </a:rPr>
              <a:t>cap activists left it behind as they scaled: high return, low competition.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 dirty="0">
                <a:solidFill>
                  <a:srgbClr val="556A83"/>
                </a:solidFill>
                <a:latin typeface="Arial"/>
              </a:rPr>
              <a:t>›  </a:t>
            </a:r>
            <a:r>
              <a:rPr sz="720" b="1" dirty="0">
                <a:solidFill>
                  <a:srgbClr val="314359"/>
                </a:solidFill>
                <a:latin typeface="Arial"/>
              </a:rPr>
              <a:t>Control by agreement</a:t>
            </a:r>
            <a:r>
              <a:rPr sz="720" dirty="0">
                <a:solidFill>
                  <a:srgbClr val="0E1620"/>
                </a:solidFill>
                <a:latin typeface="Arial"/>
              </a:rPr>
              <a:t> — we invest only after securing agreement on board engagement with the other shareholders.</a:t>
            </a:r>
            <a:r>
              <a:rPr lang="en-GB" sz="720" dirty="0">
                <a:solidFill>
                  <a:srgbClr val="0E1620"/>
                </a:solidFill>
                <a:latin typeface="Arial"/>
              </a:rPr>
              <a:t/>
            </a:r>
            <a:endParaRPr sz="720" dirty="0">
              <a:solidFill>
                <a:srgbClr val="0E1620"/>
              </a:solidFill>
              <a:latin typeface="Arial"/>
            </a:endParaRPr>
          </a:p>
        </p:txBody>
      </p:sp>
      <p:sp>
        <p:nvSpPr>
          <p:cNvPr id="21" name="Rectangle 20"/>
          <p:cNvSpPr/>
          <p:nvPr/>
        </p:nvSpPr>
        <p:spPr>
          <a:xfrm>
            <a:off x="4872045" y="4535424"/>
            <a:ext cx="4286814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4989091" y="4535424"/>
            <a:ext cx="4067352" cy="44866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4 · And we have proven it repeats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872045" y="4984089"/>
            <a:ext cx="4286814" cy="169712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5003721" y="5101132"/>
            <a:ext cx="4023460" cy="743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 dirty="0">
                <a:solidFill>
                  <a:srgbClr val="556A83"/>
                </a:solidFill>
                <a:latin typeface="Arial"/>
              </a:rPr>
              <a:t>›  </a:t>
            </a:r>
            <a:r>
              <a:rPr sz="720" b="1" dirty="0">
                <a:solidFill>
                  <a:srgbClr val="314359"/>
                </a:solidFill>
                <a:latin typeface="Arial"/>
              </a:rPr>
              <a:t>1</a:t>
            </a:r>
            <a:r>
              <a:rPr lang="en-GB" sz="720" b="1" dirty="0">
                <a:solidFill>
                  <a:srgbClr val="314359"/>
                </a:solidFill>
                <a:latin typeface="Arial"/>
              </a:rPr>
              <a:t>9</a:t>
            </a:r>
            <a:r>
              <a:rPr sz="720" b="1" dirty="0">
                <a:solidFill>
                  <a:srgbClr val="314359"/>
                </a:solidFill>
                <a:latin typeface="Arial"/>
              </a:rPr>
              <a:t>% net p.a., capital grown 18×*</a:t>
            </a:r>
            <a:r>
              <a:rPr lang="en-GB" sz="720" b="1" dirty="0">
                <a:solidFill>
                  <a:srgbClr val="314359"/>
                </a:solidFill>
                <a:latin typeface="Arial"/>
              </a:rPr>
              <a:t>, </a:t>
            </a:r>
            <a:r>
              <a:rPr lang="en-US" sz="700" b="1" dirty="0">
                <a:solidFill>
                  <a:srgbClr val="314359"/>
                </a:solidFill>
              </a:rPr>
              <a:t>7% worst-entry record</a:t>
            </a:r>
            <a:r>
              <a:rPr sz="720" dirty="0">
                <a:solidFill>
                  <a:srgbClr val="0E1620"/>
                </a:solidFill>
                <a:latin typeface="Arial"/>
              </a:rPr>
              <a:t> — through two full market cycles, net of every fee.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 dirty="0">
                <a:solidFill>
                  <a:srgbClr val="556A83"/>
                </a:solidFill>
                <a:latin typeface="Arial"/>
              </a:rPr>
              <a:t>›  </a:t>
            </a:r>
            <a:r>
              <a:rPr sz="720" b="1" dirty="0">
                <a:solidFill>
                  <a:srgbClr val="314359"/>
                </a:solidFill>
                <a:latin typeface="Arial"/>
              </a:rPr>
              <a:t>92% deal-level hit rate (35 of 38)</a:t>
            </a:r>
            <a:r>
              <a:rPr sz="720" dirty="0">
                <a:solidFill>
                  <a:srgbClr val="0E1620"/>
                </a:solidFill>
                <a:latin typeface="Arial"/>
              </a:rPr>
              <a:t> — a 5× MOIC roughly every two years: skill, not luck.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 dirty="0">
                <a:solidFill>
                  <a:srgbClr val="556A83"/>
                </a:solidFill>
                <a:latin typeface="Arial"/>
              </a:rPr>
              <a:t>›  </a:t>
            </a:r>
            <a:r>
              <a:rPr sz="720" b="1" dirty="0">
                <a:solidFill>
                  <a:srgbClr val="314359"/>
                </a:solidFill>
                <a:latin typeface="Arial"/>
              </a:rPr>
              <a:t>93% up / 43% down capture</a:t>
            </a:r>
            <a:r>
              <a:rPr sz="720" dirty="0">
                <a:solidFill>
                  <a:srgbClr val="0E1620"/>
                </a:solidFill>
                <a:latin typeface="Arial"/>
              </a:rPr>
              <a:t> — we harvest the inefficiency and protect the downside.</a:t>
            </a:r>
            <a:endParaRPr lang="en-GB" sz="720" dirty="0">
              <a:solidFill>
                <a:srgbClr val="0E1620"/>
              </a:solidFill>
              <a:latin typeface="Arial"/>
            </a:endParaRP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endParaRPr sz="720" dirty="0">
              <a:solidFill>
                <a:srgbClr val="0E1620"/>
              </a:solidFill>
              <a:latin typeface="Arial"/>
            </a:endParaRPr>
          </a:p>
        </p:txBody>
      </p:sp>
      <p:sp>
        <p:nvSpPr>
          <p:cNvPr id="25" name="TextBox 24"/>
          <p:cNvSpPr txBox="1"/>
          <p:nvPr/>
        </p:nvSpPr>
        <p:spPr>
          <a:xfrm>
            <a:off x="548640" y="6748272"/>
            <a:ext cx="5943600" cy="274320"/>
          </a:xfrm>
          <a:prstGeom prst="rect">
            <a:avLst/>
          </a:prstGeom>
          <a:noFill/>
        </p:spPr>
        <p:txBody>
          <a:bodyPr wrap="square" tIns="0" bIns="0" lIns="0">
            <a:spAutoFit/>
          </a:bodyPr>
          <a:lstStyle/>
          <a:p>
            <a:r>
              <a:rPr sz="720">
                <a:solidFill>
                  <a:srgbClr val="556A83"/>
                </a:solidFill>
                <a:latin typeface="Arial"/>
              </a:rPr>
              <a:t>*18× = cumulative growth of capital since inception (2006) — not an annual or average figure.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Our Edge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Operators and investors in one team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rare combination behind our model: we have run real companies as chief executives — industrial conglomerates, consumer durables and services — and invested with this exact playbook, driving operating change from the boardroom, for 20 years.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12</a:t>
            </a:r>
          </a:p>
        </p:txBody>
      </p:sp>
      <p:sp>
        <p:nvSpPr>
          <p:cNvPr id="9" name="Rectangle 8"/>
          <p:cNvSpPr/>
          <p:nvPr/>
        </p:nvSpPr>
        <p:spPr>
          <a:xfrm>
            <a:off x="1170461" y="2701747"/>
            <a:ext cx="7242229" cy="21674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38922" y="2292096"/>
            <a:ext cx="1463076" cy="34137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314359"/>
                </a:solidFill>
                <a:latin typeface="Times New Roman"/>
              </a:rPr>
              <a:t>1992</a:t>
            </a:r>
          </a:p>
        </p:txBody>
      </p:sp>
      <p:sp>
        <p:nvSpPr>
          <p:cNvPr id="11" name="Oval 10"/>
          <p:cNvSpPr/>
          <p:nvPr/>
        </p:nvSpPr>
        <p:spPr>
          <a:xfrm>
            <a:off x="1104622" y="2633472"/>
            <a:ext cx="131676" cy="175564"/>
          </a:xfrm>
          <a:prstGeom prst="ellipse">
            <a:avLst/>
          </a:prstGeom>
          <a:solidFill>
            <a:srgbClr val="152130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365769" y="2857804"/>
            <a:ext cx="1609384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314359"/>
                </a:solidFill>
                <a:latin typeface="Arial"/>
              </a:rPr>
              <a:t>Öresund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852999" y="2292096"/>
            <a:ext cx="1463076" cy="34137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314359"/>
                </a:solidFill>
                <a:latin typeface="Times New Roman"/>
              </a:rPr>
              <a:t>1996</a:t>
            </a:r>
          </a:p>
        </p:txBody>
      </p:sp>
      <p:sp>
        <p:nvSpPr>
          <p:cNvPr id="14" name="Oval 13"/>
          <p:cNvSpPr/>
          <p:nvPr/>
        </p:nvSpPr>
        <p:spPr>
          <a:xfrm>
            <a:off x="3518699" y="2633472"/>
            <a:ext cx="131676" cy="175564"/>
          </a:xfrm>
          <a:prstGeom prst="ellipse">
            <a:avLst/>
          </a:prstGeom>
          <a:solidFill>
            <a:srgbClr val="152130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2779845" y="2857804"/>
            <a:ext cx="1609384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314359"/>
                </a:solidFill>
                <a:latin typeface="Arial"/>
              </a:rPr>
              <a:t>Custos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67075" y="2292096"/>
            <a:ext cx="1463076" cy="34137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314359"/>
                </a:solidFill>
                <a:latin typeface="Times New Roman"/>
              </a:rPr>
              <a:t>2006</a:t>
            </a:r>
          </a:p>
        </p:txBody>
      </p:sp>
      <p:sp>
        <p:nvSpPr>
          <p:cNvPr id="17" name="Oval 16"/>
          <p:cNvSpPr/>
          <p:nvPr/>
        </p:nvSpPr>
        <p:spPr>
          <a:xfrm>
            <a:off x="5932775" y="2633472"/>
            <a:ext cx="131676" cy="175564"/>
          </a:xfrm>
          <a:prstGeom prst="ellipse">
            <a:avLst/>
          </a:prstGeom>
          <a:solidFill>
            <a:srgbClr val="152130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5193921" y="2857804"/>
            <a:ext cx="1609384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314359"/>
                </a:solidFill>
                <a:latin typeface="Arial"/>
              </a:rPr>
              <a:t>Creades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81152" y="2292096"/>
            <a:ext cx="1463076" cy="34137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314359"/>
                </a:solidFill>
                <a:latin typeface="Times New Roman"/>
              </a:rPr>
              <a:t>2015</a:t>
            </a:r>
          </a:p>
        </p:txBody>
      </p:sp>
      <p:sp>
        <p:nvSpPr>
          <p:cNvPr id="20" name="Oval 19"/>
          <p:cNvSpPr/>
          <p:nvPr/>
        </p:nvSpPr>
        <p:spPr>
          <a:xfrm>
            <a:off x="8346852" y="2633472"/>
            <a:ext cx="131676" cy="175564"/>
          </a:xfrm>
          <a:prstGeom prst="ellipse">
            <a:avLst/>
          </a:prstGeom>
          <a:solidFill>
            <a:srgbClr val="152130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7607998" y="2857804"/>
            <a:ext cx="1609384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314359"/>
                </a:solidFill>
                <a:latin typeface="Arial"/>
              </a:rPr>
              <a:t>Athanase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53" y="3511296"/>
            <a:ext cx="8705305" cy="45841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69422" indent="-169422">
              <a:lnSpc>
                <a:spcPct val="112000"/>
              </a:lnSpc>
              <a:spcAft>
                <a:spcPts val="10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We have run the companies, not just modelled them.</a:t>
            </a:r>
            <a:r>
              <a:rPr sz="1160">
                <a:solidFill>
                  <a:srgbClr val="0E1620"/>
                </a:solidFill>
                <a:latin typeface="Arial"/>
              </a:rPr>
              <a:t>  Former CEOs and senior operators of industrial, consumer-durables and services businesses — we have sat in the chief executive’s seat and lived the operational “how”.</a:t>
            </a:r>
          </a:p>
          <a:p>
            <a:pPr marL="169422" indent="-169422">
              <a:lnSpc>
                <a:spcPct val="112000"/>
              </a:lnSpc>
              <a:spcAft>
                <a:spcPts val="10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We have invested this way for two decades.</a:t>
            </a:r>
            <a:r>
              <a:rPr sz="1160">
                <a:solidFill>
                  <a:srgbClr val="0E1620"/>
                </a:solidFill>
                <a:latin typeface="Arial"/>
              </a:rPr>
              <a:t>  38 companies owned and 30+ public board seats — value created by operating change through board representation, the heart of our model.</a:t>
            </a:r>
          </a:p>
          <a:p>
            <a:pPr marL="169422" indent="-169422">
              <a:lnSpc>
                <a:spcPct val="112000"/>
              </a:lnSpc>
              <a:spcAft>
                <a:spcPts val="10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The combination is the edge.</a:t>
            </a:r>
            <a:r>
              <a:rPr sz="1160">
                <a:solidFill>
                  <a:srgbClr val="0E1620"/>
                </a:solidFill>
                <a:latin typeface="Arial"/>
              </a:rPr>
              <a:t>  A forensic investing lens to find the mispriced value and a C-suite operating lens to realise it — few managers have genuinely done both.</a:t>
            </a:r>
          </a:p>
          <a:p>
            <a:pPr marL="169422" indent="-169422">
              <a:lnSpc>
                <a:spcPct val="112000"/>
              </a:lnSpc>
              <a:spcAft>
                <a:spcPts val="10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Skin in the game.</a:t>
            </a:r>
            <a:r>
              <a:rPr sz="1160">
                <a:solidFill>
                  <a:srgbClr val="0E1620"/>
                </a:solidFill>
                <a:latin typeface="Arial"/>
              </a:rPr>
              <a:t>  The team uses Athanase as its own investment vehicle and shares in the success economics.</a:t>
            </a:r>
          </a:p>
          <a:p>
            <a:pPr marL="169422" indent="-169422">
              <a:lnSpc>
                <a:spcPct val="112000"/>
              </a:lnSpc>
              <a:spcAft>
                <a:spcPts val="10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Institutional memory.</a:t>
            </a:r>
            <a:r>
              <a:rPr sz="1160">
                <a:solidFill>
                  <a:srgbClr val="0E1620"/>
                </a:solidFill>
                <a:latin typeface="Arial"/>
              </a:rPr>
              <a:t>  Multiple market cycles together eliminate key-person risk and prevent repeating historical mistakes.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Experience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The people behind the track record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An integrated investment team — and an independent operations, finance and control function that safeguards investor capital.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22" y="2126284"/>
            <a:ext cx="5852306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INVESTMENT TEAM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22" y="2438400"/>
            <a:ext cx="1704484" cy="14630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438922" y="2438400"/>
            <a:ext cx="43892" cy="146304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85230" y="2565196"/>
            <a:ext cx="1470391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Stefan Charette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85230" y="2848051"/>
            <a:ext cx="1470391" cy="23408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CIO &amp; PARTNER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85230" y="3101644"/>
            <a:ext cx="1455761" cy="6827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CEO/CIO of Custos, Investment AB Öresund and Creades; CEO of Brokk; investment banker at Lehman Brothers and Salomon Smith Barney.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231191" y="2438400"/>
            <a:ext cx="1704484" cy="14630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2231191" y="2438400"/>
            <a:ext cx="43892" cy="146304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2377499" y="2565196"/>
            <a:ext cx="1470391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Kenth Eriksson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377499" y="2848051"/>
            <a:ext cx="1470391" cy="23408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SENIOR PM &amp; PARTNER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77499" y="3101644"/>
            <a:ext cx="1455761" cy="6827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Ex-CEO of Tradimus; Senior VP, Electrolux; tech owner-operator.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023460" y="2438400"/>
            <a:ext cx="1704484" cy="14630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4023460" y="2438400"/>
            <a:ext cx="43892" cy="146304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4169768" y="2565196"/>
            <a:ext cx="1470391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Sven Thorén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69768" y="2848051"/>
            <a:ext cx="1470391" cy="23408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PM &amp; PARTNER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69768" y="3101644"/>
            <a:ext cx="1455761" cy="6827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Ex-PM at Adrigo, Catella, Pan Capital and Nordea.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815729" y="2438400"/>
            <a:ext cx="1704484" cy="14630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5815729" y="2438400"/>
            <a:ext cx="43892" cy="146304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5962037" y="2565196"/>
            <a:ext cx="1470391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Anders Elsell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962037" y="2848051"/>
            <a:ext cx="1470391" cy="23408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SENIOR PM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962037" y="3101644"/>
            <a:ext cx="1455761" cy="6827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On the team since 1996; ex-CEO/CIO of HQ Fonder; Carnegie.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607998" y="2438400"/>
            <a:ext cx="1704484" cy="14630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ectangle 30"/>
          <p:cNvSpPr/>
          <p:nvPr/>
        </p:nvSpPr>
        <p:spPr>
          <a:xfrm>
            <a:off x="7607998" y="2438400"/>
            <a:ext cx="43892" cy="146304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7754305" y="2565196"/>
            <a:ext cx="1470391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Daniel Nyhrén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54305" y="2848051"/>
            <a:ext cx="1470391" cy="23408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PARTNER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754305" y="3101644"/>
            <a:ext cx="1455761" cy="6827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On the team since 2006; ex-CFO of Global Batterier.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38922" y="4096512"/>
            <a:ext cx="6583844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OPERATIONS, FINANCE &amp; CONTROL — INDEPENDENT OF THE INVESTMENT TEAM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38922" y="4408626"/>
            <a:ext cx="2165353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Rectangle 36"/>
          <p:cNvSpPr/>
          <p:nvPr/>
        </p:nvSpPr>
        <p:spPr>
          <a:xfrm>
            <a:off x="438922" y="4408626"/>
            <a:ext cx="43892" cy="1414272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585230" y="4535422"/>
            <a:ext cx="1931261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Malin Norrman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85230" y="4818277"/>
            <a:ext cx="1931261" cy="23408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CFO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85230" y="5071870"/>
            <a:ext cx="1916630" cy="6827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Ex-COO/CFO of Captor Fund Mgmt; risk manager at Carnegie and AB Industrivärden.</a:t>
            </a:r>
          </a:p>
        </p:txBody>
      </p:sp>
      <p:sp>
        <p:nvSpPr>
          <p:cNvPr id="41" name="Rectangle 40"/>
          <p:cNvSpPr/>
          <p:nvPr/>
        </p:nvSpPr>
        <p:spPr>
          <a:xfrm>
            <a:off x="2699376" y="4408626"/>
            <a:ext cx="2165353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Rectangle 41"/>
          <p:cNvSpPr/>
          <p:nvPr/>
        </p:nvSpPr>
        <p:spPr>
          <a:xfrm>
            <a:off x="2699376" y="4408626"/>
            <a:ext cx="43892" cy="1414272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2845683" y="4535422"/>
            <a:ext cx="1931261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Grant Loon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845683" y="4818277"/>
            <a:ext cx="1931261" cy="23408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HEAD OF FUND OPERATIONS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845683" y="5071870"/>
            <a:ext cx="1916630" cy="6827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Ex-COO of Madrague Capital and Port Capital; Soros, Commerzbank, Morgan Stanley.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959829" y="4408626"/>
            <a:ext cx="2165353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Rectangle 46"/>
          <p:cNvSpPr/>
          <p:nvPr/>
        </p:nvSpPr>
        <p:spPr>
          <a:xfrm>
            <a:off x="4959829" y="4408626"/>
            <a:ext cx="43892" cy="1414272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5106137" y="4535422"/>
            <a:ext cx="1931261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Eva Andersson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106137" y="4818277"/>
            <a:ext cx="1931261" cy="23408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FUND OPERATIONS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106137" y="5071870"/>
            <a:ext cx="1916630" cy="6827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MBA, Business School London; sales-executive background.</a:t>
            </a:r>
          </a:p>
        </p:txBody>
      </p:sp>
      <p:sp>
        <p:nvSpPr>
          <p:cNvPr id="51" name="Rectangle 50"/>
          <p:cNvSpPr/>
          <p:nvPr/>
        </p:nvSpPr>
        <p:spPr>
          <a:xfrm>
            <a:off x="7220283" y="4408626"/>
            <a:ext cx="2165353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Rectangle 51"/>
          <p:cNvSpPr/>
          <p:nvPr/>
        </p:nvSpPr>
        <p:spPr>
          <a:xfrm>
            <a:off x="7220283" y="4408626"/>
            <a:ext cx="43892" cy="1414272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52"/>
          <p:cNvSpPr txBox="1"/>
          <p:nvPr/>
        </p:nvSpPr>
        <p:spPr>
          <a:xfrm>
            <a:off x="7366590" y="4535422"/>
            <a:ext cx="1931261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Zetong Liu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366590" y="4818277"/>
            <a:ext cx="1931261" cy="23408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TECHNOLOGY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366590" y="5071870"/>
            <a:ext cx="1916630" cy="6827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MSc applied &amp; computational mathematics, KTH; projects for the Swiss Finance Institute / EPFL.</a:t>
            </a:r>
          </a:p>
        </p:txBody>
      </p:sp>
      <p:sp>
        <p:nvSpPr>
          <p:cNvPr id="56" name="Rectangle 55"/>
          <p:cNvSpPr/>
          <p:nvPr/>
        </p:nvSpPr>
        <p:spPr>
          <a:xfrm>
            <a:off x="438922" y="6164275"/>
            <a:ext cx="8873559" cy="60472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TextBox 56"/>
          <p:cNvSpPr txBox="1"/>
          <p:nvPr/>
        </p:nvSpPr>
        <p:spPr>
          <a:xfrm>
            <a:off x="585230" y="6164275"/>
            <a:ext cx="8558998" cy="604723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Segregation of duties protects investors: operations, valuation and risk sit apart from investment decisions — with SEB (custody), MUFG (administration) and KPMG (audit) independently verifying every NAV and fee.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Investment Strategy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2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We don’t buy broken companies — we buy hidden cores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classic objection to activism is adverse selection. Our model inverts it.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" y="2292096"/>
            <a:ext cx="4681845" cy="45841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57738" indent="-157738">
              <a:lnSpc>
                <a:spcPct val="112000"/>
              </a:lnSpc>
              <a:spcAft>
                <a:spcPts val="13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The critique.</a:t>
            </a:r>
            <a:r>
              <a:rPr sz="1080">
                <a:solidFill>
                  <a:srgbClr val="0E1620"/>
                </a:solidFill>
                <a:latin typeface="Arial"/>
              </a:rPr>
              <a:t>  Buy “cheap and troubled” and you select for lemons — worse than they look. The market discounted them for a reason.</a:t>
            </a:r>
          </a:p>
          <a:p>
            <a:pPr marL="157738" indent="-157738">
              <a:lnSpc>
                <a:spcPct val="112000"/>
              </a:lnSpc>
              <a:spcAft>
                <a:spcPts val="13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Our precondition removes it.</a:t>
            </a:r>
            <a:r>
              <a:rPr sz="1080">
                <a:solidFill>
                  <a:srgbClr val="0E1620"/>
                </a:solidFill>
                <a:latin typeface="Arial"/>
              </a:rPr>
              <a:t>  We invest only where the core is a market leader earning high returns on capital — attractive even if we change nothing. No structurally weak turnarounds.</a:t>
            </a:r>
          </a:p>
          <a:p>
            <a:pPr marL="157738" indent="-157738">
              <a:lnSpc>
                <a:spcPct val="112000"/>
              </a:lnSpc>
              <a:spcAft>
                <a:spcPts val="13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The real setup.</a:t>
            </a:r>
            <a:r>
              <a:rPr sz="1080">
                <a:solidFill>
                  <a:srgbClr val="0E1620"/>
                </a:solidFill>
                <a:latin typeface="Arial"/>
              </a:rPr>
              <a:t>  Profitable leaders whose management pivoted into weak adjacencies — chasing growth as the core matured. A capital-allocation overlay on a good asset, not a bad asset.</a:t>
            </a:r>
          </a:p>
          <a:p>
            <a:pPr marL="157738" indent="-157738">
              <a:lnSpc>
                <a:spcPct val="112000"/>
              </a:lnSpc>
              <a:spcAft>
                <a:spcPts val="13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The inversion.</a:t>
            </a:r>
            <a:r>
              <a:rPr sz="1080">
                <a:solidFill>
                  <a:srgbClr val="0E1620"/>
                </a:solidFill>
                <a:latin typeface="Arial"/>
              </a:rPr>
              <a:t>  Blended results make it look mediocre, so it is priced mediocre. The appearance understates reality.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40229" y="2243328"/>
            <a:ext cx="3950306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Figure 2  ·  WHY THE EARNINGS LOOK LIKE ZERO  (ILLUSTRATIVE)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2076" y="6291072"/>
            <a:ext cx="8778459" cy="487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314359"/>
                </a:solidFill>
                <a:latin typeface="Arial"/>
              </a:rPr>
              <a:t>Reported earnings near zero — so the market prices the whole company as broken. We buy it, fix or exit the pivot, and the core’s high-ROIIC earnings surface: value we underwrite at zero.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307884" y="3218688"/>
            <a:ext cx="14630" cy="237744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77356" y="3456432"/>
            <a:ext cx="2075688" cy="14630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270040" y="3456432"/>
            <a:ext cx="14630" cy="182880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345728" y="3456432"/>
            <a:ext cx="14630" cy="182880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6263640" y="2670048"/>
            <a:ext cx="2103120" cy="548640"/>
          </a:xfrm>
          <a:prstGeom prst="roundRect">
            <a:avLst>
              <a:gd name="adj" fmla="val 10000"/>
            </a:avLst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Company X</a:t>
            </a:r>
          </a:p>
          <a:p>
            <a:pPr algn="ctr"/>
            <a:r>
              <a:rPr sz="850" b="0">
                <a:solidFill>
                  <a:srgbClr val="C9D2DD"/>
                </a:solidFill>
                <a:latin typeface="Arial"/>
              </a:rPr>
              <a:t>central overhead  −10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340096" y="3639312"/>
            <a:ext cx="1874519" cy="731520"/>
          </a:xfrm>
          <a:prstGeom prst="roundRect">
            <a:avLst>
              <a:gd name="adj" fmla="val 10000"/>
            </a:avLst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050" b="1">
                <a:solidFill>
                  <a:srgbClr val="FFFFFF"/>
                </a:solidFill>
                <a:latin typeface="Arial"/>
              </a:rPr>
              <a:t>Core business    +30</a:t>
            </a:r>
          </a:p>
          <a:p>
            <a:pPr algn="ctr"/>
            <a:r>
              <a:rPr sz="830" b="0">
                <a:solidFill>
                  <a:srgbClr val="C9D2DD"/>
                </a:solidFill>
                <a:latin typeface="Arial"/>
              </a:rPr>
              <a:t>high ROIIC · strong prospects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415783" y="3639312"/>
            <a:ext cx="1874519" cy="731520"/>
          </a:xfrm>
          <a:prstGeom prst="roundRect">
            <a:avLst>
              <a:gd name="adj" fmla="val 10000"/>
            </a:avLst>
          </a:prstGeom>
          <a:solidFill>
            <a:srgbClr val="F6F7F9"/>
          </a:solidFill>
          <a:ln w="12700">
            <a:solidFill>
              <a:srgbClr val="556A8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050" b="1">
                <a:solidFill>
                  <a:srgbClr val="314359"/>
                </a:solidFill>
                <a:latin typeface="Arial"/>
              </a:rPr>
              <a:t>Mgmt’s pivot    −20</a:t>
            </a:r>
          </a:p>
          <a:p>
            <a:pPr algn="ctr"/>
            <a:r>
              <a:rPr sz="830" b="0">
                <a:solidFill>
                  <a:srgbClr val="556A83"/>
                </a:solidFill>
                <a:latin typeface="Arial"/>
              </a:rPr>
              <a:t>poor returns · weak prospects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400800" y="4425696"/>
            <a:ext cx="1828800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556A83"/>
                </a:solidFill>
                <a:latin typeface="Arial"/>
              </a:rPr>
              <a:t>=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760720" y="4718304"/>
            <a:ext cx="3108960" cy="566928"/>
          </a:xfrm>
          <a:prstGeom prst="roundRect">
            <a:avLst>
              <a:gd name="adj" fmla="val 10000"/>
            </a:avLst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050" b="1">
                <a:solidFill>
                  <a:srgbClr val="314359"/>
                </a:solidFill>
                <a:latin typeface="Arial"/>
              </a:rPr>
              <a:t>≈ 0 reported operating result</a:t>
            </a:r>
          </a:p>
          <a:p>
            <a:pPr algn="ctr"/>
            <a:r>
              <a:rPr sz="830" b="0">
                <a:solidFill>
                  <a:srgbClr val="556A83"/>
                </a:solidFill>
                <a:latin typeface="Arial"/>
              </a:rPr>
              <a:t>so the market prices the whole company as broken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Ownership Model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The ownership playbook, honed over 38 investments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 repeatable sequence that turns a board seat into operational value — refocusing a good core, then growing it.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15</a:t>
            </a:r>
          </a:p>
        </p:txBody>
      </p:sp>
      <p:sp>
        <p:nvSpPr>
          <p:cNvPr id="9" name="Rectangle 8"/>
          <p:cNvSpPr/>
          <p:nvPr/>
        </p:nvSpPr>
        <p:spPr>
          <a:xfrm>
            <a:off x="438922" y="2292096"/>
            <a:ext cx="2904207" cy="167761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Oval 9"/>
          <p:cNvSpPr/>
          <p:nvPr/>
        </p:nvSpPr>
        <p:spPr>
          <a:xfrm>
            <a:off x="599861" y="2487168"/>
            <a:ext cx="365769" cy="487680"/>
          </a:xfrm>
          <a:prstGeom prst="ellipse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sz="1440" b="1">
                <a:solidFill>
                  <a:srgbClr val="FFFFFF"/>
                </a:solidFill>
                <a:latin typeface="Times New Roman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307" y="2526182"/>
            <a:ext cx="2099514" cy="487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Secure the board seat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807" y="3091891"/>
            <a:ext cx="2575014" cy="829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Often a precondition to invest — the nomination committee proposes an AIP director.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16283" y="2292096"/>
            <a:ext cx="2904207" cy="167761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Oval 13"/>
          <p:cNvSpPr/>
          <p:nvPr/>
        </p:nvSpPr>
        <p:spPr>
          <a:xfrm>
            <a:off x="3577222" y="2487168"/>
            <a:ext cx="365769" cy="487680"/>
          </a:xfrm>
          <a:prstGeom prst="ellipse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sz="1440" b="1">
                <a:solidFill>
                  <a:srgbClr val="FFFFFF"/>
                </a:solidFill>
                <a:latin typeface="Times New Roman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074668" y="2526182"/>
            <a:ext cx="2099514" cy="487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Align the thesis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99168" y="3091891"/>
            <a:ext cx="2575014" cy="829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Collaborate with management and stakeholders to agree where the value is and what must change.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93644" y="2292096"/>
            <a:ext cx="2904207" cy="167761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Oval 17"/>
          <p:cNvSpPr/>
          <p:nvPr/>
        </p:nvSpPr>
        <p:spPr>
          <a:xfrm>
            <a:off x="6554583" y="2487168"/>
            <a:ext cx="365769" cy="487680"/>
          </a:xfrm>
          <a:prstGeom prst="ellipse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sz="1440" b="1">
                <a:solidFill>
                  <a:srgbClr val="FFFFFF"/>
                </a:solidFill>
                <a:latin typeface="Times New Roman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52029" y="2526182"/>
            <a:ext cx="2099514" cy="487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Refocus to drive earnings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76529" y="3091891"/>
            <a:ext cx="2575014" cy="829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Cut overhead and admin, optimise the footprint, exit loss-making “growth-trap” ventures.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8922" y="4125772"/>
            <a:ext cx="2904207" cy="167761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Oval 21"/>
          <p:cNvSpPr/>
          <p:nvPr/>
        </p:nvSpPr>
        <p:spPr>
          <a:xfrm>
            <a:off x="599861" y="4320844"/>
            <a:ext cx="365769" cy="487680"/>
          </a:xfrm>
          <a:prstGeom prst="ellipse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sz="1440" b="1">
                <a:solidFill>
                  <a:srgbClr val="FFFFFF"/>
                </a:solidFill>
                <a:latin typeface="Times New Roman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97307" y="4359859"/>
            <a:ext cx="2099514" cy="487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Reallocate to winners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1807" y="4925568"/>
            <a:ext cx="2575014" cy="829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Redeploy freed-up capital into the profitable core and its strongest adjacencies; lift R&amp;D where it pays.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416283" y="4125772"/>
            <a:ext cx="2904207" cy="167761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Oval 25"/>
          <p:cNvSpPr/>
          <p:nvPr/>
        </p:nvSpPr>
        <p:spPr>
          <a:xfrm>
            <a:off x="3577222" y="4320844"/>
            <a:ext cx="365769" cy="487680"/>
          </a:xfrm>
          <a:prstGeom prst="ellipse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sz="1440" b="1">
                <a:solidFill>
                  <a:srgbClr val="FFFFFF"/>
                </a:solidFill>
                <a:latin typeface="Times New Roman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074668" y="4359859"/>
            <a:ext cx="2099514" cy="487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Grow by acquisition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599168" y="4925568"/>
            <a:ext cx="2575014" cy="829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Add complementary products, geographies or scale through value-accretive bolt-ons.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393644" y="4125772"/>
            <a:ext cx="2904207" cy="167761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Oval 29"/>
          <p:cNvSpPr/>
          <p:nvPr/>
        </p:nvSpPr>
        <p:spPr>
          <a:xfrm>
            <a:off x="6554583" y="4320844"/>
            <a:ext cx="365769" cy="487680"/>
          </a:xfrm>
          <a:prstGeom prst="ellipse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sz="1440" b="1">
                <a:solidFill>
                  <a:srgbClr val="FFFFFF"/>
                </a:solidFill>
                <a:latin typeface="Times New Roman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052029" y="4359859"/>
            <a:ext cx="2099514" cy="487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Exit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76529" y="4925568"/>
            <a:ext cx="2575014" cy="829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Realise via M&amp;A or in the equity market once the core is refocused and compounding.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38922" y="6339840"/>
            <a:ext cx="8924767" cy="487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314359"/>
                </a:solidFill>
                <a:latin typeface="Arial"/>
              </a:rPr>
              <a:t>The same playbook across 38 companies — value created by fixing capital allocation, not by financial engineering or leverage.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Risk-Adjusted Outcomes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7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A complement to global equities, not a duplicate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What a global-equity holder asks of a new manager: do you keep up in rallies, lose less in selloffs, and add something the index can’t?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16</a:t>
            </a:r>
          </a:p>
        </p:txBody>
      </p:sp>
      <p:pic>
        <p:nvPicPr>
          <p:cNvPr id="10" name="Picture 9" descr="mc_captu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346" y="2194560"/>
            <a:ext cx="3627489" cy="2999306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4791575" y="2243328"/>
            <a:ext cx="4535537" cy="117043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952514" y="2360371"/>
            <a:ext cx="4213660" cy="243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CAPTURE ASYMMETRY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952514" y="2594457"/>
            <a:ext cx="4213660" cy="34137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60" b="1" i="0">
                <a:solidFill>
                  <a:srgbClr val="314359"/>
                </a:solidFill>
                <a:latin typeface="Times New Roman"/>
              </a:rPr>
              <a:t>93% up  /  43% down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952514" y="2965094"/>
            <a:ext cx="4213660" cy="4389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Keeps pace with rallies but takes less than half of selloffs — the essence of the edge.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791575" y="3530803"/>
            <a:ext cx="4535537" cy="117043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952514" y="3647846"/>
            <a:ext cx="4213660" cy="243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DIVERSIFICATION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952514" y="3881932"/>
            <a:ext cx="4213660" cy="34137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60" b="1" i="0">
                <a:solidFill>
                  <a:srgbClr val="314359"/>
                </a:solidFill>
                <a:latin typeface="Times New Roman"/>
              </a:rPr>
              <a:t>0.44 correlation  ·  0.73 beta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52514" y="4252569"/>
            <a:ext cx="4213660" cy="4389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Low correlation to your existing equity book — a genuine diversifier, not levered beta.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791575" y="4818278"/>
            <a:ext cx="4535537" cy="117043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4952514" y="4935321"/>
            <a:ext cx="4213660" cy="243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RELIABILITY OVER TIME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952514" y="5169408"/>
            <a:ext cx="4213660" cy="34137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60" b="1" i="0">
                <a:solidFill>
                  <a:srgbClr val="314359"/>
                </a:solidFill>
                <a:latin typeface="Times New Roman"/>
              </a:rPr>
              <a:t>Beat MSCI in 90% of 5-yr and 100% of 7-yr windows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952514" y="5540044"/>
            <a:ext cx="4213660" cy="4389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Over every rolling 7-year holding period in 20 years, Athanase out-returned the index.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Athanase captures 93% of the market’s upside but only 43% of its downside — at 0.44 correlation, it improves the whole portfolio, not just one line of it.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8922" y="6983577"/>
            <a:ext cx="9217382" cy="3901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Source: monthly net returns, 235 months (2006–2025). Capture = compounded Athanase return in the market’s up/down months ÷ the market’s. Past performance is not indicative of future results.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Risk-Adjusted Outcomes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 dirty="0">
                <a:solidFill>
                  <a:srgbClr val="314359"/>
                </a:solidFill>
                <a:latin typeface="Times New Roman"/>
              </a:rPr>
              <a:t>Built for down markets — where the record is made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edge shows most when the market falls: a small positive return in the average down month, and outperformance in four of the last five stress years.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17</a:t>
            </a:r>
          </a:p>
        </p:txBody>
      </p:sp>
      <p:sp>
        <p:nvSpPr>
          <p:cNvPr id="9" name="Rectangle 8"/>
          <p:cNvSpPr/>
          <p:nvPr/>
        </p:nvSpPr>
        <p:spPr>
          <a:xfrm>
            <a:off x="438922" y="2292096"/>
            <a:ext cx="3145614" cy="33162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438922" y="2292096"/>
            <a:ext cx="51207" cy="3316224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21807" y="2526182"/>
            <a:ext cx="2852999" cy="3901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IN THE AVERAGE MONTH OF A DOWN YEAR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807" y="3052876"/>
            <a:ext cx="2852999" cy="6827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0" spc="-120">
                <a:solidFill>
                  <a:srgbClr val="314359"/>
                </a:solidFill>
                <a:latin typeface="Times New Roman"/>
              </a:rPr>
              <a:t>+0.2%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1807" y="3755136"/>
            <a:ext cx="2706691" cy="4389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Athanase — a small gain in the average month of a down year.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1807" y="4340352"/>
            <a:ext cx="2852999" cy="6827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0" spc="-120">
                <a:solidFill>
                  <a:srgbClr val="556A83"/>
                </a:solidFill>
                <a:latin typeface="Times New Roman"/>
              </a:rPr>
              <a:t>−1.7%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1807" y="5042611"/>
            <a:ext cx="2706691" cy="4389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MSCI World IMI — the market itself.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877152" y="2292096"/>
            <a:ext cx="5413383" cy="3901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OUTPERFORMANCE IN STRESS YEARS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877152" y="2877312"/>
            <a:ext cx="731538" cy="5364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2008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681845" y="2999232"/>
            <a:ext cx="384330" cy="292608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5153960" y="2877312"/>
            <a:ext cx="950999" cy="5364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+2.2%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877152" y="3413760"/>
            <a:ext cx="731538" cy="5364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2011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681845" y="3535680"/>
            <a:ext cx="1380096" cy="292608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149725" y="3413760"/>
            <a:ext cx="950999" cy="5364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+7.9%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877152" y="3950208"/>
            <a:ext cx="731538" cy="5364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2015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681845" y="4072128"/>
            <a:ext cx="2061409" cy="292608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6831038" y="3950208"/>
            <a:ext cx="950999" cy="5364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+11.8%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877152" y="4486656"/>
            <a:ext cx="731538" cy="5364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2018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681845" y="4608576"/>
            <a:ext cx="296982" cy="292608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5066612" y="4486656"/>
            <a:ext cx="950999" cy="5364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556A83"/>
                </a:solidFill>
                <a:latin typeface="Arial"/>
              </a:rPr>
              <a:t>−1.7%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877152" y="5023104"/>
            <a:ext cx="731538" cy="5364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2022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681845" y="5145024"/>
            <a:ext cx="3511383" cy="292608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8281013" y="5023104"/>
            <a:ext cx="950999" cy="5364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+20.1%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877152" y="5618073"/>
            <a:ext cx="5413383" cy="487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840" b="0" i="1">
                <a:solidFill>
                  <a:srgbClr val="556A83"/>
                </a:solidFill>
                <a:latin typeface="Arial"/>
              </a:rPr>
              <a:t>The risk system forces diversification of business exposures and screens out weak competitive positions and untrustworthy management — which pays in demanding markets.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38922" y="6242304"/>
            <a:ext cx="8873559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585230" y="6242304"/>
            <a:ext cx="8558998" cy="4876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FFFFFF"/>
                </a:solidFill>
                <a:latin typeface="Arial"/>
              </a:rPr>
              <a:t>When the market falls, the discipline pays — outperformance in four of the last five stress years, and a gain in the average down month.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38922" y="6847027"/>
            <a:ext cx="9217382" cy="34137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1">
                <a:solidFill>
                  <a:srgbClr val="556A83"/>
                </a:solidFill>
                <a:latin typeface="Arial"/>
              </a:rPr>
              <a:t>Down-year figure: average monthly return across all months of the years in which the MSCI World IMI finished down. Annual figures: AIP net return − MSCI IMI. Source: Athanase, April 2026.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Risk-Adjusted Outcomes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16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Lower downside risk compounds into better outcomes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Athanase carries higher total volatility than the market — but its downside volatility is lower, which is what protects compounding.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18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22" y="2292096"/>
            <a:ext cx="2889576" cy="12484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85230" y="2428646"/>
            <a:ext cx="259696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ANNUALISED RETURN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5230" y="2740761"/>
            <a:ext cx="2596960" cy="7802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Aft>
                <a:spcPts val="200"/>
              </a:spcAft>
            </a:pPr>
            <a:r>
              <a:rPr sz="880">
                <a:solidFill>
                  <a:srgbClr val="556A83"/>
                </a:solidFill>
                <a:latin typeface="Arial"/>
              </a:rPr>
              <a:t>MSCI  </a:t>
            </a:r>
            <a:r>
              <a:rPr sz="1520" b="1">
                <a:solidFill>
                  <a:srgbClr val="314359"/>
                </a:solidFill>
                <a:latin typeface="Times New Roman"/>
              </a:rPr>
              <a:t>6.2%</a:t>
            </a:r>
          </a:p>
          <a:p>
            <a:r>
              <a:rPr sz="880">
                <a:solidFill>
                  <a:srgbClr val="556A83"/>
                </a:solidFill>
                <a:latin typeface="Arial"/>
              </a:rPr>
              <a:t>AIP   </a:t>
            </a:r>
            <a:r>
              <a:rPr sz="1520" b="1">
                <a:solidFill>
                  <a:srgbClr val="152130"/>
                </a:solidFill>
                <a:latin typeface="Times New Roman"/>
              </a:rPr>
              <a:t>16.3%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16283" y="2292096"/>
            <a:ext cx="2889576" cy="12484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3562591" y="2428646"/>
            <a:ext cx="259696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TOTAL VOLATILITY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62591" y="2740761"/>
            <a:ext cx="2596960" cy="7802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Aft>
                <a:spcPts val="200"/>
              </a:spcAft>
            </a:pPr>
            <a:r>
              <a:rPr sz="880">
                <a:solidFill>
                  <a:srgbClr val="556A83"/>
                </a:solidFill>
                <a:latin typeface="Arial"/>
              </a:rPr>
              <a:t>MSCI  </a:t>
            </a:r>
            <a:r>
              <a:rPr sz="1520" b="1">
                <a:solidFill>
                  <a:srgbClr val="314359"/>
                </a:solidFill>
                <a:latin typeface="Times New Roman"/>
              </a:rPr>
              <a:t>16.3%</a:t>
            </a:r>
          </a:p>
          <a:p>
            <a:r>
              <a:rPr sz="880">
                <a:solidFill>
                  <a:srgbClr val="556A83"/>
                </a:solidFill>
                <a:latin typeface="Arial"/>
              </a:rPr>
              <a:t>AIP   </a:t>
            </a:r>
            <a:r>
              <a:rPr sz="1520" b="1">
                <a:solidFill>
                  <a:srgbClr val="152130"/>
                </a:solidFill>
                <a:latin typeface="Times New Roman"/>
              </a:rPr>
              <a:t>27.0%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393644" y="2292096"/>
            <a:ext cx="2889576" cy="12484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539952" y="2428646"/>
            <a:ext cx="259696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DOWNSIDE VOLATILITY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39952" y="2740761"/>
            <a:ext cx="2596960" cy="7802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Aft>
                <a:spcPts val="200"/>
              </a:spcAft>
            </a:pPr>
            <a:r>
              <a:rPr sz="880">
                <a:solidFill>
                  <a:srgbClr val="556A83"/>
                </a:solidFill>
                <a:latin typeface="Arial"/>
              </a:rPr>
              <a:t>MSCI  </a:t>
            </a:r>
            <a:r>
              <a:rPr sz="1520" b="1">
                <a:solidFill>
                  <a:srgbClr val="314359"/>
                </a:solidFill>
                <a:latin typeface="Times New Roman"/>
              </a:rPr>
              <a:t>11.5%</a:t>
            </a:r>
          </a:p>
          <a:p>
            <a:r>
              <a:rPr sz="880">
                <a:solidFill>
                  <a:srgbClr val="556A83"/>
                </a:solidFill>
                <a:latin typeface="Arial"/>
              </a:rPr>
              <a:t>AIP   </a:t>
            </a:r>
            <a:r>
              <a:rPr sz="1520" b="1">
                <a:solidFill>
                  <a:srgbClr val="152130"/>
                </a:solidFill>
                <a:latin typeface="Times New Roman"/>
              </a:rPr>
              <a:t>10.9%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81360" y="3579571"/>
            <a:ext cx="2889576" cy="3901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1" i="0">
                <a:solidFill>
                  <a:srgbClr val="152130"/>
                </a:solidFill>
                <a:latin typeface="Arial"/>
              </a:rPr>
              <a:t>↑ Athanase downside volatility is LOWER than the market’s.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8922" y="3901440"/>
            <a:ext cx="8778459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EXPECTED VALUE OF 100 INVESTED, BY HOLDING PERIOD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8922" y="4194048"/>
            <a:ext cx="2560384" cy="3413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526707" y="4194048"/>
            <a:ext cx="2414076" cy="3413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2999307" y="4194048"/>
            <a:ext cx="1578841" cy="3413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3087091" y="4194048"/>
            <a:ext cx="1432534" cy="3413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3 years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78148" y="4194048"/>
            <a:ext cx="1578841" cy="3413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4665933" y="4194048"/>
            <a:ext cx="1432534" cy="3413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5 years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156990" y="4194048"/>
            <a:ext cx="1578841" cy="3413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6244775" y="4194048"/>
            <a:ext cx="1432534" cy="3413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7 years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735832" y="4194048"/>
            <a:ext cx="1578841" cy="3413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7823617" y="4194048"/>
            <a:ext cx="1432534" cy="3413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10 years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38922" y="4535424"/>
            <a:ext cx="2560384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526707" y="4535424"/>
            <a:ext cx="2414076" cy="3413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Median outcome — MSCI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999307" y="4535424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3072460" y="4535424"/>
            <a:ext cx="1432534" cy="3413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120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578148" y="4535424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4651302" y="4535424"/>
            <a:ext cx="1432534" cy="3413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135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156990" y="4535424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6230144" y="4535424"/>
            <a:ext cx="1432534" cy="3413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152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735832" y="4535424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7808986" y="4535424"/>
            <a:ext cx="1432534" cy="3413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182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38922" y="4876800"/>
            <a:ext cx="2560384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526707" y="4876800"/>
            <a:ext cx="2414076" cy="3413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152130"/>
                </a:solidFill>
                <a:latin typeface="Arial"/>
              </a:rPr>
              <a:t>Median outcome — Athanase</a:t>
            </a:r>
          </a:p>
        </p:txBody>
      </p:sp>
      <p:sp>
        <p:nvSpPr>
          <p:cNvPr id="43" name="Rectangle 42"/>
          <p:cNvSpPr/>
          <p:nvPr/>
        </p:nvSpPr>
        <p:spPr>
          <a:xfrm>
            <a:off x="2999307" y="4876800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3072460" y="4876800"/>
            <a:ext cx="1432534" cy="3413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157</a:t>
            </a:r>
          </a:p>
        </p:txBody>
      </p:sp>
      <p:sp>
        <p:nvSpPr>
          <p:cNvPr id="45" name="Rectangle 44"/>
          <p:cNvSpPr/>
          <p:nvPr/>
        </p:nvSpPr>
        <p:spPr>
          <a:xfrm>
            <a:off x="4578148" y="4876800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4651302" y="4876800"/>
            <a:ext cx="1432534" cy="3413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213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156990" y="4876800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6230144" y="4876800"/>
            <a:ext cx="1432534" cy="3413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287</a:t>
            </a:r>
          </a:p>
        </p:txBody>
      </p:sp>
      <p:sp>
        <p:nvSpPr>
          <p:cNvPr id="49" name="Rectangle 48"/>
          <p:cNvSpPr/>
          <p:nvPr/>
        </p:nvSpPr>
        <p:spPr>
          <a:xfrm>
            <a:off x="7735832" y="4876800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7808986" y="4876800"/>
            <a:ext cx="1432534" cy="3413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452</a:t>
            </a:r>
          </a:p>
        </p:txBody>
      </p:sp>
      <p:sp>
        <p:nvSpPr>
          <p:cNvPr id="51" name="Rectangle 50"/>
          <p:cNvSpPr/>
          <p:nvPr/>
        </p:nvSpPr>
        <p:spPr>
          <a:xfrm>
            <a:off x="438922" y="5218176"/>
            <a:ext cx="2560384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TextBox 51"/>
          <p:cNvSpPr txBox="1"/>
          <p:nvPr/>
        </p:nvSpPr>
        <p:spPr>
          <a:xfrm>
            <a:off x="526707" y="5218176"/>
            <a:ext cx="2414076" cy="3413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Adverse case* — MSCI</a:t>
            </a:r>
          </a:p>
        </p:txBody>
      </p:sp>
      <p:sp>
        <p:nvSpPr>
          <p:cNvPr id="53" name="Rectangle 52"/>
          <p:cNvSpPr/>
          <p:nvPr/>
        </p:nvSpPr>
        <p:spPr>
          <a:xfrm>
            <a:off x="2999307" y="5218176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TextBox 53"/>
          <p:cNvSpPr txBox="1"/>
          <p:nvPr/>
        </p:nvSpPr>
        <p:spPr>
          <a:xfrm>
            <a:off x="3072460" y="5218176"/>
            <a:ext cx="1432534" cy="3413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99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578148" y="5218176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TextBox 55"/>
          <p:cNvSpPr txBox="1"/>
          <p:nvPr/>
        </p:nvSpPr>
        <p:spPr>
          <a:xfrm>
            <a:off x="4651302" y="5218176"/>
            <a:ext cx="1432534" cy="3413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105</a:t>
            </a:r>
          </a:p>
        </p:txBody>
      </p:sp>
      <p:sp>
        <p:nvSpPr>
          <p:cNvPr id="57" name="Rectangle 56"/>
          <p:cNvSpPr/>
          <p:nvPr/>
        </p:nvSpPr>
        <p:spPr>
          <a:xfrm>
            <a:off x="6156990" y="5218176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8" name="TextBox 57"/>
          <p:cNvSpPr txBox="1"/>
          <p:nvPr/>
        </p:nvSpPr>
        <p:spPr>
          <a:xfrm>
            <a:off x="6230144" y="5218176"/>
            <a:ext cx="1432534" cy="3413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114</a:t>
            </a:r>
          </a:p>
        </p:txBody>
      </p:sp>
      <p:sp>
        <p:nvSpPr>
          <p:cNvPr id="59" name="Rectangle 58"/>
          <p:cNvSpPr/>
          <p:nvPr/>
        </p:nvSpPr>
        <p:spPr>
          <a:xfrm>
            <a:off x="7735832" y="5218176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0" name="TextBox 59"/>
          <p:cNvSpPr txBox="1"/>
          <p:nvPr/>
        </p:nvSpPr>
        <p:spPr>
          <a:xfrm>
            <a:off x="7808986" y="5218176"/>
            <a:ext cx="1432534" cy="3413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129</a:t>
            </a:r>
          </a:p>
        </p:txBody>
      </p:sp>
      <p:sp>
        <p:nvSpPr>
          <p:cNvPr id="61" name="Rectangle 60"/>
          <p:cNvSpPr/>
          <p:nvPr/>
        </p:nvSpPr>
        <p:spPr>
          <a:xfrm>
            <a:off x="438922" y="5559552"/>
            <a:ext cx="2560384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2" name="TextBox 61"/>
          <p:cNvSpPr txBox="1"/>
          <p:nvPr/>
        </p:nvSpPr>
        <p:spPr>
          <a:xfrm>
            <a:off x="526707" y="5559552"/>
            <a:ext cx="2414076" cy="3413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152130"/>
                </a:solidFill>
                <a:latin typeface="Arial"/>
              </a:rPr>
              <a:t>Adverse case* — Athanase</a:t>
            </a:r>
          </a:p>
        </p:txBody>
      </p:sp>
      <p:sp>
        <p:nvSpPr>
          <p:cNvPr id="63" name="Rectangle 62"/>
          <p:cNvSpPr/>
          <p:nvPr/>
        </p:nvSpPr>
        <p:spPr>
          <a:xfrm>
            <a:off x="2999307" y="5559552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4" name="TextBox 63"/>
          <p:cNvSpPr txBox="1"/>
          <p:nvPr/>
        </p:nvSpPr>
        <p:spPr>
          <a:xfrm>
            <a:off x="3072460" y="5559552"/>
            <a:ext cx="1432534" cy="3413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133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578148" y="5559552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6" name="TextBox 65"/>
          <p:cNvSpPr txBox="1"/>
          <p:nvPr/>
        </p:nvSpPr>
        <p:spPr>
          <a:xfrm>
            <a:off x="4651302" y="5559552"/>
            <a:ext cx="1432534" cy="3413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172</a:t>
            </a:r>
          </a:p>
        </p:txBody>
      </p:sp>
      <p:sp>
        <p:nvSpPr>
          <p:cNvPr id="67" name="Rectangle 66"/>
          <p:cNvSpPr/>
          <p:nvPr/>
        </p:nvSpPr>
        <p:spPr>
          <a:xfrm>
            <a:off x="6156990" y="5559552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8" name="TextBox 67"/>
          <p:cNvSpPr txBox="1"/>
          <p:nvPr/>
        </p:nvSpPr>
        <p:spPr>
          <a:xfrm>
            <a:off x="6230144" y="5559552"/>
            <a:ext cx="1432534" cy="3413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223</a:t>
            </a:r>
          </a:p>
        </p:txBody>
      </p:sp>
      <p:sp>
        <p:nvSpPr>
          <p:cNvPr id="69" name="Rectangle 68"/>
          <p:cNvSpPr/>
          <p:nvPr/>
        </p:nvSpPr>
        <p:spPr>
          <a:xfrm>
            <a:off x="7735832" y="5559552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0" name="TextBox 69"/>
          <p:cNvSpPr txBox="1"/>
          <p:nvPr/>
        </p:nvSpPr>
        <p:spPr>
          <a:xfrm>
            <a:off x="7808986" y="5559552"/>
            <a:ext cx="1432534" cy="3413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335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38922" y="5900928"/>
            <a:ext cx="2560384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2" name="TextBox 71"/>
          <p:cNvSpPr txBox="1"/>
          <p:nvPr/>
        </p:nvSpPr>
        <p:spPr>
          <a:xfrm>
            <a:off x="526707" y="5900928"/>
            <a:ext cx="2414076" cy="3413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Chance of a loss — MSCI</a:t>
            </a:r>
          </a:p>
        </p:txBody>
      </p:sp>
      <p:sp>
        <p:nvSpPr>
          <p:cNvPr id="73" name="Rectangle 72"/>
          <p:cNvSpPr/>
          <p:nvPr/>
        </p:nvSpPr>
        <p:spPr>
          <a:xfrm>
            <a:off x="2999307" y="5900928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4" name="TextBox 73"/>
          <p:cNvSpPr txBox="1"/>
          <p:nvPr/>
        </p:nvSpPr>
        <p:spPr>
          <a:xfrm>
            <a:off x="3072460" y="5900928"/>
            <a:ext cx="1432534" cy="3413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18%</a:t>
            </a:r>
          </a:p>
        </p:txBody>
      </p:sp>
      <p:sp>
        <p:nvSpPr>
          <p:cNvPr id="75" name="Rectangle 74"/>
          <p:cNvSpPr/>
          <p:nvPr/>
        </p:nvSpPr>
        <p:spPr>
          <a:xfrm>
            <a:off x="4578148" y="5900928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6" name="TextBox 75"/>
          <p:cNvSpPr txBox="1"/>
          <p:nvPr/>
        </p:nvSpPr>
        <p:spPr>
          <a:xfrm>
            <a:off x="4651302" y="5900928"/>
            <a:ext cx="1432534" cy="3413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11%</a:t>
            </a:r>
          </a:p>
        </p:txBody>
      </p:sp>
      <p:sp>
        <p:nvSpPr>
          <p:cNvPr id="77" name="Rectangle 76"/>
          <p:cNvSpPr/>
          <p:nvPr/>
        </p:nvSpPr>
        <p:spPr>
          <a:xfrm>
            <a:off x="6156990" y="5900928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8" name="TextBox 77"/>
          <p:cNvSpPr txBox="1"/>
          <p:nvPr/>
        </p:nvSpPr>
        <p:spPr>
          <a:xfrm>
            <a:off x="6230144" y="5900928"/>
            <a:ext cx="1432534" cy="3413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8%</a:t>
            </a:r>
          </a:p>
        </p:txBody>
      </p:sp>
      <p:sp>
        <p:nvSpPr>
          <p:cNvPr id="79" name="Rectangle 78"/>
          <p:cNvSpPr/>
          <p:nvPr/>
        </p:nvSpPr>
        <p:spPr>
          <a:xfrm>
            <a:off x="7735832" y="5900928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0" name="TextBox 79"/>
          <p:cNvSpPr txBox="1"/>
          <p:nvPr/>
        </p:nvSpPr>
        <p:spPr>
          <a:xfrm>
            <a:off x="7808986" y="5900928"/>
            <a:ext cx="1432534" cy="3413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4%</a:t>
            </a:r>
          </a:p>
        </p:txBody>
      </p:sp>
      <p:sp>
        <p:nvSpPr>
          <p:cNvPr id="81" name="Rectangle 80"/>
          <p:cNvSpPr/>
          <p:nvPr/>
        </p:nvSpPr>
        <p:spPr>
          <a:xfrm>
            <a:off x="438922" y="6242304"/>
            <a:ext cx="2560384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2" name="TextBox 81"/>
          <p:cNvSpPr txBox="1"/>
          <p:nvPr/>
        </p:nvSpPr>
        <p:spPr>
          <a:xfrm>
            <a:off x="526707" y="6242304"/>
            <a:ext cx="2414076" cy="3413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152130"/>
                </a:solidFill>
                <a:latin typeface="Arial"/>
              </a:rPr>
              <a:t>Chance of a loss — Athanase</a:t>
            </a:r>
          </a:p>
        </p:txBody>
      </p:sp>
      <p:sp>
        <p:nvSpPr>
          <p:cNvPr id="83" name="Rectangle 82"/>
          <p:cNvSpPr/>
          <p:nvPr/>
        </p:nvSpPr>
        <p:spPr>
          <a:xfrm>
            <a:off x="2999307" y="6242304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4" name="TextBox 83"/>
          <p:cNvSpPr txBox="1"/>
          <p:nvPr/>
        </p:nvSpPr>
        <p:spPr>
          <a:xfrm>
            <a:off x="3072460" y="6242304"/>
            <a:ext cx="1432534" cy="3413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0%</a:t>
            </a:r>
          </a:p>
        </p:txBody>
      </p:sp>
      <p:sp>
        <p:nvSpPr>
          <p:cNvPr id="85" name="Rectangle 84"/>
          <p:cNvSpPr/>
          <p:nvPr/>
        </p:nvSpPr>
        <p:spPr>
          <a:xfrm>
            <a:off x="4578148" y="6242304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6" name="TextBox 85"/>
          <p:cNvSpPr txBox="1"/>
          <p:nvPr/>
        </p:nvSpPr>
        <p:spPr>
          <a:xfrm>
            <a:off x="4651302" y="6242304"/>
            <a:ext cx="1432534" cy="3413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0%</a:t>
            </a:r>
          </a:p>
        </p:txBody>
      </p:sp>
      <p:sp>
        <p:nvSpPr>
          <p:cNvPr id="87" name="Rectangle 86"/>
          <p:cNvSpPr/>
          <p:nvPr/>
        </p:nvSpPr>
        <p:spPr>
          <a:xfrm>
            <a:off x="6156990" y="6242304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8" name="TextBox 87"/>
          <p:cNvSpPr txBox="1"/>
          <p:nvPr/>
        </p:nvSpPr>
        <p:spPr>
          <a:xfrm>
            <a:off x="6230144" y="6242304"/>
            <a:ext cx="1432534" cy="3413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0%</a:t>
            </a:r>
          </a:p>
        </p:txBody>
      </p:sp>
      <p:sp>
        <p:nvSpPr>
          <p:cNvPr id="89" name="Rectangle 88"/>
          <p:cNvSpPr/>
          <p:nvPr/>
        </p:nvSpPr>
        <p:spPr>
          <a:xfrm>
            <a:off x="7735832" y="6242304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0" name="TextBox 89"/>
          <p:cNvSpPr txBox="1"/>
          <p:nvPr/>
        </p:nvSpPr>
        <p:spPr>
          <a:xfrm>
            <a:off x="7808986" y="6242304"/>
            <a:ext cx="1432534" cy="3413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0%</a:t>
            </a:r>
          </a:p>
        </p:txBody>
      </p:sp>
      <p:sp>
        <p:nvSpPr>
          <p:cNvPr id="91" name="Rectangle 90"/>
          <p:cNvSpPr/>
          <p:nvPr/>
        </p:nvSpPr>
        <p:spPr>
          <a:xfrm>
            <a:off x="438922" y="6661708"/>
            <a:ext cx="8873559" cy="37063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2" name="TextBox 91"/>
          <p:cNvSpPr txBox="1"/>
          <p:nvPr/>
        </p:nvSpPr>
        <p:spPr>
          <a:xfrm>
            <a:off x="570599" y="6661708"/>
            <a:ext cx="8632151" cy="37063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0" i="1">
                <a:solidFill>
                  <a:srgbClr val="FFFFFF"/>
                </a:solidFill>
                <a:latin typeface="Arial"/>
              </a:rPr>
              <a:t>Even in the adverse case, Athanase’s lower downside volatility leaves an investor ahead at every horizon — and the gap widens with time.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438922" y="7110374"/>
            <a:ext cx="9217382" cy="3901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Source: monthly net returns, 235 months (2006–2025). *Adverse case = one downside-deviation outcome (≈1-in-6), narrowing with horizon as dd/√T. Illustrative; past performance is not indicative of future results.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Portfolio Impact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6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What it does to an allocator’s portfolio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Illustrative: redirecting a sleeve into Athanase rather than a long-only global fund or another activist.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19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438922" y="2340864"/>
          <a:ext cx="4901306" cy="4096512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1" name="Rectangle 10"/>
          <p:cNvSpPr/>
          <p:nvPr/>
        </p:nvSpPr>
        <p:spPr>
          <a:xfrm>
            <a:off x="3526014" y="2896819"/>
            <a:ext cx="12192" cy="2926080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2794476" y="2643225"/>
            <a:ext cx="1463076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Down-market year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84537" y="4392177"/>
            <a:ext cx="1170461" cy="25359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Athanase: holds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84537" y="5248689"/>
            <a:ext cx="1170461" cy="25359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0" i="0">
                <a:solidFill>
                  <a:srgbClr val="556A83"/>
                </a:solidFill>
                <a:latin typeface="Arial"/>
              </a:rPr>
              <a:t>Long-only: −19%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91575" y="2828544"/>
            <a:ext cx="950999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523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91575" y="4584192"/>
            <a:ext cx="950999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271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91575" y="5169408"/>
            <a:ext cx="950999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208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888883" y="2340864"/>
            <a:ext cx="3365076" cy="5364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Table 15.  Annual uplift to TOTAL-portfolio return (bps), by sleeve size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888883" y="2896819"/>
            <a:ext cx="1097307" cy="44866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5962037" y="2896819"/>
            <a:ext cx="980261" cy="44866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Arial"/>
              </a:rPr>
              <a:t>Sleeve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986190" y="2896819"/>
            <a:ext cx="1133884" cy="44866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7059344" y="2896819"/>
            <a:ext cx="1016838" cy="44866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Arial"/>
              </a:rPr>
              <a:t>vs Long-only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120075" y="2896819"/>
            <a:ext cx="1426499" cy="44866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8193228" y="2896819"/>
            <a:ext cx="1309453" cy="44866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Arial"/>
              </a:rPr>
              <a:t>vs Other activist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888883" y="3345484"/>
            <a:ext cx="1097307" cy="44866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5962037" y="3345484"/>
            <a:ext cx="980261" cy="44866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3%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986190" y="3345484"/>
            <a:ext cx="1133884" cy="44866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7059344" y="3345484"/>
            <a:ext cx="1016838" cy="44866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+31 bps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120075" y="3345484"/>
            <a:ext cx="1426499" cy="44866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8193228" y="3345484"/>
            <a:ext cx="1309453" cy="44866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+23 bps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888883" y="3794150"/>
            <a:ext cx="1097307" cy="44866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5962037" y="3794150"/>
            <a:ext cx="980261" cy="44866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5%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986190" y="3794150"/>
            <a:ext cx="1133884" cy="44866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7059344" y="3794150"/>
            <a:ext cx="1016838" cy="44866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+52 bps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120075" y="3794150"/>
            <a:ext cx="1426499" cy="44866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8193228" y="3794150"/>
            <a:ext cx="1309453" cy="44866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+38 bps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888883" y="4242816"/>
            <a:ext cx="1097307" cy="44866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5962037" y="4242816"/>
            <a:ext cx="980261" cy="44866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8%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986190" y="4242816"/>
            <a:ext cx="1133884" cy="44866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7059344" y="4242816"/>
            <a:ext cx="1016838" cy="44866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+83 bps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120075" y="4242816"/>
            <a:ext cx="1426499" cy="44866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8193228" y="4242816"/>
            <a:ext cx="1309453" cy="44866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+60 bps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888883" y="4847539"/>
            <a:ext cx="3365076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HOW THE PATH IS EARNED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888883" y="5140147"/>
            <a:ext cx="3365076" cy="21457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700"/>
              </a:spcAft>
            </a:pPr>
            <a:r>
              <a:rPr sz="919" b="0" i="0">
                <a:solidFill>
                  <a:srgbClr val="0E1620"/>
                </a:solidFill>
                <a:latin typeface="Arial"/>
              </a:rPr>
              <a:t>The smooth line is not won by chasing rallies. On average monthly returns (p.18), Athanase roughly matches the market up (1.2% vs 1.3%) but protects sharply down (+0.2% vs −1.7%).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19" b="0" i="0">
                <a:solidFill>
                  <a:srgbClr val="0E1620"/>
                </a:solidFill>
                <a:latin typeface="Arial"/>
              </a:rPr>
              <a:t>Losing less in the down months — not winning more up — is what compounds the lines apart: a steadier path, not just a higher one.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38922" y="6973824"/>
            <a:ext cx="6510690" cy="3901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Illustrative only; not a projection. Athanase 18% (headline net IRR); other activist 10.5%; long-only 7.6% (MSCI IMI). Uplift = sleeve × return spread; growth = annual compounding. Past performance ≠ future results.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Risk-Adjusted Outcomes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8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What a blend does to the whole portfolio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Adding Athanase to a global-equity book moves the portfolio up and to the left — more return for less downside risk, thanks to low correlation.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20</a:t>
            </a:r>
          </a:p>
        </p:txBody>
      </p:sp>
      <p:pic>
        <p:nvPicPr>
          <p:cNvPr id="10" name="Picture 9" descr="mc_fronti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346" y="2194560"/>
            <a:ext cx="6002145" cy="2999306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510690" y="2262835"/>
            <a:ext cx="2816422" cy="117043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671629" y="2379878"/>
            <a:ext cx="2494545" cy="243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ALL GLOBAL EQUITIES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71629" y="2633472"/>
            <a:ext cx="2494545" cy="4389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280" b="1">
                <a:solidFill>
                  <a:srgbClr val="314359"/>
                </a:solidFill>
                <a:latin typeface="Times New Roman"/>
              </a:rPr>
              <a:t>6.1% return</a:t>
            </a:r>
            <a:r>
              <a:rPr sz="960">
                <a:solidFill>
                  <a:srgbClr val="314359"/>
                </a:solidFill>
                <a:latin typeface="Arial"/>
              </a:rPr>
              <a:t>   ·   11.5% downside risk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71629" y="3062630"/>
            <a:ext cx="2494545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100% MSCI World IMI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10690" y="3569817"/>
            <a:ext cx="2816422" cy="117043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671629" y="3686860"/>
            <a:ext cx="2494545" cy="243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ADD A 10% SLEEVE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71629" y="3940454"/>
            <a:ext cx="2494545" cy="4389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280" b="1">
                <a:solidFill>
                  <a:srgbClr val="314359"/>
                </a:solidFill>
                <a:latin typeface="Times New Roman"/>
              </a:rPr>
              <a:t>7.6% return   ·   11.0% downside risk</a:t>
            </a:r>
            <a:r>
              <a:rPr sz="960">
                <a:solidFill>
                  <a:srgbClr val="314359"/>
                </a:solidFill>
                <a:latin typeface="Arial"/>
              </a:rPr>
              <a:t/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71629" y="4369612"/>
            <a:ext cx="2494545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90% MSCI  /  10% Athanase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10690" y="4896307"/>
            <a:ext cx="2816422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HOW TO READ IT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10690" y="5169408"/>
            <a:ext cx="2816422" cy="1853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Every blend on the curve beats holding equities alone, and the benefit keeps building until past half the portfolio (downside risk bottoms near 60%). That is a directional case to size up — not a target: a 59% position would breach concentration and liquidity discipline. A ~10% indicative sleeve already moves the portfolio the right way, with ample room to spare.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The blend is not a trade-off: every allocation raises return and lowers downside risk — so to a committee this is a mathematical risk-reduction tool, not a risky bet. A ~10% indicative sleeve lifts return ~1.5 pts while cutting downside risk.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8922" y="6983577"/>
            <a:ext cx="9217382" cy="3901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Source: monthly net returns, 235 months (2006–2025), monthly rebalanced blends. The minimum-risk point is in-sample and shown for shape, not as advice. Illustrative; past performance is not indicative of future results.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Independent Review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Independently validated: 20 years, net of every fee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 prospective LP’s investment committee reconciled the security-level (StatPro) data against the LP-level NET return series.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21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53" y="2292096"/>
            <a:ext cx="2158037" cy="175564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48653" y="2545689"/>
            <a:ext cx="2158037" cy="13655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2720" b="0" i="0" spc="-102">
                <a:solidFill>
                  <a:srgbClr val="314359"/>
                </a:solidFill>
                <a:latin typeface="Times New Roman"/>
              </a:rPr>
              <a:t>+1,743%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cumulative NET return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over 19.3 years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838368" y="2292096"/>
            <a:ext cx="2158037" cy="175564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2838368" y="2545689"/>
            <a:ext cx="2158037" cy="13655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2720" b="0" i="0" spc="-102">
                <a:solidFill>
                  <a:srgbClr val="314359"/>
                </a:solidFill>
                <a:latin typeface="Times New Roman"/>
              </a:rPr>
              <a:t>+16.3%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annualised NET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(net of all fees)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128083" y="2292096"/>
            <a:ext cx="2158037" cy="175564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5128083" y="2545689"/>
            <a:ext cx="2158037" cy="13655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2720" b="0" i="0" spc="-102">
                <a:solidFill>
                  <a:srgbClr val="314359"/>
                </a:solidFill>
                <a:latin typeface="Times New Roman"/>
              </a:rPr>
              <a:t>+10 pts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annualised alpha,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net, vs the market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417798" y="2292096"/>
            <a:ext cx="2158037" cy="175564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7417798" y="2545689"/>
            <a:ext cx="2158037" cy="13655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2720" b="0" i="0" spc="-102">
                <a:solidFill>
                  <a:srgbClr val="314359"/>
                </a:solidFill>
                <a:latin typeface="Times New Roman"/>
              </a:rPr>
              <a:t>5.8×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the relevant equity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benchmark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53" y="4291582"/>
            <a:ext cx="8705305" cy="45841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63580" indent="-163580">
              <a:lnSpc>
                <a:spcPct val="112000"/>
              </a:lnSpc>
              <a:spcAft>
                <a:spcPts val="1000"/>
              </a:spcAft>
            </a:pPr>
            <a:r>
              <a:rPr sz="1120" b="1">
                <a:solidFill>
                  <a:srgbClr val="314359"/>
                </a:solidFill>
                <a:latin typeface="Arial"/>
              </a:rPr>
              <a:t>›  Two full cycles, survived.</a:t>
            </a:r>
            <a:r>
              <a:rPr sz="1120">
                <a:solidFill>
                  <a:srgbClr val="0E1620"/>
                </a:solidFill>
                <a:latin typeface="Arial"/>
              </a:rPr>
              <a:t>  Drawdowns of −52.8% (2008, recovered by 2010) and −45.9% (2017–2020, recovered by Sep 2020) — navigated live with the same philosophy, not back-tested.</a:t>
            </a:r>
          </a:p>
          <a:p>
            <a:pPr marL="163580" indent="-163580">
              <a:lnSpc>
                <a:spcPct val="112000"/>
              </a:lnSpc>
              <a:spcAft>
                <a:spcPts val="1000"/>
              </a:spcAft>
            </a:pPr>
            <a:r>
              <a:rPr sz="1120" b="1">
                <a:solidFill>
                  <a:srgbClr val="314359"/>
                </a:solidFill>
                <a:latin typeface="Arial"/>
              </a:rPr>
              <a:t>›  Top-tier downside-adjusted return.</a:t>
            </a:r>
            <a:r>
              <a:rPr sz="1120">
                <a:solidFill>
                  <a:srgbClr val="0E1620"/>
                </a:solidFill>
                <a:latin typeface="Arial"/>
              </a:rPr>
              <a:t>  20-year Sortino 1.54; AIPFII Sortino 2.40, with upside volatility 3.9× the downside.</a:t>
            </a:r>
          </a:p>
          <a:p>
            <a:pPr marL="163580" indent="-163580">
              <a:lnSpc>
                <a:spcPct val="112000"/>
              </a:lnSpc>
              <a:spcAft>
                <a:spcPts val="1000"/>
              </a:spcAft>
            </a:pPr>
            <a:r>
              <a:rPr sz="1120" b="1">
                <a:solidFill>
                  <a:srgbClr val="314359"/>
                </a:solidFill>
                <a:latin typeface="Arial"/>
              </a:rPr>
              <a:t>›  Realised cash, not marks.</a:t>
            </a:r>
            <a:r>
              <a:rPr sz="1120">
                <a:solidFill>
                  <a:srgbClr val="0E1620"/>
                </a:solidFill>
                <a:latin typeface="Arial"/>
              </a:rPr>
              <a:t>  The largest contributors are realised LP cash — removing the mark-to-model objection.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53" y="6778752"/>
            <a:ext cx="8632151" cy="3901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Source: independent institutional due-diligence review, May 2026, on StatPro security-level data and LP-level NET monthly returns (2006–2026).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152130"/>
      </a:dk1>
      <a:lt1>
        <a:srgbClr val="FFFFFF"/>
      </a:lt1>
      <a:dk2>
        <a:srgbClr val="0E1620"/>
      </a:dk2>
      <a:lt2>
        <a:srgbClr val="F6F7F9"/>
      </a:lt2>
      <a:accent1>
        <a:srgbClr val="152130"/>
      </a:accent1>
      <a:accent2>
        <a:srgbClr val="314359"/>
      </a:accent2>
      <a:accent3>
        <a:srgbClr val="556A83"/>
      </a:accent3>
      <a:accent4>
        <a:srgbClr val="0E1620"/>
      </a:accent4>
      <a:accent5>
        <a:srgbClr val="E2E5E9"/>
      </a:accent5>
      <a:accent6>
        <a:srgbClr val="F6F7F9"/>
      </a:accent6>
      <a:hlink>
        <a:srgbClr val="314359"/>
      </a:hlink>
      <a:folHlink>
        <a:srgbClr val="556A83"/>
      </a:folHlink>
    </a:clrScheme>
    <a:fontScheme name="Office">
      <a:majorFont>
        <a:latin typeface="Times New Roman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5e27318a-0826-4810-8988-cc3e5c2e3a20">
      <Terms xmlns="http://schemas.microsoft.com/office/infopath/2007/PartnerControls"/>
    </lcf76f155ced4ddcb4097134ff3c332f>
    <TaxCatchAll xmlns="4124b31e-6573-4802-b7ef-311f4d26277d" xsi:nil="true"/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kument" ma:contentTypeID="0x0101006310709CD82A6741BE5E8B9BFA41D3C0" ma:contentTypeVersion="13" ma:contentTypeDescription="Skapa ett nytt dokument." ma:contentTypeScope="" ma:versionID="ea70554b132df1325a42697029f21ce4">
  <xsd:schema xmlns:xsd="http://www.w3.org/2001/XMLSchema" xmlns:xs="http://www.w3.org/2001/XMLSchema" xmlns:p="http://schemas.microsoft.com/office/2006/metadata/properties" xmlns:ns2="5e27318a-0826-4810-8988-cc3e5c2e3a20" xmlns:ns3="4124b31e-6573-4802-b7ef-311f4d26277d" targetNamespace="http://schemas.microsoft.com/office/2006/metadata/properties" ma:root="true" ma:fieldsID="cc21193230fc81558174baefa7095284" ns2:_="" ns3:_="">
    <xsd:import namespace="5e27318a-0826-4810-8988-cc3e5c2e3a20"/>
    <xsd:import namespace="4124b31e-6573-4802-b7ef-311f4d26277d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ObjectDetectorVersions" minOccurs="0"/>
                <xsd:element ref="ns2:MediaServiceDateTaken" minOccurs="0"/>
                <xsd:element ref="ns2:MediaServiceGenerationTime" minOccurs="0"/>
                <xsd:element ref="ns2:MediaServiceEventHashCode" minOccurs="0"/>
                <xsd:element ref="ns2:MediaLengthInSeconds" minOccurs="0"/>
                <xsd:element ref="ns2:lcf76f155ced4ddcb4097134ff3c332f" minOccurs="0"/>
                <xsd:element ref="ns3:TaxCatchAll" minOccurs="0"/>
                <xsd:element ref="ns2:MediaServiceOCR" minOccurs="0"/>
                <xsd:element ref="ns2:MediaServiceLocation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5e27318a-0826-4810-8988-cc3e5c2e3a20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11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DateTaken" ma:index="12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4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15" nillable="true" ma:displayName="MediaLengthInSeconds" ma:hidden="true" ma:internalName="MediaLengthInSeconds" ma:readOnly="true">
      <xsd:simpleType>
        <xsd:restriction base="dms:Unknown"/>
      </xsd:simpleType>
    </xsd:element>
    <xsd:element name="lcf76f155ced4ddcb4097134ff3c332f" ma:index="17" nillable="true" ma:taxonomy="true" ma:internalName="lcf76f155ced4ddcb4097134ff3c332f" ma:taxonomyFieldName="MediaServiceImageTags" ma:displayName="Bildmarkeringar" ma:readOnly="false" ma:fieldId="{5cf76f15-5ced-4ddc-b409-7134ff3c332f}" ma:taxonomyMulti="true" ma:sspId="7f99c0e0-a277-4309-9e70-fff5b915cc5a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19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Location" ma:index="20" nillable="true" ma:displayName="Location" ma:indexed="true" ma:internalName="MediaServiceLocation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4124b31e-6573-4802-b7ef-311f4d26277d" elementFormDefault="qualified">
    <xsd:import namespace="http://schemas.microsoft.com/office/2006/documentManagement/types"/>
    <xsd:import namespace="http://schemas.microsoft.com/office/infopath/2007/PartnerControls"/>
    <xsd:element name="TaxCatchAll" ma:index="18" nillable="true" ma:displayName="Taxonomy Catch All Column" ma:hidden="true" ma:list="{9270a8ef-2ce6-4f9b-a60c-abb7e201e7ac}" ma:internalName="TaxCatchAll" ma:showField="CatchAllData" ma:web="4124b31e-6573-4802-b7ef-311f4d26277d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Innehållstyp"/>
        <xsd:element ref="dc:title" minOccurs="0" maxOccurs="1" ma:index="4" ma:displayName="Rubrik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AF09CEDA-D96E-4DE0-BD69-05CF6CA08BCA}">
  <ds:schemaRefs>
    <ds:schemaRef ds:uri="http://schemas.microsoft.com/office/2006/metadata/properties"/>
    <ds:schemaRef ds:uri="http://schemas.microsoft.com/office/infopath/2007/PartnerControls"/>
    <ds:schemaRef ds:uri="5e27318a-0826-4810-8988-cc3e5c2e3a20"/>
    <ds:schemaRef ds:uri="4124b31e-6573-4802-b7ef-311f4d26277d"/>
  </ds:schemaRefs>
</ds:datastoreItem>
</file>

<file path=customXml/itemProps2.xml><?xml version="1.0" encoding="utf-8"?>
<ds:datastoreItem xmlns:ds="http://schemas.openxmlformats.org/officeDocument/2006/customXml" ds:itemID="{2B94E596-B65B-4BD7-8F65-8C8EB76BBAFF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E9B4E500-B9BC-47AF-8F6B-49D89CFF5B82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5e27318a-0826-4810-8988-cc3e5c2e3a20"/>
    <ds:schemaRef ds:uri="4124b31e-6573-4802-b7ef-311f4d26277d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9</TotalTime>
  <Words>4505</Words>
  <Application>Microsoft Office PowerPoint</Application>
  <PresentationFormat>Custom</PresentationFormat>
  <Paragraphs>433</Paragraphs>
  <Slides>22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6" baseType="lpstr">
      <vt:lpstr>Aptos</vt:lpstr>
      <vt:lpstr>Arial</vt:lpstr>
      <vt:lpstr>Times New Roman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Your index is now a bet on AI — diversify it</dc:title>
  <dc:subject/>
  <dc:creator/>
  <cp:keywords/>
  <dc:description>generated using python-pptx</dc:description>
  <cp:lastModifiedBy>Stefan Charette</cp:lastModifiedBy>
  <cp:revision>1</cp:revision>
  <dcterms:created xsi:type="dcterms:W3CDTF">2013-01-27T09:14:16Z</dcterms:created>
  <dcterms:modified xsi:type="dcterms:W3CDTF">2026-06-09T15:02:21Z</dcterms:modified>
  <cp:category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ediaServiceImageTags">
    <vt:lpwstr/>
  </property>
  <property fmtid="{D5CDD505-2E9C-101B-9397-08002B2CF9AE}" pid="3" name="ContentTypeId">
    <vt:lpwstr>0x0101006310709CD82A6741BE5E8B9BFA41D3C0</vt:lpwstr>
  </property>
</Properties>
</file>