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   </a:t>
            </a:r>
            <a:r>
              <a:rPr sz="800">
                <a:solidFill>
                  <a:srgbClr val="314359"/>
                </a:solidFill>
                <a:latin typeface="Arial"/>
              </a:rPr>
              <a:t>Why now — the easy decade for beta is over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   </a:t>
            </a:r>
            <a:r>
              <a:rPr sz="800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3   </a:t>
            </a:r>
            <a:r>
              <a:rPr sz="800">
                <a:solidFill>
                  <a:srgbClr val="314359"/>
                </a:solidFill>
                <a:latin typeface="Arial"/>
              </a:rPr>
              <a:t>Passive flows cut both ways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4   </a:t>
            </a:r>
            <a:r>
              <a:rPr sz="800">
                <a:solidFill>
                  <a:srgbClr val="314359"/>
                </a:solidFill>
                <a:latin typeface="Arial"/>
              </a:rPr>
              <a:t>The total cost of ownership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5   </a:t>
            </a:r>
            <a:r>
              <a:rPr sz="800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6   </a:t>
            </a:r>
            <a:r>
              <a:rPr sz="800">
                <a:solidFill>
                  <a:srgbClr val="314359"/>
                </a:solidFill>
                <a:latin typeface="Arial"/>
              </a:rPr>
              <a:t>Two ways to own actively: public or private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7   </a:t>
            </a:r>
            <a:r>
              <a:rPr sz="800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8   </a:t>
            </a:r>
            <a:r>
              <a:rPr sz="800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9   </a:t>
            </a:r>
            <a:r>
              <a:rPr sz="800">
                <a:solidFill>
                  <a:srgbClr val="314359"/>
                </a:solidFill>
                <a:latin typeface="Arial"/>
              </a:rPr>
              <a:t>What AI changes — and what it can’t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10   </a:t>
            </a:r>
            <a:r>
              <a:rPr sz="800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11   </a:t>
            </a:r>
            <a:r>
              <a:rPr sz="800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12   </a:t>
            </a:r>
            <a:r>
              <a:rPr sz="800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13   </a:t>
            </a:r>
            <a:r>
              <a:rPr sz="800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14   </a:t>
            </a:r>
            <a:r>
              <a:rPr sz="800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15   </a:t>
            </a:r>
            <a:r>
              <a:rPr sz="800">
                <a:solidFill>
                  <a:srgbClr val="314359"/>
                </a:solidFill>
                <a:latin typeface="Arial"/>
              </a:rPr>
              <a:t>Why boards say yes — constructive control, not a proxy war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16   </a:t>
            </a:r>
            <a:r>
              <a:rPr sz="800">
                <a:solidFill>
                  <a:srgbClr val="314359"/>
                </a:solidFill>
                <a:latin typeface="Arial"/>
              </a:rPr>
              <a:t>The evidence: constructive engagement works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17   </a:t>
            </a:r>
            <a:r>
              <a:rPr sz="800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56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56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56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560">
                <a:solidFill>
                  <a:srgbClr val="314359"/>
                </a:solidFill>
                <a:latin typeface="Arial"/>
              </a:rPr>
              <a:t>The ownership playbook, honed over 38 investments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56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56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56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56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56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560">
                <a:solidFill>
                  <a:srgbClr val="314359"/>
                </a:solidFill>
                <a:latin typeface="Arial"/>
              </a:rPr>
              <a:t>Sourcing &amp; screening: from ~20,000 to a shortlist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560">
                <a:solidFill>
                  <a:srgbClr val="314359"/>
                </a:solidFill>
                <a:latin typeface="Arial"/>
              </a:rPr>
              <a:t>Due diligence: is the competitive position durable?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56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3.5   </a:t>
            </a:r>
            <a:r>
              <a:rPr sz="56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3.6   </a:t>
            </a:r>
            <a:r>
              <a:rPr sz="560">
                <a:solidFill>
                  <a:srgbClr val="314359"/>
                </a:solidFill>
                <a:latin typeface="Arial"/>
              </a:rPr>
              <a:t>Constructive by design — agreement before capital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3.7   </a:t>
            </a:r>
            <a:r>
              <a:rPr sz="560">
                <a:solidFill>
                  <a:srgbClr val="314359"/>
                </a:solidFill>
                <a:latin typeface="Arial"/>
              </a:rPr>
              <a:t>Walking away is a mechanic, not a mood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3.8   </a:t>
            </a:r>
            <a:r>
              <a:rPr sz="560">
                <a:solidFill>
                  <a:srgbClr val="314359"/>
                </a:solidFill>
                <a:latin typeface="Arial"/>
              </a:rPr>
              <a:t>Evaluating the board and management — before we commit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3.9   </a:t>
            </a:r>
            <a:r>
              <a:rPr sz="560">
                <a:solidFill>
                  <a:srgbClr val="314359"/>
                </a:solidFill>
                <a:latin typeface="Arial"/>
              </a:rPr>
              <a:t>In the boardroom: consensus, one conversation at a time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3.10   </a:t>
            </a:r>
            <a:r>
              <a:rPr sz="560">
                <a:solidFill>
                  <a:srgbClr val="314359"/>
                </a:solidFill>
                <a:latin typeface="Arial"/>
              </a:rPr>
              <a:t>How we use AI — and why it widens our edge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560">
                <a:solidFill>
                  <a:srgbClr val="314359"/>
                </a:solidFill>
                <a:latin typeface="Arial"/>
              </a:rPr>
              <a:t>Which risks we are trying to avoid — and why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560">
                <a:solidFill>
                  <a:srgbClr val="314359"/>
                </a:solidFill>
                <a:latin typeface="Arial"/>
              </a:rPr>
              <a:t>Diversification by design: the risk limits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560">
                <a:solidFill>
                  <a:srgbClr val="314359"/>
                </a:solidFill>
                <a:latin typeface="Arial"/>
              </a:rPr>
              <a:t>How risk is governed: who decides, and when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56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4.6   </a:t>
            </a:r>
            <a:r>
              <a:rPr sz="560">
                <a:solidFill>
                  <a:srgbClr val="314359"/>
                </a:solidFill>
                <a:latin typeface="Arial"/>
              </a:rPr>
              <a:t>Restructuring, honestly — and the headline question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4.7   </a:t>
            </a:r>
            <a:r>
              <a:rPr sz="560">
                <a:solidFill>
                  <a:srgbClr val="314359"/>
                </a:solidFill>
                <a:latin typeface="Arial"/>
              </a:rPr>
              <a:t>Earnings compound the value — re-rating is upside we don’t need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4.8   </a:t>
            </a:r>
            <a:r>
              <a:rPr sz="560">
                <a:solidFill>
                  <a:srgbClr val="314359"/>
                </a:solidFill>
                <a:latin typeface="Arial"/>
              </a:rPr>
              <a:t>When the thesis breaks: determined, not forced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4.9   </a:t>
            </a:r>
            <a:r>
              <a:rPr sz="56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4.10   </a:t>
            </a:r>
            <a:r>
              <a:rPr sz="56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4.11   </a:t>
            </a:r>
            <a:r>
              <a:rPr sz="56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56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56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56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560">
                <a:solidFill>
                  <a:srgbClr val="314359"/>
                </a:solidFill>
                <a:latin typeface="Arial"/>
              </a:rPr>
              <a:t>Earlier deals — part of the team (1996–2006)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56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56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56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56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56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56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560">
                <a:solidFill>
                  <a:srgbClr val="314359"/>
                </a:solidFill>
                <a:latin typeface="Arial"/>
              </a:rPr>
              <a:t>A drawdown you can actually defend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6.5   </a:t>
            </a:r>
            <a:r>
              <a:rPr sz="56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56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56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56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56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56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56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56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1 Why now — the easy decade for beta is 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Equities are expensive on almost every measure, and the disinflation and zero-rate tailwind that lifted all assets has reversed.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EXPENSIVE ON MOST MEASURES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Shiller CAPE near ~36× — close to the dot-com extreme, and roughly double the long-run ~17×.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Forward P/E ~22× against a ~16× long-run average; the equity risk premium is compressed to multi-decade lows.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Most of the 2010s’ return came from re-rating — paying more per dollar of earnings — not earnings growth. That lever is largely spent.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MACRO TAILWIND HAS REVERSED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zero-rate, disinflationary backdrop that lifted every asset for a decade has reversed.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Deglobalisation, fiscal deficits and demographics point to structurally higher inflation and rates — higher for longer.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 higher cost of capital compresses valuations and punishes long-duration, unprofitable growth — the opposite of the last cycle.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Whether or not AI-driven productivity lifts returns, beta is priced for perfection and the easy tailwind has shifted — so idiosyncratic, valuation-disciplined returns matter more, not less.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Illustrative, recent data (2024–25); sources: R. Shiller (Yale) CAPE; S&amp;P Dow Jones Indices; consensus forward earnings. Valuations move — the regime, not the decimal,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3 Passive flows cut both 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Index buying has grown from a niche to the majority of US equity fund assets — and the same price-insensitive mechanics can force selling on the way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pic>
        <p:nvPicPr>
          <p:cNvPr id="9" name="Picture 8" descr="mc_pass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2340864"/>
            <a:ext cx="4498960" cy="26464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57345" y="2292096"/>
            <a:ext cx="4096614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IT CUTS BOTH WAYS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Markets are inelastic — a $1 flow can move aggregate value by ~$5; flows increasingly set the level (Gabaix &amp; Koijen, 2021).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ETFs raise the volatility of the stocks they hold (Ben-David et al., 2018); index inclusion inflates prices and comovement (Wurgler, 2011).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reported passive share understates the true price-insensitive base (Chinco &amp; Sammon, 2024).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multiplier runs in reverse: if flows slow, the most-owned mega-caps face mechanical selling — with few price-sensitive buyers left to absorb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concentration that flattered index returns on the way up is a forced-seller overhang on the way down — a risk you do not carry when returns come from company-specific change, not from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8778459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Passive share approximate; sources: ICI, Morningstar (index funds + ETFs as a share of US equity fund assets). Research citations in references.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4 The total cost of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quoted fee is the smallest, most visible layer — the real cost of owning the index is a multiple of it, and largely undisclosed.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MEASURABLE ANNUAL DRAG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3–9 bps</a:t>
            </a:r>
            <a:r>
              <a:rPr sz="960">
                <a:solidFill>
                  <a:srgbClr val="0E1620"/>
                </a:solidFill>
                <a:latin typeface="Arial"/>
              </a:rPr>
              <a:t>  the headline expense ratio — all you are quoted.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~20–80 bps/yr</a:t>
            </a:r>
            <a:r>
              <a:rPr sz="960">
                <a:solidFill>
                  <a:srgbClr val="0E1620"/>
                </a:solidFill>
                <a:latin typeface="Arial"/>
              </a:rPr>
              <a:t>  index reconstitution / front-running (Petajisto, 2011).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~30 bps+</a:t>
            </a:r>
            <a:r>
              <a:rPr sz="960">
                <a:solidFill>
                  <a:srgbClr val="0E1620"/>
                </a:solidFill>
                <a:latin typeface="Arial"/>
              </a:rPr>
              <a:t>  unrecovered foreign dividend-withholding tax on international holdings — more for emerging markets.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$1–2 bn/yr</a:t>
            </a:r>
            <a:r>
              <a:rPr sz="960">
                <a:solidFill>
                  <a:srgbClr val="0E1620"/>
                </a:solidFill>
                <a:latin typeface="Arial"/>
              </a:rPr>
              <a:t>  transferred to arbitrageurs at index changes (Chen, Noronha &amp; Singal, 2006).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768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FURTHER, HARDER-TO-SEE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768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Tracking difference</a:t>
            </a:r>
            <a:r>
              <a:rPr sz="840">
                <a:solidFill>
                  <a:srgbClr val="0E1620"/>
                </a:solidFill>
                <a:latin typeface="Arial"/>
              </a:rPr>
              <a:t>  — funds lag the index by more than their fee.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Bid-ask spread &amp; market impact</a:t>
            </a:r>
            <a:r>
              <a:rPr sz="840">
                <a:solidFill>
                  <a:srgbClr val="0E1620"/>
                </a:solidFill>
                <a:latin typeface="Arial"/>
              </a:rPr>
              <a:t>  on every trade and every rebalance.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Cash drag</a:t>
            </a:r>
            <a:r>
              <a:rPr sz="840">
                <a:solidFill>
                  <a:srgbClr val="0E1620"/>
                </a:solidFill>
                <a:latin typeface="Arial"/>
              </a:rPr>
              <a:t>  from the uninvested buffer, in rising markets.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Premium / discount to NAV</a:t>
            </a:r>
            <a:r>
              <a:rPr sz="840">
                <a:solidFill>
                  <a:srgbClr val="0E1620"/>
                </a:solidFill>
                <a:latin typeface="Arial"/>
              </a:rPr>
              <a:t>  — widens exactly when you need to sell.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Securities lending</a:t>
            </a:r>
            <a:r>
              <a:rPr sz="840">
                <a:solidFill>
                  <a:srgbClr val="0E1620"/>
                </a:solidFill>
                <a:latin typeface="Arial"/>
              </a:rPr>
              <a:t>  — revenue give-up and counterparty risk; it also supplies short-sellers.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Liquidity illusion / fire-sale risk</a:t>
            </a:r>
            <a:r>
              <a:rPr sz="840">
                <a:solidFill>
                  <a:srgbClr val="0E1620"/>
                </a:solidFill>
                <a:latin typeface="Arial"/>
              </a:rPr>
              <a:t>  in illiquid underlyings (Ben-David et al., 2018).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Capital-gains overhang</a:t>
            </a:r>
            <a:r>
              <a:rPr sz="840">
                <a:solidFill>
                  <a:srgbClr val="0E1620"/>
                </a:solidFill>
                <a:latin typeface="Arial"/>
              </a:rPr>
              <a:t>  in index mutual funds.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Quoted at a few basis points, the true cost runs into the tens — before the biggest cost of all: paying peak prices for the most crowded companies. That is what valuation-disciplined, idiosyncratic ownership is paid to avoid.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6944563"/>
            <a:ext cx="8851613" cy="331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Peer-reviewed: Petajisto (2011); Chen, Noronha &amp; Singal (2006); Ben-David et al. (2018). Withholding and other costs are structural/illustrative and vary by fund, domicile and period. See references.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and as analysis itself commoditises, the most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Other genuine edges exist — quant and specialist alpha — but they compete on analysing the same public data, which is what commoditises fastest. The most durable edge is ownership: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Active Ownership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6 Two ways to own actively: public or private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operational value creation is available in both private equity and public markets — but the public route keeps what private gives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1755691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1580122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158037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60453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Private — PE / buyout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05998" y="2292096"/>
            <a:ext cx="3547960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8414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Public — engaged ownership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46" y="2701747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761" y="2701747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How you 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58037" y="2701747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60453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Buy and control the whole company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05998" y="2701747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8414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Take a board seat and real influence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3247948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" y="3247948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58037" y="3247948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60453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~40% control premium, up front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05998" y="3247948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8414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Market price — often at a discount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46" y="3794150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4761" y="3794150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58037" y="3794150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60453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10-year lock-up; blind-pool capital calls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05998" y="3794150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08414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Daily liquidity; exit at any 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346" y="4340352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4761" y="4340352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Pricing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58037" y="4340352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60453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Smoothed quarterly appraisal marks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05998" y="4340352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8414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Honest daily market prices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46" y="4886553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4761" y="4886553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Fees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58037" y="4886553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60453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2 &amp; 20, plus fees on idle dry powder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05998" y="4886553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08414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Lower, on capital actually deployed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02346" y="5432755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761" y="5432755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value engine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58037" y="5432755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60453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Board-led operational improvement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05998" y="5432755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08414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same — board-led operational improvement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2346" y="6115507"/>
            <a:ext cx="8888190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53" y="6115507"/>
            <a:ext cx="8595575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Both are active ownership. The public route captures the same value creation while keeping liquidity, transparency and lower fees — and skips the control premium and the lock-up (Part II quantifies this).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9 What AI changes — and what it can’t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As machine analysis becomes ubiquitous, information-based edges are competed away faster. Engaged ownership creates the change rather than reads it — the least commoditised style.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01173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182153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Investment style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50653" y="2292096"/>
            <a:ext cx="3767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53068" y="2292096"/>
            <a:ext cx="3577222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AI changes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2292096"/>
            <a:ext cx="307246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0490" y="2292096"/>
            <a:ext cx="28822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Effect on the edge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01173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682240"/>
            <a:ext cx="182153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Quantitative / factor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0653" y="2682240"/>
            <a:ext cx="3767422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53068" y="2682240"/>
            <a:ext cx="3577222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Known signals are replicated and arbitraged at machine speed.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2682240"/>
            <a:ext cx="307246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0490" y="2682240"/>
            <a:ext cx="288226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More crowded — published factors already fade ~58% post-publication (McLean &amp; Pontiff, 2016).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443020"/>
            <a:ext cx="201173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443020"/>
            <a:ext cx="182153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&amp; value (fundamental)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50653" y="3443020"/>
            <a:ext cx="3767422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53068" y="3443020"/>
            <a:ext cx="3577222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LLMs already match or beat analysts at predicting the direction of earnings (Kim, Muhn &amp; Nikolaev, 2024).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8075" y="3443020"/>
            <a:ext cx="307246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20490" y="3443020"/>
            <a:ext cx="288226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analytical edge commoditises; the crowd grows and the edge thins.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262323"/>
            <a:ext cx="201173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4262323"/>
            <a:ext cx="182153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Passive / index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0653" y="4262323"/>
            <a:ext cx="3767422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53068" y="4262323"/>
            <a:ext cx="3577222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Method unchanged — but more capital chases a shrinking pool of active alpha.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8075" y="4262323"/>
            <a:ext cx="307246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0490" y="4262323"/>
            <a:ext cx="288226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Concentration and reflexivity risk rise (see §2–3).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906060"/>
            <a:ext cx="2011730" cy="103388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906060"/>
            <a:ext cx="182153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Engaged ownership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50653" y="4906060"/>
            <a:ext cx="3767422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53068" y="4906060"/>
            <a:ext cx="3577222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Alpha comes from changing the earnings trajectory from a board seat — not from reading public data faster. AI augments our sourcing and diligence; it can’t replicate access, influence or execution.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8075" y="4906060"/>
            <a:ext cx="3072460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20490" y="4906060"/>
            <a:ext cx="288226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Least commoditised — the edge is created, not discovered.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76492"/>
            <a:ext cx="8851613" cy="5364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5230" y="6076492"/>
            <a:ext cx="855899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everyone can analyse, analysis stops being an edge. The durable edge is the one AI can’t run — changing the company itself.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10 Aligned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11 Diversification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12 Governance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13 Why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61913"/>
            <a:ext cx="8924767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46" y="6369100"/>
            <a:ext cx="8924767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And the opportunity set is deep and global: ~50,000 listed companies worldwide (World Federation of Exchanges, 2024); the investable MSCI ACWI IMI spans ~8,800 large-, mid- and small-cap names across 23 developed and 24 emerging markets — about 1,600 of them mid-caps (MSCI, 2024). Our €50m–€3bn target band, in markets with a stable legal system, is a large subset.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14 Why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15 Why boards say yes — constructive control, not a proxy war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structural reasons mid-cap boards adopt the plan — the same edge Cevian, ValueAct and TCI built, applied where it meets the least resistance.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capital-allocation blind spot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Mid-cap CEOs are first-time chiefs promoted from operations or sales — they have rarely run M&amp;A, financing or portfolio capital allocation. Firms systematically misallocate across divisions and are slow to correct it (Scharfstein &amp; Stein, 2000; Lindlbauer, 2025) — a real, correctable gap they know they have.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Industrial-peer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owner arrives as a 20-year operator who speaks ROIC, ROIIC and operations — not a financial engineer. Met as a peer who supplies the missing experience, defensiveness gives way to collaboration.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board seat is the start, not a threat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In the Nordics the nomination committee is shareholder-led and rarely includes sitting directors — owners reshape boards without a public fight. Secured as a precondition, it is the proven, low-cost route to change (Bebchuk, Brav, Jiang &amp; Keusch, 2020) versus the ~$10.7m and entrenchment a proxy fight triggers (Gantchev, 2013).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We fund their best business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Quality-core constructivism: cut the loss-making “growth-trap” adjacencies and reinvest in the winning core. Management complies because we champion the part of the company they are proud of — not break up the house.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 proxy fight is expensive and breeds defenses; a board seat by agreement is faster, cheaper and collaborative — which is why ~two-thirds of engagements succeed without ever seeking control (Brav, Jiang, Partnoy &amp; Thomas, 2008).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16 The evidence: constructive engagement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Three decades of peer-reviewed research — across the US and Europe — converge on the same finding.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50653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022" y="2292096"/>
            <a:ext cx="227508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Study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9576" y="2292096"/>
            <a:ext cx="1865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4676" y="2292096"/>
            <a:ext cx="16898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covers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998" y="2292096"/>
            <a:ext cx="457942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50098" y="2292096"/>
            <a:ext cx="44038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establishes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22" y="2682240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Brav, Jiang, Partnoy &amp; Thomas (2008) · J. Finance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89576" y="2682240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84676" y="2682240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1,000+ US engagements, 2001–06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998" y="2682240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0098" y="2682240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Activists “seldom seek control” and are “nonconfrontational”; ~2/3 reach full or partial success; +7% announcement return with no reversal; payout, operating performance and CEO turnover all rise.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521049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022" y="352104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Grant &amp; Wagner (2017) · Rev. Fin. Studies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9576" y="3521049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84676" y="352104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1,740 engagements, 23 countries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998" y="3521049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50098" y="352104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Outcomes and market responses are similar in Europe and North America — the playbook travels; board representation is a central, value-creating outcome.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359859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4022" y="435985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Mayer &amp; Rossi (2009) · Rev. Fin. Studies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9576" y="4359859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84676" y="435985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Clinical study — Hermes UK Focus Fund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998" y="4359859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50098" y="435985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Returns come from engagement, not stock-picking — via private, cooperative interventions: refocus on the core, return cash, change the CEO / chair.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198668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4022" y="519866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Bebchuk, Brav, Jiang &amp; Keusch (2020) · J. Fin. Economics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9576" y="5198668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84676" y="519866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US settlement agreements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998" y="5198668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50098" y="519866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Boards settle by granting board seats — the intermediary step to the operational and leadership change activists seek. Exactly the precondition model.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37478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4022" y="603747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Gantchev (2013) · J. Fin. Economics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89576" y="6037478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84676" y="603747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1,492 campaigns, 2000–07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54998" y="6037478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50098" y="603747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campaign escalating to a proxy fight costs ~$10.7m; settling at the board-representation stage avoids most of it — collaboration is cheaper.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22" y="6993331"/>
            <a:ext cx="8851613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academic record converges with our own 38 engagements: control secured cooperatively through a board seat is how operational value is created.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17 What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a mandatory re-underwrite — and an exit where the thesis is broken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 · CONSTANT MULTIPLE)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+40% is pure earnings and mix — the same multiple on a cleaner, higher-ROIIC core. Any re-rating is upside we underwrite at zero.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(earnings inflection)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Earnings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~20,000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our moat-scored universe — across every market with a stable legal system that supports ownership (Europe, Japan, Korea, Australia and more) — to a handful of candidates.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20,000   </a:t>
            </a:r>
            <a:r>
              <a:rPr sz="880">
                <a:solidFill>
                  <a:srgbClr val="0E1620"/>
                </a:solidFill>
                <a:latin typeface="Arial"/>
              </a:rPr>
              <a:t>moat-scored universe (from our ~60k database)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geographies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Due diligence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3.3 Due diligence: is the competitive position durable?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diligence has one goal — the sustainability of the moat. We build the view from proprietary data, then field-test it with everyone who knows the company.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Economic reality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9306" y="2292096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Our financial database spans just under 60,000 companies; we restate their accounting numbers into economic reality — separating the true performance of the profitable core from management’s newer strategic pivot, the part destroying value.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08934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0599" y="3208934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Moat &amp; CEO scoring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9306" y="3208934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From that universe — minus industries we don’t cover — we do deeper work on ~20,000 companies: our own moat scores and CEO evaluation distil to a real target universe of about 2,500 companies.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25772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0599" y="4125772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Field-tested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9306" y="4125772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We then interview customers (quality, product ROI, competitive position), competitors, suppliers, former employees and former directors — to a structured question set built over 20 years, including what our own mistakes taught us.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042611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0599" y="5042611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The incumbents, last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9306" y="5042611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Only then do we hear how current management and the board see the company — testing their view against the evidence we have already built, not the other way round.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5998464"/>
            <a:ext cx="8873559" cy="79979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22" y="5998464"/>
            <a:ext cx="51207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807" y="6096000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880" b="1" i="0">
                <a:solidFill>
                  <a:srgbClr val="152130"/>
                </a:solidFill>
                <a:latin typeface="Arial"/>
              </a:rPr>
              <a:t>WHERE WE HUNT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6369100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Slow-innovation industries where the future is predictable and market share has not shifted more than ~2% in five years — so our read on the competitive position is as certain as it can be.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3.5 Decision,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Engage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3.6 Constructive by design — agreement before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Nordic governance model, exported and honed over 20 years: we secure the board’s agreement before we commit — and never stake our reputation on a public fight.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WE SECURE CHANGE WITHOUT A FIGHT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Nordic roots: there the nomination committee is appointed by shareholders and rarely includes sitting directors — owners reshape the board, incumbents don’t defend it. We built the model there and exported it.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Agreement before capital: we secure the board’s alignment before committing a larger position — the engagement risk is underwritten before the capital is.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pre-screen management and run a behavioural analysis, so we know how each board and CEO will respond before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Honed over 20 years by trial and error with immediate feedback — every engagement reinforces what works.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DISCIPLINE — AND THE BACKSTOP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have never needed a public fight to win a board seat — and will not stake a 20-year reputation on one.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If alignment can’t be reached, we walk away — and the sequencing makes that easy: we secure agreement before the larger commitment, so little is ever sunk at the decision point. The gates enforce it, not willpower.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Once we hold a position, if the board obstructs we replace the board and management — through the shareholder-led committee, not a proxy war.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 every case where that has been required, we have secured the change.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Constructive by default, decisive when required: agreement before capital, the willingness to walk away, and a shareholder-led route to change the board and management if needed.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3.7 Walking away is a mechanic, not a mood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Emotional detachment from a researched deal is hard — so we don’t rely on it. Four hardwired controls take portfolio-manager emotion out of the decision.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09139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toehold rule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799283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Position size is capped at a minimal toehold until the board seat is secured and minuted; if the board obstructs, the toehold is liquidated. “Agreement before capital” is a sizing limit, not a promise.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09139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psychometric tollgate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799283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At Tollgate 2 a behavioural read of the CEO and chair is exclusionary: a high-conflict, entrenched-obstructer profile is an automatic No-Go, as rigid as our ≤20% drawdown-probability limit. The one override — undisputed shareholder support for change (as at Haldex: with major institutions we replaced the whole board, took the chair and changed the CEO).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01337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01337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18380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No research is ever sunk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08524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run no per-deal diligence P&amp;L. Research is the continuous cost of covering our industries and ~20,000 scored companies — reusable on the same name at a new price, or across its competitors. Passing is the funnel working, not a loss.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01337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01337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18380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walk-away ledger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08524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 documented record of situations we declined when alignment couldn’t be secured. Robit is a clear case: first invested May 2015, added over time, and began negotiating a board seat in 2019. Unable to secure it, we exited — disciplined, yet still profitable at a ~14% annual IRR (more than twice the index). The shares have since halved: walking away was also avoided loss.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291072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291072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Walking away isn’t willpower — it’s a sizing limit, a hard tollgate, a research model with no sunk cost, and a documented record. The emotion is engineered out.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walk-away ledger: agreement before capital, in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log every Tollgate-2 “No-Go.” We will not size to conviction without secured board alignment — if alignment fails, the position is unwound. One documented entry; the full ledger is available in diligence.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645961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1514284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Situation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84884" y="2292096"/>
            <a:ext cx="1865422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58037" y="2292096"/>
            <a:ext cx="1733745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Value hypothesis (Tollgate 1)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50306" y="2292096"/>
            <a:ext cx="1645961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23460" y="2292096"/>
            <a:ext cx="1514284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Diligence &amp; sizing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96267" y="2292096"/>
            <a:ext cx="1792268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421" y="2292096"/>
            <a:ext cx="1660591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The breaking point (Tollgate 2)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88536" y="2292096"/>
            <a:ext cx="1901999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61690" y="2292096"/>
            <a:ext cx="1770322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Exit &amp; post-walk-away outcome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22" y="2828544"/>
            <a:ext cx="1645961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8922" y="2828544"/>
            <a:ext cx="43892" cy="190195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53" y="2945587"/>
            <a:ext cx="1455761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1" i="0">
                <a:solidFill>
                  <a:srgbClr val="314359"/>
                </a:solidFill>
                <a:latin typeface="Arial"/>
              </a:rPr>
              <a:t>Robit Plc — Finnish-listed drilling tools &amp; consumables (Nasdaq Helsinki).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84884" y="2828544"/>
            <a:ext cx="1865422" cy="1901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94614" y="2945587"/>
            <a:ext cx="1675222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Niche consumables franchise below intrinsic value; correctable cost base and capital allocation — a board-level engagement.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50306" y="2828544"/>
            <a:ext cx="1645961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60037" y="2945587"/>
            <a:ext cx="1455761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Invested in stages from May 2015; followed and added on over several years while pursuing engagement.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96267" y="2828544"/>
            <a:ext cx="1792268" cy="1901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05998" y="2945587"/>
            <a:ext cx="1602068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From 2019 we sought a board seat to formalise the plan — and could not secure board alignment.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88536" y="2828544"/>
            <a:ext cx="1901999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267" y="2945587"/>
            <a:ext cx="1711799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Exited rather than stay without influence — still ~14% IRR (&gt;2× the index). Shares have since roughly halved: the discipline avoided the loss.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22" y="4828032"/>
            <a:ext cx="885161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One documented entry shown; further Tollgate-2 No-Go decisions are logged and available in diligence. Robit was a built, multi-year position, not a small toehold — the discipline is the same.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6242304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5230" y="6242304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exit trade is small and clean — but the point is the fundamental risk we avoided: we take a paper cut over a value trap, every time.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People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3.8 Evaluating the board and management — before we commit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People decide whether the plan gets executed — so management and board quality is underwritten as rigorously as the numbers, and it gates the investment.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ASSESS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Capability &amp; track record: operational strength versus the capital-allocation gap — their history of M&amp;A, financing and capital returns, and whether they built or diluted the core.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Incentives &amp; alignment: pay-for-performance, ownership and skin in the game, and any related-party or governance red flags.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Behavioural profile: how the CEO and chair respond to scrutiny and change — collaborator, fence-sitter or obstructer — read from references, the public record and direct interaction.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Board &amp; governance: independence, the nomination-committee structure, and whether owners can reshape the board without a public fight.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IT GATES THE DECISION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a tollgate input: a credible path to alignment is a precondition — no path, no position.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sets the engagement plan: who to back, who to replace, and what to expect the moment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sizes the risk: management and execution risk is the one a cheap stock cannot survive — so it is underwritten, not assumed.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backstop: if the read is wrong and the board obstructs, board control lets us change it — otherwise we walk away.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5149900"/>
            <a:ext cx="8895505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5149900"/>
            <a:ext cx="51207" cy="89733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807" y="5227929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152130"/>
                </a:solidFill>
                <a:latin typeface="Arial"/>
              </a:rPr>
              <a:t>THE PROPRIETARY 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5520537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proprietary database of ~20,000 CEOs — adjusted for industry and size — benchmarks each management team’s real track record. For the behavioural read we bring in psychologists to assess the actions of the board and management, and apply our own interviewing — a core skill honed over countless meetings — to hear what they really say and mean.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This is where the investment process and the risk system meet: it decides whether we invest, how we engage, and how we protect the capital once we do.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Boardroom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3.9 In the boardroom: consensus, one conversation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structured divide-and-build approach — Sun Tzu’s principle of taking one position at a time — applied to align an entire governing team behind the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69" y="2292096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Map every motivation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84" y="2292096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One-on-one with each director and senior manager to understand their incentives, priorities and what truly matters to them — whether they have articulated it or not.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28441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969" y="3228441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Profile the whole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84" y="3228441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build a profile of every member of the governing team; with psychologists we model how each behaves in a group — not just one-on-one — anticipating the room before we enter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64787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69" y="4164787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Open with a small, reasonable 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84" y="4164787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Begin with a modest, easy-to-accept proposal. Early agreement is easy to give and sets a constructive, consistent tone for what follows.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101132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969" y="5101132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Win agreement one by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84" y="5101132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Secure each director individually and, with their consent, carry that endorsement to the next — building momentum and peer support so consensus forms before any formal meeting.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037478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5969" y="6037478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Build from there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84" y="6037478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Each small commitment makes the next step the natural, consistent choice — so the board arrives aligned, and decisions pass without a public fight.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same approach aligns management. Done well, the hard decisions are agreed quietly, in advance — not fought over in public.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3.10 How we use AI — and why it widens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hand the commoditised work to machines and spend the time we save on the parts that actually generate alpha — the hard, human, non-consensus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WHERE AI ACCELERATES US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AI does the heavy lifting on gathering and structuring public data — filings, transcripts, financials, news — at machine speed.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compresses the rote analysis competitors now also automate, so we reach a working picture faster and cheaper.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That frees our analysts’ time for the parts of the job that don’t scale — and don’t commoditise.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WHERE THE HUMAN EDGE IS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Our interviews: we read far more than a transcript — what is unsaid, how it is said — and we change the questions in real time as the conversation turns. AI can’t run that today.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Non-consensus truth: an LLM returns the most likely answer, so it is poor at conclusions that are true but not yet common knowledge — which is exactly where investment edge lives.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Engagement and execution: changing the company from the boardroom — not something a model can 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So more competition doesn’t shrink our edge — it widens it: the machine handles the commoditised work, and we spend the time saved on the hard things AI can’t do.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removing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4.2 Which risks we are trying to avoid —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levers — knowledge, influence, diversification and low leverage — each aimed at a specific risk we refuse to carry.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231191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0409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risk we refuse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114" y="2292096"/>
            <a:ext cx="3255345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2530" y="2292096"/>
            <a:ext cx="3065145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Why it is the one that matters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460" y="2292096"/>
            <a:ext cx="3365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27875" y="2292096"/>
            <a:ext cx="3174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the system removes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Permanent loss of capital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0114" y="2701747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72530" y="2701747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only loss that never recovers — and the one that ends careers.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25460" y="2701747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27875" y="2701747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Enter at the valuation floor; value only the rectifiable core; a structural 30–40% margin of safety.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350361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350361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/ execution risk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70114" y="3350361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72530" y="3350361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cheap stock can still be run into the ground from the inside.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25460" y="3350361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27875" y="3350361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Board seats and control posts — chair and committees — so we hold the levers to act, not just advise.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998976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998976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Concentration risk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70114" y="3998976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72530" y="3998976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One bad underlying driver can sink a focused book.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25460" y="3998976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27875" y="3998976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Hard limits on the economic drivers — sector, cycle, geography, maturity — never on industry labels.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647590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647590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Leverage / solvency risk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70114" y="4647590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72530" y="4647590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Debt turns a drawdown into a wipeout and forces selling at the bottom.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25460" y="4647590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27875" y="4647590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Leverage is low and isolated to a single investment — never at the fund level.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5296204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5296204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Unwanted, uncompensated exposure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114" y="5296204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72530" y="5296204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FX, raw materials and weak divisions add risk we are not paid to take.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25460" y="5296204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27875" y="5296204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Hedged or carved out — we keep only the exposure we actually underwrote.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944819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944819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Behavioural “hold-the-loser” risk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70114" y="5944819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72530" y="5944819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Conviction curdles into denial; managers average down on emotion.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25460" y="5944819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27875" y="5944819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and a determined (not forced) exit if the thesis is broken.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6729984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6729984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do not try to avoid volatility — we try to avoid the losses that do not come back. The limits and the board seat are what make that a discipline, not a hope.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4.3 Diversification by design: the risk limits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Hard limits on the underlying economic drivers — not industry labels — so the portfolio can never quietly become a single bet.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14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2385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Risk dimension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52999" y="2292096"/>
            <a:ext cx="2084884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5414" y="2292096"/>
            <a:ext cx="1909314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Max % of NAV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883" y="2292096"/>
            <a:ext cx="4352652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0298" y="2292096"/>
            <a:ext cx="417708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it is spread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Sector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52999" y="2701747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5414" y="2701747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883" y="2701747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0298" y="2701747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5 sectors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208934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208934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Economic cycle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52999" y="3208934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55414" y="3208934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883" y="3208934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40298" y="3208934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— at least 2 represented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716121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716121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Development maturity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52999" y="3716121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55414" y="3716121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883" y="3716121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0298" y="3716121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stage — at least 2 represented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223308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223308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Geography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52999" y="4223308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55414" y="4223308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883" y="4223308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40298" y="4223308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4 of 6 regions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4730496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4730496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Core ownership stake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52999" y="4730496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55414" y="4730496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40%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883" y="4730496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40298" y="4730496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8–12 high-conviction positions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237683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237683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Single financial position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52999" y="5237683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55414" y="5237683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20% long / ≤ 10% short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37883" y="5237683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40298" y="5237683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satellite book; single-name shorts ≤ 30% in total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5900928"/>
            <a:ext cx="8851613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5900928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Limits are set on the underlying macroeconomic drivers, not labels. Leverage is limited and isolated to the single investment; unwanted exposures — FX, raw materials, weak divisions — are hedged out.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4.4 How risk is governed: who decides,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holding is re-underwritten continuously by the people closest to it — with sizing and exits owned at the committee, and operations independent.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CADENCE — RE-UNDERWRITTEN, NOT SET-AND-FORGET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Continuous monitoring of every holding against the original thesis and operating plan.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Each quarter, the company’s operating model is rebuilt from new financials — earnings power, competitive position and economic-cycle exposure re-assessed.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Stress tests on each holding’s financial and operating performance to find weak spots and refine the action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WHO DECIDES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deal lead and investment team re-underwrite each name and propose the action.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Investment Committee owns position sizing and portfolio-level risk.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Operations, risk and valuation sit independent of the investment team — SEB · MUFG · KPMG verify every mark.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board seat is the lever to act — freeze bad capital allocation, change management.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And a hard backstop: automatic −10% / −20% / −30% triggers force a mandatory re-underwrite — and an exit where the thesis is broken — so no position spirals on portfolio-manager emotion.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Low cadence is the risk control — not the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objection: a higher deal count diversifies risk. In engaged ownership that logic inverts — every additional campaign compounds frictional, operational and reputational exposure. Concentration under board control is the discipline, not the hazard.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292096"/>
            <a:ext cx="43526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MATHEMATICS OF RUIN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604211"/>
            <a:ext cx="43526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0E1620"/>
                </a:solidFill>
                <a:latin typeface="Arial"/>
              </a:rPr>
              <a:t>Hold the loss rate fixed at 8%. The crisis count is not.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091891"/>
            <a:ext cx="4352652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3091891"/>
            <a:ext cx="58523" cy="1092403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9861" y="3091891"/>
            <a:ext cx="1133884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040" b="0" i="0" spc="-114">
                <a:solidFill>
                  <a:srgbClr val="314359"/>
                </a:solidFill>
                <a:latin typeface="Times New Roman"/>
              </a:rPr>
              <a:t>10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556A83"/>
                </a:solidFill>
                <a:latin typeface="Arial"/>
              </a:rPr>
              <a:t>DEALS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92268" y="3091891"/>
            <a:ext cx="2853000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Low cadence → ≈ 1 situation to contain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Highly vetted; a single underperformer to manage and contain.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359859"/>
            <a:ext cx="4352652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22" y="4359859"/>
            <a:ext cx="5852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9861" y="4359859"/>
            <a:ext cx="1133884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040" b="0" i="0" spc="-114">
                <a:solidFill>
                  <a:srgbClr val="314359"/>
                </a:solidFill>
                <a:latin typeface="Times New Roman"/>
              </a:rPr>
              <a:t>100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556A83"/>
                </a:solidFill>
                <a:latin typeface="Arial"/>
              </a:rPr>
              <a:t>DEALS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92268" y="4359859"/>
            <a:ext cx="2853000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High cadence → ≈ 8 concurrent crises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public engagement a “failure” is a broken turnaround or board battle — eight running at once.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5491276"/>
            <a:ext cx="4352652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" b="0" i="1">
                <a:solidFill>
                  <a:srgbClr val="556A83"/>
                </a:solidFill>
                <a:latin typeface="Arial"/>
              </a:rPr>
              <a:t>Absolute exposure to tail events scales with the number of transactions — not with the percentage loss rate.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84191" y="2292096"/>
            <a:ext cx="4242922" cy="7412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Activity is not risk management.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Diversification lowers idiosyncratic risk in passive equity; in engaged ownership it dilutes the board control that actually de-risks the asset.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4191" y="3033369"/>
            <a:ext cx="4242922" cy="1248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churn tax — measured, not asserted.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Each campaign carries a large fixed cost — ~$10.7m on average (Gantchev, 2013) — recovered only by holding through the operating turnaround, where the value is actually made: activist targets keep improving operationally for years after intervention (Bebchuk, Brav &amp; Jiang, 2015). A high-cadence book re-pays that cost every turn and exits before the change compounds; we hold until it does.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84191" y="4281829"/>
            <a:ext cx="4242922" cy="7217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Forced deployment lowers the bar.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high-velocity machine must keep buying — pushing managers to thinner margins of safety and weaker turnarounds to keep capital moving.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4191" y="5003596"/>
            <a:ext cx="4242922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Reputational surface area.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Every public campaign is an option on controversy. High velocity multiplies the headline surface; conviction holders win seats quietly.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4191" y="5676595"/>
            <a:ext cx="4242922" cy="195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Sources: Gantchev (2013), JFE; Bebchuk, Brav &amp; Jiang (2015), Columbia Law Review.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5891174"/>
            <a:ext cx="8873559" cy="92659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807" y="5891174"/>
            <a:ext cx="8522421" cy="926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Our record: 38 deals in 20 years — about one a year, held ~5 years across 8–12 names, at a 92% deal-level hit rate.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We pay these frictions once per hold and let earnings growth amortise them; a high-cadence book re-pays them every turn — taxing the compounding it claims to diversify.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the willingness to own publicly — and sit through a visible J-curve — is what competitors won’t, and what keeps the edge from being arbitraged away.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Visibility, not confrontation.</a:t>
            </a:r>
            <a:r>
              <a:rPr sz="1160">
                <a:solidFill>
                  <a:srgbClr val="0E1620"/>
                </a:solidFill>
                <a:latin typeface="Arial"/>
              </a:rPr>
              <a:t>  We win board seats by agreement — never a proxy war, and we walk away rather than fight — so the return comes from compounding earnings under that control, not from a public battle or a market re-rating.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will own publicly and see a multi-year engagement through a visible J-curve — so headline-shy, scale-constrained capital leaves the inefficiency to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4.6 Restructuring, honestly — and the headline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change is not always bloodless. Here is what we actually do — and why the headline risk is smaller, not larger, than with a brand-name activist.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ACTUALLY DO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reallocate capital to grow the winning core — not asset-strip for financial engineering (the raider / PE model we explicitly reject).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fix is usually redirecting investment and management focus; where cost must come out, it is to save and grow a viable business, not to dress it for a quick sale.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done by agreement with the board and management — constructive, not imposed; we would rather walk away than fight.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don’t claim it is costless: change can affect jobs and sites, and we own that honestly.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HEADLINE QUESTION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Adversarial, brand-name activists generate far more press — proxy fights and public campaigns are their tool, and their main event.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engage privately and by agreement, so there is rarely a public “battle” to report in the first place.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global brand attracts scrutiny; it does not deflect it — the biggest names draw the most coverage.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And as a small, reversible, daily-priced sleeve, the committee is never locked into a position that turns uncomfortable in the press.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grow good businesses, by agreement — and generate fewer headlines than the brand names, not more. We don’t pretend change is painless; we make sure it is constructive and reversible.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4.7 Earnings compound the value — re-rating is upside we don’t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Historically the returns came from a better business, not a higher multiple — and board control lets us realise them without waiting for the market.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ENGINE IS EARNINGS, NOT THE MULTIPLE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20-year record was driven by earnings, ROIC and ROIIC improvement — not by paying-up multiple expansion.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Every deal is underwritten to a constant exit multiple; a re-rating is modelled at zero and treated as optional upside.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As quality rises a higher multiple is often warranted — but the return never depends on the market granting it.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And if the industry degrades, even a constant multiple isn’t guaranteed — so the entry floor, bought at exhaustion below the core’s value, is what carries the downside.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WE DON’T NEED THE MARKET TO BANK IT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Board control returns cash directly — special dividends, buybacks and the sale of non-core divisions — without selling a share.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Concentrated stakes are realised through corporate transactions — trade sale, strategic buyer, take-private — that clear the whole block at fair value, not into thin daily liquidity.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If the market never re-rates, intrinsic value keeps compounding and we keep owning a better business — with no fund clock or capital calls, we are never a forced seller.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261811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261811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 flat share price is not a failed investment: the earnings keep compounding, the discount to intrinsic value widens, and the eventual buyer pays for the value we built.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4.8 When the thesis breaks: determined, not forced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patient case holds while the business compounds. When its competitive position weakens, we sell decisively — even at a discount — and diversification is what lets 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WHEN WE SELL — AND WHY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thesis breaks when the competitive position weakens — surfaced by a price-drop re-underwrite, new information from our board seat, or the news flow.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Then we sell. Not because we are forced to — no margin or capital calls — but because we are determined to: redeploying into a winner beats nursing a loser.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accept that the mark falls meanwhile: in an illiquid name our own selling pushes the price toward the now-lower intrinsic value. We take that cost knowingly.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Twenty years have taught us that hesitating here costs far more than the exit discount.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THE PROCESS AND PORTFOLIO MAKE IT WORK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purpose of our due diligence is to avoid businesses whose competitive position will deteriorate — so this is the exception, not the rule.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hold a portfolio, not a single bet, precisely so no one thesis can sink the fund.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Diversification is what lets us sell even an illiquid stake at the necessary discount and still stay within our risk limits.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board seat that surfaces the change early is also why we often see it before the market does.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Patient while the business compounds; decisive the moment it doesn’t — and diversified enough to act.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4.9 A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compounding intrinsic value;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4.10 Risk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wins control to drive the operational turn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4.11 Why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mandatory re-underwrite — and an exit where the thesis is broken — removing PM emotion.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Built for the committee: the harder objections, answered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volatility, headline and concentration (prior page), four structural objections decide a conservative allocation — each answered so the choice is defensible to a board, not just attractive in a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194614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1338" y="2292096"/>
            <a:ext cx="20336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33537" y="2292096"/>
            <a:ext cx="2523807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35953" y="2292096"/>
            <a:ext cx="236286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The concern beneath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57345" y="2292096"/>
            <a:ext cx="4133191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9760" y="2292096"/>
            <a:ext cx="3972252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The structural cover we provide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2779776"/>
            <a:ext cx="2194614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22" y="2779776"/>
            <a:ext cx="43892" cy="99486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0599" y="2887065"/>
            <a:ext cx="1975153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It doesn’t fit our public- or private-equity bucket.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33537" y="2779776"/>
            <a:ext cx="2523807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65214" y="2887065"/>
            <a:ext cx="2304345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Public-sleeve tracking error invites scrutiny; PE-sleeve liquidity invites the auditors.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2779776"/>
            <a:ext cx="4133191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89021" y="2887065"/>
            <a:ext cx="3913729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Sits in the PE sleeve as a liquidity-positive complement — PE-style operational returns (~16% net) with daily marks and zero capital calls, so it cushions the denominator effect instead of feeding it.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774643"/>
            <a:ext cx="2194614" cy="9948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22" y="3774643"/>
            <a:ext cx="43892" cy="99486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3881932"/>
            <a:ext cx="1975153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 boutique carries key-person risk for a small sleeve.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33537" y="3774643"/>
            <a:ext cx="2523807" cy="9948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65214" y="3881932"/>
            <a:ext cx="2304345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If a boutique stumbles, the choice is hard to defend without a household name behind it.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57345" y="3774643"/>
            <a:ext cx="4133191" cy="9948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89021" y="3881932"/>
            <a:ext cx="3913729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boutique team inside an institutional fortress: investment, risk and valuation segregated; custody SEB, administration MUFG, audit KPMG — an independently validated, tier-one paper trail.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4769510"/>
            <a:ext cx="2194614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8922" y="4769510"/>
            <a:ext cx="43892" cy="99486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0599" y="4876800"/>
            <a:ext cx="1975153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~One mid-cap deal a year can’t move our needle.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33537" y="4769510"/>
            <a:ext cx="2523807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65214" y="4876800"/>
            <a:ext cx="2304345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Hard to justify the team’s underwriting bandwidth on a 1–3% sleeve.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57345" y="4769510"/>
            <a:ext cx="4133191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89021" y="4876800"/>
            <a:ext cx="3913729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first-right co-investment “free look”: scale nominal exposure into the highest-conviction, already board-de-risked targets — without diluting the core fund’s agility.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5852160"/>
            <a:ext cx="8851613" cy="95585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1807" y="5852160"/>
            <a:ext cx="4791575" cy="955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1">
                <a:solidFill>
                  <a:srgbClr val="FFFFFF"/>
                </a:solidFill>
                <a:latin typeface="Arial"/>
              </a:rPr>
              <a:t>And the statistical blanket: across 20 years of live cycles, even the single unluckiest entry month still compounded positively — net of all fees.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23114" y="5920435"/>
            <a:ext cx="1207038" cy="4876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60" b="0" i="0">
                <a:solidFill>
                  <a:srgbClr val="FFFFFF"/>
                </a:solidFill>
                <a:latin typeface="Times New Roman"/>
              </a:rPr>
              <a:t>~19%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23114" y="6437376"/>
            <a:ext cx="1207038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 i="0">
                <a:solidFill>
                  <a:srgbClr val="E2E5E9"/>
                </a:solidFill>
                <a:latin typeface="Arial"/>
              </a:rPr>
              <a:t>avg net, any
entry month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30152" y="5920435"/>
            <a:ext cx="1207038" cy="4876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60" b="0" i="0">
                <a:solidFill>
                  <a:srgbClr val="FFFFFF"/>
                </a:solidFill>
                <a:latin typeface="Times New Roman"/>
              </a:rPr>
              <a:t>+7%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30152" y="6437376"/>
            <a:ext cx="1207038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 i="0">
                <a:solidFill>
                  <a:srgbClr val="E2E5E9"/>
                </a:solidFill>
                <a:latin typeface="Arial"/>
              </a:rPr>
              <a:t>worst-ever
entry month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37190" y="5920435"/>
            <a:ext cx="1207038" cy="4876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60" b="0" i="0">
                <a:solidFill>
                  <a:srgbClr val="FFFFFF"/>
                </a:solidFill>
                <a:latin typeface="Times New Roman"/>
              </a:rPr>
              <a:t>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37190" y="6437376"/>
            <a:ext cx="1207038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 i="0">
                <a:solidFill>
                  <a:srgbClr val="E2E5E9"/>
                </a:solidFill>
                <a:latin typeface="Arial"/>
              </a:rPr>
              <a:t>lost over the
hold period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co-investment “free look”: a post-engagement drawdown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decouple the co-investment’s timing from the engagement: the main fund bears the execution risk, and LP capital enters only after the turnaround is board-secured — when the public market discounts the price.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114145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1338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1 · MAIN FUND LEADS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Initiates the position, clears the tollgates and secures the board seat — the capital-allocation kill switch. Fundamental risk is structurally lowered.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94545" y="2701747"/>
            <a:ext cx="248723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84745" y="2292096"/>
            <a:ext cx="2114145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87160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2 · FACILITY UNCALLED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84745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01791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Co-investment is committed but dormant through the engagement — no upfront execution risk, control premium or broken-deal cost for the LP.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40368" y="2701747"/>
            <a:ext cx="248723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0568" y="2292096"/>
            <a:ext cx="2114145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32983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3 · VALUATION TRIGGER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30568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4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Activated only if the public market later dislocates and discounts the price — after the board seat and operating plan are confirmed.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86190" y="2701747"/>
            <a:ext cx="248723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76390" y="2292096"/>
            <a:ext cx="211414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78806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4 · LP CAPITAL ENTERS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76390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93436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Capital draws instantly at the pre-agreed threshold, accumulating at the discounted multiple — below the main fund’s own basis.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4077003"/>
            <a:ext cx="4352652" cy="1804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THE CO-INVESTOR GETS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De-risked, at a discount.</a:t>
            </a:r>
            <a:r>
              <a:rPr sz="760">
                <a:solidFill>
                  <a:srgbClr val="0E1620"/>
                </a:solidFill>
                <a:latin typeface="Arial"/>
              </a:rPr>
              <a:t> — a governed, ROIIC-compounding core bought after the plan is secured — at a basis below the main fund’s.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Zero frictional drag.</a:t>
            </a:r>
            <a:r>
              <a:rPr sz="760">
                <a:solidFill>
                  <a:srgbClr val="0E1620"/>
                </a:solidFill>
                <a:latin typeface="Arial"/>
              </a:rPr>
              <a:t> — no broken-deal, advisory or syndication fees; ~20,000-company research is baseline, so 100% of drawn capital compounds in the equity.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scramble.</a:t>
            </a:r>
            <a:r>
              <a:rPr sz="760">
                <a:solidFill>
                  <a:srgbClr val="0E1620"/>
                </a:solidFill>
                <a:latin typeface="Arial"/>
              </a:rPr>
              <a:t> — pre-agreed terms bypass the 3–4-week syndication — capital hits the dislocation instantly at the optimal basis.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84191" y="4077003"/>
            <a:ext cx="4206345" cy="1804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ALIGNMENT &amp; EXIT GOVERNANCE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Pro-rata exit.</a:t>
            </a:r>
            <a:r>
              <a:rPr sz="760">
                <a:solidFill>
                  <a:srgbClr val="0E1620"/>
                </a:solidFill>
                <a:latin typeface="Arial"/>
              </a:rPr>
              <a:t> — bound to exit in lockstep with the main fund — no separate timing, full parity with the Investment Committee.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Patient-capital enforcement.</a:t>
            </a:r>
            <a:r>
              <a:rPr sz="760">
                <a:solidFill>
                  <a:srgbClr val="0E1620"/>
                </a:solidFill>
                <a:latin typeface="Arial"/>
              </a:rPr>
              <a:t> — the same multi-year holding discipline — no reactionary selling into daily liquidity before the restructuring shows in cash flows and earnings.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910681"/>
            <a:ext cx="8851613" cy="89733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1807" y="5910681"/>
            <a:ext cx="8485844" cy="8973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Decoupled in time, optical volatility becomes a pricing advantage — the ultimate institutional free look: turnaround execution risk, stripped of deal costs, priced at a market-driven discount.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Co-investment term sheet: the drawdown mechanics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Dormant until the board seat is secured; drawn only on a 20–30% dislocation to accumulate a 10–20% block; zero fees until the promote; converts to a permanent capital vehicle at 2.5×.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6707" y="2292096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1 · ACTIVATION PREREQUISITES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682240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1338" y="2770022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Board control secured</a:t>
            </a:r>
            <a:r>
              <a:rPr sz="680">
                <a:solidFill>
                  <a:srgbClr val="0E1620"/>
                </a:solidFill>
                <a:latin typeface="Arial"/>
              </a:rPr>
              <a:t> — the vehicle stays dormant until the main fund holds the board seat and the capital-allocation playbook.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Zero blind-pool risk</a:t>
            </a:r>
            <a:r>
              <a:rPr sz="680">
                <a:solidFill>
                  <a:srgbClr val="0E1620"/>
                </a:solidFill>
                <a:latin typeface="Arial"/>
              </a:rPr>
              <a:t> — any drawdown notice names a vetted asset the team already runs from the inside.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8476" y="2292096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16260" y="2292096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2 · DRAWDOWN TRIGGER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28476" y="2682240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891" y="2770022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Price-dislocation gate</a:t>
            </a:r>
            <a:r>
              <a:rPr sz="680">
                <a:solidFill>
                  <a:srgbClr val="0E1620"/>
                </a:solidFill>
                <a:latin typeface="Arial"/>
              </a:rPr>
              <a:t> — capital is called only on a severe optical drawdown — a formal 20–30% price drop.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Offensive accumulation</a:t>
            </a:r>
            <a:r>
              <a:rPr sz="680">
                <a:solidFill>
                  <a:srgbClr val="0E1620"/>
                </a:solidFill>
                <a:latin typeface="Arial"/>
              </a:rPr>
              <a:t> — build a 10–20% block at exhaustion prices — arbitrage on market psychology, not a falling knife: the board seat already floors fundamental risk.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18029" y="2292096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5813" y="2292096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3 · CALL EXECUTION &amp; EXPIRY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18029" y="2682240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20444" y="2770022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Notice period</a:t>
            </a:r>
            <a:r>
              <a:rPr sz="680">
                <a:solidFill>
                  <a:srgbClr val="0E1620"/>
                </a:solidFill>
                <a:latin typeface="Arial"/>
              </a:rPr>
              <a:t> — a standard 10–15 business-day capital call funds the block build.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Expiration window</a:t>
            </a:r>
            <a:r>
              <a:rPr sz="680">
                <a:solidFill>
                  <a:srgbClr val="0E1620"/>
                </a:solidFill>
                <a:latin typeface="Arial"/>
              </a:rPr>
              <a:t> — capped to 18–24 months post-board-seat; if no J-curve appears, the commitment expires uncalled — freeing the LP’s risk budget.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3969715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3969715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4 · FEES &amp; PROMOTE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4359859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1338" y="4447641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Zero management fees</a:t>
            </a:r>
            <a:r>
              <a:rPr sz="680">
                <a:solidFill>
                  <a:srgbClr val="0E1620"/>
                </a:solidFill>
                <a:latin typeface="Arial"/>
              </a:rPr>
              <a:t> — through dormancy and accumulation — only a capped pass-through of verified admin and legal costs.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2.5× super-promote</a:t>
            </a:r>
            <a:r>
              <a:rPr sz="680">
                <a:solidFill>
                  <a:srgbClr val="0E1620"/>
                </a:solidFill>
                <a:latin typeface="Arial"/>
              </a:rPr>
              <a:t> — the manager takes a 20% stake in the listed vehicle only at 2.5× drawn capital, tested continuously (not a single date) — the moment LPs lock a 2.0× net return.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28476" y="3969715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16260" y="3969715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5 · LIQUIDITY — THE PCV FLIP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8476" y="4359859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30891" y="4447641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Direct listing at NAV</a:t>
            </a:r>
            <a:r>
              <a:rPr sz="680">
                <a:solidFill>
                  <a:srgbClr val="0E1620"/>
                </a:solidFill>
                <a:latin typeface="Arial"/>
              </a:rPr>
              <a:t> — a pre-agreed direct listing — a route the team has executed in Sweden — converts the vehicle to a PCV at NAV, with no bookbuild discount.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NAV-tight &amp; evergreen</a:t>
            </a:r>
            <a:r>
              <a:rPr sz="680">
                <a:solidFill>
                  <a:srgbClr val="0E1620"/>
                </a:solidFill>
                <a:latin typeface="Arial"/>
              </a:rPr>
              <a:t> — a mandatory buyback whenever the price trades &gt;10% below NAV holds the discount tight; LPs get daily liquidity, the manager keeps infinite duration.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18029" y="3969715"/>
            <a:ext cx="2872507" cy="39014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05813" y="3969715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LP PROTECTIONS · PROPOSED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18029" y="4359859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20444" y="4447641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No gaming the conversion</a:t>
            </a:r>
            <a:r>
              <a:rPr sz="680">
                <a:solidFill>
                  <a:srgbClr val="0E1620"/>
                </a:solidFill>
                <a:latin typeface="Arial"/>
              </a:rPr>
              <a:t> — NAV is mark-to-market from the listed holdings, valued on a 10-day VWAP — no independent appraisal, and a continuous test leaves no single window the manager can time.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Buyback &amp; negative control</a:t>
            </a:r>
            <a:r>
              <a:rPr sz="680">
                <a:solidFill>
                  <a:srgbClr val="0E1620"/>
                </a:solidFill>
                <a:latin typeface="Arial"/>
              </a:rPr>
              <a:t> — the &gt;10%-discount buyback is mandated in the listed vehicle; an LPAC veto on conversion ratio and promote terms; NAV redemption if no listing by the longstop.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676595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807" y="5676595"/>
            <a:ext cx="8485844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Fees accrue to LPs first: nothing to the manager until 2.5× — at which point the LP’s 2.0× net is already locked.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6261811"/>
            <a:ext cx="885161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40" b="0" i="1">
                <a:solidFill>
                  <a:srgbClr val="556A83"/>
                </a:solidFill>
                <a:latin typeface="Arial"/>
              </a:rPr>
              <a:t>Indicative terms for IC / LP discussion, subject to final fund documentation; the “LP protections” cell is a proposal, not yet agreed.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60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61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35 of 38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21 deals  ·  weighted MOIC 2.6x  ·  capital-weighted IRR 38.4% (+25 pts vs index)  ·  average IRR 67.7% (+53.5 pts)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38-deal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10 deals  ·  weighted MOIC 2.0x  ·  capital-weighted IRR 22% (+9.9 pts vs index)  ·  average IRR 31.7% (+19.6 pts)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7.2bn invested → SEK 14.3bn returned.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65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38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(35 of 38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 of 38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68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69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15.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71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6.4 A drawdown you can actually defend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fear is defending a halved position in a live crisis review. The arithmetic — and the down-capture — make this the line item you point to with relief, not apology.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72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279499" cy="41452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41452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807" y="2467660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FULL-FUND ARITHMETIC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2877312"/>
            <a:ext cx="3950306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 spc="-90">
                <a:solidFill>
                  <a:srgbClr val="314359"/>
                </a:solidFill>
                <a:latin typeface="Times New Roman"/>
              </a:rPr>
              <a:t>≈ 1% of the fund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807" y="3540556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is what a 50% drawdown in a 2% sleeve costs at the total-fund level — inside a normal month’s equity noise.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4291582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≈ 1.5% at a 3% sleeve — recoverable, and small.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807" y="4925568"/>
            <a:ext cx="3950306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Sized so that no single name — and no sleeve-wide drawdown — can move the fund’s outcome. The position is liquid and daily-priced, so the committee can exit at will: it is never locked in defending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614" y="2292096"/>
            <a:ext cx="4352652" cy="414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WHY IT CUSHIONS, NOT AMPLIFIES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At 43% down-capture, in a macro selloff the sleeve falls roughly half as much as the equity book — it softens the crisis, it doesn’t add to it.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Down months average ~1.5% versus the market’s ~3.8%.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marks and zero capital calls — no forced selling of good assets at the bottom (the denominator effect that traps PE allocators).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two ~50% episodes were idiosyncratic and fully recovered (2010, 2020); Sortino 2.40.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A 50% drawdown on a small, liquid, low-down-capture sleeve is a ~1% fund event you can exit at will — not a career-defining hole you are locked into. The PE alternative is also down ~50%, but invisible and illiquid.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6.5 What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73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74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75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76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77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78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79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82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force a re-underwrite and exit a broken thesis — capping drawdowns and removing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developed-market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re-underwrite and exit a broken thesis.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(38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Is a household name really the safer choice?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instinct to reach for a tier-one brand is understandable — but for a fund our size it adds correlated risk and cost, and it is not what discharges fiduciary duty.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BRAND PROMISES COVER — BUT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“No one is fired for picking a household name.” Yet fiduciary duty is discharged by process and outcome — not by brand recognition.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mega-cap activist’s returns are leveraged beta — ~0.89 correlated to equities once de-smoothed: correlated risk dressed as diversification, at tier-one fees.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When that book falls with the market, the brand is no defence — and you have paid up for the privilege.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Reaching for the familiar name is herding; crowding into the same mega-cap trades is itself a fiduciary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ACTUALLY PROTECTS A FIDUCIARY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documented, repeatable process and a 20-year record independently reconciled and audited — SEB · MUFG · KPMG.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transparency — a drawdown you can explain with facts, and exit at will — not an opaque mark you must take on faith.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Alignment — the team invests its own capital alongside yours.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genuine 0.44-correlation diversifier that defends the book when the index falls — the opposite of buying more of what you already own.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is reputational comfort, not fiduciary protection. The defensible choice is the one backed by process, independent validation and genuine diversification — not the most familiar logo.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OWNERSHIP, ACTIVISM &amp; CAPITAL ALLOCATION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68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68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Jiang, W., &amp; Keusch, T. (2020). Dancing with activists.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137</a:t>
            </a:r>
            <a:r>
              <a:rPr sz="680" i="0">
                <a:solidFill>
                  <a:srgbClr val="0E1620"/>
                </a:solidFill>
                <a:latin typeface="Arial"/>
              </a:rPr>
              <a:t>(1), 1–41. https://doi.org/10.1016/j.jfineco.2020.01.001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J., Mayer, C., &amp; Rossi, S. (2009). Returns to shareholder activism: Evidence from a clinical study of the Hermes UK Focus Fund.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22</a:t>
            </a:r>
            <a:r>
              <a:rPr sz="680" i="0">
                <a:solidFill>
                  <a:srgbClr val="0E1620"/>
                </a:solidFill>
                <a:latin typeface="Arial"/>
              </a:rPr>
              <a:t>(8), 3093–3129. https://doi.org/10.1093/rfs/hhn054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 R., Grant, J., &amp; Wagner, H. F. (2017). Returns to hedge fund activism: An international study.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30</a:t>
            </a:r>
            <a:r>
              <a:rPr sz="680" i="0">
                <a:solidFill>
                  <a:srgbClr val="0E1620"/>
                </a:solidFill>
                <a:latin typeface="Arial"/>
              </a:rPr>
              <a:t>(9), 2933–2971. https://doi.org/10.1093/rfs/hhx048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68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Gantchev, N. (2013). The costs of shareholder activism: Evidence from a sequential decision model.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107</a:t>
            </a:r>
            <a:r>
              <a:rPr sz="680" i="0">
                <a:solidFill>
                  <a:srgbClr val="0E1620"/>
                </a:solidFill>
                <a:latin typeface="Arial"/>
              </a:rPr>
              <a:t>(3), 610–631. https://doi.org/10.1016/j.jfineco.2012.09.007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68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Lindlbauer, N. (2025). Unpacking the inertia in resource allocation adjustments of multi-business firms. </a:t>
            </a:r>
            <a:r>
              <a:rPr sz="680" i="1">
                <a:solidFill>
                  <a:srgbClr val="0E1620"/>
                </a:solidFill>
                <a:latin typeface="Arial"/>
              </a:rPr>
              <a:t>Strategic Management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, advance online publication. https://doi.org/10.1002/smj.3722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Scharfstein, D. S., &amp; Stein, J. C. (2000). The dark side of internal capital markets: Divisional rent-seeking and inefficient investment.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55</a:t>
            </a:r>
            <a:r>
              <a:rPr sz="680" i="0">
                <a:solidFill>
                  <a:srgbClr val="0E1620"/>
                </a:solidFill>
                <a:latin typeface="Arial"/>
              </a:rPr>
              <a:t>(6), 2537–2564. https://doi.org/10.1111/0022-1082.00299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PASSIVE INVESTING &amp; MARKET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Ben-David, I., Franzoni, F., &amp; Moussawi, R. (2018). Do ETFs increase volatility?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(6), 2471–2535. https://doi.org/10.1111/jofi.12727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Bond, P., &amp; García, D. (2022). The equilibrium consequences of indexing.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35</a:t>
            </a:r>
            <a:r>
              <a:rPr sz="680" i="0">
                <a:solidFill>
                  <a:srgbClr val="0E1620"/>
                </a:solidFill>
                <a:latin typeface="Arial"/>
              </a:rPr>
              <a:t>(7), 3175–3230.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Chen, H., Noronha, G., &amp; Singal, V. (2006). Index changes and losses to index fund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Financial Analysts Journal, 62</a:t>
            </a:r>
            <a:r>
              <a:rPr sz="680" i="0">
                <a:solidFill>
                  <a:srgbClr val="0E1620"/>
                </a:solidFill>
                <a:latin typeface="Arial"/>
              </a:rPr>
              <a:t>(4), 31–47. https://doi.org/10.2469/faj.v62.n4.4185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Chinco, A., &amp; Sammon, M. (2024). The passive-ownership share is double what you think.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Gabaix, X., &amp; Koijen, R. S. J. (2021). In search of the origins of financial fluctuations: The inelastic markets hypothesis.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28967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https://doi.org/10.3386/w28967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Kim, A. G., Muhn, M., &amp; Nikolaev, V. V. (2024). Financial statement analysis with large language models. </a:t>
            </a:r>
            <a:r>
              <a:rPr sz="680" i="1">
                <a:solidFill>
                  <a:srgbClr val="0E1620"/>
                </a:solidFill>
                <a:latin typeface="Arial"/>
              </a:rPr>
              <a:t>Chicago Booth Research Paper (working paper)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https://doi.org/10.48550/arXiv.2407.17866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McLean, R. D., &amp; Pontiff, J. (2016). Does academic research destroy stock return predictability?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71</a:t>
            </a:r>
            <a:r>
              <a:rPr sz="680" i="0">
                <a:solidFill>
                  <a:srgbClr val="0E1620"/>
                </a:solidFill>
                <a:latin typeface="Arial"/>
              </a:rPr>
              <a:t>(1), 5–32. https://doi.org/10.1111/jofi.12365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Petajisto, A. (2011). The index premium and its hidden cost for index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Empirical Finance, 18</a:t>
            </a:r>
            <a:r>
              <a:rPr sz="680" i="0">
                <a:solidFill>
                  <a:srgbClr val="0E1620"/>
                </a:solidFill>
                <a:latin typeface="Arial"/>
              </a:rPr>
              <a:t>(2), 271–288. https://doi.org/10.1016/j.jempfin.2010.10.002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Wurgler, J. (2011). On the economic consequences of index-linked investing.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16376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https://doi.org/10.3386/w16376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(CONT.)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3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MSCI.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MSCI ACWI IMI Index and MSCI ACWI Mid Cap Index — factsheets.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MSCI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World Federation of Exchanges.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WFE market statistics — number of listed companies.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WFE.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