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>
                <a:solidFill>
                  <a:srgbClr val="5A636E"/>
                </a:solidFill>
              </a:rPr>
              <a:t>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4253B"/>
              </a:solidFill>
            </a:ln>
          </c:spPr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>
                <a:solidFill>
                  <a:srgbClr val="5A636E"/>
                </a:solidFill>
              </a:rPr>
              <a:t>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4253B"/>
              </a:solidFill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8A99AB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>
                <a:solidFill>
                  <a:srgbClr val="5A636E"/>
                </a:solidFill>
              </a:rPr>
              <a:t>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4253B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8A99AB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33384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33384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2210068" cy="47548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114800"/>
            <a:ext cx="457200" cy="27940"/>
          </a:xfrm>
          <a:prstGeom prst="rect">
            <a:avLst/>
          </a:prstGeom>
          <a:solidFill>
            <a:srgbClr val="8A99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4343400"/>
            <a:ext cx="107899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4200" b="0" i="0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0" i="1">
                <a:solidFill>
                  <a:srgbClr val="C9D3DD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03504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8A99AB"/>
                </a:solidFill>
                <a:latin typeface="Calibri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96012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What this presentation covers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83080"/>
            <a:ext cx="1078992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2000" b="1">
                <a:solidFill>
                  <a:srgbClr val="4A5D75"/>
                </a:solidFill>
                <a:latin typeface="Times New Roman"/>
              </a:rPr>
              <a:t>Part I   </a:t>
            </a:r>
            <a:r>
              <a:rPr sz="2000" b="1">
                <a:solidFill>
                  <a:srgbClr val="1E334E"/>
                </a:solidFill>
                <a:latin typeface="Times New Roman"/>
              </a:rPr>
              <a:t>Why allocate to engaged ownership</a:t>
            </a:r>
          </a:p>
          <a:p>
            <a:pPr>
              <a:lnSpc>
                <a:spcPct val="112000"/>
              </a:lnSpc>
              <a:spcAft>
                <a:spcPts val="2000"/>
              </a:spcAft>
            </a:pPr>
            <a:r>
              <a:rPr sz="1500">
                <a:solidFill>
                  <a:srgbClr val="333840"/>
                </a:solidFill>
                <a:latin typeface="Calibri"/>
              </a:rPr>
              <a:t>The asset-class case: a catalyst-driven, diversifying source of equity return that fits a long-horizon, fiduciary mandate.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2000" b="1">
                <a:solidFill>
                  <a:srgbClr val="4A5D75"/>
                </a:solidFill>
                <a:latin typeface="Times New Roman"/>
              </a:rPr>
              <a:t>Part II   </a:t>
            </a:r>
            <a:r>
              <a:rPr sz="2000" b="1">
                <a:solidFill>
                  <a:srgbClr val="1E334E"/>
                </a:solidFill>
                <a:latin typeface="Times New Roman"/>
              </a:rPr>
              <a:t>Why choose Athanase</a:t>
            </a:r>
          </a:p>
          <a:p>
            <a:pPr>
              <a:lnSpc>
                <a:spcPct val="112000"/>
              </a:lnSpc>
              <a:spcAft>
                <a:spcPts val="2000"/>
              </a:spcAft>
            </a:pPr>
            <a:r>
              <a:rPr sz="1500">
                <a:solidFill>
                  <a:srgbClr val="333840"/>
                </a:solidFill>
                <a:latin typeface="Calibri"/>
              </a:rPr>
              <a:t>Among engaged owners, the team, opportunity set, margin-for-error and 20-year track record that distinguish Athanase Industrial Partner.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1989060" cy="42793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788920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8A99AB"/>
                </a:solidFill>
                <a:latin typeface="Calibri"/>
              </a:rPr>
              <a:t>PART I  ·  THE ASSET CLASS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108960"/>
            <a:ext cx="1033272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4000" b="0" i="1">
                <a:solidFill>
                  <a:srgbClr val="C9D3DD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488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~7% announcement return.</a:t>
            </a:r>
            <a:r>
              <a:rPr sz="1550">
                <a:solidFill>
                  <a:srgbClr val="333840"/>
                </a:solidFill>
                <a:latin typeface="Calibri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~10.2% around the 13D,</a:t>
            </a:r>
            <a:r>
              <a:rPr sz="1550">
                <a:solidFill>
                  <a:srgbClr val="333840"/>
                </a:solidFill>
                <a:latin typeface="Calibri"/>
              </a:rPr>
              <a:t>  plus a further ~11.4% over the next year for engaged-owner targets (Klein &amp; Zur, 2009).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No long-term give-back.</a:t>
            </a:r>
            <a:r>
              <a:rPr sz="1550">
                <a:solidFill>
                  <a:srgbClr val="333840"/>
                </a:solidFill>
                <a:latin typeface="Calibri"/>
              </a:rPr>
              <a:t>  ~2,000 interventions show no negative drift and no “pump-and-dump” (Bebchuk, Brav &amp; Jiang, 2015).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Real, not financial, value.</a:t>
            </a:r>
            <a:r>
              <a:rPr sz="1550">
                <a:solidFill>
                  <a:srgbClr val="333840"/>
                </a:solidFill>
                <a:latin typeface="Calibri"/>
              </a:rPr>
              <a:t>  Production efficiency improves in the three years after intervention (Brav, Jiang &amp; Kim, 2015).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Idiosyncratic alpha.</a:t>
            </a:r>
            <a:r>
              <a:rPr sz="1550">
                <a:solidFill>
                  <a:srgbClr val="333840"/>
                </a:solidFill>
                <a:latin typeface="Calibri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96012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830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Calibri"/>
              </a:rPr>
              <a:t>›  </a:t>
            </a:r>
            <a:r>
              <a:rPr sz="1650" b="1">
                <a:solidFill>
                  <a:srgbClr val="1E334E"/>
                </a:solidFill>
                <a:latin typeface="Calibri"/>
              </a:rPr>
              <a:t>Patient capital wins.</a:t>
            </a:r>
            <a:r>
              <a:rPr sz="1650">
                <a:solidFill>
                  <a:srgbClr val="333840"/>
                </a:solidFill>
                <a:latin typeface="Calibri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Calibri"/>
              </a:rPr>
              <a:t>›  </a:t>
            </a:r>
            <a:r>
              <a:rPr sz="1650" b="1">
                <a:solidFill>
                  <a:srgbClr val="1E334E"/>
                </a:solidFill>
                <a:latin typeface="Calibri"/>
              </a:rPr>
              <a:t>Stewardship is the duty.</a:t>
            </a:r>
            <a:r>
              <a:rPr sz="1650">
                <a:solidFill>
                  <a:srgbClr val="333840"/>
                </a:solidFill>
                <a:latin typeface="Calibri"/>
              </a:rPr>
              <a:t>  Engaged ownership expresses fiduciary obligation (UK Stewardship Code; UN PRI) rather than conflicting with it.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Calibri"/>
              </a:rPr>
              <a:t>›  </a:t>
            </a:r>
            <a:r>
              <a:rPr sz="1650" b="1">
                <a:solidFill>
                  <a:srgbClr val="1E334E"/>
                </a:solidFill>
                <a:latin typeface="Calibri"/>
              </a:rPr>
              <a:t>Mission alignment.</a:t>
            </a:r>
            <a:r>
              <a:rPr sz="1650">
                <a:solidFill>
                  <a:srgbClr val="333840"/>
                </a:solidFill>
                <a:latin typeface="Calibri"/>
              </a:rPr>
              <a:t>  Demanding accountability and good governance reflects institutional values and is defensible to beneficiaries.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Calibri"/>
              </a:rPr>
              <a:t>›  </a:t>
            </a:r>
            <a:r>
              <a:rPr sz="1650" b="1">
                <a:solidFill>
                  <a:srgbClr val="1E334E"/>
                </a:solidFill>
                <a:latin typeface="Calibri"/>
              </a:rPr>
              <a:t>Engagement as risk management.</a:t>
            </a:r>
            <a:r>
              <a:rPr sz="1650">
                <a:solidFill>
                  <a:srgbClr val="333840"/>
                </a:solidFill>
                <a:latin typeface="Calibri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96012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830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Calibri"/>
              </a:rPr>
              <a:t>›  </a:t>
            </a:r>
            <a:r>
              <a:rPr sz="1650" b="1">
                <a:solidFill>
                  <a:srgbClr val="1E334E"/>
                </a:solidFill>
                <a:latin typeface="Calibri"/>
              </a:rPr>
              <a:t>A distinct return engine.</a:t>
            </a:r>
            <a:r>
              <a:rPr sz="1650">
                <a:solidFill>
                  <a:srgbClr val="333840"/>
                </a:solidFill>
                <a:latin typeface="Calibri"/>
              </a:rPr>
              <a:t>  Alpha driven by proxy contests, spin-offs and capital-return programmes — largely independent of rates, growth and inflation.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Calibri"/>
              </a:rPr>
              <a:t>›  </a:t>
            </a:r>
            <a:r>
              <a:rPr sz="1650" b="1">
                <a:solidFill>
                  <a:srgbClr val="1E334E"/>
                </a:solidFill>
                <a:latin typeface="Calibri"/>
              </a:rPr>
              <a:t>Diversifies the equity book.</a:t>
            </a:r>
            <a:r>
              <a:rPr sz="1650">
                <a:solidFill>
                  <a:srgbClr val="333840"/>
                </a:solidFill>
                <a:latin typeface="Calibri"/>
              </a:rPr>
              <a:t>  Small- and mid-cap value and special situations, typically underweight in institutional portfolios.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Calibri"/>
              </a:rPr>
              <a:t>›  </a:t>
            </a:r>
            <a:r>
              <a:rPr sz="1650" b="1">
                <a:solidFill>
                  <a:srgbClr val="1E334E"/>
                </a:solidFill>
                <a:latin typeface="Calibri"/>
              </a:rPr>
              <a:t>Counter-cyclical dry powder.</a:t>
            </a:r>
            <a:r>
              <a:rPr sz="1650">
                <a:solidFill>
                  <a:srgbClr val="333840"/>
                </a:solidFill>
                <a:latin typeface="Calibri"/>
              </a:rPr>
              <a:t>  Dislocations create the next targets; patient capital deploys into weakness rather than selling it.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Calibri"/>
              </a:rPr>
              <a:t>›  </a:t>
            </a:r>
            <a:r>
              <a:rPr sz="1650" b="1">
                <a:solidFill>
                  <a:srgbClr val="1E334E"/>
                </a:solidFill>
                <a:latin typeface="Calibri"/>
              </a:rPr>
              <a:t>PE-style upside, public-market terms.</a:t>
            </a:r>
            <a:r>
              <a:rPr sz="1650">
                <a:solidFill>
                  <a:srgbClr val="333840"/>
                </a:solidFill>
                <a:latin typeface="Calibri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96012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830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Calibri"/>
              </a:rPr>
              <a:t>›  </a:t>
            </a:r>
            <a:r>
              <a:rPr sz="1650" b="1">
                <a:solidFill>
                  <a:srgbClr val="1E334E"/>
                </a:solidFill>
                <a:latin typeface="Calibri"/>
              </a:rPr>
              <a:t>Applied governance.</a:t>
            </a:r>
            <a:r>
              <a:rPr sz="1650">
                <a:solidFill>
                  <a:srgbClr val="333840"/>
                </a:solidFill>
                <a:latin typeface="Calibri"/>
              </a:rPr>
              <a:t>  Board independence, pay-for-performance and capital discipline are the “G” of ESG put into practice.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Calibri"/>
              </a:rPr>
              <a:t>›  </a:t>
            </a:r>
            <a:r>
              <a:rPr sz="1650" b="1">
                <a:solidFill>
                  <a:srgbClr val="1E334E"/>
                </a:solidFill>
                <a:latin typeface="Calibri"/>
              </a:rPr>
              <a:t>Constructive engagement.</a:t>
            </a:r>
            <a:r>
              <a:rPr sz="1650">
                <a:solidFill>
                  <a:srgbClr val="333840"/>
                </a:solidFill>
                <a:latin typeface="Calibri"/>
              </a:rPr>
              <a:t>  Return and stewardship objectives expressed through one allocation, disciplined by a value thesis.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Calibri"/>
              </a:rPr>
              <a:t>›  </a:t>
            </a:r>
            <a:r>
              <a:rPr sz="1650" b="1">
                <a:solidFill>
                  <a:srgbClr val="1E334E"/>
                </a:solidFill>
                <a:latin typeface="Calibri"/>
              </a:rPr>
              <a:t>A positive externality.</a:t>
            </a:r>
            <a:r>
              <a:rPr sz="1650">
                <a:solidFill>
                  <a:srgbClr val="333840"/>
                </a:solidFill>
                <a:latin typeface="Calibri"/>
              </a:rPr>
              <a:t>  Governance precedents improve the quality of the beta the whole portfolio owns.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Calibri"/>
              </a:rPr>
              <a:t>›  </a:t>
            </a:r>
            <a:r>
              <a:rPr sz="1650" b="1">
                <a:solidFill>
                  <a:srgbClr val="1E334E"/>
                </a:solidFill>
                <a:latin typeface="Calibri"/>
              </a:rPr>
              <a:t>Defensible to stakeholders.</a:t>
            </a:r>
            <a:r>
              <a:rPr sz="1650">
                <a:solidFill>
                  <a:srgbClr val="333840"/>
                </a:solidFill>
                <a:latin typeface="Calibri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488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A repeatable process</a:t>
            </a:r>
            <a:r>
              <a:rPr sz="1550">
                <a:solidFill>
                  <a:srgbClr val="333840"/>
                </a:solidFill>
                <a:latin typeface="Calibri"/>
              </a:rPr>
              <a:t>  for sourcing and underwriting correctable, undervalued companies.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Genuine operating capability,</a:t>
            </a:r>
            <a:r>
              <a:rPr sz="1550">
                <a:solidFill>
                  <a:srgbClr val="333840"/>
                </a:solidFill>
                <a:latin typeface="Calibri"/>
              </a:rPr>
              <a:t>  not just financial engineering — the experience to control the outcome from the boardroom.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A track record of outcomes,</a:t>
            </a:r>
            <a:r>
              <a:rPr sz="1550">
                <a:solidFill>
                  <a:srgbClr val="333840"/>
                </a:solidFill>
                <a:latin typeface="Calibri"/>
              </a:rPr>
              <a:t>  board seats won and value delivered across multiple market cycles.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Aligned economics</a:t>
            </a:r>
            <a:r>
              <a:rPr sz="1550">
                <a:solidFill>
                  <a:srgbClr val="333840"/>
                </a:solidFill>
                <a:latin typeface="Calibri"/>
              </a:rPr>
              <a:t>  and a stable, long-tenured team that invests its own capital.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Disciplined entry and risk control</a:t>
            </a:r>
            <a:r>
              <a:rPr sz="1550">
                <a:solidFill>
                  <a:srgbClr val="333840"/>
                </a:solidFill>
                <a:latin typeface="Calibri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897880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1">
                <a:solidFill>
                  <a:srgbClr val="4A5D75"/>
                </a:solidFill>
                <a:latin typeface="Calibri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1989060" cy="42793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788920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8A99AB"/>
                </a:solidFill>
                <a:latin typeface="Calibri"/>
              </a:rPr>
              <a:t>PART II  ·  AMONG ENGAGED OWNERS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108960"/>
            <a:ext cx="1033272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4000" b="0" i="1">
                <a:solidFill>
                  <a:srgbClr val="C9D3DD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96012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7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783080"/>
            <a:ext cx="2697480" cy="169164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039112"/>
            <a:ext cx="2697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4000" b="0" i="0">
                <a:solidFill>
                  <a:srgbClr val="1E334E"/>
                </a:solidFill>
                <a:latin typeface="Times New Roman"/>
              </a:rPr>
              <a:t>40+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Calibri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Calibri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47872" y="1783080"/>
            <a:ext cx="2697480" cy="169164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47872" y="2039112"/>
            <a:ext cx="2697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4000" b="0" i="0">
                <a:solidFill>
                  <a:srgbClr val="1E334E"/>
                </a:solidFill>
                <a:latin typeface="Times New Roman"/>
              </a:rPr>
              <a:t>18%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Calibri"/>
              </a:rPr>
              <a:t>net annual IRR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Calibri"/>
              </a:rPr>
              <a:t>since inception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9944" y="1783080"/>
            <a:ext cx="2697480" cy="169164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9944" y="2039112"/>
            <a:ext cx="2697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4000" b="0" i="0">
                <a:solidFill>
                  <a:srgbClr val="1E334E"/>
                </a:solidFill>
                <a:latin typeface="Times New Roman"/>
              </a:rPr>
              <a:t>20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Calibri"/>
              </a:rPr>
              <a:t>team working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Calibri"/>
              </a:rPr>
              <a:t>together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272016" y="1783080"/>
            <a:ext cx="2697480" cy="169164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72016" y="2039112"/>
            <a:ext cx="2697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4000" b="0" i="0">
                <a:solidFill>
                  <a:srgbClr val="1E334E"/>
                </a:solidFill>
                <a:latin typeface="Times New Roman"/>
              </a:rPr>
              <a:t>7.1%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Calibri"/>
              </a:rPr>
              <a:t>minimum annual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Calibri"/>
              </a:rPr>
              <a:t>net return*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7490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 b="1">
                <a:solidFill>
                  <a:srgbClr val="4A5D75"/>
                </a:solidFill>
                <a:latin typeface="Calibri"/>
              </a:rPr>
              <a:t>›  </a:t>
            </a:r>
            <a:r>
              <a:rPr sz="1500" b="1">
                <a:solidFill>
                  <a:srgbClr val="1E334E"/>
                </a:solidFill>
                <a:latin typeface="Calibri"/>
              </a:rPr>
              <a:t>Average net return of 18.6%</a:t>
            </a:r>
            <a:r>
              <a:rPr sz="1500">
                <a:solidFill>
                  <a:srgbClr val="333840"/>
                </a:solidFill>
                <a:latin typeface="Calibri"/>
              </a:rPr>
              <a:t>  (17.1% vs MSCI IMI 7.6% since inception), regardless of entry month.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 b="1">
                <a:solidFill>
                  <a:srgbClr val="4A5D75"/>
                </a:solidFill>
                <a:latin typeface="Calibri"/>
              </a:rPr>
              <a:t>›  </a:t>
            </a:r>
            <a:r>
              <a:rPr sz="1500" b="1">
                <a:solidFill>
                  <a:srgbClr val="1E334E"/>
                </a:solidFill>
                <a:latin typeface="Calibri"/>
              </a:rPr>
              <a:t>+14.5% EBITA growth</a:t>
            </a:r>
            <a:r>
              <a:rPr sz="1500">
                <a:solidFill>
                  <a:srgbClr val="333840"/>
                </a:solidFill>
                <a:latin typeface="Calibri"/>
              </a:rPr>
              <a:t>  in portfolio companies during the ownership period.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 b="1">
                <a:solidFill>
                  <a:srgbClr val="4A5D75"/>
                </a:solidFill>
                <a:latin typeface="Calibri"/>
              </a:rPr>
              <a:t>›  </a:t>
            </a:r>
            <a:r>
              <a:rPr sz="1500" b="1">
                <a:solidFill>
                  <a:srgbClr val="1E334E"/>
                </a:solidFill>
                <a:latin typeface="Calibri"/>
              </a:rPr>
              <a:t>+0.2% in down markets</a:t>
            </a:r>
            <a:r>
              <a:rPr sz="1500">
                <a:solidFill>
                  <a:srgbClr val="333840"/>
                </a:solidFill>
                <a:latin typeface="Calibri"/>
              </a:rPr>
              <a:t>  versus the market at –1.7% — downside protection when it matters most.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17220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9AA4B0"/>
                </a:solidFill>
                <a:latin typeface="Calibri"/>
              </a:rPr>
              <a:t>*Invested any month since 2006 and held to Dec 2025. Inception 2015-02-23.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8</a:t>
            </a:r>
          </a:p>
        </p:txBody>
      </p:sp>
      <p:sp>
        <p:nvSpPr>
          <p:cNvPr id="9" name="Rectangle 8"/>
          <p:cNvSpPr/>
          <p:nvPr/>
        </p:nvSpPr>
        <p:spPr>
          <a:xfrm>
            <a:off x="1463040" y="2532888"/>
            <a:ext cx="9052560" cy="20320"/>
          </a:xfrm>
          <a:prstGeom prst="rect">
            <a:avLst/>
          </a:prstGeom>
          <a:solidFill>
            <a:srgbClr val="8A99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14884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1E334E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380744" y="2468880"/>
            <a:ext cx="164592" cy="164592"/>
          </a:xfrm>
          <a:prstGeom prst="ellipse">
            <a:avLst/>
          </a:prstGeom>
          <a:solidFill>
            <a:srgbClr val="14253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679192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4A5D75"/>
                </a:solidFill>
                <a:latin typeface="Calibri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14884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1E334E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4398264" y="2468880"/>
            <a:ext cx="164592" cy="164592"/>
          </a:xfrm>
          <a:prstGeom prst="ellipse">
            <a:avLst/>
          </a:prstGeom>
          <a:solidFill>
            <a:srgbClr val="14253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0" y="2679192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4A5D75"/>
                </a:solidFill>
                <a:latin typeface="Calibri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14884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1E334E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7415784" y="2468880"/>
            <a:ext cx="164592" cy="164592"/>
          </a:xfrm>
          <a:prstGeom prst="ellipse">
            <a:avLst/>
          </a:prstGeom>
          <a:solidFill>
            <a:srgbClr val="14253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679192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4A5D75"/>
                </a:solidFill>
                <a:latin typeface="Calibri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214884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1E334E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10433304" y="2468880"/>
            <a:ext cx="164592" cy="164592"/>
          </a:xfrm>
          <a:prstGeom prst="ellipse">
            <a:avLst/>
          </a:prstGeom>
          <a:solidFill>
            <a:srgbClr val="14253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09760" y="2679192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4A5D75"/>
                </a:solidFill>
                <a:latin typeface="Calibri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2918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50" b="1">
                <a:solidFill>
                  <a:srgbClr val="4A5D75"/>
                </a:solidFill>
                <a:latin typeface="Calibri"/>
              </a:rPr>
              <a:t>›  </a:t>
            </a:r>
            <a:r>
              <a:rPr sz="1450" b="1">
                <a:solidFill>
                  <a:srgbClr val="1E334E"/>
                </a:solidFill>
                <a:latin typeface="Calibri"/>
              </a:rPr>
              <a:t>40+ companies managed,</a:t>
            </a:r>
            <a:r>
              <a:rPr sz="1450">
                <a:solidFill>
                  <a:srgbClr val="333840"/>
                </a:solidFill>
                <a:latin typeface="Calibri"/>
              </a:rPr>
              <a:t>  with a proven ability to tell a “strong core” from a “prestige trap”.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50" b="1">
                <a:solidFill>
                  <a:srgbClr val="4A5D75"/>
                </a:solidFill>
                <a:latin typeface="Calibri"/>
              </a:rPr>
              <a:t>›  </a:t>
            </a:r>
            <a:r>
              <a:rPr sz="1450" b="1">
                <a:solidFill>
                  <a:srgbClr val="1E334E"/>
                </a:solidFill>
                <a:latin typeface="Calibri"/>
              </a:rPr>
              <a:t>30+ public board seats</a:t>
            </a:r>
            <a:r>
              <a:rPr sz="1450">
                <a:solidFill>
                  <a:srgbClr val="333840"/>
                </a:solidFill>
                <a:latin typeface="Calibri"/>
              </a:rPr>
              <a:t>  — real experience mandating pivots and protecting shareholder interests, not writing engagement letters.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50" b="1">
                <a:solidFill>
                  <a:srgbClr val="4A5D75"/>
                </a:solidFill>
                <a:latin typeface="Calibri"/>
              </a:rPr>
              <a:t>›  </a:t>
            </a:r>
            <a:r>
              <a:rPr sz="1450" b="1">
                <a:solidFill>
                  <a:srgbClr val="1E334E"/>
                </a:solidFill>
                <a:latin typeface="Calibri"/>
              </a:rPr>
              <a:t>A dual lens:</a:t>
            </a:r>
            <a:r>
              <a:rPr sz="1450">
                <a:solidFill>
                  <a:srgbClr val="333840"/>
                </a:solidFill>
                <a:latin typeface="Calibri"/>
              </a:rPr>
              <a:t>  a forensic investing lens to find the value and a C-suite operating lens that understands the “how” of execution.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50" b="1">
                <a:solidFill>
                  <a:srgbClr val="4A5D75"/>
                </a:solidFill>
                <a:latin typeface="Calibri"/>
              </a:rPr>
              <a:t>›  </a:t>
            </a:r>
            <a:r>
              <a:rPr sz="1450" b="1">
                <a:solidFill>
                  <a:srgbClr val="1E334E"/>
                </a:solidFill>
                <a:latin typeface="Calibri"/>
              </a:rPr>
              <a:t>Skin in the game.</a:t>
            </a:r>
            <a:r>
              <a:rPr sz="1450">
                <a:solidFill>
                  <a:srgbClr val="333840"/>
                </a:solidFill>
                <a:latin typeface="Calibri"/>
              </a:rPr>
              <a:t>  The team uses Athanase as its own investment vehicle and shares in the success economics.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50" b="1">
                <a:solidFill>
                  <a:srgbClr val="4A5D75"/>
                </a:solidFill>
                <a:latin typeface="Calibri"/>
              </a:rPr>
              <a:t>›  </a:t>
            </a:r>
            <a:r>
              <a:rPr sz="1450" b="1">
                <a:solidFill>
                  <a:srgbClr val="1E334E"/>
                </a:solidFill>
                <a:latin typeface="Calibri"/>
              </a:rPr>
              <a:t>Institutional memory.</a:t>
            </a:r>
            <a:r>
              <a:rPr sz="1450">
                <a:solidFill>
                  <a:srgbClr val="333840"/>
                </a:solidFill>
                <a:latin typeface="Calibri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Market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The inefficiency Athanase harvests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Corporate decay is structural — it continuously recreates low-risk, high-return entry points.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48840"/>
            <a:ext cx="576072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350" b="1">
                <a:solidFill>
                  <a:srgbClr val="4A5D75"/>
                </a:solidFill>
                <a:latin typeface="Calibri"/>
              </a:rPr>
              <a:t>›  </a:t>
            </a:r>
            <a:r>
              <a:rPr sz="1350" b="1">
                <a:solidFill>
                  <a:srgbClr val="1E334E"/>
                </a:solidFill>
                <a:latin typeface="Calibri"/>
              </a:rPr>
              <a:t>Duration mismatch.</a:t>
            </a:r>
            <a:r>
              <a:rPr sz="1350">
                <a:solidFill>
                  <a:srgbClr val="333840"/>
                </a:solidFill>
                <a:latin typeface="Calibri"/>
              </a:rPr>
              <a:t>  CEOs run 7–8 year defensive cycles while moats erode at hyper-speed; an 80%-correct strategy decays to ~50% efficient.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350" b="1">
                <a:solidFill>
                  <a:srgbClr val="4A5D75"/>
                </a:solidFill>
                <a:latin typeface="Calibri"/>
              </a:rPr>
              <a:t>›  </a:t>
            </a:r>
            <a:r>
              <a:rPr sz="1350" b="1">
                <a:solidFill>
                  <a:srgbClr val="1E334E"/>
                </a:solidFill>
                <a:latin typeface="Calibri"/>
              </a:rPr>
              <a:t>The prestige trap.</a:t>
            </a:r>
            <a:r>
              <a:rPr sz="1350">
                <a:solidFill>
                  <a:srgbClr val="333840"/>
                </a:solidFill>
                <a:latin typeface="Calibri"/>
              </a:rPr>
              <a:t>  Empire-building and the sunk-cost fallacy lead management to double down on unprofitable ventures.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350" b="1">
                <a:solidFill>
                  <a:srgbClr val="4A5D75"/>
                </a:solidFill>
                <a:latin typeface="Calibri"/>
              </a:rPr>
              <a:t>›  </a:t>
            </a:r>
            <a:r>
              <a:rPr sz="1350" b="1">
                <a:solidFill>
                  <a:srgbClr val="1E334E"/>
                </a:solidFill>
                <a:latin typeface="Calibri"/>
              </a:rPr>
              <a:t>Shareholder exhaustion.</a:t>
            </a:r>
            <a:r>
              <a:rPr sz="1350">
                <a:solidFill>
                  <a:srgbClr val="333840"/>
                </a:solidFill>
                <a:latin typeface="Calibri"/>
              </a:rPr>
              <a:t>  As patience runs out, price hits a long-term low and liquidity dries up — Athanase becomes the “buyer of last resort” at a discount.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350" b="1">
                <a:solidFill>
                  <a:srgbClr val="4A5D75"/>
                </a:solidFill>
                <a:latin typeface="Calibri"/>
              </a:rPr>
              <a:t>›  </a:t>
            </a:r>
            <a:r>
              <a:rPr sz="1350" b="1">
                <a:solidFill>
                  <a:srgbClr val="1E334E"/>
                </a:solidFill>
                <a:latin typeface="Calibri"/>
              </a:rPr>
              <a:t>Low competition.</a:t>
            </a:r>
            <a:r>
              <a:rPr sz="1350">
                <a:solidFill>
                  <a:srgbClr val="333840"/>
                </a:solidFill>
                <a:latin typeface="Calibri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537960" y="2331720"/>
          <a:ext cx="5212080" cy="3291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537960" y="566928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9AA4B0"/>
                </a:solidFill>
                <a:latin typeface="Calibri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Investment Strategy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We don’t buy broken companies — we buy hidden cores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The classic objection to activism is adverse selection. Our model inverts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48840"/>
            <a:ext cx="58521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350" b="1">
                <a:solidFill>
                  <a:srgbClr val="4A5D75"/>
                </a:solidFill>
                <a:latin typeface="Calibri"/>
              </a:rPr>
              <a:t>›  </a:t>
            </a:r>
            <a:r>
              <a:rPr sz="1350" b="1">
                <a:solidFill>
                  <a:srgbClr val="1E334E"/>
                </a:solidFill>
                <a:latin typeface="Calibri"/>
              </a:rPr>
              <a:t>The critique.</a:t>
            </a:r>
            <a:r>
              <a:rPr sz="1350">
                <a:solidFill>
                  <a:srgbClr val="333840"/>
                </a:solidFill>
                <a:latin typeface="Calibri"/>
              </a:rPr>
              <a:t>  Buy “cheap and troubled” and you select for lemons — worse than they look. The market discounted them for a reason.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350" b="1">
                <a:solidFill>
                  <a:srgbClr val="4A5D75"/>
                </a:solidFill>
                <a:latin typeface="Calibri"/>
              </a:rPr>
              <a:t>›  </a:t>
            </a:r>
            <a:r>
              <a:rPr sz="1350" b="1">
                <a:solidFill>
                  <a:srgbClr val="1E334E"/>
                </a:solidFill>
                <a:latin typeface="Calibri"/>
              </a:rPr>
              <a:t>Our precondition removes it.</a:t>
            </a:r>
            <a:r>
              <a:rPr sz="1350">
                <a:solidFill>
                  <a:srgbClr val="333840"/>
                </a:solidFill>
                <a:latin typeface="Calibri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350" b="1">
                <a:solidFill>
                  <a:srgbClr val="4A5D75"/>
                </a:solidFill>
                <a:latin typeface="Calibri"/>
              </a:rPr>
              <a:t>›  </a:t>
            </a:r>
            <a:r>
              <a:rPr sz="1350" b="1">
                <a:solidFill>
                  <a:srgbClr val="1E334E"/>
                </a:solidFill>
                <a:latin typeface="Calibri"/>
              </a:rPr>
              <a:t>The real setup.</a:t>
            </a:r>
            <a:r>
              <a:rPr sz="1350">
                <a:solidFill>
                  <a:srgbClr val="333840"/>
                </a:solidFill>
                <a:latin typeface="Calibri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350" b="1">
                <a:solidFill>
                  <a:srgbClr val="4A5D75"/>
                </a:solidFill>
                <a:latin typeface="Calibri"/>
              </a:rPr>
              <a:t>›  </a:t>
            </a:r>
            <a:r>
              <a:rPr sz="1350" b="1">
                <a:solidFill>
                  <a:srgbClr val="1E334E"/>
                </a:solidFill>
                <a:latin typeface="Calibri"/>
              </a:rPr>
              <a:t>The inversion.</a:t>
            </a:r>
            <a:r>
              <a:rPr sz="1350">
                <a:solidFill>
                  <a:srgbClr val="333840"/>
                </a:solidFill>
                <a:latin typeface="Calibri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10312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4A5D75"/>
                </a:solidFill>
                <a:latin typeface="Calibri"/>
              </a:rPr>
              <a:t>SUM-OF-THE-PARTS (ILLUSTRATIVE)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0" y="3639312"/>
            <a:ext cx="1463040" cy="1389888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0" y="5120640"/>
            <a:ext cx="2194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333840"/>
                </a:solidFill>
                <a:latin typeface="Calibri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(blended optics)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92640" y="2770632"/>
            <a:ext cx="1463040" cy="2258568"/>
          </a:xfrm>
          <a:prstGeom prst="rect">
            <a:avLst/>
          </a:prstGeom>
          <a:solidFill>
            <a:srgbClr val="14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0" y="5120640"/>
            <a:ext cx="2194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333840"/>
                </a:solidFill>
                <a:latin typeface="Calibri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(high ROIIC)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0" y="3639312"/>
            <a:ext cx="3108960" cy="15240"/>
          </a:xfrm>
          <a:prstGeom prst="rect">
            <a:avLst/>
          </a:prstGeom>
          <a:solidFill>
            <a:srgbClr val="8A99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927080" y="2770632"/>
            <a:ext cx="25400" cy="868680"/>
          </a:xfrm>
          <a:prstGeom prst="rect">
            <a:avLst/>
          </a:prstGeom>
          <a:solidFill>
            <a:srgbClr val="A8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52360" y="2816352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A84A4A"/>
                </a:solidFill>
                <a:latin typeface="Calibri"/>
              </a:rPr>
              <a:t>hidden value ≈ 30–40%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8978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4A5D75"/>
                </a:solidFill>
                <a:latin typeface="Calibri"/>
              </a:rPr>
              <a:t>We remove the drag and refocus capital on the core — positive selection on a concealed asset, not negative selection on a lemon.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Investment Strategy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Quality-core constructivism — how we differ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11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148840"/>
            <a:ext cx="214884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" y="2148840"/>
            <a:ext cx="19659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2651760" y="2148840"/>
            <a:ext cx="4434840" cy="384048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61488" y="2148840"/>
            <a:ext cx="42519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Large generalist activists (e.g. Elliott)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86600" y="2148840"/>
            <a:ext cx="4526280" cy="384048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96328" y="2148840"/>
            <a:ext cx="43434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Athanase — quality-core constructivism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532888"/>
            <a:ext cx="2148840" cy="676656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" y="2532888"/>
            <a:ext cx="19659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1" i="0">
                <a:solidFill>
                  <a:srgbClr val="4A5D75"/>
                </a:solidFill>
                <a:latin typeface="Calibri"/>
              </a:rPr>
              <a:t>Entry precondition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51760" y="2532888"/>
            <a:ext cx="4434840" cy="676656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61488" y="2532888"/>
            <a:ext cx="42519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0" i="0">
                <a:solidFill>
                  <a:srgbClr val="333840"/>
                </a:solidFill>
                <a:latin typeface="Calibri"/>
              </a:rPr>
              <a:t>Wide range of situations — breakups, credit, event-driven; business quality often secondary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86600" y="2532888"/>
            <a:ext cx="4526280" cy="676656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96328" y="2532888"/>
            <a:ext cx="43434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1" i="0">
                <a:solidFill>
                  <a:srgbClr val="1E334E"/>
                </a:solidFill>
                <a:latin typeface="Calibri"/>
              </a:rPr>
              <a:t>Only a market-leading, high-ROIIC core — “attractive even if we change nothing”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209544"/>
            <a:ext cx="2148840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648" y="3209544"/>
            <a:ext cx="19659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1" i="0">
                <a:solidFill>
                  <a:srgbClr val="4A5D75"/>
                </a:solidFill>
                <a:latin typeface="Calibri"/>
              </a:rPr>
              <a:t>Source of return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651760" y="3209544"/>
            <a:ext cx="4434840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61488" y="3209544"/>
            <a:ext cx="42519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0" i="0">
                <a:solidFill>
                  <a:srgbClr val="333840"/>
                </a:solidFill>
                <a:latin typeface="Calibri"/>
              </a:rPr>
              <a:t>Financial / transactional pressure: force a sale, return cash, exit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086600" y="3209544"/>
            <a:ext cx="4526280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96328" y="3209544"/>
            <a:ext cx="43434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1" i="0">
                <a:solidFill>
                  <a:srgbClr val="1E334E"/>
                </a:solidFill>
                <a:latin typeface="Calibri"/>
              </a:rPr>
              <a:t>Operational refocus of a genuinely good business, from a board seat, over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886200"/>
            <a:ext cx="2148840" cy="676656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2648" y="3886200"/>
            <a:ext cx="19659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1" i="0">
                <a:solidFill>
                  <a:srgbClr val="4A5D75"/>
                </a:solidFill>
                <a:latin typeface="Calibri"/>
              </a:rPr>
              <a:t>What gets fixed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651760" y="3886200"/>
            <a:ext cx="4434840" cy="676656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61488" y="3886200"/>
            <a:ext cx="42519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0" i="0">
                <a:solidFill>
                  <a:srgbClr val="333840"/>
                </a:solidFill>
                <a:latin typeface="Calibri"/>
              </a:rPr>
              <a:t>The price, the structure, the outcome of a contest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086600" y="3886200"/>
            <a:ext cx="4526280" cy="676656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96328" y="3886200"/>
            <a:ext cx="43434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1" i="0">
                <a:solidFill>
                  <a:srgbClr val="1E334E"/>
                </a:solidFill>
                <a:latin typeface="Calibri"/>
              </a:rPr>
              <a:t>The capital-allocation overlay — the core already works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562856"/>
            <a:ext cx="2148840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2648" y="4562856"/>
            <a:ext cx="19659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1" i="0">
                <a:solidFill>
                  <a:srgbClr val="4A5D75"/>
                </a:solidFill>
                <a:latin typeface="Calibri"/>
              </a:rPr>
              <a:t>Margin of safety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651760" y="4562856"/>
            <a:ext cx="4434840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61488" y="4562856"/>
            <a:ext cx="42519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0" i="0">
                <a:solidFill>
                  <a:srgbClr val="333840"/>
                </a:solidFill>
                <a:latin typeface="Calibri"/>
              </a:rPr>
              <a:t>Winning the campaign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086600" y="4562856"/>
            <a:ext cx="4526280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196328" y="4562856"/>
            <a:ext cx="43434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1" i="0">
                <a:solidFill>
                  <a:srgbClr val="1E334E"/>
                </a:solidFill>
                <a:latin typeface="Calibri"/>
              </a:rPr>
              <a:t>The core’s proven high-ROIIC economics — the hard floor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5239512"/>
            <a:ext cx="2148840" cy="676656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2648" y="5239512"/>
            <a:ext cx="19659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1" i="0">
                <a:solidFill>
                  <a:srgbClr val="4A5D75"/>
                </a:solidFill>
                <a:latin typeface="Calibri"/>
              </a:rPr>
              <a:t>Cadence &amp; style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51760" y="5239512"/>
            <a:ext cx="4434840" cy="676656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761488" y="5239512"/>
            <a:ext cx="42519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0" i="0">
                <a:solidFill>
                  <a:srgbClr val="333840"/>
                </a:solidFill>
                <a:latin typeface="Calibri"/>
              </a:rPr>
              <a:t>Many simultaneous campaigns, leverage, often confrontational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086600" y="5239512"/>
            <a:ext cx="4526280" cy="676656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196328" y="5239512"/>
            <a:ext cx="43434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1" i="0">
                <a:solidFill>
                  <a:srgbClr val="1E334E"/>
                </a:solidFill>
                <a:latin typeface="Calibri"/>
              </a:rPr>
              <a:t>~one deal a year, constructive, board-led, mid-cap surgical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6044184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4A5D75"/>
                </a:solidFill>
                <a:latin typeface="Calibri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Investment Strategy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We don’t need to be right more than ~50%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Because we buy at a discount, not at a 40% control premium.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148840"/>
            <a:ext cx="3657600" cy="566928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148840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Metric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2148840"/>
            <a:ext cx="3657600" cy="566928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2148840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Private Equity (take-private)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01000" y="2148840"/>
            <a:ext cx="3520440" cy="566928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2148840"/>
            <a:ext cx="3246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Athanase (engaged owner)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2715768"/>
            <a:ext cx="36576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2715768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333840"/>
                </a:solidFill>
                <a:latin typeface="Calibri"/>
              </a:rPr>
              <a:t>Entry basis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2715768"/>
            <a:ext cx="36576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60" y="2715768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333840"/>
                </a:solidFill>
                <a:latin typeface="Calibri"/>
              </a:rPr>
              <a:t>$140  (market + 40% premium)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2715768"/>
            <a:ext cx="35204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60" y="2715768"/>
            <a:ext cx="3246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1E334E"/>
                </a:solidFill>
                <a:latin typeface="Calibri"/>
              </a:rPr>
              <a:t>$100  (exhaustion price)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3282696"/>
            <a:ext cx="3657600" cy="566928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282696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333840"/>
                </a:solidFill>
                <a:latin typeface="Calibri"/>
              </a:rPr>
              <a:t>Holding period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43400" y="3282696"/>
            <a:ext cx="3657600" cy="566928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0560" y="3282696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333840"/>
                </a:solidFill>
                <a:latin typeface="Calibri"/>
              </a:rPr>
              <a:t>5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1000" y="3282696"/>
            <a:ext cx="3520440" cy="566928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38160" y="3282696"/>
            <a:ext cx="3246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1E334E"/>
                </a:solidFill>
                <a:latin typeface="Calibri"/>
              </a:rPr>
              <a:t>3 years (rerating cycle)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3849624"/>
            <a:ext cx="36576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3849624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333840"/>
                </a:solidFill>
                <a:latin typeface="Calibri"/>
              </a:rPr>
              <a:t>Value growth required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43400" y="3849624"/>
            <a:ext cx="36576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80560" y="3849624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333840"/>
                </a:solidFill>
                <a:latin typeface="Calibri"/>
              </a:rPr>
              <a:t>+148% total growth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01000" y="3849624"/>
            <a:ext cx="35204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38160" y="3849624"/>
            <a:ext cx="3246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1E334E"/>
                </a:solidFill>
                <a:latin typeface="Calibri"/>
              </a:rPr>
              <a:t>+73% total growth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5800" y="4416552"/>
            <a:ext cx="3657600" cy="566928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" y="4416552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333840"/>
                </a:solidFill>
                <a:latin typeface="Calibri"/>
              </a:rPr>
              <a:t>Operational success needed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43400" y="4416552"/>
            <a:ext cx="3657600" cy="566928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80560" y="4416552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333840"/>
                </a:solidFill>
                <a:latin typeface="Calibri"/>
              </a:rPr>
              <a:t>~85–100% of thesis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01000" y="4416552"/>
            <a:ext cx="3520440" cy="566928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38160" y="4416552"/>
            <a:ext cx="3246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1E334E"/>
                </a:solidFill>
                <a:latin typeface="Calibri"/>
              </a:rPr>
              <a:t>~45–55% of thesis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5166360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1">
                <a:solidFill>
                  <a:srgbClr val="4A5D75"/>
                </a:solidFill>
                <a:latin typeface="Calibri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48840"/>
            <a:ext cx="534924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 i="0">
                <a:solidFill>
                  <a:srgbClr val="4A5D75"/>
                </a:solidFill>
                <a:latin typeface="Calibri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148840"/>
            <a:ext cx="530352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 i="0">
                <a:solidFill>
                  <a:srgbClr val="4A5D75"/>
                </a:solidFill>
                <a:latin typeface="Calibri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Automatic risk metrics (10/20/30% triggers) remove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80644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From “corporate raider” to “industrial constructivist”: reputational friction and the public J-curve source the alpha and protect it from arbitrage.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488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50" b="1">
                <a:solidFill>
                  <a:srgbClr val="4A5D75"/>
                </a:solidFill>
                <a:latin typeface="Calibri"/>
              </a:rPr>
              <a:t>›  </a:t>
            </a:r>
            <a:r>
              <a:rPr sz="1450" b="1">
                <a:solidFill>
                  <a:srgbClr val="1E334E"/>
                </a:solidFill>
                <a:latin typeface="Calibri"/>
              </a:rPr>
              <a:t>Friction is the catalyst.</a:t>
            </a:r>
            <a:r>
              <a:rPr sz="1450">
                <a:solidFill>
                  <a:srgbClr val="333840"/>
                </a:solidFill>
                <a:latin typeface="Calibri"/>
              </a:rPr>
              <a:t>  Quiet engagement does not reprice a stock; public engagement forces the market to re-rate — and a 20-year reputation pulls sophisticated capital in behind us (the coattail effect).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50" b="1">
                <a:solidFill>
                  <a:srgbClr val="4A5D75"/>
                </a:solidFill>
                <a:latin typeface="Calibri"/>
              </a:rPr>
              <a:t>›  </a:t>
            </a:r>
            <a:r>
              <a:rPr sz="1450" b="1">
                <a:solidFill>
                  <a:srgbClr val="1E334E"/>
                </a:solidFill>
                <a:latin typeface="Calibri"/>
              </a:rPr>
              <a:t>The discomfort is the moat.</a:t>
            </a:r>
            <a:r>
              <a:rPr sz="1450">
                <a:solidFill>
                  <a:srgbClr val="333840"/>
                </a:solidFill>
                <a:latin typeface="Calibri"/>
              </a:rPr>
              <a:t>  Few managers have the industrial background and stamina to wage a multi-year campaign — so headline-shy capital leaves a persistent pricing inefficiency for those who will.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50" b="1">
                <a:solidFill>
                  <a:srgbClr val="4A5D75"/>
                </a:solidFill>
                <a:latin typeface="Calibri"/>
              </a:rPr>
              <a:t>›  </a:t>
            </a:r>
            <a:r>
              <a:rPr sz="1450" b="1">
                <a:solidFill>
                  <a:srgbClr val="1E334E"/>
                </a:solidFill>
                <a:latin typeface="Calibri"/>
              </a:rPr>
              <a:t>A board seat de-risks the asset.</a:t>
            </a:r>
            <a:r>
              <a:rPr sz="1450">
                <a:solidFill>
                  <a:srgbClr val="333840"/>
                </a:solidFill>
                <a:latin typeface="Calibri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50" b="1">
                <a:solidFill>
                  <a:srgbClr val="4A5D75"/>
                </a:solidFill>
                <a:latin typeface="Calibri"/>
              </a:rPr>
              <a:t>›  </a:t>
            </a:r>
            <a:r>
              <a:rPr sz="1450" b="1">
                <a:solidFill>
                  <a:srgbClr val="1E334E"/>
                </a:solidFill>
                <a:latin typeface="Calibri"/>
              </a:rPr>
              <a:t>The J-curve is tradable, not painful.</a:t>
            </a:r>
            <a:r>
              <a:rPr sz="1450">
                <a:solidFill>
                  <a:srgbClr val="333840"/>
                </a:solidFill>
                <a:latin typeface="Calibri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50" b="1">
                <a:solidFill>
                  <a:srgbClr val="4A5D75"/>
                </a:solidFill>
                <a:latin typeface="Calibri"/>
              </a:rPr>
              <a:t>›  </a:t>
            </a:r>
            <a:r>
              <a:rPr sz="1450" b="1">
                <a:solidFill>
                  <a:srgbClr val="1E334E"/>
                </a:solidFill>
                <a:latin typeface="Calibri"/>
              </a:rPr>
              <a:t>Public scoreboard, daily.</a:t>
            </a:r>
            <a:r>
              <a:rPr sz="1450">
                <a:solidFill>
                  <a:srgbClr val="333840"/>
                </a:solidFill>
                <a:latin typeface="Calibri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A non-linear path — honestly priced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Public engaged ownership marks to market every day. The destination is the multiple; the route is rarely a straight line.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48840"/>
            <a:ext cx="566928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350" b="1">
                <a:solidFill>
                  <a:srgbClr val="4A5D75"/>
                </a:solidFill>
                <a:latin typeface="Calibri"/>
              </a:rPr>
              <a:t>›  </a:t>
            </a:r>
            <a:r>
              <a:rPr sz="1350" b="1">
                <a:solidFill>
                  <a:srgbClr val="1E334E"/>
                </a:solidFill>
                <a:latin typeface="Calibri"/>
              </a:rPr>
              <a:t>Value moves over the holding period.</a:t>
            </a:r>
            <a:r>
              <a:rPr sz="1350">
                <a:solidFill>
                  <a:srgbClr val="333840"/>
                </a:solidFill>
                <a:latin typeface="Calibri"/>
              </a:rPr>
              <a:t>  A 5× outcome is realised over years — the interim mark moves with the market, the cycle and the campaign. It is a journey, not a coupon.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350" b="1">
                <a:solidFill>
                  <a:srgbClr val="4A5D75"/>
                </a:solidFill>
                <a:latin typeface="Calibri"/>
              </a:rPr>
              <a:t>›  </a:t>
            </a:r>
            <a:r>
              <a:rPr sz="1350" b="1">
                <a:solidFill>
                  <a:srgbClr val="1E334E"/>
                </a:solidFill>
                <a:latin typeface="Calibri"/>
              </a:rPr>
              <a:t>PE looks smooth because it is appraised, not traded.</a:t>
            </a:r>
            <a:r>
              <a:rPr sz="1350">
                <a:solidFill>
                  <a:srgbClr val="333840"/>
                </a:solidFill>
                <a:latin typeface="Calibri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350" b="1">
                <a:solidFill>
                  <a:srgbClr val="4A5D75"/>
                </a:solidFill>
                <a:latin typeface="Calibri"/>
              </a:rPr>
              <a:t>›  </a:t>
            </a:r>
            <a:r>
              <a:rPr sz="1350" b="1">
                <a:solidFill>
                  <a:srgbClr val="1E334E"/>
                </a:solidFill>
                <a:latin typeface="Calibri"/>
              </a:rPr>
              <a:t>Same economics, honest optics.</a:t>
            </a:r>
            <a:r>
              <a:rPr sz="1350">
                <a:solidFill>
                  <a:srgbClr val="333840"/>
                </a:solidFill>
                <a:latin typeface="Calibri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46520" y="2103120"/>
          <a:ext cx="539496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46520" y="5760720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9AA4B0"/>
                </a:solidFill>
                <a:latin typeface="Calibri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Risk reframing for the investment committee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What the committee sees on the surface — versus what it is actually underwriting.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148840"/>
            <a:ext cx="4160520" cy="512064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2148840"/>
            <a:ext cx="3941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What the IC sees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09160" y="2148840"/>
            <a:ext cx="6903720" cy="512064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37176" y="2148840"/>
            <a:ext cx="66842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What it is actually underwriting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660904"/>
            <a:ext cx="4160520" cy="512064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" y="2660904"/>
            <a:ext cx="3941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Calibri"/>
              </a:rPr>
              <a:t>Reputational / headline risk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09160" y="2660904"/>
            <a:ext cx="6903720" cy="512064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37176" y="2660904"/>
            <a:ext cx="66842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 i="0">
                <a:solidFill>
                  <a:srgbClr val="1E334E"/>
                </a:solidFill>
                <a:latin typeface="Calibri"/>
              </a:rPr>
              <a:t>The catalyst that forces repricing — and a moat that keeps competitors out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172968"/>
            <a:ext cx="416052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" y="3172968"/>
            <a:ext cx="3941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Calibri"/>
              </a:rPr>
              <a:t>Public J-curve &amp; mark-to-market drawdown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09160" y="3172968"/>
            <a:ext cx="690372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37176" y="3172968"/>
            <a:ext cx="66842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 i="0">
                <a:solidFill>
                  <a:srgbClr val="1E334E"/>
                </a:solidFill>
                <a:latin typeface="Calibri"/>
              </a:rPr>
              <a:t>A live, tradable entry into an asset already de-risked by board control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685032"/>
            <a:ext cx="4160520" cy="512064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6656" y="3685032"/>
            <a:ext cx="3941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Calibri"/>
              </a:rPr>
              <a:t>~50% peak-to-trough swings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09160" y="3685032"/>
            <a:ext cx="6903720" cy="512064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37176" y="3685032"/>
            <a:ext cx="66842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 i="0">
                <a:solidFill>
                  <a:srgbClr val="1E334E"/>
                </a:solidFill>
                <a:latin typeface="Calibri"/>
              </a:rPr>
              <a:t>Optical volatility; two such drawdowns fully recovered (2010, 2020) · Sortino 2.40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197096"/>
            <a:ext cx="416052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6656" y="4197096"/>
            <a:ext cx="3941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Calibri"/>
              </a:rPr>
              <a:t>Concentration in 8–12 names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709160" y="4197096"/>
            <a:ext cx="690372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37176" y="4197096"/>
            <a:ext cx="66842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 i="0">
                <a:solidFill>
                  <a:srgbClr val="1E334E"/>
                </a:solidFill>
                <a:latin typeface="Calibri"/>
              </a:rPr>
              <a:t>Deliberate conviction sizing — the skill (85.7% hit on ≥10% names; +0.73)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4709160"/>
            <a:ext cx="4160520" cy="512064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6656" y="4709160"/>
            <a:ext cx="3941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Calibri"/>
              </a:rPr>
              <a:t>“Catching a falling knife”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709160" y="4709160"/>
            <a:ext cx="6903720" cy="512064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37176" y="4709160"/>
            <a:ext cx="66842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 i="0">
                <a:solidFill>
                  <a:srgbClr val="1E334E"/>
                </a:solidFill>
                <a:latin typeface="Calibri"/>
              </a:rPr>
              <a:t>Hard-floor valuation gates; entry below the value of the rectifiable core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5221224"/>
            <a:ext cx="416052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76656" y="5221224"/>
            <a:ext cx="3941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Calibri"/>
              </a:rPr>
              <a:t>Single-name dependence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709160" y="5221224"/>
            <a:ext cx="690372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837176" y="5221224"/>
            <a:ext cx="66842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 i="0">
                <a:solidFill>
                  <a:srgbClr val="1E334E"/>
                </a:solidFill>
                <a:latin typeface="Calibri"/>
              </a:rPr>
              <a:t>One ≥5× MOIC win every ~2 years; competitive even excluding the largest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5870448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4A5D75"/>
                </a:solidFill>
                <a:latin typeface="Calibri"/>
              </a:rPr>
              <a:t>The IC is not paying for safety. It is paying for proven willingness to take compensated discomfort — +6 percentage points per year, net of every fee, for 20 years.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Track Record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96012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Proof: outperformance with downside protection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17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783080"/>
          <a:ext cx="649224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406640" y="1874520"/>
            <a:ext cx="420624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1" i="0">
                <a:solidFill>
                  <a:srgbClr val="1E334E"/>
                </a:solidFill>
                <a:latin typeface="Times New Roman"/>
              </a:rPr>
              <a:t>Haldex AB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00" b="0" i="0">
                <a:solidFill>
                  <a:srgbClr val="333840"/>
                </a:solidFill>
                <a:latin typeface="Calibri"/>
              </a:rPr>
              <a:t>81% IRR · 3.9x money multiple. Spun off Concentric, refocused the core, re-invested in 2020 for a further 2.0x in under two years.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1" i="0">
                <a:solidFill>
                  <a:srgbClr val="1E334E"/>
                </a:solidFill>
                <a:latin typeface="Times New Roman"/>
              </a:rPr>
              <a:t>Compounding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00" b="0" i="0">
                <a:solidFill>
                  <a:srgbClr val="333840"/>
                </a:solidFill>
                <a:latin typeface="Calibri"/>
              </a:rPr>
              <a:t>~18x gross vs ~14x for MSCI IMI since 2006, with EBITA growth of +14.5% across portfolio companies.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1" i="0">
                <a:solidFill>
                  <a:srgbClr val="1E334E"/>
                </a:solidFill>
                <a:latin typeface="Times New Roman"/>
              </a:rPr>
              <a:t>Hit rate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333840"/>
                </a:solidFill>
                <a:latin typeface="Calibri"/>
              </a:rPr>
              <a:t>39 larger investments since 2006 — profitable in 36, lost money in only 3.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Track Record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AIP Fund II — transactions (2015–present)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Each position shown against its benchmark; invested capital weighted MOIC of 2.2x.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18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148840"/>
            <a:ext cx="3017520" cy="193852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2148840"/>
            <a:ext cx="290779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Company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703320" y="2148840"/>
            <a:ext cx="1828800" cy="193852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76472" y="2148840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Holding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32120" y="2148840"/>
            <a:ext cx="1554480" cy="193852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05272" y="2148840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IRR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86600" y="2148840"/>
            <a:ext cx="1554480" cy="193852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59752" y="2148840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MOIC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41080" y="2148840"/>
            <a:ext cx="1828800" cy="193852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2148840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vs Index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2342692"/>
            <a:ext cx="301752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8952" y="2342692"/>
            <a:ext cx="290779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Bufab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703320" y="2342692"/>
            <a:ext cx="182880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76472" y="2342692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2015-2025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532120" y="2342692"/>
            <a:ext cx="155448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05272" y="2342692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35%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086600" y="2342692"/>
            <a:ext cx="155448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59752" y="2342692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2.0x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641080" y="2342692"/>
            <a:ext cx="182880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14232" y="2342692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+27%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5800" y="2536544"/>
            <a:ext cx="301752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8952" y="2536544"/>
            <a:ext cx="290779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DistIt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703320" y="2536544"/>
            <a:ext cx="182880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776472" y="2536544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2015-2025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532120" y="2536544"/>
            <a:ext cx="155448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05272" y="2536544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7%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086600" y="2536544"/>
            <a:ext cx="155448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59752" y="2536544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1.2x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41080" y="2536544"/>
            <a:ext cx="182880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714232" y="2536544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-1%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5800" y="2730396"/>
            <a:ext cx="301752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58952" y="2730396"/>
            <a:ext cx="290779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Ngex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703320" y="2730396"/>
            <a:ext cx="182880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776472" y="2730396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2016-2025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532120" y="2730396"/>
            <a:ext cx="155448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05272" y="2730396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69%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086600" y="2730396"/>
            <a:ext cx="155448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159752" y="2730396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6.2x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641080" y="2730396"/>
            <a:ext cx="182880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714232" y="2730396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+59%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85800" y="2924248"/>
            <a:ext cx="301752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58952" y="2924248"/>
            <a:ext cx="290779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Alcadon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703320" y="2924248"/>
            <a:ext cx="182880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776472" y="2924248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2016-2025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532120" y="2924248"/>
            <a:ext cx="155448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605272" y="2924248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74%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086600" y="2924248"/>
            <a:ext cx="155448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159752" y="2924248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1.7x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641080" y="2924248"/>
            <a:ext cx="182880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714232" y="2924248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+65%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85800" y="3118100"/>
            <a:ext cx="301752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58952" y="3118100"/>
            <a:ext cx="290779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Tempest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703320" y="3118100"/>
            <a:ext cx="182880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776472" y="3118100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2018-2025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532120" y="3118100"/>
            <a:ext cx="155448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605272" y="3118100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12%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086600" y="3118100"/>
            <a:ext cx="155448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159752" y="3118100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1.2x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641080" y="3118100"/>
            <a:ext cx="182880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714232" y="3118100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+3%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85800" y="3311952"/>
            <a:ext cx="301752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58952" y="3311952"/>
            <a:ext cx="290779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Zalaris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703320" y="3311952"/>
            <a:ext cx="182880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776472" y="3311952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2018-2025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532120" y="3311952"/>
            <a:ext cx="155448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605272" y="3311952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26%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086600" y="3311952"/>
            <a:ext cx="155448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159752" y="3311952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1.5x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641080" y="3311952"/>
            <a:ext cx="182880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714232" y="3311952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+16%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85800" y="3505804"/>
            <a:ext cx="301752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58952" y="3505804"/>
            <a:ext cx="290779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Zutec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703320" y="3505804"/>
            <a:ext cx="182880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776472" y="3505804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2018-2025</a:t>
            </a:r>
          </a:p>
        </p:txBody>
      </p:sp>
      <p:sp>
        <p:nvSpPr>
          <p:cNvPr id="83" name="Rectangle 82"/>
          <p:cNvSpPr/>
          <p:nvPr/>
        </p:nvSpPr>
        <p:spPr>
          <a:xfrm>
            <a:off x="5532120" y="3505804"/>
            <a:ext cx="155448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605272" y="3505804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38%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7086600" y="3505804"/>
            <a:ext cx="155448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159752" y="3505804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2.8x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641080" y="3505804"/>
            <a:ext cx="182880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714232" y="3505804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+29%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85800" y="3699656"/>
            <a:ext cx="301752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58952" y="3699656"/>
            <a:ext cx="290779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Roko</a:t>
            </a:r>
          </a:p>
        </p:txBody>
      </p:sp>
      <p:sp>
        <p:nvSpPr>
          <p:cNvPr id="91" name="Rectangle 90"/>
          <p:cNvSpPr/>
          <p:nvPr/>
        </p:nvSpPr>
        <p:spPr>
          <a:xfrm>
            <a:off x="3703320" y="3699656"/>
            <a:ext cx="182880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776472" y="3699656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2019-2025</a:t>
            </a:r>
          </a:p>
        </p:txBody>
      </p:sp>
      <p:sp>
        <p:nvSpPr>
          <p:cNvPr id="93" name="Rectangle 92"/>
          <p:cNvSpPr/>
          <p:nvPr/>
        </p:nvSpPr>
        <p:spPr>
          <a:xfrm>
            <a:off x="5532120" y="3699656"/>
            <a:ext cx="155448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605272" y="3699656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28%</a:t>
            </a:r>
          </a:p>
        </p:txBody>
      </p:sp>
      <p:sp>
        <p:nvSpPr>
          <p:cNvPr id="95" name="Rectangle 94"/>
          <p:cNvSpPr/>
          <p:nvPr/>
        </p:nvSpPr>
        <p:spPr>
          <a:xfrm>
            <a:off x="7086600" y="3699656"/>
            <a:ext cx="155448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159752" y="3699656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5.1x</a:t>
            </a:r>
          </a:p>
        </p:txBody>
      </p:sp>
      <p:sp>
        <p:nvSpPr>
          <p:cNvPr id="97" name="Rectangle 96"/>
          <p:cNvSpPr/>
          <p:nvPr/>
        </p:nvSpPr>
        <p:spPr>
          <a:xfrm>
            <a:off x="8641080" y="3699656"/>
            <a:ext cx="182880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714232" y="3699656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+18%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85800" y="3893508"/>
            <a:ext cx="301752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58952" y="3893508"/>
            <a:ext cx="290779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Catella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3703320" y="3893508"/>
            <a:ext cx="182880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3776472" y="3893508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2020-2025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532120" y="3893508"/>
            <a:ext cx="155448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5605272" y="3893508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12%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7086600" y="3893508"/>
            <a:ext cx="155448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7159752" y="3893508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1.2x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8641080" y="3893508"/>
            <a:ext cx="182880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8714232" y="3893508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+2%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85800" y="4087360"/>
            <a:ext cx="301752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58952" y="4087360"/>
            <a:ext cx="290779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AI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3703320" y="4087360"/>
            <a:ext cx="182880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3776472" y="4087360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2020-2025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5532120" y="4087360"/>
            <a:ext cx="155448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5605272" y="4087360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n.m.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7086600" y="4087360"/>
            <a:ext cx="155448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7159752" y="4087360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5.4x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8641080" y="4087360"/>
            <a:ext cx="182880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8714232" y="4087360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n.m.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685800" y="4281212"/>
            <a:ext cx="301752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758952" y="4281212"/>
            <a:ext cx="290779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Renold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3703320" y="4281212"/>
            <a:ext cx="182880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3776472" y="4281212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2024-2025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5532120" y="4281212"/>
            <a:ext cx="155448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5605272" y="4281212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220%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7086600" y="4281212"/>
            <a:ext cx="155448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7159752" y="4281212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1.6x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8641080" y="4281212"/>
            <a:ext cx="182880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8714232" y="4281212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+211%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685800" y="4475064"/>
            <a:ext cx="301752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758952" y="4475064"/>
            <a:ext cx="290779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Actic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3703320" y="4475064"/>
            <a:ext cx="182880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3776472" y="4475064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2017-2023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532120" y="4475064"/>
            <a:ext cx="155448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605272" y="4475064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A84A4A"/>
                </a:solidFill>
                <a:latin typeface="Calibri"/>
              </a:rPr>
              <a:t>-27%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7086600" y="4475064"/>
            <a:ext cx="155448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7159752" y="4475064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A84A4A"/>
                </a:solidFill>
                <a:latin typeface="Calibri"/>
              </a:rPr>
              <a:t>0.4x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8641080" y="4475064"/>
            <a:ext cx="182880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8714232" y="4475064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A84A4A"/>
                </a:solidFill>
                <a:latin typeface="Calibri"/>
              </a:rPr>
              <a:t>-33%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85800" y="4668916"/>
            <a:ext cx="301752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758952" y="4668916"/>
            <a:ext cx="290779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Haldex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3703320" y="4668916"/>
            <a:ext cx="182880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3776472" y="4668916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2019-2022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5532120" y="4668916"/>
            <a:ext cx="155448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5605272" y="4668916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36%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7086600" y="4668916"/>
            <a:ext cx="155448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7159752" y="4668916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1.6x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641080" y="4668916"/>
            <a:ext cx="182880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714232" y="4668916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+33%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685800" y="4862768"/>
            <a:ext cx="301752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758952" y="4862768"/>
            <a:ext cx="290779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Robit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3703320" y="4862768"/>
            <a:ext cx="182880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776472" y="4862768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2015-2020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5532120" y="4862768"/>
            <a:ext cx="155448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5605272" y="4862768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14%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7086600" y="4862768"/>
            <a:ext cx="155448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7159752" y="4862768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1.4x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8641080" y="4862768"/>
            <a:ext cx="182880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8714232" y="4862768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+8%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685800" y="5056620"/>
            <a:ext cx="301752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758952" y="5056620"/>
            <a:ext cx="290779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Kitron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3703320" y="5056620"/>
            <a:ext cx="182880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3776472" y="5056620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2016-2018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5532120" y="5056620"/>
            <a:ext cx="155448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5605272" y="5056620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40%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7086600" y="5056620"/>
            <a:ext cx="155448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7159752" y="5056620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1.5x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8641080" y="5056620"/>
            <a:ext cx="182880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8714232" y="5056620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+16%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685800" y="5250472"/>
            <a:ext cx="301752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758952" y="5250472"/>
            <a:ext cx="290779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Sandvik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703320" y="5250472"/>
            <a:ext cx="182880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3776472" y="5250472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2015-2017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5532120" y="5250472"/>
            <a:ext cx="155448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5605272" y="5250472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49%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7086600" y="5250472"/>
            <a:ext cx="155448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7159752" y="5250472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1.6x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8641080" y="5250472"/>
            <a:ext cx="182880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8714232" y="5250472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+43%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685800" y="5444324"/>
            <a:ext cx="301752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758952" y="5444324"/>
            <a:ext cx="290779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Transcom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3703320" y="5444324"/>
            <a:ext cx="182880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3776472" y="5444324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2015-2016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5532120" y="5444324"/>
            <a:ext cx="155448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5605272" y="5444324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80%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7086600" y="5444324"/>
            <a:ext cx="155448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7159752" y="5444324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1.7x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8641080" y="5444324"/>
            <a:ext cx="182880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8714232" y="5444324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+80%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685800" y="5729616"/>
            <a:ext cx="9784080" cy="310896"/>
          </a:xfrm>
          <a:prstGeom prst="rect">
            <a:avLst/>
          </a:prstGeom>
          <a:solidFill>
            <a:srgbClr val="14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822960" y="5729616"/>
            <a:ext cx="95097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Calibri"/>
              </a:rPr>
              <a:t>17 deals   ·   weighted MOIC 2.2x   ·   ex best/worst IRR 41% vs index ~9%   ·   36 of 39 deals profitable since 2006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85800" y="6113664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Track Record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Prior period — transactions (2006–2014)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The same strategy, the prior fund — repeatable across two decades and multiple cycles.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19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148840"/>
            <a:ext cx="2468880" cy="260603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2148840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Company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0" y="2148840"/>
            <a:ext cx="1325880" cy="260603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90672" y="2148840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IRR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2148840"/>
            <a:ext cx="1325880" cy="260603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16552" y="2148840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MOIC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409443"/>
            <a:ext cx="2468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2409443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Bilia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17520" y="2409443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90672" y="2409443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11%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43400" y="2409443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16552" y="2409443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2.9x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2670046"/>
            <a:ext cx="2468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2670046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Concentric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017520" y="2670046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90672" y="2670046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81%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43400" y="2670046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16552" y="2670046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3.9x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2930649"/>
            <a:ext cx="2468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2930649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eWork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017520" y="2930649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90672" y="2930649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30%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43400" y="2930649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16552" y="2930649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4.4x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3191252"/>
            <a:ext cx="2468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1792" y="3191252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Haldex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017520" y="3191252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090672" y="3191252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94%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43400" y="3191252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416552" y="3191252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5.5x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3451855"/>
            <a:ext cx="2468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1792" y="3451855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Lindab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017520" y="3451855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090672" y="3451855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32%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43400" y="3451855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416552" y="3451855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1.6x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" y="3712458"/>
            <a:ext cx="2468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1792" y="3712458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Note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017520" y="3712458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090672" y="3712458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32%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343400" y="3712458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416552" y="3712458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5.1x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8640" y="3973061"/>
            <a:ext cx="2468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1792" y="3973061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Transcom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017520" y="3973061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90672" y="3973061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13%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343400" y="3973061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416552" y="3973061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1.3x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48640" y="4233664"/>
            <a:ext cx="2468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1792" y="4233664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Global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017520" y="4233664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090672" y="4233664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16%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43400" y="4233664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416552" y="4233664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1.5x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48640" y="4494267"/>
            <a:ext cx="2468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21792" y="4494267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Ferronordic Machines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017520" y="4494267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090672" y="4494267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43%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343400" y="4494267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416552" y="4494267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2.0x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48640" y="4754870"/>
            <a:ext cx="2468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21792" y="4754870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Klarna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017520" y="4754870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090672" y="4754870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108%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343400" y="4754870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416552" y="4754870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28.2x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48640" y="5015473"/>
            <a:ext cx="2468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21792" y="5015473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Acne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017520" y="5015473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090672" y="5015473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29%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343400" y="5015473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416552" y="5015473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5.5x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355080" y="2148840"/>
            <a:ext cx="2468880" cy="260603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428232" y="2148840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Company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823960" y="2148840"/>
            <a:ext cx="1325880" cy="260603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897112" y="2148840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IRR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0149840" y="2148840"/>
            <a:ext cx="1325880" cy="260603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0222992" y="2148840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MOIC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355080" y="2409443"/>
            <a:ext cx="2468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428232" y="2409443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Usports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823960" y="2409443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897112" y="2409443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A84A4A"/>
                </a:solidFill>
                <a:latin typeface="Calibri"/>
              </a:rPr>
              <a:t>-51%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0149840" y="2409443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0222992" y="2409443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A84A4A"/>
                </a:solidFill>
                <a:latin typeface="Calibri"/>
              </a:rPr>
              <a:t>0.3x</a:t>
            </a:r>
          </a:p>
        </p:txBody>
      </p:sp>
      <p:sp>
        <p:nvSpPr>
          <p:cNvPr id="93" name="Rectangle 92"/>
          <p:cNvSpPr/>
          <p:nvPr/>
        </p:nvSpPr>
        <p:spPr>
          <a:xfrm>
            <a:off x="6355080" y="2670046"/>
            <a:ext cx="2468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428232" y="2670046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Catena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823960" y="2670046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8897112" y="2670046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n.m.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0149840" y="2670046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10222992" y="2670046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3.1x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355080" y="2930649"/>
            <a:ext cx="2468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428232" y="2930649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Tigerholm Products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823960" y="2930649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897112" y="2930649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111%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149840" y="2930649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10222992" y="2930649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1.4x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6355080" y="3191252"/>
            <a:ext cx="2468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428232" y="3191252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Avanza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8823960" y="3191252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8897112" y="3191252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34%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10149840" y="3191252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10222992" y="3191252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8.4x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55080" y="3451855"/>
            <a:ext cx="2468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428232" y="3451855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Fabege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8823960" y="3451855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8897112" y="3451855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25%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10149840" y="3451855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10222992" y="3451855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2.3x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6355080" y="3712458"/>
            <a:ext cx="2468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428232" y="3712458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Johnson Pump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8823960" y="3712458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8897112" y="3712458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52%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0149840" y="3712458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10222992" y="3712458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3.0x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6355080" y="3973061"/>
            <a:ext cx="2468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6428232" y="3973061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Klövern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8823960" y="3973061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8897112" y="3973061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18%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10149840" y="3973061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10222992" y="3973061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2.1x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6355080" y="4233664"/>
            <a:ext cx="2468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6428232" y="4233664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Nobia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8823960" y="4233664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8897112" y="4233664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8%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10149840" y="4233664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0222992" y="4233664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1.4x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6355080" y="4494267"/>
            <a:ext cx="2468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6428232" y="4494267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SkiStar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8823960" y="4494267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8897112" y="4494267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20%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10149840" y="4494267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0222992" y="4494267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5.4x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6355080" y="4754870"/>
            <a:ext cx="2468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428232" y="4754870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Brokk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8823960" y="4754870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8897112" y="4754870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74%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10149840" y="4754870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10222992" y="4754870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5.2x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6355080" y="5015473"/>
            <a:ext cx="2468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6428232" y="5015473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HQ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8823960" y="5015473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8897112" y="5015473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A84A4A"/>
                </a:solidFill>
                <a:latin typeface="Calibri"/>
              </a:rPr>
              <a:t>-5%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10149840" y="5015473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10222992" y="5015473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A84A4A"/>
                </a:solidFill>
                <a:latin typeface="Calibri"/>
              </a:rPr>
              <a:t>0.6x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548640" y="5394960"/>
            <a:ext cx="10104120" cy="310896"/>
          </a:xfrm>
          <a:prstGeom prst="rect">
            <a:avLst/>
          </a:prstGeom>
          <a:solidFill>
            <a:srgbClr val="14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685800" y="5394960"/>
            <a:ext cx="97840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Calibri"/>
              </a:rPr>
              <a:t>22 deals   ·   weighted MOIC 2.7x   ·   average IRR 68%   ·   index outperformance +25 pts (invested-weighted)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548640" y="635508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Selected larger deals of the investment team. Losses shown in red. Capital in SEK; ~$400M invested over the period.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A prospective LP’s investment committee reconciled the security-level (StatPro) data and the 236-month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20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148840"/>
            <a:ext cx="2697480" cy="164592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386584"/>
            <a:ext cx="2697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400" b="0" i="0">
                <a:solidFill>
                  <a:srgbClr val="1E334E"/>
                </a:solidFill>
                <a:latin typeface="Times New Roman"/>
              </a:rPr>
              <a:t>+1,402%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5A636E"/>
                </a:solidFill>
                <a:latin typeface="Calibri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5A636E"/>
                </a:solidFill>
                <a:latin typeface="Calibri"/>
              </a:rPr>
              <a:t>over 19.7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47872" y="2148840"/>
            <a:ext cx="2697480" cy="164592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47872" y="2386584"/>
            <a:ext cx="2697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400" b="0" i="0">
                <a:solidFill>
                  <a:srgbClr val="1E334E"/>
                </a:solidFill>
                <a:latin typeface="Times New Roman"/>
              </a:rPr>
              <a:t>+14.8%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5A636E"/>
                </a:solidFill>
                <a:latin typeface="Calibri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5A636E"/>
                </a:solidFill>
                <a:latin typeface="Calibri"/>
              </a:rPr>
              <a:t>(time-weighted,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9944" y="2148840"/>
            <a:ext cx="2697480" cy="164592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9944" y="2386584"/>
            <a:ext cx="2697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400" b="0" i="0">
                <a:solidFill>
                  <a:srgbClr val="1E334E"/>
                </a:solidFill>
                <a:latin typeface="Times New Roman"/>
              </a:rPr>
              <a:t>+6.0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5A636E"/>
                </a:solidFill>
                <a:latin typeface="Calibri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5A636E"/>
                </a:solidFill>
                <a:latin typeface="Calibri"/>
              </a:rPr>
              <a:t>net, for 20 years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272016" y="2148840"/>
            <a:ext cx="2697480" cy="164592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72016" y="2386584"/>
            <a:ext cx="2697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400" b="0" i="0">
                <a:solidFill>
                  <a:srgbClr val="1E334E"/>
                </a:solidFill>
                <a:latin typeface="Times New Roman"/>
              </a:rPr>
              <a:t>3.11×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5A636E"/>
                </a:solidFill>
                <a:latin typeface="Calibri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5A636E"/>
                </a:solidFill>
                <a:latin typeface="Calibri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023359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 b="1">
                <a:solidFill>
                  <a:srgbClr val="4A5D75"/>
                </a:solidFill>
                <a:latin typeface="Calibri"/>
              </a:rPr>
              <a:t>›  </a:t>
            </a:r>
            <a:r>
              <a:rPr sz="1400" b="1">
                <a:solidFill>
                  <a:srgbClr val="1E334E"/>
                </a:solidFill>
                <a:latin typeface="Calibri"/>
              </a:rPr>
              <a:t>Two full cycles, survived.</a:t>
            </a:r>
            <a:r>
              <a:rPr sz="1400">
                <a:solidFill>
                  <a:srgbClr val="333840"/>
                </a:solidFill>
                <a:latin typeface="Calibri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 b="1">
                <a:solidFill>
                  <a:srgbClr val="4A5D75"/>
                </a:solidFill>
                <a:latin typeface="Calibri"/>
              </a:rPr>
              <a:t>›  </a:t>
            </a:r>
            <a:r>
              <a:rPr sz="1400" b="1">
                <a:solidFill>
                  <a:srgbClr val="1E334E"/>
                </a:solidFill>
                <a:latin typeface="Calibri"/>
              </a:rPr>
              <a:t>Top-tier downside-adjusted return.</a:t>
            </a:r>
            <a:r>
              <a:rPr sz="1400">
                <a:solidFill>
                  <a:srgbClr val="333840"/>
                </a:solidFill>
                <a:latin typeface="Calibri"/>
              </a:rPr>
              <a:t>  20-year Sortino 1.54; AIPFII Sortino 2.40, with upside volatility 3.9× the downside.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 b="1">
                <a:solidFill>
                  <a:srgbClr val="4A5D75"/>
                </a:solidFill>
                <a:latin typeface="Calibri"/>
              </a:rPr>
              <a:t>›  </a:t>
            </a:r>
            <a:r>
              <a:rPr sz="1400" b="1">
                <a:solidFill>
                  <a:srgbClr val="1E334E"/>
                </a:solidFill>
                <a:latin typeface="Calibri"/>
              </a:rPr>
              <a:t>Realised cash, not marks.</a:t>
            </a:r>
            <a:r>
              <a:rPr sz="1400">
                <a:solidFill>
                  <a:srgbClr val="333840"/>
                </a:solidFill>
                <a:latin typeface="Calibri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The review tested the “you can’t rely on the big winners” objection directly against 39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48840"/>
            <a:ext cx="53492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00" b="1" i="0">
                <a:solidFill>
                  <a:srgbClr val="4A5D75"/>
                </a:solidFill>
                <a:latin typeface="Calibri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92% deal-level hit rate (36 of 39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10 of 39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Two decade-definers, not one: Klarna 28× (2007) and Athanase Tech 5.4× (2021)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Robust: even excluding Athanase Tech entirely, AIPFII still ~10% net annualised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148840"/>
            <a:ext cx="53492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00" b="1" i="0">
                <a:solidFill>
                  <a:srgbClr val="4A5D75"/>
                </a:solidFill>
                <a:latin typeface="Calibri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806440"/>
            <a:ext cx="107899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4A5D75"/>
                </a:solidFill>
                <a:latin typeface="Calibri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48840"/>
            <a:ext cx="53492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00" b="1" i="0">
                <a:solidFill>
                  <a:srgbClr val="4A5D75"/>
                </a:solidFill>
                <a:latin typeface="Calibri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148840"/>
            <a:ext cx="53492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00" b="1" i="0">
                <a:solidFill>
                  <a:srgbClr val="4A5D75"/>
                </a:solidFill>
                <a:latin typeface="Calibri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Two ~50% drawdowns have already been recovered with the same philosophy — the path has been bumpy before and still paid +6 pts/yr 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5715000"/>
            <a:ext cx="10835640" cy="566928"/>
          </a:xfrm>
          <a:prstGeom prst="rect">
            <a:avLst/>
          </a:prstGeom>
          <a:solidFill>
            <a:srgbClr val="14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715000"/>
            <a:ext cx="104698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1">
                <a:solidFill>
                  <a:srgbClr val="FFFFFF"/>
                </a:solidFill>
                <a:latin typeface="Calibri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96012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830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600" b="1">
                <a:solidFill>
                  <a:srgbClr val="4A5D75"/>
                </a:solidFill>
                <a:latin typeface="Calibri"/>
              </a:rPr>
              <a:t>›  </a:t>
            </a:r>
            <a:r>
              <a:rPr sz="1600" b="1">
                <a:solidFill>
                  <a:srgbClr val="1E334E"/>
                </a:solidFill>
                <a:latin typeface="Calibri"/>
              </a:rPr>
              <a:t>Governance is the lever.</a:t>
            </a:r>
            <a:r>
              <a:rPr sz="1600">
                <a:solidFill>
                  <a:srgbClr val="333840"/>
                </a:solidFill>
                <a:latin typeface="Calibri"/>
              </a:rPr>
              <a:t>  Value is created through board representation and active promotion of strong corporate governance across all holdings.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600" b="1">
                <a:solidFill>
                  <a:srgbClr val="4A5D75"/>
                </a:solidFill>
                <a:latin typeface="Calibri"/>
              </a:rPr>
              <a:t>›  </a:t>
            </a:r>
            <a:r>
              <a:rPr sz="1600" b="1">
                <a:solidFill>
                  <a:srgbClr val="1E334E"/>
                </a:solidFill>
                <a:latin typeface="Calibri"/>
              </a:rPr>
              <a:t>Five improvement dimensions.</a:t>
            </a:r>
            <a:r>
              <a:rPr sz="1600">
                <a:solidFill>
                  <a:srgbClr val="333840"/>
                </a:solidFill>
                <a:latin typeface="Calibri"/>
              </a:rPr>
              <a:t>  Operational, financial, structural, environmental and social improvements — each tied to enterprise value.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600" b="1">
                <a:solidFill>
                  <a:srgbClr val="4A5D75"/>
                </a:solidFill>
                <a:latin typeface="Calibri"/>
              </a:rPr>
              <a:t>›  </a:t>
            </a:r>
            <a:r>
              <a:rPr sz="1600" b="1">
                <a:solidFill>
                  <a:srgbClr val="1E334E"/>
                </a:solidFill>
                <a:latin typeface="Calibri"/>
              </a:rPr>
              <a:t>PRI signatory since 2019,</a:t>
            </a:r>
            <a:r>
              <a:rPr sz="1600">
                <a:solidFill>
                  <a:srgbClr val="333840"/>
                </a:solidFill>
                <a:latin typeface="Calibri"/>
              </a:rPr>
              <a:t>  adhering to the Six Principles for Responsible Investment.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600" b="1">
                <a:solidFill>
                  <a:srgbClr val="4A5D75"/>
                </a:solidFill>
                <a:latin typeface="Calibri"/>
              </a:rPr>
              <a:t>›  </a:t>
            </a:r>
            <a:r>
              <a:rPr sz="1600" b="1">
                <a:solidFill>
                  <a:srgbClr val="1E334E"/>
                </a:solidFill>
                <a:latin typeface="Calibri"/>
              </a:rPr>
              <a:t>Credible oversight.</a:t>
            </a:r>
            <a:r>
              <a:rPr sz="1600">
                <a:solidFill>
                  <a:srgbClr val="333840"/>
                </a:solidFill>
                <a:latin typeface="Calibri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2210068" cy="47548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468880"/>
            <a:ext cx="457200" cy="27940"/>
          </a:xfrm>
          <a:prstGeom prst="rect">
            <a:avLst/>
          </a:prstGeom>
          <a:solidFill>
            <a:srgbClr val="8A99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697480"/>
            <a:ext cx="10058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600" b="0" i="0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0" i="1">
                <a:solidFill>
                  <a:srgbClr val="C9D3DD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37760"/>
            <a:ext cx="5486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 i="0">
                <a:solidFill>
                  <a:srgbClr val="C9D3DD"/>
                </a:solidFill>
                <a:latin typeface="Calibri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8A99AB"/>
                </a:solidFill>
                <a:latin typeface="Calibri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4937760"/>
            <a:ext cx="3474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 i="0">
                <a:solidFill>
                  <a:srgbClr val="8A99AB"/>
                </a:solidFill>
                <a:latin typeface="Calibri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8A99AB"/>
                </a:solidFill>
                <a:latin typeface="Calibri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