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56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56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56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56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56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56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56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56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56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56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56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56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56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56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560">
                <a:solidFill>
                  <a:srgbClr val="314359"/>
                </a:solidFill>
                <a:latin typeface="Arial"/>
              </a:rPr>
              <a:t>Walking away is a mechanic, not a mood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56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3.9   </a:t>
            </a:r>
            <a:r>
              <a:rPr sz="56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3.10   </a:t>
            </a:r>
            <a:r>
              <a:rPr sz="560">
                <a:solidFill>
                  <a:srgbClr val="314359"/>
                </a:solidFill>
                <a:latin typeface="Arial"/>
              </a:rPr>
              <a:t>How we use AI — and why it widens our edge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56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56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56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56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560">
                <a:solidFill>
                  <a:srgbClr val="314359"/>
                </a:solidFill>
                <a:latin typeface="Arial"/>
              </a:rPr>
              <a:t>Restructuring, honestly — and the headline question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56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56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56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56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4.11   </a:t>
            </a:r>
            <a:r>
              <a:rPr sz="56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56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56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56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56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56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56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56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56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56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56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560">
                <a:solidFill>
                  <a:srgbClr val="314359"/>
                </a:solidFill>
                <a:latin typeface="Arial"/>
              </a:rPr>
              <a:t>A drawdown you can actually defend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56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56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56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56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56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56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56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56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Whether or not AI-driven productivity lifts returns, beta is priced for perfection and the easy tailwind has shifted — so idiosyncratic, valuation-disciplined returns matter more, not 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 — and the sequencing makes that easy: we secure agreement before the larger commitment, so little is ever sunk at the decision point. The gates enforce it, not willpower.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3.7 Walking away is a mechanic, not a mood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Emotional detachment from a researched deal is hard — so we don’t rely on it. Four hardwired controls take portfolio-manager emotion out of the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toehold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Position size is capped at a minimal toehold until the board seat is secured and minuted; if the board obstructs, the toehold is liquidated. “Agreement before capital” is a sizing limit, not a promise.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psychometric tollgate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At Tollgate 2 a behavioural read of the CEO and chair is exclusionary: a high-conflict, entrenched-obstructer profile is an automatic No-Go, as rigid as our ≤20% drawdown-probability limit. The one override — undisputed shareholder support for change (as at Haldex: with major institutions we replaced the whole board, took the chair and changed the CEO).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No research is ever sunk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run no per-deal diligence P&amp;L. Research is the continuous cost of covering our industries and ~20,000 scored companies — reusable on the same name at a new price, or across its competitors. Passing is the funnel working, not a loss.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walk-away ledger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 documented record of situations we declined when alignment couldn’t be secured. Robit is a clear case: first invested May 2015, added over time, and began negotiating a board seat in 2019. Unable to secure it, we exited — disciplined, yet still profitable at a ~14% annual IRR (more than twice the index). The shares have since halved: walking away was also avoided loss.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291072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291072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Walking away isn’t willpower — it’s a sizing limit, a hard tollgate, a research model with no sunk cost, and a documented record. The emotion is engineered out.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walk-away ledger: agreement before capital, in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log every Tollgate-2 “No-Go.” We will not size to conviction without secured board alignment — if alignment fails, the position is unwound. One documented entry; the full ledger is available in diligence.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Situation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84" y="2292096"/>
            <a:ext cx="1865422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8037" y="2292096"/>
            <a:ext cx="1733745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Value hypothesis (Tollgate 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50306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460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Diligence &amp; sizing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267" y="2292096"/>
            <a:ext cx="1792268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421" y="2292096"/>
            <a:ext cx="1660591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The breaking point (Tollgate 2)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8536" y="2292096"/>
            <a:ext cx="1901999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1690" y="2292096"/>
            <a:ext cx="1770322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Exit &amp; post-walk-away outcome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22" y="2828544"/>
            <a:ext cx="43892" cy="19019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53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Robit Plc — Finnish-listed drilling tools &amp; consumables (Nasdaq Helsinki).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84884" y="2828544"/>
            <a:ext cx="1865422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614" y="2945587"/>
            <a:ext cx="1675222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Niche consumables franchise below intrinsic value; correctable cost base and capital allocation — a board-level engagement.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50306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0037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Invested in stages from May 2015; followed and added on over several years while pursuing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96267" y="2828544"/>
            <a:ext cx="1792268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05998" y="2945587"/>
            <a:ext cx="160206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From 2019 we sought a board seat to formalise the plan — and could not secure board alignment.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88536" y="2828544"/>
            <a:ext cx="1901999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267" y="2945587"/>
            <a:ext cx="1711799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Exited rather than stay without influence — still ~14% IRR (&gt;2× the index). Shares have since roughly halved: the discipline avoided the loss.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4828032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One documented entry shown; further Tollgate-2 No-Go decisions are logged and available in diligence. Robit was a built, multi-year position, not a small toehold — the discipline is the same.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6242304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30" y="6242304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exit trade is small and clean — but the point is the fundamental risk we avoided: we take a paper cut over a value trap, every time.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3.9 In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3.10 How we use AI — and why it widens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hand the commoditised work to machines and spend the time we save on the parts that actually generate alpha — the hard, human, non-consensus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AI ACCELERATES US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AI does the heavy lifting on gathering and structuring public data — filings, transcripts, financials, news — at machine speed.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compresses the rote analysis competitors now also automate, so we reach a working picture faster and cheaper.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That frees our analysts’ time for the parts of the job that don’t scale — and don’t commoditise.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THE HUMAN EDGE IS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Our interviews: we read far more than a transcript — what is unsaid, how it is said — and we change the questions in real time as the conversation turns. AI can’t run that today.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Non-consensus truth: an LLM returns the most likely answer, so it is poor at conclusions that are true but not yet common knowledge — which is exactly where investment edge lives.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Engagement and execution: changing the company from the boardroom — not something a model can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So more competition doesn’t shrink our edge — it widens it: the machine handles the commoditised work, and we spend the time saved on the hard things AI can’t do.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 cadence is the risk control — not the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objection: a higher deal count diversifies risk. In engaged ownership that logic inverts — every additional campaign compounds frictional, operational and reputational exposure. Concentration under board control is the discipline, not the hazard.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292096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MATHEMATICS OF RUIN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604211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0E1620"/>
                </a:solidFill>
                <a:latin typeface="Arial"/>
              </a:rPr>
              <a:t>Hold the loss rate fixed at 8%. The crisis count is not.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091891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3091891"/>
            <a:ext cx="58523" cy="109240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861" y="3091891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92268" y="3091891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Low cadence → ≈ 1 situation to contain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Highly vetted; a single underperformer to manage and contain.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359859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4359859"/>
            <a:ext cx="5852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861" y="4359859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68" y="4359859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High cadence → ≈ 8 concurrent crises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public engagement a “failure” is a broken turnaround or board battle — eight running at once.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5647334"/>
            <a:ext cx="435265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Absolute exposure to tail events scales with the number of transactions — not with the percentage loss rate.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4191" y="2292096"/>
            <a:ext cx="4242922" cy="92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Activity is not risk management.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Diversification lowers idiosyncratic risk in passive equity; in engaged ownership it dilutes the board control that actually de-risks the asset.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191" y="3238195"/>
            <a:ext cx="4242922" cy="92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churn tax.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Block accumulation moves price against you on entry and suppresses it on exit; spreads, 13D underwriting and advisory fees are re-paid every campaign instead of amortised over a multi-year hold.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4191" y="4184294"/>
            <a:ext cx="4242922" cy="92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Forced deployment lowers the bar.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high-velocity machine must keep buying — pushing managers to thinner margins of safety and weaker turnarounds to keep capital moving.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191" y="5130393"/>
            <a:ext cx="4242922" cy="92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Reputational surface area.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Every public campaign is an option on controversy. High velocity multiplies the headline surface; conviction holders win seats by quiet, pre-agreed alignment.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22" y="6261811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30" y="6261811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Prioritising cadence over net realised alpha is a failure of fiduciary underwriting — it mistakes the motion of trading for the disciplined compounding of corporate value.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the willingness to own publicly — and sit through a visible J-curve — is what competitors won’t, and what keeps the edge from being arbitraged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Visibility, not confrontation.</a:t>
            </a:r>
            <a:r>
              <a:rPr sz="1160">
                <a:solidFill>
                  <a:srgbClr val="0E1620"/>
                </a:solidFill>
                <a:latin typeface="Arial"/>
              </a:rPr>
              <a:t>  We win board seats by agreement — never a proxy war, and we walk away rather than fight — so the return comes from compounding earnings under that control, not from a public battle or a market re-rating.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will own publicly and see a multi-year engagement through a visible J-curve — so headline-shy, scale-constrained capital leaves the inefficiency to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4.6 Restructuring, honestly — and the headline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change is not always bloodless. Here is what we actually do — and why the headline risk is smaller, not larger, than with a brand-name activist.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ACTUALLY DO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reallocate capital to grow the winning core — not asset-strip for financial engineering (the raider / PE model we explicitly reject).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fix is usually redirecting investment and management focus; where cost must come out, it is to save and grow a viable business, not to dress it for a quick sale.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done by agreement with the board and management — constructive, not imposed; we would rather walk away than fight.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don’t claim it is costless: change can affect jobs and sites, and we own that honestly.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HEADLINE QUESTION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Adversarial, brand-name activists generate far more press — proxy fights and public campaigns are their tool, and their main event.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engage privately and by agreement, so there is rarely a public “battle” to report in the first place.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global brand attracts scrutiny; it does not deflect it — the biggest names draw the most coverage.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And as a small, reversible, daily-priced sleeve, the committee is never locked into a position that turns uncomfortable in the press.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grow good businesses, by agreement — and generate fewer headlines than the brand names, not more. We don’t pretend change is painless; we make sure it is constructive and reversible.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And if the industry degrades, even a constant multiple isn’t guaranteed — so the entry floor, bought at exhaustion below the core’s value, is what carries the downside.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4.11 Why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79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Is a household name really the safer choice?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instinct to reach for a tier-one brand is understandable — but for a fund our size it adds correlated risk and cost, and it is not what discharges fiduciary duty.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BRAND PROMISES COVER — BUT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“No one is fired for picking a household name.” Yet fiduciary duty is discharged by process and outcome — not by brand recognition.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mega-cap activist’s returns are leveraged beta — ~0.89 correlated to equities once de-smoothed: correlated risk dressed as diversification, at tier-one fees.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When that book falls with the market, the brand is no defence — and you have paid up for the privilege.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Reaching for the familiar name is herding; crowding into the same mega-cap trades is itself a fiduciary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ACTUALLY PROTECTS A FIDUCIARY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documented, repeatable process and a 20-year record independently reconciled and audited — SEB · MUFG · KPMG.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transparency — a drawdown you can explain with facts, and exit at will — not an opaque mark you must take on faith.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Alignment — the team invests its own capital alongside yours.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genuine 0.44-correlation diversifier that defends the book when the index falls — the opposite of buying more of what you already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is reputational comfort, not fiduciary protection. The defensible choice is the one backed by process, independent validation and genuine diversification — not the most familiar logo.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Kim, A. G., Muhn, M., &amp; Nikolaev, V. V. (2024). Financial statement analysis with large language models. </a:t>
            </a:r>
            <a:r>
              <a:rPr sz="680" i="1">
                <a:solidFill>
                  <a:srgbClr val="0E1620"/>
                </a:solidFill>
                <a:latin typeface="Arial"/>
              </a:rPr>
              <a:t>Chicago Booth Research Paper (working paper)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https://doi.org/10.48550/arXiv.2407.17866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McLean, R. D., &amp; Pontiff, J. (2016). Does academic research destroy stock return predictability?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71</a:t>
            </a:r>
            <a:r>
              <a:rPr sz="680" i="0">
                <a:solidFill>
                  <a:srgbClr val="0E1620"/>
                </a:solidFill>
                <a:latin typeface="Arial"/>
              </a:rPr>
              <a:t>(1), 5–32. https://doi.org/10.1111/jofi.12365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MSCI.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MSCI ACWI IMI Index and MSCI ACWI Mid Cap Index — factsheets.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MSCI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World Federation of Exchanges.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WFE market statistics — number of listed companies.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WFE.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