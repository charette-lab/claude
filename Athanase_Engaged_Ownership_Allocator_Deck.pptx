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56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56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56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56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56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56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56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56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56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56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56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56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56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56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560">
                <a:solidFill>
                  <a:srgbClr val="314359"/>
                </a:solidFill>
                <a:latin typeface="Arial"/>
              </a:rPr>
              <a:t>Walking away is a mechanic, not a mood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56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3.9   </a:t>
            </a:r>
            <a:r>
              <a:rPr sz="56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3.10   </a:t>
            </a:r>
            <a:r>
              <a:rPr sz="560">
                <a:solidFill>
                  <a:srgbClr val="314359"/>
                </a:solidFill>
                <a:latin typeface="Arial"/>
              </a:rPr>
              <a:t>How we use AI — and why it widens our edge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56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56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56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56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560">
                <a:solidFill>
                  <a:srgbClr val="314359"/>
                </a:solidFill>
                <a:latin typeface="Arial"/>
              </a:rPr>
              <a:t>Restructuring, honestly — and the headline question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56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56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56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56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4.11   </a:t>
            </a:r>
            <a:r>
              <a:rPr sz="56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56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56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56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56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56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56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56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56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56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56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560">
                <a:solidFill>
                  <a:srgbClr val="314359"/>
                </a:solidFill>
                <a:latin typeface="Arial"/>
              </a:rPr>
              <a:t>A drawdown you can actually defend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56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56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56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56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56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56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56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56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Whether or not AI-driven productivity lifts returns, beta is priced for perfection and the easy tailwind has shifted — so idiosyncratic, valuation-disciplined returns matter more, not 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 — and the sequencing makes that easy: we secure agreement before the larger commitment, so little is ever sunk at the decision point. The gates enforce it, not willpower.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3.7 Walking away is a mechanic, not a mood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Emotional detachment from a researched deal is hard — so we don’t rely on it. Four hardwired controls take portfolio-manager emotion out of the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toehold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Position size is capped at a minimal toehold until the board seat is secured and minuted; if the board obstructs, the toehold is liquidated. “Agreement before capital” is a sizing limit, not a promise.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psychometric tollgate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At Tollgate 2 a behavioural read of the CEO and chair is exclusionary: a high-conflict, entrenched-obstructer profile is an automatic No-Go, as rigid as our ≤20% drawdown-probability limit. The one override — undisputed shareholder support for change (as at Haldex: with major institutions we replaced the whole board, took the chair and changed the CEO).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No research is ever sunk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run no per-deal diligence P&amp;L. Research is the continuous cost of covering our industries and ~20,000 scored companies — reusable on the same name at a new price, or across its competitors. Passing is the funnel working, not a loss.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walk-away ledger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 documented record of situations we declined when alignment couldn’t be secured. Robit is a clear case: first invested May 2015, added over time, and began negotiating a board seat in 2019. Unable to secure it, we exited — disciplined, yet still profitable at a ~14% annual IRR (more than twice the index). The shares have since halved: walking away was also avoided loss.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291072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291072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Walking away isn’t willpower — it’s a sizing limit, a hard tollgate, a research model with no sunk cost, and a documented record. The emotion is engineered out.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walk-away ledger: agreement before capital, in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log every Tollgate-2 “No-Go.” We will not size to conviction without secured board alignment — if alignment fails, the position is unwound. One documented entry; the full ledger is available in diligence.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Situation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84" y="2292096"/>
            <a:ext cx="1865422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8037" y="2292096"/>
            <a:ext cx="1733745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Value hypothesis (Tollgate 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50306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460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Diligence &amp; sizing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267" y="2292096"/>
            <a:ext cx="1792268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421" y="2292096"/>
            <a:ext cx="1660591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The breaking point (Tollgate 2)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8536" y="2292096"/>
            <a:ext cx="1901999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1690" y="2292096"/>
            <a:ext cx="1770322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Exit &amp; post-walk-away outcome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22" y="2828544"/>
            <a:ext cx="43892" cy="19019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53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Robit Plc — Finnish-listed drilling tools &amp; consumables (Nasdaq Helsinki).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84884" y="2828544"/>
            <a:ext cx="1865422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614" y="2945587"/>
            <a:ext cx="1675222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Niche consumables franchise below intrinsic value; correctable cost base and capital allocation — a board-level engagement.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50306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0037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Invested in stages from May 2015; followed and added on over several years while pursuing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96267" y="2828544"/>
            <a:ext cx="1792268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05998" y="2945587"/>
            <a:ext cx="160206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From 2019 we sought a board seat to formalise the plan — and could not secure board alignment.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88536" y="2828544"/>
            <a:ext cx="1901999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267" y="2945587"/>
            <a:ext cx="1711799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Exited rather than stay without influence — still ~14% IRR (&gt;2× the index). Shares have since roughly halved: the discipline avoided the loss.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4828032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One documented entry shown; further Tollgate-2 No-Go decisions are logged and available in diligence. Robit was a built, multi-year position, not a small toehold — the discipline is the same.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6242304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30" y="6242304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exit trade is small and clean — but the point is the fundamental risk we avoided: we take a paper cut over a value trap, every time.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3.9 In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3.10 How we use AI — and why it widens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hand the commoditised work to machines and spend the time we save on the parts that actually generate alpha — the hard, human, non-consensus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AI ACCELERATES US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AI does the heavy lifting on gathering and structuring public data — filings, transcripts, financials, news — at machine speed.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compresses the rote analysis competitors now also automate, so we reach a working picture faster and cheaper.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That frees our analysts’ time for the parts of the job that don’t scale — and don’t commoditise.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THE HUMAN EDGE IS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Our interviews: we read far more than a transcript — what is unsaid, how it is said — and we change the questions in real time as the conversation turns. AI can’t run that today.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Non-consensus truth: an LLM returns the most likely answer, so it is poor at conclusions that are true but not yet common knowledge — which is exactly where investment edge lives.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Engagement and execution: changing the company from the boardroom — not something a model can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So more competition doesn’t shrink our edge — it widens it: the machine handles the commoditised work, and we spend the time saved on the hard things AI can’t do.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 cadence is the risk control — not the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objection: a higher deal count diversifies risk. In engaged ownership that logic inverts — every additional campaign compounds frictional, operational and reputational exposure. Concentration under board control is the discipline, not the hazard.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292096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MATHEMATICS OF RUIN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604211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0E1620"/>
                </a:solidFill>
                <a:latin typeface="Arial"/>
              </a:rPr>
              <a:t>Hold the loss rate fixed at 8%. The crisis count is not.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091891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3091891"/>
            <a:ext cx="58523" cy="109240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861" y="3091891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92268" y="3091891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Low cadence → ≈ 1 situation to contain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Highly vetted; a single underperformer to manage and contain.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359859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4359859"/>
            <a:ext cx="5852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861" y="4359859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68" y="4359859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High cadence → ≈ 8 concurrent crises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public engagement a “failure” is a broken turnaround or board battle — eight running at once.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5491276"/>
            <a:ext cx="435265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Absolute exposure to tail events scales with the number of transactions — not with the percentage loss rate.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4191" y="2292096"/>
            <a:ext cx="4242922" cy="7412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Activity is not risk management.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Diversification lowers idiosyncratic risk in passive equity; in engaged ownership it dilutes the board control that actually de-risks the asset.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191" y="3033369"/>
            <a:ext cx="4242922" cy="1248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churn tax — measured, not asserted.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campaign carries a large fixed cost — ~$10.7m on average (Gantchev, 2013) — recovered only by holding through the operating turnaround, where the value is actually made: activist targets keep improving operationally for years after intervention (Bebchuk, Brav &amp; Jiang, 2015). A high-cadence book re-pays that cost every turn and exits before the change compounds; we hold until it does.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4191" y="4281829"/>
            <a:ext cx="4242922" cy="7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Forced deployment lowers the bar.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high-velocity machine must keep buying — pushing managers to thinner margins of safety and weaker turnarounds to keep capital moving.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191" y="5003596"/>
            <a:ext cx="4242922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Reputational surface area.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Every public campaign is an option on controversy. High velocity multiplies the headline surface; conviction holders win seats quietly.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191" y="5676595"/>
            <a:ext cx="4242922" cy="195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Sources: Gantchev (2013), JFE; Bebchuk, Brav &amp; Jiang (2015), Columbia Law Review.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5891174"/>
            <a:ext cx="8873559" cy="92659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807" y="5891174"/>
            <a:ext cx="8522421" cy="926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Our record: 38 deals in 20 years — about one a year, held ~5 years across 8–12 names, at a 92% deal-level hit rate.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We pay these frictions once per hold and let earnings growth amortise them; a high-cadence book re-pays them every turn — taxing the compounding it claims to diversify.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the willingness to own publicly — and sit through a visible J-curve — is what competitors won’t, and what keeps the edge from being arbitraged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Visibility, not confrontation.</a:t>
            </a:r>
            <a:r>
              <a:rPr sz="1160">
                <a:solidFill>
                  <a:srgbClr val="0E1620"/>
                </a:solidFill>
                <a:latin typeface="Arial"/>
              </a:rPr>
              <a:t>  We win board seats by agreement — never a proxy war, and we walk away rather than fight — so the return comes from compounding earnings under that control, not from a public battle or a market re-rating.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will own publicly and see a multi-year engagement through a visible J-curve — so headline-shy, scale-constrained capital leaves the inefficiency to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4.6 Restructuring, honestly — and the headline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change is not always bloodless. Here is what we actually do — and why the headline risk is smaller, not larger, than with a brand-name activist.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ACTUALLY DO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reallocate capital to grow the winning core — not asset-strip for financial engineering (the raider / PE model we explicitly reject).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fix is usually redirecting investment and management focus; where cost must come out, it is to save and grow a viable business, not to dress it for a quick sale.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done by agreement with the board and management — constructive, not imposed; we would rather walk away than fight.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don’t claim it is costless: change can affect jobs and sites, and we own that honestly.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HEADLINE QUESTION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Adversarial, brand-name activists generate far more press — proxy fights and public campaigns are their tool, and their main event.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engage privately and by agreement, so there is rarely a public “battle” to report in the first place.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global brand attracts scrutiny; it does not deflect it — the biggest names draw the most coverage.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And as a small, reversible, daily-priced sleeve, the committee is never locked into a position that turns uncomfortable in the press.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grow good businesses, by agreement — and generate fewer headlines than the brand names, not more. We don’t pretend change is painless; we make sure it is constructive and reversible.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And if the industry degrades, even a constant multiple isn’t guaranteed — so the entry floor, bought at exhaustion below the core’s value, is what carries the downside.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4.11 Why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Built for the committee: the harder objections, answered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volatility, headline and concentration (prior page), four structural objections decide a conservative allocation — each answered so the choice is defensible to a board, not just attractive in a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94614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20336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33537" y="2292096"/>
            <a:ext cx="2523807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35953" y="2292096"/>
            <a:ext cx="236286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concern beneath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57345" y="2292096"/>
            <a:ext cx="4133191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9760" y="2292096"/>
            <a:ext cx="397225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structural cover we provide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2779776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2779776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0599" y="2887065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It doesn’t fit our public- or private-equity bucket.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3537" y="2779776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5214" y="2887065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Public-sleeve tracking error invites scrutiny; PE-sleeve liquidity invites the auditors.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2779776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9021" y="2887065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Sits in the PE sleeve as a liquidity-positive complement — PE-style operational returns (~16% net) with daily marks and zero capital calls, so it cushions the denominator effect instead of feeding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774643"/>
            <a:ext cx="2194614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22" y="3774643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3881932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 boutique carries key-person risk for a small sleeve.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33537" y="3774643"/>
            <a:ext cx="2523807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65214" y="3881932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If a boutique stumbles, the choice is hard to defend without a household name behind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57345" y="3774643"/>
            <a:ext cx="4133191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89021" y="3881932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boutique team inside an institutional fortress: investment, risk and valuation segregated; custody SEB, administration MUFG, audit KPMG — an independently validated, tier-one paper trail.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4769510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8922" y="4769510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0599" y="4876800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~One mid-cap deal a year can’t move our needle.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33537" y="4769510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65214" y="4876800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Hard to justify the team’s underwriting bandwidth on a 1–3% sleeve.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57345" y="4769510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89021" y="4876800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first-right co-investment “free look”: scale nominal exposure into the highest-conviction, already board-de-risked targets — without diluting the core fund’s agility (full terms in the appendix).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5852160"/>
            <a:ext cx="8851613" cy="9558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807" y="5852160"/>
            <a:ext cx="4791575" cy="955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1">
                <a:solidFill>
                  <a:srgbClr val="FFFFFF"/>
                </a:solidFill>
                <a:latin typeface="Arial"/>
              </a:rPr>
              <a:t>And the statistical blanket: across 20 years of live cycles, even the single unluckiest entry month still compounded positively — net of all fees.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23114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~19%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23114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avg net, any
entry month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30152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+7%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30152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worst-ever
entry month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37190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37190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lost over the
hold period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80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Is a household name really the safer choice?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instinct to reach for a tier-one brand is understandable — but for a fund our size it adds correlated risk and cost, and it is not what discharges fiduciary duty.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BRAND PROMISES COVER — BUT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“No one is fired for picking a household name.” Yet fiduciary duty is discharged by process and outcome — not by brand recognition.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mega-cap activist’s returns are leveraged beta — ~0.89 correlated to equities once de-smoothed: correlated risk dressed as diversification, at tier-one fees.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When that book falls with the market, the brand is no defence — and you have paid up for the privilege.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Reaching for the familiar name is herding; crowding into the same mega-cap trades is itself a fiduciary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ACTUALLY PROTECTS A FIDUCIARY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documented, repeatable process and a 20-year record independently reconciled and audited — SEB · MUFG · KPMG.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transparency — a drawdown you can explain with facts, and exit at will — not an opaque mark you must take on faith.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Alignment — the team invests its own capital alongside yours.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genuine 0.44-correlation diversifier that defends the book when the index falls — the opposite of buying more of what you already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is reputational comfort, not fiduciary protection. The defensible choice is the one backed by process, independent validation and genuine diversification — not the most familiar logo.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Waiting is the riskier decision — and it never gets underwritten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Allocating carries a small, bounded, pre-agreed risk. Not allocating carries an open-ended one — concentration you already own, the compounding you forgo, and capacity you cannot get 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RISK OF ALLOCATING — BOUNDED &amp; REVERSIBLE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Sized for immunity — a 1–3% sleeve, so no single mark can move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Pre-underwritten — a ~50% drawdown tolerance signed by the IC: a bad quarter is planned, not a surprise.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Reversible — daily marks and liquidity, exit at will, zero capital-call lock.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Entry timing is a non-risk — the worst entry month in 20 years still compounded at +7% net.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RISK OF WAITING — OPEN-ENDED &amp; UN-MINUTED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Concentration you already own — your equity book is a crowded mega-cap factor bet at record valuations; a genuine 0.44-correlation diversifier is what cushions it when the index falls.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PE denominator trap — in a downturn your illiquid sleeve breaches limits and forces selling good assets at the bottom, with nothing liquid to absorb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Compounding foregone — at a delivered ~16% net, every year on the sidelines is a permanent gap you cannot earn back.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Capacity forfeited — co-investment is allocated pro-rata to flagship commitment; wait, and the free look goes to those already 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Doing nothing is also a decision — the only one that never gets minuted. The bounded, reversible risk is the allocation; the open-ended risk is the status quo.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Optional co-investment facility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co-investment “free look”: a post-engagement drawdown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decouple the co-investment’s timing from the engagement: the main fund bears the execution risk, and LP capital enters only after the turnaround is board-secured — when the public market discounts the price.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1 · MAIN FUND LEADS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Initiates the position, clears the tollgates and secures the board seat — the capital-allocation kill switch. Fundamental risk is structurally lowered.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4545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84745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7160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2 · FACILITY UNCALLED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84745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01791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Co-investment is committed but dormant through the engagement — no upfront execution risk, control premium or broken-deal cost for the LP.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0368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0568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2983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3 · VALUATION TRIGGER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0568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4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Activated only if the public market later dislocates and discounts the price — after the board seat and operating plan are confirmed.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6190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6390" y="2292096"/>
            <a:ext cx="211414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8806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4 · LP CAPITAL ENTERS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76390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93436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Capital draws instantly at the pre-agreed threshold, accumulating at the discounted multiple — below the main fund’s own basis.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4077003"/>
            <a:ext cx="4352652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THE CO-INVESTOR GETS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De-risked, at a discount.</a:t>
            </a:r>
            <a:r>
              <a:rPr sz="760">
                <a:solidFill>
                  <a:srgbClr val="0E1620"/>
                </a:solidFill>
                <a:latin typeface="Arial"/>
              </a:rPr>
              <a:t> — a governed, ROIIC-compounding core bought after the plan is secured — at a basis below the main fund’s.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Zero frictional drag.</a:t>
            </a:r>
            <a:r>
              <a:rPr sz="760">
                <a:solidFill>
                  <a:srgbClr val="0E1620"/>
                </a:solidFill>
                <a:latin typeface="Arial"/>
              </a:rPr>
              <a:t> — no broken-deal, advisory or syndication fees; ~20,000-company research is baseline, so 100% of drawn capital compounds in the equity.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scramble.</a:t>
            </a:r>
            <a:r>
              <a:rPr sz="760">
                <a:solidFill>
                  <a:srgbClr val="0E1620"/>
                </a:solidFill>
                <a:latin typeface="Arial"/>
              </a:rPr>
              <a:t> — pre-agreed terms bypass the 3–4-week syndication — capital hits the dislocation instantly at the optimal basis.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4191" y="4077003"/>
            <a:ext cx="4206345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ALIGNMENT &amp; EXIT GOVERNANCE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Pro-rata exit.</a:t>
            </a:r>
            <a:r>
              <a:rPr sz="760">
                <a:solidFill>
                  <a:srgbClr val="0E1620"/>
                </a:solidFill>
                <a:latin typeface="Arial"/>
              </a:rPr>
              <a:t> — bound to exit in lockstep with the main fund — no separate timing, full parity with the Investment Committee.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Patient-capital enforcement.</a:t>
            </a:r>
            <a:r>
              <a:rPr sz="760">
                <a:solidFill>
                  <a:srgbClr val="0E1620"/>
                </a:solidFill>
                <a:latin typeface="Arial"/>
              </a:rPr>
              <a:t> — the same multi-year holding discipline — no reactionary selling into daily liquidity before the restructuring shows in cash flows and earnings.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5657088"/>
            <a:ext cx="8851613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The core fund carries zero capital calls; this optional facility is the single, deliberate exception — and only on a named, board-de-risked asset.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5910681"/>
            <a:ext cx="8851613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807" y="5910681"/>
            <a:ext cx="8485844" cy="8973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Decoupled in time, optical volatility becomes a pricing advantage — the ultimate institutional free look: turnaround execution risk, stripped of deal costs, priced at a market-driven discount.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Co-investment term sheet: the drawdown mechanics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Dormant until the board seat is secured; drawn only on a 20–30% dislocation to accumulate a 10–20% block; zero fees until the promote; converts to a permanent capital vehicle at 2.5×.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6707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1 · ACTIVATION PREREQUISITES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1338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Board control secured</a:t>
            </a:r>
            <a:r>
              <a:rPr sz="680">
                <a:solidFill>
                  <a:srgbClr val="0E1620"/>
                </a:solidFill>
                <a:latin typeface="Arial"/>
              </a:rPr>
              <a:t> — the vehicle stays dormant until the main fund holds the board seat and the capital-allocation playbook.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Zero blind-pool risk</a:t>
            </a:r>
            <a:r>
              <a:rPr sz="680">
                <a:solidFill>
                  <a:srgbClr val="0E1620"/>
                </a:solidFill>
                <a:latin typeface="Arial"/>
              </a:rPr>
              <a:t> — any drawdown notice names a vetted asset the team already runs from the inside.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8476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6260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2 · DRAWDOWN TRIGGER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8476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891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Price is the sole trigger</a:t>
            </a:r>
            <a:r>
              <a:rPr sz="680">
                <a:solidFill>
                  <a:srgbClr val="0E1620"/>
                </a:solidFill>
                <a:latin typeface="Arial"/>
              </a:rPr>
              <a:t> — capital is called only if the market hands LPs a 20–30% discount; the main fund drives the operational change either way.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Offensive accumulation</a:t>
            </a:r>
            <a:r>
              <a:rPr sz="680">
                <a:solidFill>
                  <a:srgbClr val="0E1620"/>
                </a:solidFill>
                <a:latin typeface="Arial"/>
              </a:rPr>
              <a:t> — build a 10–20% block at exhaustion prices — arbitrage on market psychology, not a falling knife: the board seat already floors fundamental risk.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18029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5813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3 · CALL EXECUTION &amp; EXPIRY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18029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20444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Notice period</a:t>
            </a:r>
            <a:r>
              <a:rPr sz="680">
                <a:solidFill>
                  <a:srgbClr val="0E1620"/>
                </a:solidFill>
                <a:latin typeface="Arial"/>
              </a:rPr>
              <a:t> — a standard 10–15 business-day capital call funds the block build.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Time is the sole opt-out</a:t>
            </a:r>
            <a:r>
              <a:rPr sz="680">
                <a:solidFill>
                  <a:srgbClr val="0E1620"/>
                </a:solidFill>
                <a:latin typeface="Arial"/>
              </a:rPr>
              <a:t> — an 18-month sunset from the board seat; if no discount appears the commitment expires uncalled — LPs pay next to nothing for the optionality and free the risk budget.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3969715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4 · FEES &amp; PROMOTE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1338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Zero management fees</a:t>
            </a:r>
            <a:r>
              <a:rPr sz="680">
                <a:solidFill>
                  <a:srgbClr val="0E1620"/>
                </a:solidFill>
                <a:latin typeface="Arial"/>
              </a:rPr>
              <a:t> — through dormancy and accumulation — only a capped pass-through of verified admin and legal costs.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2.5× super-promote</a:t>
            </a:r>
            <a:r>
              <a:rPr sz="680">
                <a:solidFill>
                  <a:srgbClr val="0E1620"/>
                </a:solidFill>
                <a:latin typeface="Arial"/>
              </a:rPr>
              <a:t> — the manager takes a 20% stake in the listed vehicle only at 2.5× drawn capital, tested continuously (not a single date) — the moment LPs lock a 2.0× net return.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28476" y="3969715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16260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5 · LIQUIDITY — THE PCV FLIP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8476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30891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Direct listing at NAV</a:t>
            </a:r>
            <a:r>
              <a:rPr sz="680">
                <a:solidFill>
                  <a:srgbClr val="0E1620"/>
                </a:solidFill>
                <a:latin typeface="Arial"/>
              </a:rPr>
              <a:t> — a pre-agreed direct listing — a route the team has executed in Sweden — converts the vehicle to a PCV at NAV, with no bookbuild discount.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NAV-tight &amp; evergreen</a:t>
            </a:r>
            <a:r>
              <a:rPr sz="680">
                <a:solidFill>
                  <a:srgbClr val="0E1620"/>
                </a:solidFill>
                <a:latin typeface="Arial"/>
              </a:rPr>
              <a:t> — a mandatory buyback whenever the price trades &gt;10% below NAV holds the discount tight; LPs get daily liquidity, the manager keeps infinite duration.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18029" y="3969715"/>
            <a:ext cx="2872507" cy="39014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05813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LP PROTECTIONS · PROPOSED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18029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0444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No gaming the conversion</a:t>
            </a:r>
            <a:r>
              <a:rPr sz="680">
                <a:solidFill>
                  <a:srgbClr val="0E1620"/>
                </a:solidFill>
                <a:latin typeface="Arial"/>
              </a:rPr>
              <a:t> — NAV is mark-to-market from the listed holdings, valued on a 10-day VWAP — no independent appraisal, and a continuous test leaves no single window the manager can time.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Catastrophe-only LP veto</a:t>
            </a:r>
            <a:r>
              <a:rPr sz="680">
                <a:solidFill>
                  <a:srgbClr val="0E1620"/>
                </a:solidFill>
                <a:latin typeface="Arial"/>
              </a:rPr>
              <a:t> — the LPAC veto covers fund-level events only — key-person or style drift — never the target’s price or operating metrics; NAV redemption if no listing by the longstop.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676595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807" y="5676595"/>
            <a:ext cx="8485844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Fees accrue to LPs first: nothing to the manager until 2.5× — at which point the LP’s 2.0× net is already locked.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6242304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Indicative terms for IC / LP discussion, subject to final fund documentation. The 2.0× is a contractual lock contingent on the 2.5× test — not a guarantee. Buybacks are funded from the vehicle’s distributable cash and capped per year. The “LP protections” cell is a proposal, not yet agreed.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Co-investment capacity: a dividend for backing the 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Capacity is allocated by flagship commitment, not handed out as a marketing tool — so the “free look” rewards the partners who back the core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7966452" cy="70225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05375" y="2292096"/>
            <a:ext cx="885161" cy="702259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292096"/>
            <a:ext cx="7966452" cy="7022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90%  ·  STRICT PRO-RATA — by flagship commitment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05375" y="2292096"/>
            <a:ext cx="885161" cy="7022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10%  ·  GP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3433267"/>
            <a:ext cx="36576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22" y="3433267"/>
            <a:ext cx="365769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4037990"/>
            <a:ext cx="2804230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Pro-rata by flagship commitment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 LP’s right of first refusal equals its share of main-fund commitments — 15% of the fund earns first call on 15% of the sidecar. The lucrative free look is a structural dividend for the investors who back the core.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62614" y="3433267"/>
            <a:ext cx="36576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62614" y="3433267"/>
            <a:ext cx="365769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2614" y="4037990"/>
            <a:ext cx="2804230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Roll-up of declined capacity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Capacity a smaller LP declines is pooled and re-offered, pro-rata, to the remaining participants — automatically concentrating the sidecar among the largest, most agile institutional anchors.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86306" y="3433267"/>
            <a:ext cx="36576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306" y="3433267"/>
            <a:ext cx="365769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306" y="4037990"/>
            <a:ext cx="2804230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A 10% GP-discretionary carve-out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90% is allocated by strict formula to prevent LP infighting; the remaining 10% is reserved for LPs who can contribute directly to a deal — bringing specific industrial knowledge or operating expertise to the situation.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6164275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164275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Capacity rewards conviction: the free look deepens the relationships with the anchors who fund the flagship — a structural dividend, not a giveaway.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Kim, A. G., Muhn, M., &amp; Nikolaev, V. V. (2024). Financial statement analysis with large language models. </a:t>
            </a:r>
            <a:r>
              <a:rPr sz="680" i="1">
                <a:solidFill>
                  <a:srgbClr val="0E1620"/>
                </a:solidFill>
                <a:latin typeface="Arial"/>
              </a:rPr>
              <a:t>Chicago Booth Research Paper (working paper)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https://doi.org/10.48550/arXiv.2407.17866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McLean, R. D., &amp; Pontiff, J. (2016). Does academic research destroy stock return predictability?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71</a:t>
            </a:r>
            <a:r>
              <a:rPr sz="680" i="0">
                <a:solidFill>
                  <a:srgbClr val="0E1620"/>
                </a:solidFill>
                <a:latin typeface="Arial"/>
              </a:rPr>
              <a:t>(1), 5–32. https://doi.org/10.1111/jofi.12365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MSCI.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MSCI ACWI IMI Index and MSCI ACWI Mid Cap Index — factsheets.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MSCI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World Federation of Exchanges.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WFE market statistics — number of listed companies.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WFE.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