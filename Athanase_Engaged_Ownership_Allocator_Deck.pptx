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3.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4.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1.4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1.5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   </a:t>
            </a:r>
            <a:r>
              <a:rPr sz="919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2.2   </a:t>
            </a:r>
            <a:r>
              <a:rPr sz="919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2.3   </a:t>
            </a:r>
            <a:r>
              <a:rPr sz="919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2.4   </a:t>
            </a:r>
            <a:r>
              <a:rPr sz="919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2.5   </a:t>
            </a:r>
            <a:r>
              <a:rPr sz="919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2.6   </a:t>
            </a:r>
            <a:r>
              <a:rPr sz="919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2.7   </a:t>
            </a:r>
            <a:r>
              <a:rPr sz="919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2.8   </a:t>
            </a:r>
            <a:r>
              <a:rPr sz="919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2.9   </a:t>
            </a:r>
            <a:r>
              <a:rPr sz="919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2.10   </a:t>
            </a:r>
            <a:r>
              <a:rPr sz="919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2.11   </a:t>
            </a:r>
            <a:r>
              <a:rPr sz="919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2.12   </a:t>
            </a:r>
            <a:r>
              <a:rPr sz="919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2.13   </a:t>
            </a:r>
            <a:r>
              <a:rPr sz="919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2.14   </a:t>
            </a:r>
            <a:r>
              <a:rPr sz="919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2.15   </a:t>
            </a:r>
            <a:r>
              <a:rPr sz="919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2.16   </a:t>
            </a:r>
            <a:r>
              <a:rPr sz="919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2.17   </a:t>
            </a:r>
            <a:r>
              <a:rPr sz="919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Average net return of 18.6%</a:t>
            </a:r>
            <a:r>
              <a:rPr sz="1200">
                <a:solidFill>
                  <a:srgbClr val="0E1620"/>
                </a:solidFill>
                <a:latin typeface="Arial"/>
              </a:rPr>
              <a:t>  (17.1% vs MSCI IMI 7.6% since inception), regardless of entry month.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+14.5% EBITA growth</a:t>
            </a:r>
            <a:r>
              <a:rPr sz="1200">
                <a:solidFill>
                  <a:srgbClr val="0E1620"/>
                </a:solidFill>
                <a:latin typeface="Arial"/>
              </a:rPr>
              <a:t>  in portfolio companies during the ownership period.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+0.2% in down markets</a:t>
            </a:r>
            <a:r>
              <a:rPr sz="1200">
                <a:solidFill>
                  <a:srgbClr val="0E1620"/>
                </a:solidFill>
                <a:latin typeface="Arial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2.7 A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2.8 The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Hit rate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39 larger investments since 2006 — profitable in 36, lost money in only 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Robust: even excluding Athanase Tech entirely, AIPFII still ~10% net annualised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