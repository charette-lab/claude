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>
                    <a:solidFill>
                      <a:srgbClr val="1E334E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800">
                    <a:solidFill>
                      <a:srgbClr val="1E334E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8A99AB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>
                  <a:solidFill>
                    <a:srgbClr val="33384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532888"/>
            <a:ext cx="9052560" cy="2032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38074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439826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741578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E334E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10433304" y="2468880"/>
            <a:ext cx="164592" cy="164592"/>
          </a:xfrm>
          <a:prstGeom prst="ellipse">
            <a:avLst/>
          </a:prstGeom>
          <a:solidFill>
            <a:srgbClr val="14253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A5D75"/>
                </a:solidFill>
                <a:latin typeface="Calibri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91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45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45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45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45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45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3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3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3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3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537960" y="2331720"/>
          <a:ext cx="52120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37960" y="5669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critique.</a:t>
            </a:r>
            <a:r>
              <a:rPr sz="1350">
                <a:solidFill>
                  <a:srgbClr val="333840"/>
                </a:solidFill>
                <a:latin typeface="Calibri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Our precondition removes it.</a:t>
            </a:r>
            <a:r>
              <a:rPr sz="1350">
                <a:solidFill>
                  <a:srgbClr val="333840"/>
                </a:solidFill>
                <a:latin typeface="Calibri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real setup.</a:t>
            </a:r>
            <a:r>
              <a:rPr sz="1350">
                <a:solidFill>
                  <a:srgbClr val="333840"/>
                </a:solidFill>
                <a:latin typeface="Calibri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inversion.</a:t>
            </a:r>
            <a:r>
              <a:rPr sz="1350">
                <a:solidFill>
                  <a:srgbClr val="333840"/>
                </a:solidFill>
                <a:latin typeface="Calibri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031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3474720"/>
            <a:ext cx="1463040" cy="1554480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145536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E334E"/>
                </a:solidFill>
                <a:latin typeface="Calibr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33840"/>
                </a:solidFill>
                <a:latin typeface="Calibri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92640" y="2852928"/>
            <a:ext cx="1463040" cy="2176272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523744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E334E"/>
                </a:solidFill>
                <a:latin typeface="Calibri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33840"/>
                </a:solidFill>
                <a:latin typeface="Calibri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474720"/>
            <a:ext cx="3108960" cy="152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27080" y="2852928"/>
            <a:ext cx="25400" cy="621792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88950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84A4A"/>
                </a:solidFill>
                <a:latin typeface="Calibri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21488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148840"/>
            <a:ext cx="1965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148840"/>
            <a:ext cx="443484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148840"/>
            <a:ext cx="4251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148840"/>
            <a:ext cx="452628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96328" y="2148840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32888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5328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532888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2532888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532888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53288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09544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20954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209544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8" y="3209544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209544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6328" y="3209544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86200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88620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886200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886200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886200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6328" y="3886200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62856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56285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4562856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1488" y="4562856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562856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96328" y="4562856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39512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23951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5239512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1488" y="5239512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5239512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96328" y="5239512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44184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Friction is the catalyst.</a:t>
            </a:r>
            <a:r>
              <a:rPr sz="1450">
                <a:solidFill>
                  <a:srgbClr val="333840"/>
                </a:solidFill>
                <a:latin typeface="Calibri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discomfort is the moat.</a:t>
            </a:r>
            <a:r>
              <a:rPr sz="1450">
                <a:solidFill>
                  <a:srgbClr val="333840"/>
                </a:solidFill>
                <a:latin typeface="Calibri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board seat de-risks the asset.</a:t>
            </a:r>
            <a:r>
              <a:rPr sz="1450">
                <a:solidFill>
                  <a:srgbClr val="333840"/>
                </a:solidFill>
                <a:latin typeface="Calibri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J-curve is tradable, not painful.</a:t>
            </a:r>
            <a:r>
              <a:rPr sz="1450">
                <a:solidFill>
                  <a:srgbClr val="333840"/>
                </a:solidFill>
                <a:latin typeface="Calibri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Public scoreboard, daily.</a:t>
            </a:r>
            <a:r>
              <a:rPr sz="1450">
                <a:solidFill>
                  <a:srgbClr val="333840"/>
                </a:solidFill>
                <a:latin typeface="Calibri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6692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Value moves over the holding period.</a:t>
            </a:r>
            <a:r>
              <a:rPr sz="1350">
                <a:solidFill>
                  <a:srgbClr val="333840"/>
                </a:solidFill>
                <a:latin typeface="Calibri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PE looks smooth because it is appraised, not traded.</a:t>
            </a:r>
            <a:r>
              <a:rPr sz="1350">
                <a:solidFill>
                  <a:srgbClr val="333840"/>
                </a:solidFill>
                <a:latin typeface="Calibri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Same economics, honest optics.</a:t>
            </a:r>
            <a:r>
              <a:rPr sz="1350">
                <a:solidFill>
                  <a:srgbClr val="333840"/>
                </a:solidFill>
                <a:latin typeface="Calibri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103120"/>
          <a:ext cx="53949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46520" y="57607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41605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4884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148840"/>
            <a:ext cx="69037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7176" y="214884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60904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66090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660904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37176" y="266090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72968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172968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172968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37176" y="3172968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85032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685032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3685032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7176" y="3685032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97096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97096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4197096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7176" y="4197096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709160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0916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4709160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37176" y="470916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21224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22122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5221224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7176" y="522122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01752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14884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148840"/>
            <a:ext cx="182880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2148840"/>
            <a:ext cx="155448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148840"/>
            <a:ext cx="155448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975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148840"/>
            <a:ext cx="1828800" cy="19385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342692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234269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34269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647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34269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0527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34269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975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234269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3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53654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253654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212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0527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1423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2730396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" y="273039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273039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7647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32120" y="273039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0527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73039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5975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41080" y="273039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1423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292424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" y="292424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7647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3212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0527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5975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1423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" y="3118100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" y="311810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311810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77647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32120" y="311810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0527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86600" y="311810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5975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311810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1423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" y="331195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8952" y="331195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77647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0527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8660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5975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64108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1423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5800" y="3505804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2" y="350580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350580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7647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32120" y="350580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0527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86600" y="350580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975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641080" y="350580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1423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5800" y="3699656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8952" y="369965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7647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53212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0527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8660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5975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64108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1423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5800" y="3893508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58952" y="389350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3893508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7647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32120" y="3893508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0527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86600" y="3893508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5975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41080" y="3893508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71423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85800" y="4087360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952" y="408736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77647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53212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0527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08660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15975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64108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71423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85800" y="4281212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58952" y="428121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428121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77647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532120" y="428121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0527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86600" y="4281212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5975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641080" y="4281212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71423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" y="447506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8952" y="447506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77647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53212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0527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08660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15975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64108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1423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85800" y="4668916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58952" y="466891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466891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77647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532120" y="466891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60527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6600" y="4668916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15975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641080" y="4668916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1423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85800" y="486276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8952" y="486276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77647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53212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0527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08660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15975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64108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1423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85800" y="5056620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58952" y="505662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505662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77647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532120" y="505662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60527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086600" y="5056620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15975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641080" y="5056620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71423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85800" y="525047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58952" y="525047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70332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77647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53212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0527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660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15975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64108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71423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85800" y="5444324"/>
            <a:ext cx="301752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58952" y="544432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703320" y="544432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77647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532120" y="544432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60527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086600" y="5444324"/>
            <a:ext cx="155448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15975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8641080" y="5444324"/>
            <a:ext cx="1828800" cy="19385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871423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85800" y="572961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22960" y="572961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5800" y="611366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4A5D75"/>
                </a:solidFill>
                <a:latin typeface="Calibri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Two full cycles, survived.</a:t>
            </a:r>
            <a:r>
              <a:rPr sz="1400">
                <a:solidFill>
                  <a:srgbClr val="333840"/>
                </a:solidFill>
                <a:latin typeface="Calibri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Top-tier downside-adjusted return.</a:t>
            </a:r>
            <a:r>
              <a:rPr sz="1400">
                <a:solidFill>
                  <a:srgbClr val="333840"/>
                </a:solidFill>
                <a:latin typeface="Calibri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Realised cash, not marks.</a:t>
            </a:r>
            <a:r>
              <a:rPr sz="1400">
                <a:solidFill>
                  <a:srgbClr val="333840"/>
                </a:solidFill>
                <a:latin typeface="Calibri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566928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