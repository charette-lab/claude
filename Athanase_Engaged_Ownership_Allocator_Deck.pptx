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5A636E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4253B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>
                    <a:solidFill>
                      <a:srgbClr val="1E334E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5A636E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4253B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800">
                    <a:solidFill>
                      <a:srgbClr val="1E334E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8A99AB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>
                  <a:solidFill>
                    <a:srgbClr val="33384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4A5D75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53492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1.1   </a:t>
            </a:r>
            <a:r>
              <a:rPr sz="1150">
                <a:solidFill>
                  <a:srgbClr val="1E334E"/>
                </a:solidFill>
                <a:latin typeface="Calibri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1.2   </a:t>
            </a:r>
            <a:r>
              <a:rPr sz="1150">
                <a:solidFill>
                  <a:srgbClr val="1E334E"/>
                </a:solidFill>
                <a:latin typeface="Calibri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1.3   </a:t>
            </a:r>
            <a:r>
              <a:rPr sz="1150">
                <a:solidFill>
                  <a:srgbClr val="1E334E"/>
                </a:solidFill>
                <a:latin typeface="Calibri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1.4   </a:t>
            </a:r>
            <a:r>
              <a:rPr sz="1150">
                <a:solidFill>
                  <a:srgbClr val="1E334E"/>
                </a:solidFill>
                <a:latin typeface="Calibri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1.5   </a:t>
            </a:r>
            <a:r>
              <a:rPr sz="1150">
                <a:solidFill>
                  <a:srgbClr val="1E334E"/>
                </a:solidFill>
                <a:latin typeface="Calibri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4A5D75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53492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   </a:t>
            </a:r>
            <a:r>
              <a:rPr sz="1150">
                <a:solidFill>
                  <a:srgbClr val="1E334E"/>
                </a:solidFill>
                <a:latin typeface="Calibri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2.2   </a:t>
            </a:r>
            <a:r>
              <a:rPr sz="1150">
                <a:solidFill>
                  <a:srgbClr val="1E334E"/>
                </a:solidFill>
                <a:latin typeface="Calibri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2.3   </a:t>
            </a:r>
            <a:r>
              <a:rPr sz="1150">
                <a:solidFill>
                  <a:srgbClr val="1E334E"/>
                </a:solidFill>
                <a:latin typeface="Calibri"/>
              </a:rPr>
              <a:t>The inefficiency Athanase harvests</a:t>
            </a:r>
            <a:r>
              <a:rPr sz="950" i="1">
                <a:solidFill>
                  <a:srgbClr val="5A636E"/>
                </a:solidFill>
                <a:latin typeface="Calibri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2.4   </a:t>
            </a:r>
            <a:r>
              <a:rPr sz="1150">
                <a:solidFill>
                  <a:srgbClr val="1E334E"/>
                </a:solidFill>
                <a:latin typeface="Calibri"/>
              </a:rPr>
              <a:t>We don’t buy broken companies — we buy hidden cores</a:t>
            </a:r>
            <a:r>
              <a:rPr sz="950" i="1">
                <a:solidFill>
                  <a:srgbClr val="5A636E"/>
                </a:solidFill>
                <a:latin typeface="Calibri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2.5   </a:t>
            </a:r>
            <a:r>
              <a:rPr sz="1150">
                <a:solidFill>
                  <a:srgbClr val="1E334E"/>
                </a:solidFill>
                <a:latin typeface="Calibri"/>
              </a:rPr>
              <a:t>Quality-core constructivism — how we differ</a:t>
            </a:r>
            <a:r>
              <a:rPr sz="950" i="1">
                <a:solidFill>
                  <a:srgbClr val="5A636E"/>
                </a:solidFill>
                <a:latin typeface="Calibri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2.6   </a:t>
            </a:r>
            <a:r>
              <a:rPr sz="1150">
                <a:solidFill>
                  <a:srgbClr val="1E334E"/>
                </a:solidFill>
                <a:latin typeface="Calibri"/>
              </a:rPr>
              <a:t>We don’t need to be right more than ~50%</a:t>
            </a:r>
            <a:r>
              <a:rPr sz="950" i="1">
                <a:solidFill>
                  <a:srgbClr val="5A636E"/>
                </a:solidFill>
                <a:latin typeface="Calibri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2.7   </a:t>
            </a:r>
            <a:r>
              <a:rPr sz="1150">
                <a:solidFill>
                  <a:srgbClr val="1E334E"/>
                </a:solidFill>
                <a:latin typeface="Calibri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2.8   </a:t>
            </a:r>
            <a:r>
              <a:rPr sz="1150">
                <a:solidFill>
                  <a:srgbClr val="1E334E"/>
                </a:solidFill>
                <a:latin typeface="Calibri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2.9   </a:t>
            </a:r>
            <a:r>
              <a:rPr sz="1150">
                <a:solidFill>
                  <a:srgbClr val="1E334E"/>
                </a:solidFill>
                <a:latin typeface="Calibri"/>
              </a:rPr>
              <a:t>A non-linear path — honestly priced</a:t>
            </a:r>
            <a:r>
              <a:rPr sz="950" i="1">
                <a:solidFill>
                  <a:srgbClr val="5A636E"/>
                </a:solidFill>
                <a:latin typeface="Calibri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2.10   </a:t>
            </a:r>
            <a:r>
              <a:rPr sz="1150">
                <a:solidFill>
                  <a:srgbClr val="1E334E"/>
                </a:solidFill>
                <a:latin typeface="Calibri"/>
              </a:rPr>
              <a:t>Risk reframing for the investment committee</a:t>
            </a:r>
            <a:r>
              <a:rPr sz="950" i="1">
                <a:solidFill>
                  <a:srgbClr val="5A636E"/>
                </a:solidFill>
                <a:latin typeface="Calibri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2.11   </a:t>
            </a:r>
            <a:r>
              <a:rPr sz="1150">
                <a:solidFill>
                  <a:srgbClr val="1E334E"/>
                </a:solidFill>
                <a:latin typeface="Calibri"/>
              </a:rPr>
              <a:t>Proof: outperformance with downside protection</a:t>
            </a:r>
            <a:r>
              <a:rPr sz="950" i="1">
                <a:solidFill>
                  <a:srgbClr val="5A636E"/>
                </a:solidFill>
                <a:latin typeface="Calibri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2.12   </a:t>
            </a:r>
            <a:r>
              <a:rPr sz="1150">
                <a:solidFill>
                  <a:srgbClr val="1E334E"/>
                </a:solidFill>
                <a:latin typeface="Calibri"/>
              </a:rPr>
              <a:t>AIP Fund II — transactions (2015–present)</a:t>
            </a:r>
            <a:r>
              <a:rPr sz="950" i="1">
                <a:solidFill>
                  <a:srgbClr val="5A636E"/>
                </a:solidFill>
                <a:latin typeface="Calibri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2.13   </a:t>
            </a:r>
            <a:r>
              <a:rPr sz="1150">
                <a:solidFill>
                  <a:srgbClr val="1E334E"/>
                </a:solidFill>
                <a:latin typeface="Calibri"/>
              </a:rPr>
              <a:t>Prior period — transactions (2006–2014)</a:t>
            </a:r>
            <a:r>
              <a:rPr sz="950" i="1">
                <a:solidFill>
                  <a:srgbClr val="5A636E"/>
                </a:solidFill>
                <a:latin typeface="Calibri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2.14   </a:t>
            </a:r>
            <a:r>
              <a:rPr sz="1150">
                <a:solidFill>
                  <a:srgbClr val="1E334E"/>
                </a:solidFill>
                <a:latin typeface="Calibri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2.15   </a:t>
            </a:r>
            <a:r>
              <a:rPr sz="1150">
                <a:solidFill>
                  <a:srgbClr val="1E334E"/>
                </a:solidFill>
                <a:latin typeface="Calibri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2.16   </a:t>
            </a:r>
            <a:r>
              <a:rPr sz="1150">
                <a:solidFill>
                  <a:srgbClr val="1E334E"/>
                </a:solidFill>
                <a:latin typeface="Calibri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4A5D75"/>
                </a:solidFill>
                <a:latin typeface="Calibri"/>
              </a:rPr>
              <a:t>2.17   </a:t>
            </a:r>
            <a:r>
              <a:rPr sz="1150">
                <a:solidFill>
                  <a:srgbClr val="1E334E"/>
                </a:solidFill>
                <a:latin typeface="Calibri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Calibri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Calibri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Calibri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Calibri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Calibri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Calibri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Calibri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Calibri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Calibri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Calibri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Calibri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Calibri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Calibri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Calibri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Calibri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Calibri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Calibri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Calibri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Calibri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Calibri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Aligned economics</a:t>
            </a:r>
            <a:r>
              <a:rPr sz="1550">
                <a:solidFill>
                  <a:srgbClr val="333840"/>
                </a:solidFill>
                <a:latin typeface="Calibri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Calibri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Calibri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Calibri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Calibri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Calibri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2532888"/>
            <a:ext cx="9052560" cy="2032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38074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439826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741578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1043330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91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40+ companies managed,</a:t>
            </a:r>
            <a:r>
              <a:rPr sz="1450">
                <a:solidFill>
                  <a:srgbClr val="333840"/>
                </a:solidFill>
                <a:latin typeface="Calibri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30+ public board seats</a:t>
            </a:r>
            <a:r>
              <a:rPr sz="1450">
                <a:solidFill>
                  <a:srgbClr val="333840"/>
                </a:solidFill>
                <a:latin typeface="Calibri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dual lens:</a:t>
            </a:r>
            <a:r>
              <a:rPr sz="1450">
                <a:solidFill>
                  <a:srgbClr val="333840"/>
                </a:solidFill>
                <a:latin typeface="Calibri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Skin in the game.</a:t>
            </a:r>
            <a:r>
              <a:rPr sz="1450">
                <a:solidFill>
                  <a:srgbClr val="333840"/>
                </a:solidFill>
                <a:latin typeface="Calibri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Institutional memory.</a:t>
            </a:r>
            <a:r>
              <a:rPr sz="1450">
                <a:solidFill>
                  <a:srgbClr val="333840"/>
                </a:solidFill>
                <a:latin typeface="Calibri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7607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Duration mismatch.</a:t>
            </a:r>
            <a:r>
              <a:rPr sz="1350">
                <a:solidFill>
                  <a:srgbClr val="333840"/>
                </a:solidFill>
                <a:latin typeface="Calibri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prestige trap.</a:t>
            </a:r>
            <a:r>
              <a:rPr sz="1350">
                <a:solidFill>
                  <a:srgbClr val="333840"/>
                </a:solidFill>
                <a:latin typeface="Calibri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Shareholder exhaustion.</a:t>
            </a:r>
            <a:r>
              <a:rPr sz="1350">
                <a:solidFill>
                  <a:srgbClr val="333840"/>
                </a:solidFill>
                <a:latin typeface="Calibri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Low competition.</a:t>
            </a:r>
            <a:r>
              <a:rPr sz="1350">
                <a:solidFill>
                  <a:srgbClr val="333840"/>
                </a:solidFill>
                <a:latin typeface="Calibri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537960" y="2331720"/>
          <a:ext cx="52120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37960" y="5669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A4B0"/>
                </a:solidFill>
                <a:latin typeface="Calibri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critique.</a:t>
            </a:r>
            <a:r>
              <a:rPr sz="1350">
                <a:solidFill>
                  <a:srgbClr val="333840"/>
                </a:solidFill>
                <a:latin typeface="Calibri"/>
              </a:rPr>
              <a:t>  Buy “cheap and troubled” and you select for lemons — worse than they look. The market discounted them for a reason.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Our precondition removes it.</a:t>
            </a:r>
            <a:r>
              <a:rPr sz="1350">
                <a:solidFill>
                  <a:srgbClr val="333840"/>
                </a:solidFill>
                <a:latin typeface="Calibri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real setup.</a:t>
            </a:r>
            <a:r>
              <a:rPr sz="1350">
                <a:solidFill>
                  <a:srgbClr val="333840"/>
                </a:solidFill>
                <a:latin typeface="Calibri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inversion.</a:t>
            </a:r>
            <a:r>
              <a:rPr sz="1350">
                <a:solidFill>
                  <a:srgbClr val="333840"/>
                </a:solidFill>
                <a:latin typeface="Calibri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031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3474720"/>
            <a:ext cx="1463040" cy="1554480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145536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E334E"/>
                </a:solidFill>
                <a:latin typeface="Calibr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120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33840"/>
                </a:solidFill>
                <a:latin typeface="Calibri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92640" y="2852928"/>
            <a:ext cx="1463040" cy="2176272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2523744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E334E"/>
                </a:solidFill>
                <a:latin typeface="Calibri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5120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33840"/>
                </a:solidFill>
                <a:latin typeface="Calibri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3474720"/>
            <a:ext cx="3108960" cy="152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27080" y="2852928"/>
            <a:ext cx="25400" cy="621792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88950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84A4A"/>
                </a:solidFill>
                <a:latin typeface="Calibri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21488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148840"/>
            <a:ext cx="1965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148840"/>
            <a:ext cx="4434840" cy="38404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2148840"/>
            <a:ext cx="4251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148840"/>
            <a:ext cx="4526280" cy="38404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96328" y="2148840"/>
            <a:ext cx="4343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32888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5328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2532888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2532888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2532888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532888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09544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20954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209544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88" y="3209544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209544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6328" y="3209544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86200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88620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886200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886200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886200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96328" y="3886200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62856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456285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4562856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1488" y="4562856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600" y="4562856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96328" y="4562856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39512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23951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51760" y="5239512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61488" y="5239512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5239512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96328" y="5239512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044184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Friction is the catalyst.</a:t>
            </a:r>
            <a:r>
              <a:rPr sz="1450">
                <a:solidFill>
                  <a:srgbClr val="333840"/>
                </a:solidFill>
                <a:latin typeface="Calibri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discomfort is the moat.</a:t>
            </a:r>
            <a:r>
              <a:rPr sz="1450">
                <a:solidFill>
                  <a:srgbClr val="333840"/>
                </a:solidFill>
                <a:latin typeface="Calibri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board seat de-risks the asset.</a:t>
            </a:r>
            <a:r>
              <a:rPr sz="1450">
                <a:solidFill>
                  <a:srgbClr val="333840"/>
                </a:solidFill>
                <a:latin typeface="Calibri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J-curve is tradable, not painful.</a:t>
            </a:r>
            <a:r>
              <a:rPr sz="1450">
                <a:solidFill>
                  <a:srgbClr val="333840"/>
                </a:solidFill>
                <a:latin typeface="Calibri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Public scoreboard, daily.</a:t>
            </a:r>
            <a:r>
              <a:rPr sz="1450">
                <a:solidFill>
                  <a:srgbClr val="333840"/>
                </a:solidFill>
                <a:latin typeface="Calibri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66928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Value moves over the holding period.</a:t>
            </a:r>
            <a:r>
              <a:rPr sz="1350">
                <a:solidFill>
                  <a:srgbClr val="333840"/>
                </a:solidFill>
                <a:latin typeface="Calibri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PE looks smooth because it is appraised, not traded.</a:t>
            </a:r>
            <a:r>
              <a:rPr sz="1350">
                <a:solidFill>
                  <a:srgbClr val="333840"/>
                </a:solidFill>
                <a:latin typeface="Calibri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Same economics, honest optics.</a:t>
            </a:r>
            <a:r>
              <a:rPr sz="1350">
                <a:solidFill>
                  <a:srgbClr val="333840"/>
                </a:solidFill>
                <a:latin typeface="Calibri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103120"/>
          <a:ext cx="53949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46520" y="57607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A4B0"/>
                </a:solidFill>
                <a:latin typeface="Calibri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41605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4884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2148840"/>
            <a:ext cx="69037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7176" y="214884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60904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66090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660904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37176" y="266090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72968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172968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172968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37176" y="3172968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685032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685032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3685032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7176" y="3685032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97096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197096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4197096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37176" y="4197096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709160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0916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4709160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37176" y="470916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221224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522122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5221224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7176" y="522122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301752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14884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148840"/>
            <a:ext cx="182880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6472" y="214884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2148840"/>
            <a:ext cx="155448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214884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148840"/>
            <a:ext cx="155448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9752" y="214884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148840"/>
            <a:ext cx="182880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214884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342692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234269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234269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6472" y="234269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234269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05272" y="234269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34269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59752" y="234269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80" y="234269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32" y="234269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2536544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253654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253654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6472" y="253654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32120" y="253654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05272" y="253654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253654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9752" y="253654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1080" y="253654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14232" y="253654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2730396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" y="273039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273039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76472" y="273039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32120" y="273039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05272" y="273039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86600" y="273039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59752" y="273039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41080" y="273039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14232" y="273039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2924248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8952" y="292424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03320" y="292424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76472" y="292424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32120" y="292424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05272" y="292424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86600" y="292424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59752" y="292424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41080" y="292424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14232" y="292424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" y="3118100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8952" y="311810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03320" y="311810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776472" y="311810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32120" y="311810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05272" y="311810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86600" y="311810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59752" y="311810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41080" y="311810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714232" y="311810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5800" y="3311952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8952" y="331195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03320" y="331195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776472" y="331195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32120" y="331195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05272" y="331195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086600" y="331195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59752" y="331195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641080" y="331195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14232" y="331195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5800" y="3505804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8952" y="350580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350580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76472" y="350580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532120" y="350580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05272" y="350580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86600" y="350580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9752" y="350580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641080" y="350580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14232" y="350580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5800" y="3699656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8952" y="369965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3699656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76472" y="369965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532120" y="3699656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05272" y="369965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86600" y="3699656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59752" y="369965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641080" y="3699656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14232" y="369965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85800" y="3893508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58952" y="389350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3893508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76472" y="389350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32120" y="3893508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05272" y="389350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86600" y="3893508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59752" y="389350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41080" y="3893508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714232" y="389350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85800" y="4087360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952" y="408736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4087360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776472" y="408736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532120" y="4087360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05272" y="408736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086600" y="4087360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159752" y="408736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641080" y="4087360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714232" y="408736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85800" y="4281212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58952" y="428121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428121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776472" y="428121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532120" y="428121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05272" y="428121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86600" y="428121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59752" y="428121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641080" y="428121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714232" y="428121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" y="4475064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58952" y="447506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703320" y="447506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776472" y="447506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532120" y="447506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605272" y="447506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086600" y="447506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159752" y="447506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641080" y="447506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14232" y="447506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85800" y="4668916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58952" y="466891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703320" y="466891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776472" y="466891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532120" y="466891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605272" y="466891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6600" y="466891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159752" y="466891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641080" y="466891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14232" y="466891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85800" y="4862768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58952" y="486276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703320" y="486276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776472" y="486276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532120" y="486276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605272" y="486276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086600" y="486276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159752" y="486276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641080" y="486276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14232" y="486276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85800" y="5056620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58952" y="505662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703320" y="505662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776472" y="505662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532120" y="505662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605272" y="505662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086600" y="505662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159752" y="505662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641080" y="505662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714232" y="505662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85800" y="5250472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58952" y="525047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703320" y="525047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776472" y="525047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532120" y="525047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05272" y="525047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086600" y="525047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159752" y="525047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641080" y="525047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714232" y="525047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85800" y="5444324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758952" y="544432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703320" y="544432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776472" y="544432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532120" y="544432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605272" y="544432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086600" y="544432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159752" y="544432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8641080" y="544432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8714232" y="544432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85800" y="5729616"/>
            <a:ext cx="978408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822960" y="5729616"/>
            <a:ext cx="9509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5800" y="611366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9067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9067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655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9067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9067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1655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9067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1655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067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4340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655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9067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4340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1655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9067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4340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1655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67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4340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1655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179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9067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4340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1655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01752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9067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4340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41655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2823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2396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9711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14984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2299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2823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82396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9711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14984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2299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5508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2823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2396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9711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4984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2299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5508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2823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82396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89711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14984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2299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5508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2823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82396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9711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14984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2299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5508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42823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2396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89711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14984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2299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5508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2823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82396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9711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14984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22299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2823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82396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89711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14984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2299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5508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2823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82396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89711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14984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22299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35508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42823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82396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89711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14984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22299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35508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42823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82396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89711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14984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22299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35508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42823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82396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9711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14984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22299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48640" y="5394960"/>
            <a:ext cx="1010412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85800" y="5394960"/>
            <a:ext cx="9784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4864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7872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9944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2016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59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Two full cycles, survived.</a:t>
            </a:r>
            <a:r>
              <a:rPr sz="1400">
                <a:solidFill>
                  <a:srgbClr val="333840"/>
                </a:solidFill>
                <a:latin typeface="Calibri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Top-tier downside-adjusted return.</a:t>
            </a:r>
            <a:r>
              <a:rPr sz="1400">
                <a:solidFill>
                  <a:srgbClr val="333840"/>
                </a:solidFill>
                <a:latin typeface="Calibri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Realised cash, not marks.</a:t>
            </a:r>
            <a:r>
              <a:rPr sz="1400">
                <a:solidFill>
                  <a:srgbClr val="333840"/>
                </a:solidFill>
                <a:latin typeface="Calibri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566928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15000"/>
            <a:ext cx="10469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1">
                <a:solidFill>
                  <a:srgbClr val="FFFFFF"/>
                </a:solidFill>
                <a:latin typeface="Calibri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Calibri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Calibri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Calibri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Calibri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Calibri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Calibri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