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AI monoculture: machine-run portfolios crowd and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growing body of research models the mechanism: as managers adopt similar AI, they herd into the same trades — eroding market depth, crowding factors and accelerating alpha decay. Engaged ownership sits outside the monoculture.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monoculture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 AI penetration makes managers share a common signal and herd into the same trades; correlated pressure erodes market depth, drives down fundamental values and amplifies systemic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22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Meng &amp; Chen,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0568" y="2292096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0568" y="2292096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768" y="2448153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Strategy convergence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768" y="2838297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Agents trained on overlapping data and rewarded on similar objectives synchronise; order books thin and AI-strategy returns decay rapidly.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768" y="3735628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Tran,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22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Algorithmic coherence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22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LLM-augmented investors adopt comparable trade logic, crowding the same risk-premia, distorting price discovery and amplifying volatility through reflexive loops.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22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Gimmelberg,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0568" y="4203801"/>
            <a:ext cx="4359968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0568" y="4203801"/>
            <a:ext cx="51207" cy="17556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768" y="4359859"/>
            <a:ext cx="3994199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314359"/>
                </a:solidFill>
                <a:latin typeface="Arial"/>
              </a:rPr>
              <a:t>Factor crowding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768" y="4750003"/>
            <a:ext cx="399419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LLM agents generate highly redundant factors — so managers select the same stocks on the same signals, cannibalising each other’s returns.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768" y="5647334"/>
            <a:ext cx="39941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Han et al., 2026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076492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30" y="6076492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more the market runs on the same machines, the more it converges on one trade — and the faster that edge decays. Changing the company is the edge no shared model can copy.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How the value is created: 14.5% EBITA growth a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Across ~40 investments, the companies we own have grown operating profit (EBITA) about 14.5% a year while we owned them — the operating engine behind the return.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26153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41376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22" y="2779776"/>
            <a:ext cx="2926153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5120" b="0" i="0" spc="-320">
                <a:solidFill>
                  <a:srgbClr val="314359"/>
                </a:solidFill>
                <a:latin typeface="Times New Roman"/>
              </a:rPr>
              <a:t>14.5%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4096512"/>
            <a:ext cx="256038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average annual EBITA growth in the companies we own — during our ownership.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4925568"/>
            <a:ext cx="2560384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EBITA is operating profit. The return tracks earnings growth — not multiple expansion.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114" y="2292096"/>
            <a:ext cx="5705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LEVERS THAT DRIVE THE EBITA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114" y="2779776"/>
            <a:ext cx="5705998" cy="312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Organic growth.  </a:t>
            </a:r>
            <a:r>
              <a:rPr sz="1080">
                <a:solidFill>
                  <a:srgbClr val="0E1620"/>
                </a:solidFill>
                <a:latin typeface="Arial"/>
              </a:rPr>
              <a:t>focus on the profitable core — up-sell, cross-sell and sell current products to new customers and markets.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Bolt-on M&amp;A.  </a:t>
            </a:r>
            <a:r>
              <a:rPr sz="1080">
                <a:solidFill>
                  <a:srgbClr val="0E1620"/>
                </a:solidFill>
                <a:latin typeface="Arial"/>
              </a:rPr>
              <a:t>value-accretive acquisitions that add complementary products and scale to the core.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Cost &amp; margin.  </a:t>
            </a:r>
            <a:r>
              <a:rPr sz="1080">
                <a:solidFill>
                  <a:srgbClr val="0E1620"/>
                </a:solidFill>
                <a:latin typeface="Arial"/>
              </a:rPr>
              <a:t>reduce complexity, right-size the footprint, and mechanise and digitise operations.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Capital allocation.  </a:t>
            </a:r>
            <a:r>
              <a:rPr sz="1080">
                <a:solidFill>
                  <a:srgbClr val="0E1620"/>
                </a:solidFill>
                <a:latin typeface="Arial"/>
              </a:rPr>
              <a:t>exit loss-making “growth-trap” ventures and redeploy the freed capital into the profitable core.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22" y="5891174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Average annual EBITA growth in portfolio companies during the ownership period, across ~40 investments.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We compound earnings, not multiples — the value tracks ~14.5% a year of EBITA growth, whatever the market pays for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+10 percentage points per year versus the index, net of every fee, for 20 years.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+10 pts/yr net versus the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DOWN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when the market is down.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-1.7%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Down-month figure: average monthly return in months the MSCI World IMI was negative.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ground is already moving — two shocks to a traditional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This is not a forecast. Right now, private markets are gating redemptions and AI is commoditizing the analytical edge active equity is sold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PRIVATE MARKETS ARE GATING — NOW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Partners Group capped redemptions in its $8.6bn evergreen PE fund at 5% of NAV after requests hit 9.8% — KKR, Blackstone and Ares fell (Bloomberg / CNBC, Jun 2026).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spreading — redemption pressure has moved from private credit into private equity, with several managers restricting withdrawals.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trap closes: frozen distributions while capital calls continue force selling good assets at the bottom — and smoothed marks hid the damage until 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AI IS COMMODITIZING EQUITY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Every manager now runs the same AI-driven analysis instantly; the screenable names are bid up and long-only alpha decays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analytical edge is exactly what active equity fees pay for (Kim, Muhn &amp; Nikolaev, 2024; McLean &amp; Pontiff, 2016).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Passive is no refuge — record concentration in the same mega-caps is a crowded trade, not diversification.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legs of a traditional book — illiquid PE and crowded public equity — are under pressure at once. A liquid, low-correlation engaged-ownership sleeve is the antidote to both — and the cost is in waiting.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4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4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4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4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4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4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4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4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4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4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4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4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4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4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40" i="1">
                <a:solidFill>
                  <a:srgbClr val="0E1620"/>
                </a:solidFill>
                <a:latin typeface="Arial"/>
              </a:rPr>
              <a:t>AI &amp; alpha decay (emerging working papers, 2025–26): </a:t>
            </a:r>
            <a:r>
              <a:rPr sz="640" i="0">
                <a:solidFill>
                  <a:srgbClr val="0E1620"/>
                </a:solidFill>
                <a:latin typeface="Arial"/>
              </a:rPr>
              <a:t>Gimmelberg (2025), MDPI; Han et al. (2026), arXiv; Meng &amp; Chen (2026), arXiv; Tran (2026), Atlantis Press.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