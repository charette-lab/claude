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5A636E"/>
                </a:solidFill>
              </a:rPr>
              <a:t>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4253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8A99A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1480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200" b="0" i="0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1">
                <a:solidFill>
                  <a:srgbClr val="C9D3DD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this presentation covers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789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allocate to engaged ownership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The asset-class case: a catalyst-driven, diversifying source of equity return that fits a long-horizon, fiduciary mandate.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choose Athanase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Among engaged owners, the team, opportunity set, margin-for-error and 20-year track record that distinguish Athanase Industrial Partner.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  ·  THE ASSET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~7% announcement return.</a:t>
            </a:r>
            <a:r>
              <a:rPr sz="1550">
                <a:solidFill>
                  <a:srgbClr val="333840"/>
                </a:solidFill>
                <a:latin typeface="Calibri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~10.2% around the 13D,</a:t>
            </a:r>
            <a:r>
              <a:rPr sz="1550">
                <a:solidFill>
                  <a:srgbClr val="333840"/>
                </a:solidFill>
                <a:latin typeface="Calibri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No long-term give-back.</a:t>
            </a:r>
            <a:r>
              <a:rPr sz="1550">
                <a:solidFill>
                  <a:srgbClr val="333840"/>
                </a:solidFill>
                <a:latin typeface="Calibri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Real, not financial, value.</a:t>
            </a:r>
            <a:r>
              <a:rPr sz="1550">
                <a:solidFill>
                  <a:srgbClr val="333840"/>
                </a:solidFill>
                <a:latin typeface="Calibri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Idiosyncratic alpha.</a:t>
            </a:r>
            <a:r>
              <a:rPr sz="1550">
                <a:solidFill>
                  <a:srgbClr val="333840"/>
                </a:solidFill>
                <a:latin typeface="Calibri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Patient capital wins.</a:t>
            </a:r>
            <a:r>
              <a:rPr sz="1650">
                <a:solidFill>
                  <a:srgbClr val="333840"/>
                </a:solidFill>
                <a:latin typeface="Calibri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Stewardship is the duty.</a:t>
            </a:r>
            <a:r>
              <a:rPr sz="1650">
                <a:solidFill>
                  <a:srgbClr val="333840"/>
                </a:solidFill>
                <a:latin typeface="Calibri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Mission alignment.</a:t>
            </a:r>
            <a:r>
              <a:rPr sz="1650">
                <a:solidFill>
                  <a:srgbClr val="333840"/>
                </a:solidFill>
                <a:latin typeface="Calibri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Engagement as risk management.</a:t>
            </a:r>
            <a:r>
              <a:rPr sz="1650">
                <a:solidFill>
                  <a:srgbClr val="333840"/>
                </a:solidFill>
                <a:latin typeface="Calibri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distinct return engine.</a:t>
            </a:r>
            <a:r>
              <a:rPr sz="1650">
                <a:solidFill>
                  <a:srgbClr val="333840"/>
                </a:solidFill>
                <a:latin typeface="Calibri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Diversifies the equity book.</a:t>
            </a:r>
            <a:r>
              <a:rPr sz="1650">
                <a:solidFill>
                  <a:srgbClr val="333840"/>
                </a:solidFill>
                <a:latin typeface="Calibri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Counter-cyclical dry powder.</a:t>
            </a:r>
            <a:r>
              <a:rPr sz="1650">
                <a:solidFill>
                  <a:srgbClr val="333840"/>
                </a:solidFill>
                <a:latin typeface="Calibri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PE-style upside, public-market terms.</a:t>
            </a:r>
            <a:r>
              <a:rPr sz="1650">
                <a:solidFill>
                  <a:srgbClr val="333840"/>
                </a:solidFill>
                <a:latin typeface="Calibri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Applied governance.</a:t>
            </a:r>
            <a:r>
              <a:rPr sz="1650">
                <a:solidFill>
                  <a:srgbClr val="333840"/>
                </a:solidFill>
                <a:latin typeface="Calibri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Constructive engagement.</a:t>
            </a:r>
            <a:r>
              <a:rPr sz="1650">
                <a:solidFill>
                  <a:srgbClr val="333840"/>
                </a:solidFill>
                <a:latin typeface="Calibri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positive externality.</a:t>
            </a:r>
            <a:r>
              <a:rPr sz="1650">
                <a:solidFill>
                  <a:srgbClr val="333840"/>
                </a:solidFill>
                <a:latin typeface="Calibri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Defensible to stakeholders.</a:t>
            </a:r>
            <a:r>
              <a:rPr sz="1650">
                <a:solidFill>
                  <a:srgbClr val="333840"/>
                </a:solidFill>
                <a:latin typeface="Calibri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repeatable process</a:t>
            </a:r>
            <a:r>
              <a:rPr sz="1550">
                <a:solidFill>
                  <a:srgbClr val="333840"/>
                </a:solidFill>
                <a:latin typeface="Calibri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Genuine operating capability,</a:t>
            </a:r>
            <a:r>
              <a:rPr sz="1550">
                <a:solidFill>
                  <a:srgbClr val="333840"/>
                </a:solidFill>
                <a:latin typeface="Calibri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track record of outcomes,</a:t>
            </a:r>
            <a:r>
              <a:rPr sz="1550">
                <a:solidFill>
                  <a:srgbClr val="333840"/>
                </a:solidFill>
                <a:latin typeface="Calibri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Aligned economics</a:t>
            </a:r>
            <a:r>
              <a:rPr sz="1550">
                <a:solidFill>
                  <a:srgbClr val="333840"/>
                </a:solidFill>
                <a:latin typeface="Calibri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Disciplined entry and risk control</a:t>
            </a:r>
            <a:r>
              <a:rPr sz="1550">
                <a:solidFill>
                  <a:srgbClr val="333840"/>
                </a:solidFill>
                <a:latin typeface="Calibri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II  ·  AMONG ENGAGED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9944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72016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2016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490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Average net return of 18.6%</a:t>
            </a:r>
            <a:r>
              <a:rPr sz="1500">
                <a:solidFill>
                  <a:srgbClr val="333840"/>
                </a:solidFill>
                <a:latin typeface="Calibri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+14.5% EBITA growth</a:t>
            </a:r>
            <a:r>
              <a:rPr sz="1500">
                <a:solidFill>
                  <a:srgbClr val="333840"/>
                </a:solidFill>
                <a:latin typeface="Calibri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+0.2% in down markets</a:t>
            </a:r>
            <a:r>
              <a:rPr sz="1500">
                <a:solidFill>
                  <a:srgbClr val="333840"/>
                </a:solidFill>
                <a:latin typeface="Calibri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9AA4B0"/>
                </a:solidFill>
                <a:latin typeface="Calibri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4A5D75"/>
                </a:solidFill>
                <a:latin typeface="Times New Roman"/>
              </a:rPr>
              <a:t>Heritage:  Öresund (1992)  →  Custos (1996)  →  Creades  →  Athanase Industrial Partner (2015)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40+ companies managed,</a:t>
            </a:r>
            <a:r>
              <a:rPr sz="1500">
                <a:solidFill>
                  <a:srgbClr val="333840"/>
                </a:solidFill>
                <a:latin typeface="Calibri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30+ public board seats</a:t>
            </a:r>
            <a:r>
              <a:rPr sz="1500">
                <a:solidFill>
                  <a:srgbClr val="333840"/>
                </a:solidFill>
                <a:latin typeface="Calibri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 dual lens:</a:t>
            </a:r>
            <a:r>
              <a:rPr sz="1500">
                <a:solidFill>
                  <a:srgbClr val="333840"/>
                </a:solidFill>
                <a:latin typeface="Calibri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Skin in the game.</a:t>
            </a:r>
            <a:r>
              <a:rPr sz="1500">
                <a:solidFill>
                  <a:srgbClr val="333840"/>
                </a:solidFill>
                <a:latin typeface="Calibri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Institutional memory.</a:t>
            </a:r>
            <a:r>
              <a:rPr sz="1500">
                <a:solidFill>
                  <a:srgbClr val="333840"/>
                </a:solidFill>
                <a:latin typeface="Calibri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Corporate decay is structural — it continuously recreates low-risk, high-return entry points.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Duration mismatch.</a:t>
            </a:r>
            <a:r>
              <a:rPr sz="1550">
                <a:solidFill>
                  <a:srgbClr val="333840"/>
                </a:solidFill>
                <a:latin typeface="Calibri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The prestige trap.</a:t>
            </a:r>
            <a:r>
              <a:rPr sz="1550">
                <a:solidFill>
                  <a:srgbClr val="333840"/>
                </a:solidFill>
                <a:latin typeface="Calibri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Shareholder exhaustion.</a:t>
            </a:r>
            <a:r>
              <a:rPr sz="1550">
                <a:solidFill>
                  <a:srgbClr val="333840"/>
                </a:solidFill>
                <a:latin typeface="Calibri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Low competition.</a:t>
            </a:r>
            <a:r>
              <a:rPr sz="1550">
                <a:solidFill>
                  <a:srgbClr val="333840"/>
                </a:solidFill>
                <a:latin typeface="Calibri"/>
              </a:rPr>
              <a:t>  Passive buys the most expensive names; active managers wait for proof; PE needs 10x the capital — leaving these bargains open.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We don’t need to be right more than ~50%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Because we buy at a discount, not at a 40% control premium.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Private Equity (take-private)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148840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Athanase (engaged owner)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Entry basis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$140  (market + 40% premium)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15768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715768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$100  (exhaustion price)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Holding period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282696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282696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3 years (rerating cycle)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Value growth required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+148% total growth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384962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49624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+73% total growth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Operational success needed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~85–100% of thesis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4416552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4416552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~45–55% of thesis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Friction is the catalyst.</a:t>
            </a:r>
            <a:r>
              <a:rPr sz="1450">
                <a:solidFill>
                  <a:srgbClr val="333840"/>
                </a:solidFill>
                <a:latin typeface="Calibri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discomfort is the moat.</a:t>
            </a:r>
            <a:r>
              <a:rPr sz="1450">
                <a:solidFill>
                  <a:srgbClr val="333840"/>
                </a:solidFill>
                <a:latin typeface="Calibri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A board seat de-risks the asset.</a:t>
            </a:r>
            <a:r>
              <a:rPr sz="1450">
                <a:solidFill>
                  <a:srgbClr val="333840"/>
                </a:solidFill>
                <a:latin typeface="Calibri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J-curve is tradable, not painful.</a:t>
            </a:r>
            <a:r>
              <a:rPr sz="1450">
                <a:solidFill>
                  <a:srgbClr val="333840"/>
                </a:solidFill>
                <a:latin typeface="Calibri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Public scoreboard, daily.</a:t>
            </a:r>
            <a:r>
              <a:rPr sz="1450">
                <a:solidFill>
                  <a:srgbClr val="333840"/>
                </a:solidFill>
                <a:latin typeface="Calibri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783080"/>
          <a:ext cx="649224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1874520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AIP Fund II — transactions (2015–present)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Each position shown against its benchmark; invested capital weighted MOIC of 2.2x.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01752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14884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2148840"/>
            <a:ext cx="182880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214884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Holding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2148840"/>
            <a:ext cx="155448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05272" y="214884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148840"/>
            <a:ext cx="155448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214884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148840"/>
            <a:ext cx="182880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214884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vs Index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382012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238201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Bufab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238201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76472" y="238201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32120" y="238201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05272" y="238201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238201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9752" y="238201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238201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38201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2615184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261518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DistIt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1518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261518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261518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05272" y="261518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7%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261518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59752" y="261518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261518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14232" y="261518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-1%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848356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8952" y="284835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Ngex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03320" y="284835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76472" y="284835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84835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05272" y="284835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69%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284835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59752" y="284835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6.2x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284835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14232" y="284835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+59%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3081528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" y="308152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Alcadon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03320" y="308152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76472" y="308152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32120" y="308152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05272" y="308152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308152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9752" y="308152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80" y="308152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14232" y="308152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+65%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" y="3314700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8952" y="331470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Tempest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03320" y="331470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76472" y="331470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32120" y="331470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05272" y="331470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86600" y="331470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59752" y="331470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331470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14232" y="331470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+3%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3547872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8952" y="354787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Zalaris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03320" y="354787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776472" y="354787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32120" y="354787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05272" y="354787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86600" y="354787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59752" y="354787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354787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14232" y="354787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5800" y="3781044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58952" y="378104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Zutec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703320" y="378104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776472" y="378104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32120" y="378104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05272" y="378104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86600" y="378104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59752" y="378104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2.8x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41080" y="378104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14232" y="378104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+29%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5800" y="4014216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952" y="401421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Roko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703320" y="4014216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776472" y="401421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2019-2025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32120" y="4014216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05272" y="401421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28%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086600" y="4014216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59752" y="401421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4014216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14232" y="401421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+18%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85800" y="4247388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952" y="424738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Catella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703320" y="4247388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76472" y="424738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532120" y="4247388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05272" y="424738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086600" y="4247388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159752" y="424738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4247388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14232" y="424738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85800" y="4480560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8952" y="448056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AI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703320" y="4480560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76472" y="448056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32120" y="4480560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05272" y="448056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6600" y="4480560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159752" y="448056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4480560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14232" y="448056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85800" y="4713732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58952" y="471373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Renold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703320" y="471373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76472" y="471373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2024-2025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32120" y="471373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605272" y="471373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220%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086600" y="471373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159752" y="471373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641080" y="471373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714232" y="471373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+211%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5800" y="4946904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58952" y="494690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Actic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703320" y="494690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776472" y="494690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2017-2023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32120" y="494690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605272" y="494690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-27%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086600" y="494690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159752" y="494690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0.4x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94690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14232" y="494690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-33%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85800" y="5180076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58952" y="518007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703320" y="518007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776472" y="518007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2019-2022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532120" y="518007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605272" y="518007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36%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086600" y="518007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159752" y="518007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518007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714232" y="518007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+33%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85800" y="5413248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8952" y="541324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Robit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703320" y="541324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776472" y="541324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32120" y="541324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605272" y="541324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14%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086600" y="541324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159752" y="541324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41324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714232" y="541324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+8%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85800" y="5646420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58952" y="564642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Kitron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703320" y="564642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776472" y="564642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532120" y="564642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605272" y="564642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40%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86600" y="564642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159752" y="564642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641080" y="564642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714232" y="564642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85800" y="5879592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58952" y="587959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Sandvik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703320" y="587959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776472" y="587959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2015-2017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532120" y="587959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05272" y="587959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49%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6600" y="587959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159752" y="587959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8641080" y="587959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714232" y="587959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+43%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85800" y="6112764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58952" y="611276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703320" y="611276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776472" y="611276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2015-2016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532120" y="611276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605272" y="611276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80%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086600" y="611276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159752" y="611276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641080" y="611276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714232" y="611276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85800" y="6437376"/>
            <a:ext cx="978408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22960" y="6437376"/>
            <a:ext cx="9509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Prior period — transactions (2006–2014)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same strategy, the prior fund — repeatable across two decades and multiple cycles.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Bilia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Concentric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067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3.9x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eWork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9067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655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4.4x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9067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94%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4340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1655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Lindab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9067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4340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655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1752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9067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4340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1655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9067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13%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4340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1655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1.3x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Global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09067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16%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4340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1655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Ferronordic Machines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9067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43%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4340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1655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179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Klarna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01752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9067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108%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34340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1655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28.2x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179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Acne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1752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09067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4340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1655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5508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2823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82396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89711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984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22299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2823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Usports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82396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89711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-51%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4984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2299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0.3x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5508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2823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Catena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82396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89711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14984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22299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3.1x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5508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2823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Tigerholm Products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82396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9711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111%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4984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2299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5508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2823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Avanza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82396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89711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34%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4984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2299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8.4x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5508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42823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Fabege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82396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89711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25%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14984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22299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2.3x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35508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2823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Johnson Pump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82396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9711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52%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4984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22299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3.0x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5508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2823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Klövern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82396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89711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18%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14984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22299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2.1x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35508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2823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Nobia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82396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89711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14984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2299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5508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2823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SkiStar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82396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89711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14984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22299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35508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42823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Brokk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82396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89711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14984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2299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5.2x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5508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42823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HQ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82396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89711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14984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22299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0.6x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394960"/>
            <a:ext cx="1010412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5800" y="5394960"/>
            <a:ext cx="9784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4864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Selected larger deals of the investment team. Losses shown in red. Capital in SEK; ~$400M invested over the period.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47872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9944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72016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23359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Two full cycles, survived.</a:t>
            </a:r>
            <a:r>
              <a:rPr sz="1400">
                <a:solidFill>
                  <a:srgbClr val="333840"/>
                </a:solidFill>
                <a:latin typeface="Calibri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Top-tier downside-adjusted return.</a:t>
            </a:r>
            <a:r>
              <a:rPr sz="1400">
                <a:solidFill>
                  <a:srgbClr val="333840"/>
                </a:solidFill>
                <a:latin typeface="Calibri"/>
              </a:rPr>
              <a:t>  20-year Sortino 1.54; AIPFII Sortino 2.40, with upside volatility 3.9× the downside.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Realised cash, not marks.</a:t>
            </a:r>
            <a:r>
              <a:rPr sz="1400">
                <a:solidFill>
                  <a:srgbClr val="333840"/>
                </a:solidFill>
                <a:latin typeface="Calibri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Governance is the lever.</a:t>
            </a:r>
            <a:r>
              <a:rPr sz="1600">
                <a:solidFill>
                  <a:srgbClr val="333840"/>
                </a:solidFill>
                <a:latin typeface="Calibri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Five improvement dimensions.</a:t>
            </a:r>
            <a:r>
              <a:rPr sz="1600">
                <a:solidFill>
                  <a:srgbClr val="333840"/>
                </a:solidFill>
                <a:latin typeface="Calibri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PRI signatory since 2019,</a:t>
            </a:r>
            <a:r>
              <a:rPr sz="1600">
                <a:solidFill>
                  <a:srgbClr val="333840"/>
                </a:solidFill>
                <a:latin typeface="Calibri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Credible oversight.</a:t>
            </a:r>
            <a:r>
              <a:rPr sz="1600">
                <a:solidFill>
                  <a:srgbClr val="333840"/>
                </a:solidFill>
                <a:latin typeface="Calibri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46888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1">
                <a:solidFill>
                  <a:srgbClr val="C9D3DD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C9D3DD"/>
                </a:solidFill>
                <a:latin typeface="Calibri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8A99AB"/>
                </a:solidFill>
                <a:latin typeface="Calibri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937760"/>
            <a:ext cx="3474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