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x="9753600" cy="73152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1.  “Probability decay”: strategy efficiency over a CEO cycle (%)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Strategy efficiency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dLbls>
            <c:numFmt formatCode="0&quot;%&quot;" sourceLinked="0"/>
            <c:txPr>
              <a:bodyPr/>
              <a:lstStyle/>
              <a:p>
                <a:pPr>
                  <a:defRPr sz="720">
                    <a:solidFill>
                      <a:srgbClr val="314359"/>
                    </a:solidFill>
                  </a:defRPr>
                </a:pPr>
              </a:p>
            </c:txPr>
            <c:dLblPos val="t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Sheet1!$A$2:$A$9</c:f>
              <c:strCache>
                <c:ptCount val="8"/>
                <c:pt idx="0">
                  <c:v>Yr 1</c:v>
                </c:pt>
                <c:pt idx="1">
                  <c:v>Yr 2</c:v>
                </c:pt>
                <c:pt idx="2">
                  <c:v>Yr 3</c:v>
                </c:pt>
                <c:pt idx="3">
                  <c:v>Yr 4</c:v>
                </c:pt>
                <c:pt idx="4">
                  <c:v>Yr 5</c:v>
                </c:pt>
                <c:pt idx="5">
                  <c:v>Yr 6</c:v>
                </c:pt>
                <c:pt idx="6">
                  <c:v>Yr 7</c:v>
                </c:pt>
                <c:pt idx="7">
                  <c:v>Yr 8</c:v>
                </c:pt>
              </c:strCache>
            </c: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80</c:v>
                </c:pt>
                <c:pt idx="1">
                  <c:v>76</c:v>
                </c:pt>
                <c:pt idx="2">
                  <c:v>71</c:v>
                </c:pt>
                <c:pt idx="3">
                  <c:v>65</c:v>
                </c:pt>
                <c:pt idx="4">
                  <c:v>60</c:v>
                </c:pt>
                <c:pt idx="5">
                  <c:v>55</c:v>
                </c:pt>
                <c:pt idx="6">
                  <c:v>52</c:v>
                </c:pt>
                <c:pt idx="7">
                  <c:v>50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1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3.  Same destination, different reported path (indexed to 100)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Public mark-to-market</c:v>
                </c:pt>
              </c:strCache>
            </c:strRef>
          </c:tx>
          <c:spPr>
            <a:ln w="31750">
              <a:solidFill>
                <a:srgbClr val="152130"/>
              </a:solidFill>
            </a:ln>
          </c:spPr>
          <c:marker>
            <c:symbol val="none"/>
          </c:marker>
          <c:dLbls>
            <c:numFmt formatCode="0" sourceLinked="0"/>
            <c:txPr>
              <a:bodyPr/>
              <a:lstStyle/>
              <a:p>
                <a:pPr>
                  <a:defRPr sz="640">
                    <a:solidFill>
                      <a:srgbClr val="314359"/>
                    </a:solidFill>
                  </a:defRPr>
                </a:pPr>
              </a:p>
            </c:txPr>
            <c:dLblPos val="b"/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Sheet1!$B$2:$B$14</c:f>
              <c:numCache>
                <c:formatCode>General</c:formatCode>
                <c:ptCount val="13"/>
                <c:pt idx="0">
                  <c:v>100</c:v>
                </c:pt>
                <c:pt idx="1">
                  <c:v>92</c:v>
                </c:pt>
                <c:pt idx="2">
                  <c:v>80</c:v>
                </c:pt>
                <c:pt idx="3">
                  <c:v>72</c:v>
                </c:pt>
                <c:pt idx="4">
                  <c:v>85</c:v>
                </c:pt>
                <c:pt idx="5">
                  <c:v>95</c:v>
                </c:pt>
                <c:pt idx="6">
                  <c:v>88</c:v>
                </c:pt>
                <c:pt idx="7">
                  <c:v>112</c:v>
                </c:pt>
                <c:pt idx="8">
                  <c:v>142</c:v>
                </c:pt>
                <c:pt idx="9">
                  <c:v>175</c:v>
                </c:pt>
                <c:pt idx="10">
                  <c:v>212</c:v>
                </c:pt>
                <c:pt idx="11">
                  <c:v>255</c:v>
                </c:pt>
                <c:pt idx="12">
                  <c:v>300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PE appraisal marks</c:v>
                </c:pt>
              </c:strCache>
            </c:strRef>
          </c:tx>
          <c:spPr>
            <a:ln w="25400">
              <a:solidFill>
                <a:srgbClr val="556A83"/>
              </a:solidFill>
              <a:prstDash val="sysDash"/>
            </a:ln>
          </c:spPr>
          <c:marker>
            <c:symbol val="none"/>
          </c:marker>
          <c:cat>
            <c:strRef>
              <c:f>Sheet1!$A$2:$A$14</c:f>
              <c:strCache>
                <c:ptCount val="13"/>
                <c:pt idx="0">
                  <c:v>0</c:v>
                </c:pt>
                <c:pt idx="1">
                  <c:v/>
                </c:pt>
                <c:pt idx="2">
                  <c:v/>
                </c:pt>
                <c:pt idx="3">
                  <c:v>Yr 1</c:v>
                </c:pt>
                <c:pt idx="4">
                  <c:v/>
                </c:pt>
                <c:pt idx="5">
                  <c:v/>
                </c:pt>
                <c:pt idx="6">
                  <c:v>Yr 2</c:v>
                </c:pt>
                <c:pt idx="7">
                  <c:v/>
                </c:pt>
                <c:pt idx="8">
                  <c:v/>
                </c:pt>
                <c:pt idx="9">
                  <c:v>Yr 3</c:v>
                </c:pt>
                <c:pt idx="10">
                  <c:v/>
                </c:pt>
                <c:pt idx="11">
                  <c:v/>
                </c:pt>
                <c:pt idx="12">
                  <c:v>Exit</c:v>
                </c:pt>
              </c:strCache>
            </c:strRef>
          </c:cat>
          <c:val>
            <c:numRef>
              <c:f>Sheet1!$C$2:$C$14</c:f>
              <c:numCache>
                <c:formatCode>General</c:formatCode>
                <c:ptCount val="13"/>
                <c:pt idx="0">
                  <c:v>100</c:v>
                </c:pt>
                <c:pt idx="1">
                  <c:v>104</c:v>
                </c:pt>
                <c:pt idx="2">
                  <c:v>110</c:v>
                </c:pt>
                <c:pt idx="3">
                  <c:v>118</c:v>
                </c:pt>
                <c:pt idx="4">
                  <c:v>128</c:v>
                </c:pt>
                <c:pt idx="5">
                  <c:v>140</c:v>
                </c:pt>
                <c:pt idx="6">
                  <c:v>155</c:v>
                </c:pt>
                <c:pt idx="7">
                  <c:v>172</c:v>
                </c:pt>
                <c:pt idx="8">
                  <c:v>192</c:v>
                </c:pt>
                <c:pt idx="9">
                  <c:v>215</c:v>
                </c:pt>
                <c:pt idx="10">
                  <c:v>245</c:v>
                </c:pt>
                <c:pt idx="11">
                  <c:v>272</c:v>
                </c:pt>
                <c:pt idx="12">
                  <c:v>300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8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960">
                <a:solidFill>
                  <a:srgbClr val="556A83"/>
                </a:solidFill>
              </a:rPr>
              <a:t>Figure 4.  Average monthly return (%)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Athanase</c:v>
                </c:pt>
              </c:strCache>
            </c:strRef>
          </c:tx>
          <c:spPr>
            <a:solidFill>
              <a:srgbClr val="152130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1.5</c:v>
                </c:pt>
                <c:pt idx="1">
                  <c:v>1.2</c:v>
                </c:pt>
                <c:pt idx="2">
                  <c:v>0.2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MSCI IMI</c:v>
                </c:pt>
              </c:strCache>
            </c:strRef>
          </c:tx>
          <c:spPr>
            <a:solidFill>
              <a:srgbClr val="556A83"/>
            </a:solidFill>
          </c:spPr>
          <c:cat>
            <c:strRef>
              <c:f>Sheet1!$A$2:$A$4</c:f>
              <c:strCache>
                <c:ptCount val="3"/>
                <c:pt idx="0">
                  <c:v>All markets</c:v>
                </c:pt>
                <c:pt idx="1">
                  <c:v>Up markets</c:v>
                </c:pt>
                <c:pt idx="2">
                  <c:v>Down markets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</c:v>
                </c:pt>
                <c:pt idx="1">
                  <c:v>1.3</c:v>
                </c:pt>
                <c:pt idx="2">
                  <c:v>-1.7</c:v>
                </c:pt>
              </c:numCache>
            </c:numRef>
          </c:val>
        </c:ser>
        <c:dLbls>
          <c:numFmt formatCode="0.0&quot;%&quot;" sourceLinked="0"/>
          <c:txPr>
            <a:bodyPr/>
            <a:lstStyle/>
            <a:p>
              <a:pPr>
                <a:defRPr sz="720">
                  <a:solidFill>
                    <a:srgbClr val="0E1620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800">
                <a:solidFill>
                  <a:srgbClr val="0E1620"/>
                </a:solidFill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880"/>
          </a:pPr>
        </a:p>
      </c:txPr>
    </c:legend>
    <c:dispBlanksAs val="gap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880">
                <a:solidFill>
                  <a:srgbClr val="556A83"/>
                </a:solidFill>
              </a:rPr>
              <a:t>Figure 5.  Growth of a 100 sleeve through a market cycle (indexed)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Athanase (18%)</c:v>
                </c:pt>
              </c:strCache>
            </c:strRef>
          </c:tx>
          <c:spPr>
            <a:ln w="38100">
              <a:solidFill>
                <a:srgbClr val="152130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100</c:v>
                </c:pt>
                <c:pt idx="1">
                  <c:v>118</c:v>
                </c:pt>
                <c:pt idx="2">
                  <c:v>140</c:v>
                </c:pt>
                <c:pt idx="3">
                  <c:v>166</c:v>
                </c:pt>
                <c:pt idx="4">
                  <c:v>197</c:v>
                </c:pt>
                <c:pt idx="5">
                  <c:v>233</c:v>
                </c:pt>
                <c:pt idx="6">
                  <c:v>236</c:v>
                </c:pt>
                <c:pt idx="7">
                  <c:v>296</c:v>
                </c:pt>
                <c:pt idx="8">
                  <c:v>366</c:v>
                </c:pt>
                <c:pt idx="9">
                  <c:v>442</c:v>
                </c:pt>
                <c:pt idx="10">
                  <c:v>523</c:v>
                </c:pt>
              </c:numCache>
            </c:numRef>
          </c:val>
          <c:smooth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Other activist (10.5%)</c:v>
                </c:pt>
              </c:strCache>
            </c:strRef>
          </c:tx>
          <c:spPr>
            <a:ln w="25400">
              <a:solidFill>
                <a:srgbClr val="556A83"/>
              </a:solidFill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100</c:v>
                </c:pt>
                <c:pt idx="1">
                  <c:v>111</c:v>
                </c:pt>
                <c:pt idx="2">
                  <c:v>123</c:v>
                </c:pt>
                <c:pt idx="3">
                  <c:v>137</c:v>
                </c:pt>
                <c:pt idx="4">
                  <c:v>152</c:v>
                </c:pt>
                <c:pt idx="5">
                  <c:v>168</c:v>
                </c:pt>
                <c:pt idx="6">
                  <c:v>150</c:v>
                </c:pt>
                <c:pt idx="7">
                  <c:v>182</c:v>
                </c:pt>
                <c:pt idx="8">
                  <c:v>214</c:v>
                </c:pt>
                <c:pt idx="9">
                  <c:v>244</c:v>
                </c:pt>
                <c:pt idx="10">
                  <c:v>271</c:v>
                </c:pt>
              </c:numCache>
            </c:numRef>
          </c:val>
          <c:smooth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Long-only global (7.6%)</c:v>
                </c:pt>
              </c:strCache>
            </c:strRef>
          </c:tx>
          <c:spPr>
            <a:ln w="25400">
              <a:solidFill>
                <a:srgbClr val="E2E5E9"/>
              </a:solidFill>
              <a:prstDash val="sysDash"/>
            </a:ln>
          </c:spPr>
          <c:marker>
            <c:symbol val="none"/>
          </c:marker>
          <c:cat>
            <c:strRef>
              <c:f>Sheet1!$A$2:$A$12</c:f>
              <c:strCach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strCache>
            </c: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100</c:v>
                </c:pt>
                <c:pt idx="1">
                  <c:v>108</c:v>
                </c:pt>
                <c:pt idx="2">
                  <c:v>117</c:v>
                </c:pt>
                <c:pt idx="3">
                  <c:v>126</c:v>
                </c:pt>
                <c:pt idx="4">
                  <c:v>136</c:v>
                </c:pt>
                <c:pt idx="5">
                  <c:v>147</c:v>
                </c:pt>
                <c:pt idx="6">
                  <c:v>119</c:v>
                </c:pt>
                <c:pt idx="7">
                  <c:v>142</c:v>
                </c:pt>
                <c:pt idx="8">
                  <c:v>168</c:v>
                </c:pt>
                <c:pt idx="9">
                  <c:v>190</c:v>
                </c:pt>
                <c:pt idx="10">
                  <c:v>208</c:v>
                </c:pt>
              </c:numCache>
            </c:numRef>
          </c:val>
          <c:smooth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600.0"/>
          <c:min val="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72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00"/>
          </a:pPr>
        </a:p>
      </c:txPr>
    </c:legend>
    <c:plotVisOnly val="1"/>
    <c:dispBlanksAs val="gap"/>
    <c:showDLblsOverMax val="0"/>
  </c:chart>
  <c:txPr>
    <a:bodyPr/>
    <a:lstStyle/>
    <a:p>
      <a:pPr>
        <a:defRPr sz="144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5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6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7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8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9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4389120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4632960"/>
            <a:ext cx="8632151" cy="1950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3360" b="0" i="0" spc="-126">
                <a:solidFill>
                  <a:srgbClr val="FFFFFF"/>
                </a:solidFill>
                <a:latin typeface="Times New Roman"/>
              </a:rPr>
              <a:t>Engaged Ownership as an Asset Class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920" b="0" i="1" spc="-72">
                <a:solidFill>
                  <a:srgbClr val="E2E5E9"/>
                </a:solidFill>
                <a:latin typeface="Times New Roman"/>
              </a:rPr>
              <a:t>Why allocators should consider it — and why Athanase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3553" y="6437376"/>
            <a:ext cx="5852306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An allocator briefing  ·  May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Contents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76" y="1901952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  ·  Why allocate to engaged ownership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389632"/>
            <a:ext cx="4279499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3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1.1   </a:t>
            </a:r>
            <a:r>
              <a:rPr sz="919">
                <a:solidFill>
                  <a:srgbClr val="314359"/>
                </a:solidFill>
                <a:latin typeface="Arial"/>
              </a:rPr>
              <a:t>A catalyst-driven source of return</a:t>
            </a:r>
          </a:p>
          <a:p>
            <a:pPr>
              <a:lnSpc>
                <a:spcPct val="103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1.2   </a:t>
            </a:r>
            <a:r>
              <a:rPr sz="919">
                <a:solidFill>
                  <a:srgbClr val="314359"/>
                </a:solidFill>
                <a:latin typeface="Arial"/>
              </a:rPr>
              <a:t>Aligned with horizon and fiduciary duty</a:t>
            </a:r>
          </a:p>
          <a:p>
            <a:pPr>
              <a:lnSpc>
                <a:spcPct val="103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1.3   </a:t>
            </a:r>
            <a:r>
              <a:rPr sz="919">
                <a:solidFill>
                  <a:srgbClr val="314359"/>
                </a:solidFill>
                <a:latin typeface="Arial"/>
              </a:rPr>
              <a:t>Diversification and the total-portfolio view</a:t>
            </a:r>
          </a:p>
          <a:p>
            <a:pPr>
              <a:lnSpc>
                <a:spcPct val="103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1.4   </a:t>
            </a:r>
            <a:r>
              <a:rPr sz="919">
                <a:solidFill>
                  <a:srgbClr val="314359"/>
                </a:solidFill>
                <a:latin typeface="Arial"/>
              </a:rPr>
              <a:t>Governance and the ESG synergy</a:t>
            </a:r>
          </a:p>
          <a:p>
            <a:pPr>
              <a:lnSpc>
                <a:spcPct val="103000"/>
              </a:lnSpc>
              <a:spcAft>
                <a:spcPts val="700"/>
              </a:spcAft>
            </a:pPr>
            <a:r>
              <a:rPr sz="919" b="1">
                <a:solidFill>
                  <a:srgbClr val="314359"/>
                </a:solidFill>
                <a:latin typeface="Arial"/>
              </a:rPr>
              <a:t>1.5   </a:t>
            </a:r>
            <a:r>
              <a:rPr sz="919">
                <a:solidFill>
                  <a:srgbClr val="314359"/>
                </a:solidFill>
                <a:latin typeface="Arial"/>
              </a:rPr>
              <a:t>What separates a great engaged owner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57345" y="1901952"/>
            <a:ext cx="4279499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Times New Roman"/>
              </a:rPr>
              <a:t>Part II  ·  Why choose Athanase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57345" y="2389632"/>
            <a:ext cx="4279499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2.1   </a:t>
            </a:r>
            <a:r>
              <a:rPr sz="840">
                <a:solidFill>
                  <a:srgbClr val="314359"/>
                </a:solidFill>
                <a:latin typeface="Arial"/>
              </a:rPr>
              <a:t>Athanase at a glance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2.2   </a:t>
            </a:r>
            <a:r>
              <a:rPr sz="840">
                <a:solidFill>
                  <a:srgbClr val="314359"/>
                </a:solidFill>
                <a:latin typeface="Arial"/>
              </a:rPr>
              <a:t>An integrated team, 20 years together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2.3   </a:t>
            </a:r>
            <a:r>
              <a:rPr sz="840">
                <a:solidFill>
                  <a:srgbClr val="314359"/>
                </a:solidFill>
                <a:latin typeface="Arial"/>
              </a:rPr>
              <a:t>The inefficiency Athanase harvests</a:t>
            </a:r>
            <a:r>
              <a:rPr sz="680" i="1">
                <a:solidFill>
                  <a:srgbClr val="556A83"/>
                </a:solidFill>
                <a:latin typeface="Arial"/>
              </a:rPr>
              <a:t>   (Figure 1)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2.4   </a:t>
            </a:r>
            <a:r>
              <a:rPr sz="840">
                <a:solidFill>
                  <a:srgbClr val="314359"/>
                </a:solidFill>
                <a:latin typeface="Arial"/>
              </a:rPr>
              <a:t>We don’t buy broken companies — we buy hidden cores</a:t>
            </a:r>
            <a:r>
              <a:rPr sz="680" i="1">
                <a:solidFill>
                  <a:srgbClr val="556A83"/>
                </a:solidFill>
                <a:latin typeface="Arial"/>
              </a:rPr>
              <a:t>   (Figure 2)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2.5   </a:t>
            </a:r>
            <a:r>
              <a:rPr sz="840">
                <a:solidFill>
                  <a:srgbClr val="314359"/>
                </a:solidFill>
                <a:latin typeface="Arial"/>
              </a:rPr>
              <a:t>Quality-core constructivism — how we differ</a:t>
            </a:r>
            <a:r>
              <a:rPr sz="680" i="1">
                <a:solidFill>
                  <a:srgbClr val="556A83"/>
                </a:solidFill>
                <a:latin typeface="Arial"/>
              </a:rPr>
              <a:t>   (Table 1)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2.6   </a:t>
            </a:r>
            <a:r>
              <a:rPr sz="840">
                <a:solidFill>
                  <a:srgbClr val="314359"/>
                </a:solidFill>
                <a:latin typeface="Arial"/>
              </a:rPr>
              <a:t>We don’t need to be right more than ~50%</a:t>
            </a:r>
            <a:r>
              <a:rPr sz="680" i="1">
                <a:solidFill>
                  <a:srgbClr val="556A83"/>
                </a:solidFill>
                <a:latin typeface="Arial"/>
              </a:rPr>
              <a:t>   (Table 2)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2.7   </a:t>
            </a:r>
            <a:r>
              <a:rPr sz="840">
                <a:solidFill>
                  <a:srgbClr val="314359"/>
                </a:solidFill>
                <a:latin typeface="Arial"/>
              </a:rPr>
              <a:t>The same playbook as mid-market PE — without its costs</a:t>
            </a:r>
            <a:r>
              <a:rPr sz="680" i="1">
                <a:solidFill>
                  <a:srgbClr val="556A83"/>
                </a:solidFill>
                <a:latin typeface="Arial"/>
              </a:rPr>
              <a:t>   (Table 3)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2.8   </a:t>
            </a:r>
            <a:r>
              <a:rPr sz="840">
                <a:solidFill>
                  <a:srgbClr val="314359"/>
                </a:solidFill>
                <a:latin typeface="Arial"/>
              </a:rPr>
              <a:t>A risk system built to avoid permanent loss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2.9   </a:t>
            </a:r>
            <a:r>
              <a:rPr sz="840">
                <a:solidFill>
                  <a:srgbClr val="314359"/>
                </a:solidFill>
                <a:latin typeface="Arial"/>
              </a:rPr>
              <a:t>The visible risks are the engine — not the cost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2.10   </a:t>
            </a:r>
            <a:r>
              <a:rPr sz="840">
                <a:solidFill>
                  <a:srgbClr val="314359"/>
                </a:solidFill>
                <a:latin typeface="Arial"/>
              </a:rPr>
              <a:t>A non-linear path — honestly priced</a:t>
            </a:r>
            <a:r>
              <a:rPr sz="680" i="1">
                <a:solidFill>
                  <a:srgbClr val="556A83"/>
                </a:solidFill>
                <a:latin typeface="Arial"/>
              </a:rPr>
              <a:t>   (Figure 3)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2.11   </a:t>
            </a:r>
            <a:r>
              <a:rPr sz="840">
                <a:solidFill>
                  <a:srgbClr val="314359"/>
                </a:solidFill>
                <a:latin typeface="Arial"/>
              </a:rPr>
              <a:t>Risk reframing for the investment committee</a:t>
            </a:r>
            <a:r>
              <a:rPr sz="680" i="1">
                <a:solidFill>
                  <a:srgbClr val="556A83"/>
                </a:solidFill>
                <a:latin typeface="Arial"/>
              </a:rPr>
              <a:t>   (Table 4)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2.12   </a:t>
            </a:r>
            <a:r>
              <a:rPr sz="840">
                <a:solidFill>
                  <a:srgbClr val="314359"/>
                </a:solidFill>
                <a:latin typeface="Arial"/>
              </a:rPr>
              <a:t>Proof: outperformance with downside protection</a:t>
            </a:r>
            <a:r>
              <a:rPr sz="680" i="1">
                <a:solidFill>
                  <a:srgbClr val="556A83"/>
                </a:solidFill>
                <a:latin typeface="Arial"/>
              </a:rPr>
              <a:t>   (Figure 4)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2.13   </a:t>
            </a:r>
            <a:r>
              <a:rPr sz="840">
                <a:solidFill>
                  <a:srgbClr val="314359"/>
                </a:solidFill>
                <a:latin typeface="Arial"/>
              </a:rPr>
              <a:t>AIP Fund II — transactions (2015–present)</a:t>
            </a:r>
            <a:r>
              <a:rPr sz="680" i="1">
                <a:solidFill>
                  <a:srgbClr val="556A83"/>
                </a:solidFill>
                <a:latin typeface="Arial"/>
              </a:rPr>
              <a:t>   (Table 5)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2.14   </a:t>
            </a:r>
            <a:r>
              <a:rPr sz="840">
                <a:solidFill>
                  <a:srgbClr val="314359"/>
                </a:solidFill>
                <a:latin typeface="Arial"/>
              </a:rPr>
              <a:t>Prior period — transactions (2006–2014)</a:t>
            </a:r>
            <a:r>
              <a:rPr sz="680" i="1">
                <a:solidFill>
                  <a:srgbClr val="556A83"/>
                </a:solidFill>
                <a:latin typeface="Arial"/>
              </a:rPr>
              <a:t>   (Table 6)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2.15   </a:t>
            </a:r>
            <a:r>
              <a:rPr sz="840">
                <a:solidFill>
                  <a:srgbClr val="314359"/>
                </a:solidFill>
                <a:latin typeface="Arial"/>
              </a:rPr>
              <a:t>Independently validated: 20 years, net of every fee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2.16   </a:t>
            </a:r>
            <a:r>
              <a:rPr sz="840">
                <a:solidFill>
                  <a:srgbClr val="314359"/>
                </a:solidFill>
                <a:latin typeface="Arial"/>
              </a:rPr>
              <a:t>Repeatable and conviction-sized — not lucky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2.17   </a:t>
            </a:r>
            <a:r>
              <a:rPr sz="840">
                <a:solidFill>
                  <a:srgbClr val="314359"/>
                </a:solidFill>
                <a:latin typeface="Arial"/>
              </a:rPr>
              <a:t>Why a non-linear path won’t get you fired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2.18   </a:t>
            </a:r>
            <a:r>
              <a:rPr sz="840">
                <a:solidFill>
                  <a:srgbClr val="314359"/>
                </a:solidFill>
                <a:latin typeface="Arial"/>
              </a:rPr>
              <a:t>What it does to an allocator’s portfolio</a:t>
            </a:r>
            <a:r>
              <a:rPr sz="680" i="1">
                <a:solidFill>
                  <a:srgbClr val="556A83"/>
                </a:solidFill>
                <a:latin typeface="Arial"/>
              </a:rPr>
              <a:t>   (Figure 5)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2.19   </a:t>
            </a:r>
            <a:r>
              <a:rPr sz="840">
                <a:solidFill>
                  <a:srgbClr val="314359"/>
                </a:solidFill>
                <a:latin typeface="Arial"/>
              </a:rPr>
              <a:t>Lower downside risk compounds into better outcomes</a:t>
            </a:r>
            <a:r>
              <a:rPr sz="680" i="1">
                <a:solidFill>
                  <a:srgbClr val="556A83"/>
                </a:solidFill>
                <a:latin typeface="Arial"/>
              </a:rPr>
              <a:t>   (Table 8)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2.20   </a:t>
            </a:r>
            <a:r>
              <a:rPr sz="840">
                <a:solidFill>
                  <a:srgbClr val="314359"/>
                </a:solidFill>
                <a:latin typeface="Arial"/>
              </a:rPr>
              <a:t>A complement to global equities, not a duplicate</a:t>
            </a:r>
            <a:r>
              <a:rPr sz="680" i="1">
                <a:solidFill>
                  <a:srgbClr val="556A83"/>
                </a:solidFill>
                <a:latin typeface="Arial"/>
              </a:rPr>
              <a:t>   (Figure 6)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2.21   </a:t>
            </a:r>
            <a:r>
              <a:rPr sz="840">
                <a:solidFill>
                  <a:srgbClr val="314359"/>
                </a:solidFill>
                <a:latin typeface="Arial"/>
              </a:rPr>
              <a:t>What a blend does to the whole portfolio</a:t>
            </a:r>
            <a:r>
              <a:rPr sz="680" i="1">
                <a:solidFill>
                  <a:srgbClr val="556A83"/>
                </a:solidFill>
                <a:latin typeface="Arial"/>
              </a:rPr>
              <a:t>   (Figure 7)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2.22   </a:t>
            </a:r>
            <a:r>
              <a:rPr sz="840">
                <a:solidFill>
                  <a:srgbClr val="314359"/>
                </a:solidFill>
                <a:latin typeface="Arial"/>
              </a:rPr>
              <a:t>What allocators actually earn from private equity</a:t>
            </a:r>
            <a:r>
              <a:rPr sz="680" i="1">
                <a:solidFill>
                  <a:srgbClr val="556A83"/>
                </a:solidFill>
                <a:latin typeface="Arial"/>
              </a:rPr>
              <a:t>   (Table 9)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2.23   </a:t>
            </a:r>
            <a:r>
              <a:rPr sz="840">
                <a:solidFill>
                  <a:srgbClr val="314359"/>
                </a:solidFill>
                <a:latin typeface="Arial"/>
              </a:rPr>
              <a:t>Switching a private-equity sleeve into Athanase</a:t>
            </a:r>
            <a:r>
              <a:rPr sz="680" i="1">
                <a:solidFill>
                  <a:srgbClr val="556A83"/>
                </a:solidFill>
                <a:latin typeface="Arial"/>
              </a:rPr>
              <a:t>   (Figure 8)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2.24   </a:t>
            </a:r>
            <a:r>
              <a:rPr sz="840">
                <a:solidFill>
                  <a:srgbClr val="314359"/>
                </a:solidFill>
                <a:latin typeface="Arial"/>
              </a:rPr>
              <a:t>The volatility gap is settled in the literature</a:t>
            </a:r>
            <a:r>
              <a:rPr sz="680" i="1">
                <a:solidFill>
                  <a:srgbClr val="556A83"/>
                </a:solidFill>
                <a:latin typeface="Arial"/>
              </a:rPr>
              <a:t>   (Figure 9)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2.25   </a:t>
            </a:r>
            <a:r>
              <a:rPr sz="840">
                <a:solidFill>
                  <a:srgbClr val="314359"/>
                </a:solidFill>
                <a:latin typeface="Arial"/>
              </a:rPr>
              <a:t>Same headline volatility — far lower real risk</a:t>
            </a:r>
            <a:r>
              <a:rPr sz="680" i="1">
                <a:solidFill>
                  <a:srgbClr val="556A83"/>
                </a:solidFill>
                <a:latin typeface="Arial"/>
              </a:rPr>
              <a:t>   (Figure 10)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2.26   </a:t>
            </a:r>
            <a:r>
              <a:rPr sz="840">
                <a:solidFill>
                  <a:srgbClr val="314359"/>
                </a:solidFill>
                <a:latin typeface="Arial"/>
              </a:rPr>
              <a:t>PE’s “diversification” is an artefact — Athanase’s is real</a:t>
            </a:r>
            <a:r>
              <a:rPr sz="680" i="1">
                <a:solidFill>
                  <a:srgbClr val="556A83"/>
                </a:solidFill>
                <a:latin typeface="Arial"/>
              </a:rPr>
              <a:t>   (Figure 11)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2.27   </a:t>
            </a:r>
            <a:r>
              <a:rPr sz="840">
                <a:solidFill>
                  <a:srgbClr val="314359"/>
                </a:solidFill>
                <a:latin typeface="Arial"/>
              </a:rPr>
              <a:t>When the tide goes out: the drawdown trap</a:t>
            </a:r>
          </a:p>
          <a:p>
            <a:pPr>
              <a:lnSpc>
                <a:spcPct val="103000"/>
              </a:lnSpc>
              <a:spcAft>
                <a:spcPts val="450"/>
              </a:spcAft>
            </a:pPr>
            <a:r>
              <a:rPr sz="840" b="1">
                <a:solidFill>
                  <a:srgbClr val="314359"/>
                </a:solidFill>
                <a:latin typeface="Arial"/>
              </a:rPr>
              <a:t>2.28   </a:t>
            </a:r>
            <a:r>
              <a:rPr sz="840">
                <a:solidFill>
                  <a:srgbClr val="314359"/>
                </a:solidFill>
                <a:latin typeface="Arial"/>
              </a:rPr>
              <a:t>Responsible ownership, by construction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  ·  THE ASSET CLASS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allocate to engaged ownership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The Proposition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1.1 A catalyst-driven source of return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Engaged owners change the outcome — they do not merely absorb underperformance.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~7% announcement return.</a:t>
            </a:r>
            <a:r>
              <a:rPr sz="1240">
                <a:solidFill>
                  <a:srgbClr val="0E1620"/>
                </a:solidFill>
                <a:latin typeface="Arial"/>
              </a:rPr>
              <a:t>  Average abnormal return around an activist filing, with no reversal over the following year; success or partial success in ~two-thirds of campaigns (Brav, Jiang, Partnoy &amp; Thomas, 2008).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~10.2% around the 13D,</a:t>
            </a:r>
            <a:r>
              <a:rPr sz="1240">
                <a:solidFill>
                  <a:srgbClr val="0E1620"/>
                </a:solidFill>
                <a:latin typeface="Arial"/>
              </a:rPr>
              <a:t>  plus a further ~11.4% over the next year for engaged-owner targets (Klein &amp; Zur, 2009).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No long-term give-back.</a:t>
            </a:r>
            <a:r>
              <a:rPr sz="1240">
                <a:solidFill>
                  <a:srgbClr val="0E1620"/>
                </a:solidFill>
                <a:latin typeface="Arial"/>
              </a:rPr>
              <a:t>  ~2,000 interventions show no negative drift and no “pump-and-dump” (Bebchuk, Brav &amp; Jiang,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Real, not financial, value.</a:t>
            </a:r>
            <a:r>
              <a:rPr sz="1240">
                <a:solidFill>
                  <a:srgbClr val="0E1620"/>
                </a:solidFill>
                <a:latin typeface="Arial"/>
              </a:rPr>
              <a:t>  Production efficiency improves in the three years after intervention (Brav, Jiang &amp; Kim, 2015).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Idiosyncratic alpha.</a:t>
            </a:r>
            <a:r>
              <a:rPr sz="1240">
                <a:solidFill>
                  <a:srgbClr val="0E1620"/>
                </a:solidFill>
                <a:latin typeface="Arial"/>
              </a:rPr>
              <a:t>  Returns tied to a specific change at a specific company — scarce in a beta-dominated portfolio.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Fit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1.2 Aligned with horizon and fiduciary duty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Patient capital wins.</a:t>
            </a:r>
            <a:r>
              <a:rPr sz="1320">
                <a:solidFill>
                  <a:srgbClr val="0E1620"/>
                </a:solidFill>
                <a:latin typeface="Arial"/>
              </a:rPr>
              <a:t>  Board seats, strategic reviews and turnarounds play out over years — perpetual endowments and long-dated pensions can hold through to full value realisation.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Stewardship is the duty.</a:t>
            </a:r>
            <a:r>
              <a:rPr sz="1320">
                <a:solidFill>
                  <a:srgbClr val="0E1620"/>
                </a:solidFill>
                <a:latin typeface="Arial"/>
              </a:rPr>
              <a:t>  Engaged ownership expresses fiduciary obligation (UK Stewardship Code; UN PRI) rather than conflicting with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Mission alignment.</a:t>
            </a:r>
            <a:r>
              <a:rPr sz="1320">
                <a:solidFill>
                  <a:srgbClr val="0E1620"/>
                </a:solidFill>
                <a:latin typeface="Arial"/>
              </a:rPr>
              <a:t>  Demanding accountability and good governance reflects institutional values and is defensible to beneficiaries.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Engagement as risk management.</a:t>
            </a:r>
            <a:r>
              <a:rPr sz="1320">
                <a:solidFill>
                  <a:srgbClr val="0E1620"/>
                </a:solidFill>
                <a:latin typeface="Arial"/>
              </a:rPr>
              <a:t>  Turns hidden governance risk in the portfolio into a remediable, return-generating exposure.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1.3 Diversification and the total-portfolio 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distinct return engine.</a:t>
            </a:r>
            <a:r>
              <a:rPr sz="1320">
                <a:solidFill>
                  <a:srgbClr val="0E1620"/>
                </a:solidFill>
                <a:latin typeface="Arial"/>
              </a:rPr>
              <a:t>  Alpha driven by proxy contests, spin-offs and capital-return programmes — largely independent of rates, growth and inflation.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Diversifies the equity book.</a:t>
            </a:r>
            <a:r>
              <a:rPr sz="1320">
                <a:solidFill>
                  <a:srgbClr val="0E1620"/>
                </a:solidFill>
                <a:latin typeface="Arial"/>
              </a:rPr>
              <a:t>  Small- and mid-cap value and special situations, typically underweight in institutional portfolios.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Counter-cyclical dry powder.</a:t>
            </a:r>
            <a:r>
              <a:rPr sz="1320">
                <a:solidFill>
                  <a:srgbClr val="0E1620"/>
                </a:solidFill>
                <a:latin typeface="Arial"/>
              </a:rPr>
              <a:t>  Dislocations create the next targets; patient capital deploys into weakness rather than selling it.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PE-style upside, public-market terms.</a:t>
            </a:r>
            <a:r>
              <a:rPr sz="1320">
                <a:solidFill>
                  <a:srgbClr val="0E1620"/>
                </a:solidFill>
                <a:latin typeface="Arial"/>
              </a:rPr>
              <a:t>  Operational engagement with daily pricing, transparency, lower fees and better liquidity.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Stewardship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1.4 Governance and the ESG synergy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Applied governance.</a:t>
            </a:r>
            <a:r>
              <a:rPr sz="1320">
                <a:solidFill>
                  <a:srgbClr val="0E1620"/>
                </a:solidFill>
                <a:latin typeface="Arial"/>
              </a:rPr>
              <a:t>  Board independence, pay-for-performance and capital discipline are the “G” of ESG put into practice.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Constructive engagement.</a:t>
            </a:r>
            <a:r>
              <a:rPr sz="1320">
                <a:solidFill>
                  <a:srgbClr val="0E1620"/>
                </a:solidFill>
                <a:latin typeface="Arial"/>
              </a:rPr>
              <a:t>  Return and stewardship objectives expressed through one allocation, disciplined by a value thesis.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A positive externality.</a:t>
            </a:r>
            <a:r>
              <a:rPr sz="1320">
                <a:solidFill>
                  <a:srgbClr val="0E1620"/>
                </a:solidFill>
                <a:latin typeface="Arial"/>
              </a:rPr>
              <a:t>  Governance precedents improve the quality of the beta the whole portfolio owns.</a:t>
            </a:r>
          </a:p>
          <a:p>
            <a:pPr marL="192790" indent="-192790">
              <a:lnSpc>
                <a:spcPct val="112000"/>
              </a:lnSpc>
              <a:spcAft>
                <a:spcPts val="1600"/>
              </a:spcAft>
            </a:pPr>
            <a:r>
              <a:rPr sz="1320" b="1">
                <a:solidFill>
                  <a:srgbClr val="314359"/>
                </a:solidFill>
                <a:latin typeface="Arial"/>
              </a:rPr>
              <a:t>›  </a:t>
            </a:r>
            <a:r>
              <a:rPr sz="1320" b="1">
                <a:solidFill>
                  <a:srgbClr val="314359"/>
                </a:solidFill>
                <a:latin typeface="Arial"/>
              </a:rPr>
              <a:t>Defensible to stakeholders.</a:t>
            </a:r>
            <a:r>
              <a:rPr sz="1320">
                <a:solidFill>
                  <a:srgbClr val="0E1620"/>
                </a:solidFill>
                <a:latin typeface="Arial"/>
              </a:rPr>
              <a:t>  “We own companies and make them better-run and more valuable” is an easy story to tell.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Selection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1.5 What separates a great engaged owner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Dispersion is wide — manager selection matters more here than in almost any other equity strategy.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repeatable process</a:t>
            </a:r>
            <a:r>
              <a:rPr sz="1240">
                <a:solidFill>
                  <a:srgbClr val="0E1620"/>
                </a:solidFill>
                <a:latin typeface="Arial"/>
              </a:rPr>
              <a:t>  for sourcing and underwriting correctable, undervalued companies.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Genuine operating capability,</a:t>
            </a:r>
            <a:r>
              <a:rPr sz="1240">
                <a:solidFill>
                  <a:srgbClr val="0E1620"/>
                </a:solidFill>
                <a:latin typeface="Arial"/>
              </a:rPr>
              <a:t>  not just financial engineering — the experience to control the outcome from the boardroom.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 track record of outcomes,</a:t>
            </a:r>
            <a:r>
              <a:rPr sz="1240">
                <a:solidFill>
                  <a:srgbClr val="0E1620"/>
                </a:solidFill>
                <a:latin typeface="Arial"/>
              </a:rPr>
              <a:t>  board seats won and value delivered across multiple market cycles.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Aligned economics</a:t>
            </a:r>
            <a:r>
              <a:rPr sz="1240">
                <a:solidFill>
                  <a:srgbClr val="0E1620"/>
                </a:solidFill>
                <a:latin typeface="Arial"/>
              </a:rPr>
              <a:t>  and a stable, long-tenured team that invests its own capital.</a:t>
            </a:r>
          </a:p>
          <a:p>
            <a:pPr marL="181107" indent="-181107">
              <a:lnSpc>
                <a:spcPct val="112000"/>
              </a:lnSpc>
              <a:spcAft>
                <a:spcPts val="1200"/>
              </a:spcAft>
            </a:pPr>
            <a:r>
              <a:rPr sz="1240" b="1">
                <a:solidFill>
                  <a:srgbClr val="314359"/>
                </a:solidFill>
                <a:latin typeface="Arial"/>
              </a:rPr>
              <a:t>›  </a:t>
            </a:r>
            <a:r>
              <a:rPr sz="1240" b="1">
                <a:solidFill>
                  <a:srgbClr val="314359"/>
                </a:solidFill>
                <a:latin typeface="Arial"/>
              </a:rPr>
              <a:t>Disciplined entry and risk control</a:t>
            </a:r>
            <a:r>
              <a:rPr sz="1240">
                <a:solidFill>
                  <a:srgbClr val="0E1620"/>
                </a:solidFill>
                <a:latin typeface="Arial"/>
              </a:rPr>
              <a:t>  so the strategy delivers without uncompensated concentration risk.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53" y="6291072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Part II shows how Athanase meets each of these criteria.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591287" cy="34235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453553" y="2974848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3169920"/>
            <a:ext cx="8558998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556A83"/>
                </a:solidFill>
                <a:latin typeface="Arial"/>
              </a:rPr>
              <a:t>PART II  ·  AMONG ENGAGED OWNERS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3511296"/>
            <a:ext cx="8705305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3200" b="0" i="1" spc="-120">
                <a:solidFill>
                  <a:srgbClr val="E2E5E9"/>
                </a:solidFill>
                <a:latin typeface="Times New Roman"/>
              </a:rPr>
              <a:t>Why Athanase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Overview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2.1 Athanase at a glance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7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5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5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40+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investments as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engaged owners</a:t>
            </a:r>
          </a:p>
        </p:txBody>
      </p:sp>
      <p:sp>
        <p:nvSpPr>
          <p:cNvPr id="10" name="Rectangle 9"/>
          <p:cNvSpPr/>
          <p:nvPr/>
        </p:nvSpPr>
        <p:spPr>
          <a:xfrm>
            <a:off x="283836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83836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18%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net annual IRR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since inception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8083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8083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20 yrs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team working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together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417798" y="1901952"/>
            <a:ext cx="2158037" cy="180441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17798" y="2175052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3200" b="0" i="0" spc="-120">
                <a:solidFill>
                  <a:srgbClr val="314359"/>
                </a:solidFill>
                <a:latin typeface="Times New Roman"/>
              </a:rPr>
              <a:t>7.1%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minimum annual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net return*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53" y="399897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Average net return of 18.6%</a:t>
            </a:r>
            <a:r>
              <a:rPr sz="1200">
                <a:solidFill>
                  <a:srgbClr val="0E1620"/>
                </a:solidFill>
                <a:latin typeface="Arial"/>
              </a:rPr>
              <a:t>  (17.1% vs MSCI IMI 7.6% since inception), regardless of entry month.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+14.5% EBITA growth</a:t>
            </a:r>
            <a:r>
              <a:rPr sz="1200">
                <a:solidFill>
                  <a:srgbClr val="0E1620"/>
                </a:solidFill>
                <a:latin typeface="Arial"/>
              </a:rPr>
              <a:t>  in portfolio companies during the ownership period.</a:t>
            </a:r>
          </a:p>
          <a:p>
            <a:pPr marL="175264" indent="-175264">
              <a:lnSpc>
                <a:spcPct val="112000"/>
              </a:lnSpc>
              <a:spcAft>
                <a:spcPts val="1000"/>
              </a:spcAft>
            </a:pPr>
            <a:r>
              <a:rPr sz="1200" b="1">
                <a:solidFill>
                  <a:srgbClr val="314359"/>
                </a:solidFill>
                <a:latin typeface="Arial"/>
              </a:rPr>
              <a:t>›  </a:t>
            </a:r>
            <a:r>
              <a:rPr sz="1200" b="1">
                <a:solidFill>
                  <a:srgbClr val="314359"/>
                </a:solidFill>
                <a:latin typeface="Arial"/>
              </a:rPr>
              <a:t>+0.2% in down markets</a:t>
            </a:r>
            <a:r>
              <a:rPr sz="1200">
                <a:solidFill>
                  <a:srgbClr val="0E1620"/>
                </a:solidFill>
                <a:latin typeface="Arial"/>
              </a:rPr>
              <a:t>  versus the market at –1.7% — downside protection when it matters most.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6583680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20" b="0" i="0">
                <a:solidFill>
                  <a:srgbClr val="556A83"/>
                </a:solidFill>
                <a:latin typeface="Arial"/>
              </a:rPr>
              <a:t>*Invested any month since 2006 and held to Dec 2025. Inception 2015-02-23.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Experience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2.2 An integrated team, 20 years together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In a world of specialists, a rare unit that has the operating experience to control the outcome.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8</a:t>
            </a:r>
          </a:p>
        </p:txBody>
      </p:sp>
      <p:sp>
        <p:nvSpPr>
          <p:cNvPr id="9" name="Rectangle 8"/>
          <p:cNvSpPr/>
          <p:nvPr/>
        </p:nvSpPr>
        <p:spPr>
          <a:xfrm>
            <a:off x="1170461" y="2701747"/>
            <a:ext cx="7242229" cy="21674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3892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1992</a:t>
            </a:r>
          </a:p>
        </p:txBody>
      </p:sp>
      <p:sp>
        <p:nvSpPr>
          <p:cNvPr id="11" name="Oval 10"/>
          <p:cNvSpPr/>
          <p:nvPr/>
        </p:nvSpPr>
        <p:spPr>
          <a:xfrm>
            <a:off x="110462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9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Öresund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52999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1996</a:t>
            </a:r>
          </a:p>
        </p:txBody>
      </p:sp>
      <p:sp>
        <p:nvSpPr>
          <p:cNvPr id="14" name="Oval 13"/>
          <p:cNvSpPr/>
          <p:nvPr/>
        </p:nvSpPr>
        <p:spPr>
          <a:xfrm>
            <a:off x="3518699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779845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Custos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67075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2006</a:t>
            </a:r>
          </a:p>
        </p:txBody>
      </p:sp>
      <p:sp>
        <p:nvSpPr>
          <p:cNvPr id="17" name="Oval 16"/>
          <p:cNvSpPr/>
          <p:nvPr/>
        </p:nvSpPr>
        <p:spPr>
          <a:xfrm>
            <a:off x="5932775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93921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Creades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1152" y="2292096"/>
            <a:ext cx="1463076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200" b="1" i="0">
                <a:solidFill>
                  <a:srgbClr val="314359"/>
                </a:solidFill>
                <a:latin typeface="Times New Roman"/>
              </a:rPr>
              <a:t>2015</a:t>
            </a:r>
          </a:p>
        </p:txBody>
      </p:sp>
      <p:sp>
        <p:nvSpPr>
          <p:cNvPr id="20" name="Oval 19"/>
          <p:cNvSpPr/>
          <p:nvPr/>
        </p:nvSpPr>
        <p:spPr>
          <a:xfrm>
            <a:off x="8346852" y="2633472"/>
            <a:ext cx="131676" cy="175564"/>
          </a:xfrm>
          <a:prstGeom prst="ellipse">
            <a:avLst/>
          </a:prstGeom>
          <a:solidFill>
            <a:srgbClr val="152130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07998" y="2857804"/>
            <a:ext cx="16093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314359"/>
                </a:solidFill>
                <a:latin typeface="Arial"/>
              </a:rPr>
              <a:t>Athanase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53" y="35112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40+ companies managed,</a:t>
            </a:r>
            <a:r>
              <a:rPr sz="1160">
                <a:solidFill>
                  <a:srgbClr val="0E1620"/>
                </a:solidFill>
                <a:latin typeface="Arial"/>
              </a:rPr>
              <a:t>  with a proven ability to tell a “strong core” from a “prestige trap”.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30+ public board seats</a:t>
            </a:r>
            <a:r>
              <a:rPr sz="1160">
                <a:solidFill>
                  <a:srgbClr val="0E1620"/>
                </a:solidFill>
                <a:latin typeface="Arial"/>
              </a:rPr>
              <a:t>  — real experience mandating pivots and protecting shareholder interests, not writing engagement letters.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dual lens:</a:t>
            </a:r>
            <a:r>
              <a:rPr sz="1160">
                <a:solidFill>
                  <a:srgbClr val="0E1620"/>
                </a:solidFill>
                <a:latin typeface="Arial"/>
              </a:rPr>
              <a:t>  a forensic investing lens to find the value and a C-suite operating lens that understands the “how” of execution.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Skin in the game.</a:t>
            </a:r>
            <a:r>
              <a:rPr sz="1160">
                <a:solidFill>
                  <a:srgbClr val="0E1620"/>
                </a:solidFill>
                <a:latin typeface="Arial"/>
              </a:rPr>
              <a:t>  The team uses Athanase as its own investment vehicle and shares in the success economics.</a:t>
            </a:r>
          </a:p>
          <a:p>
            <a:pPr marL="169422" indent="-169422">
              <a:lnSpc>
                <a:spcPct val="112000"/>
              </a:lnSpc>
              <a:spcAft>
                <a:spcPts val="10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Institutional memory.</a:t>
            </a:r>
            <a:r>
              <a:rPr sz="1160">
                <a:solidFill>
                  <a:srgbClr val="0E1620"/>
                </a:solidFill>
                <a:latin typeface="Arial"/>
              </a:rPr>
              <a:t>  Multiple market cycles together eliminate key-person risk and prevent repeating historical mistakes.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Market Opportunity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2.3 The inefficiency Athanase harvests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Corporate decay is structural — it continuously recreates low-risk, high-return entry points.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08691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Duration mismatch.</a:t>
            </a:r>
            <a:r>
              <a:rPr sz="1080">
                <a:solidFill>
                  <a:srgbClr val="0E1620"/>
                </a:solidFill>
                <a:latin typeface="Arial"/>
              </a:rPr>
              <a:t>  CEOs run 7–8 year defensive cycles while moats erode at hyper-speed; an 80%-correct strategy decays to ~50% efficient.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prestige trap.</a:t>
            </a:r>
            <a:r>
              <a:rPr sz="1080">
                <a:solidFill>
                  <a:srgbClr val="0E1620"/>
                </a:solidFill>
                <a:latin typeface="Arial"/>
              </a:rPr>
              <a:t>  Empire-building and the sunk-cost fallacy lead management to double down on unprofitable ventures.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Shareholder exhaustion.</a:t>
            </a:r>
            <a:r>
              <a:rPr sz="1080">
                <a:solidFill>
                  <a:srgbClr val="0E1620"/>
                </a:solidFill>
                <a:latin typeface="Arial"/>
              </a:rPr>
              <a:t>  As patience runs out, price hits a long-term low and liquidity dries up — Athanase becomes the “buyer of last resort” at a discount.</a:t>
            </a:r>
          </a:p>
          <a:p>
            <a:pPr marL="157738" indent="-157738">
              <a:lnSpc>
                <a:spcPct val="112000"/>
              </a:lnSpc>
              <a:spcAft>
                <a:spcPts val="14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Low competition.</a:t>
            </a:r>
            <a:r>
              <a:rPr sz="1080">
                <a:solidFill>
                  <a:srgbClr val="0E1620"/>
                </a:solidFill>
                <a:latin typeface="Arial"/>
              </a:rPr>
              <a:t>  Passive buys the most expensive names; active managers wait for proof; PE needs 10x the capital — leaving these bargains open.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230498" y="2487168"/>
          <a:ext cx="4169768" cy="3511296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230498" y="6047232"/>
            <a:ext cx="4169768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Even an excellent team’s edge erodes as the external environment shifts.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2.4 We don’t buy broken companies — we buy hidden cores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classic objection to activism is adverse selection. Our model inverts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68184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critique.</a:t>
            </a:r>
            <a:r>
              <a:rPr sz="1080">
                <a:solidFill>
                  <a:srgbClr val="0E1620"/>
                </a:solidFill>
                <a:latin typeface="Arial"/>
              </a:rPr>
              <a:t>  Buy “cheap and troubled” and you select for lemons — worse than they look. The market discounted them for a reason.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Our precondition removes it.</a:t>
            </a:r>
            <a:r>
              <a:rPr sz="1080">
                <a:solidFill>
                  <a:srgbClr val="0E1620"/>
                </a:solidFill>
                <a:latin typeface="Arial"/>
              </a:rPr>
              <a:t>  We invest only where the core is a market leader earning high returns on capital — attractive even if we change nothing. No structurally-weak turnarounds.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real setup.</a:t>
            </a:r>
            <a:r>
              <a:rPr sz="1080">
                <a:solidFill>
                  <a:srgbClr val="0E1620"/>
                </a:solidFill>
                <a:latin typeface="Arial"/>
              </a:rPr>
              <a:t>  Profitable leaders whose management pivoted into weak adjacencies — chasing growth as the core matured. A capital-allocation overlay on a good asset, not a bad asset.</a:t>
            </a:r>
          </a:p>
          <a:p>
            <a:pPr marL="157738" indent="-157738">
              <a:lnSpc>
                <a:spcPct val="112000"/>
              </a:lnSpc>
              <a:spcAft>
                <a:spcPts val="13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The inversion.</a:t>
            </a:r>
            <a:r>
              <a:rPr sz="1080">
                <a:solidFill>
                  <a:srgbClr val="0E1620"/>
                </a:solidFill>
                <a:latin typeface="Arial"/>
              </a:rPr>
              <a:t>  Blended results make it look mediocre, so it is priced mediocre. The appearance understates reality.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40229" y="2243328"/>
            <a:ext cx="395030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Figure 2  ·  SUM-OF-THE-PARTS (ILLUSTRATIVE, INDEXED)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852306" y="3706368"/>
            <a:ext cx="1170461" cy="1658112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306" y="3355238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59691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Market price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(blended optics)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54305" y="3043123"/>
            <a:ext cx="1170461" cy="232135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54305" y="2691993"/>
            <a:ext cx="1170461" cy="31211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20" b="1" i="0">
                <a:solidFill>
                  <a:srgbClr val="314359"/>
                </a:solidFill>
                <a:latin typeface="Arial"/>
              </a:rPr>
              <a:t>140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61690" y="5462016"/>
            <a:ext cx="175569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919" b="1" i="0">
                <a:solidFill>
                  <a:srgbClr val="0E1620"/>
                </a:solidFill>
                <a:latin typeface="Arial"/>
              </a:rPr>
              <a:t>Core alone</a:t>
            </a:r>
          </a:p>
          <a:p>
            <a:pPr algn="ctr">
              <a:lnSpc>
                <a:spcPct val="10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(high ROIIC)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852306" y="3706368"/>
            <a:ext cx="2487230" cy="16256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741882" y="3043123"/>
            <a:ext cx="20320" cy="663244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3082137"/>
            <a:ext cx="263353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+40% hidden value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2076" y="6291072"/>
            <a:ext cx="8778459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We remove the drag and refocus capital on the core — positive selection on a concealed asset, not negative selection on a lemon.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2.5 Quality-core constructivism — how we differ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Even Hohn (TCI) and Loeb (Third Point) pivoted to quality — we capture quality at a discount, with a catalyst in our control.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40965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Large generalist activists (e.g. Elliott)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40965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4096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quality-core constructivism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701747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701747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Entry precondition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701747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701747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Wide range of situations — breakups, credit, event-driven; business quality often secondary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701747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701747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Only a market-leading, high-ROIIC core — “attractive even if we change nothing”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423513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423513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Source of return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423513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423513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Financial / transactional pressure: force a sale, return cash,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423513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423513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Operational refocus of a genuinely good business, from a board seat, over years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4145280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4145280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What gets fixed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4145280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4145280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price, the structure, the outcome of a contest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4145280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4145280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capital-allocation overlay — the core already works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867046"/>
            <a:ext cx="1719115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867046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Margin of safety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867046"/>
            <a:ext cx="3547960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867046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Winning the campaign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867046"/>
            <a:ext cx="3621114" cy="72176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867046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core’s proven high-ROIIC economics — the hard floor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588812"/>
            <a:ext cx="1719115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588812"/>
            <a:ext cx="1572807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Cadence &amp; style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588812"/>
            <a:ext cx="3547960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588812"/>
            <a:ext cx="3401653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Many simultaneous campaigns, leverage, often confrontational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588812"/>
            <a:ext cx="3621114" cy="72176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588812"/>
            <a:ext cx="3474806" cy="7217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4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~one deal a year, constructive, board-led, mid-cap surgical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2346" y="6447129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megacap activists left mid-cap surgical engagements behind as they scaled. That hidden-core niche is our lane.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2.6 We don’t need to be right more than ~50%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Because we buy at a discount, not at a 40% control premium.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84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Metric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474806" y="2292096"/>
            <a:ext cx="2926153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84537" y="2292096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Private Equity (take-private)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400960" y="2292096"/>
            <a:ext cx="2816422" cy="604723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10690" y="2292096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1" i="0">
                <a:solidFill>
                  <a:srgbClr val="FFFFFF"/>
                </a:solidFill>
                <a:latin typeface="Arial"/>
              </a:rPr>
              <a:t>Athanase (engaged owner)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8653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84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Entry basis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474806" y="2896819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584537" y="2896819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$140  (market + 40% premium)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960" y="2896819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0690" y="2896819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$100  (exhaustion price)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48653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84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Holding period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474806" y="3501542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584537" y="3501542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5 years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960" y="3501542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10690" y="3501542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3 years (rerating cycle)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53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58384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Value growth required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474806" y="4106265"/>
            <a:ext cx="2926153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584537" y="4106265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+148% total growth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400960" y="4106265"/>
            <a:ext cx="2816422" cy="60472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10690" y="4106265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+73% total growth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48653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58384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Operational success needed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474806" y="4710988"/>
            <a:ext cx="2926153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584537" y="4710988"/>
            <a:ext cx="2706691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~85–100% of thesis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960" y="4710988"/>
            <a:ext cx="2816422" cy="60472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10690" y="4710988"/>
            <a:ext cx="2596960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~45–55% of thesis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53" y="5510784"/>
            <a:ext cx="8632151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120" b="0" i="1">
                <a:solidFill>
                  <a:srgbClr val="314359"/>
                </a:solidFill>
                <a:latin typeface="Arial"/>
              </a:rPr>
              <a:t>A margin-for-error strategy: we win by being directionally right where PE must be precisely perfect.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Investment Strategy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2.7 The same playbook as mid-market PE — without its costs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Operational value creation in mid-cap businesses, but in a public wrapper that removes private equity’s structural drags.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46" y="2292096"/>
            <a:ext cx="1719115" cy="35112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0130" y="2292096"/>
            <a:ext cx="1572807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12" name="Rectangle 11"/>
          <p:cNvSpPr/>
          <p:nvPr/>
        </p:nvSpPr>
        <p:spPr>
          <a:xfrm>
            <a:off x="2121461" y="2292096"/>
            <a:ext cx="3547960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209245" y="2292096"/>
            <a:ext cx="3401653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Mid-market private equity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421" y="2292096"/>
            <a:ext cx="3621114" cy="351129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757206" y="2292096"/>
            <a:ext cx="3474806" cy="35112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Athanase — engaged owner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02346" y="2643225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0130" y="2643225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Entry price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21461" y="2643225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09245" y="2643225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Market + ~40% control premium — pays up front for the right to fix it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421" y="2643225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57206" y="2643225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A discount to the core’s value at “shareholder exhaustion” — gets that right for free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02346" y="326745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0130" y="326745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21461" y="326745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209245" y="326745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10-year lock-up, blind pool; capital trapped until exit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326745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57206" y="326745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Listed, daily-priced positions — LPs keep liquidity and can exit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02346" y="3891686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0130" y="389168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Fees &amp; capital efficiency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121461" y="3891686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209245" y="389168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2&amp;20 on committed capital; fee drag while undeployed dry powder waits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421" y="3891686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57206" y="389168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Lower fees; capital is deployed, not sitting in a capital-call queue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02346" y="4515916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0130" y="4515916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The J-curve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121461" y="4515916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209245" y="4515916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Opaque, model-marked write-downs before any mark-up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421" y="4515916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757206" y="4515916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Live and visible — a tradable entry point, not a hidden cost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02346" y="5140147"/>
            <a:ext cx="1719115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0130" y="514014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Transparency &amp; control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121461" y="5140147"/>
            <a:ext cx="3547960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209245" y="514014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Annual mark-to-model; thesis underwritten once at close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421" y="5140147"/>
            <a:ext cx="3621114" cy="62423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757206" y="514014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Daily public scoreboard; board control secures cash flow, capex and pay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02346" y="5764377"/>
            <a:ext cx="1719115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0130" y="5764377"/>
            <a:ext cx="1572807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Scalability for PE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121461" y="5764377"/>
            <a:ext cx="3547960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209245" y="5764377"/>
            <a:ext cx="3401653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0" i="0">
                <a:solidFill>
                  <a:srgbClr val="0E1620"/>
                </a:solidFill>
                <a:latin typeface="Arial"/>
              </a:rPr>
              <a:t>Rational to skip: 10× more capital per buyout, richer fees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669421" y="5764377"/>
            <a:ext cx="3621114" cy="62423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757206" y="5764377"/>
            <a:ext cx="3474806" cy="6242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Exactly why the niche stays open — little competition for these assets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02346" y="6564172"/>
            <a:ext cx="8924767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Private-equity-style operational turnarounds, imported into public markets — keeping the liquidity, transparency and lower fees PE gives up.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 Management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2.8 A risk system built to avoid permanent loss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Predictability, price and influence combined to lower risk systematically.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VALUATION FLOOR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Enter only at “shareholder surrender” — dried-up liquidity and long-term price lows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Value only the rectifiable core; assign zero to “growth trap” divisions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Creates a structural 30–40% margin of safety vs a PE bidder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42922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6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THE BOARD-LEVEL KILL SWITCH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Secure board seats and chairmanships as a prerequisite — not proxy threats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Mandated rectification: freeze prestige projects the moment the macro shifts</a:t>
            </a:r>
          </a:p>
          <a:p>
            <a:pPr algn="l">
              <a:lnSpc>
                <a:spcPct val="112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Automatic risk metrics (10/20/30% triggers) remove portfolio-manager bias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Core &amp; satellite: a 30-stock equal-weighted core index compounds capital; 8–12 concentrated ideas must clear a 12% IRR hurdle and a ≤20% downside gate.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2.9 The visible risks are the engine — not the cost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From “corporate raider” to “industrial constructivist”: reputational friction and the public J-curve source the alpha and protect it from arbitrage.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Friction is the catalyst.</a:t>
            </a:r>
            <a:r>
              <a:rPr sz="1160">
                <a:solidFill>
                  <a:srgbClr val="0E1620"/>
                </a:solidFill>
                <a:latin typeface="Arial"/>
              </a:rPr>
              <a:t>  Quiet engagement does not reprice a stock; public engagement forces the market to re-rate — and a 20-year reputation pulls sophisticated capital in behind us (the coattail effect).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discomfort is the moat.</a:t>
            </a:r>
            <a:r>
              <a:rPr sz="1160">
                <a:solidFill>
                  <a:srgbClr val="0E1620"/>
                </a:solidFill>
                <a:latin typeface="Arial"/>
              </a:rPr>
              <a:t>  Few managers have the industrial background and stamina to wage a multi-year campaign — so headline-shy capital leaves a persistent pricing inefficiency for those who will.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A board seat de-risks the asset.</a:t>
            </a:r>
            <a:r>
              <a:rPr sz="1160">
                <a:solidFill>
                  <a:srgbClr val="0E1620"/>
                </a:solidFill>
                <a:latin typeface="Arial"/>
              </a:rPr>
              <a:t>  We trade optical, mark-to-market volatility for direct control of cash flow, capex and pay. Fundamental risk falls the moment control is secured — whatever the share price does.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The J-curve is tradable, not painful.</a:t>
            </a:r>
            <a:r>
              <a:rPr sz="1160">
                <a:solidFill>
                  <a:srgbClr val="0E1620"/>
                </a:solidFill>
                <a:latin typeface="Arial"/>
              </a:rPr>
              <a:t>  Unlike PE’s accounting J-curve, ours is live and observable — an engineered entry point (and a co-invest “free look”) at de-risked governance at distressed prices.</a:t>
            </a:r>
          </a:p>
          <a:p>
            <a:pPr marL="169422" indent="-169422">
              <a:lnSpc>
                <a:spcPct val="112000"/>
              </a:lnSpc>
              <a:spcAft>
                <a:spcPts val="1100"/>
              </a:spcAft>
            </a:pPr>
            <a:r>
              <a:rPr sz="1160" b="1">
                <a:solidFill>
                  <a:srgbClr val="314359"/>
                </a:solidFill>
                <a:latin typeface="Arial"/>
              </a:rPr>
              <a:t>›  </a:t>
            </a:r>
            <a:r>
              <a:rPr sz="1160" b="1">
                <a:solidFill>
                  <a:srgbClr val="314359"/>
                </a:solidFill>
                <a:latin typeface="Arial"/>
              </a:rPr>
              <a:t>Public scoreboard, daily.</a:t>
            </a:r>
            <a:r>
              <a:rPr sz="1160">
                <a:solidFill>
                  <a:srgbClr val="0E1620"/>
                </a:solidFill>
                <a:latin typeface="Arial"/>
              </a:rPr>
              <a:t>  There is nowhere to hide poor capital allocation — the discipline behind a 92% deal-level hit rate over 20 years.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2.10 A non-linear path — honestly priced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Public engaged ownership marks to market every day. The destination is the multiple; the route is rarely a straight line.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" y="2292096"/>
            <a:ext cx="4535537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Value moves over the holding period.</a:t>
            </a:r>
            <a:r>
              <a:rPr sz="1080">
                <a:solidFill>
                  <a:srgbClr val="0E1620"/>
                </a:solidFill>
                <a:latin typeface="Arial"/>
              </a:rPr>
              <a:t>  A 5× outcome is realised over years — the interim mark moves with the market, the cycle and the campaign. It is a journey, not a coupon.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PE looks smooth because it is appraised, not traded.</a:t>
            </a:r>
            <a:r>
              <a:rPr sz="1080">
                <a:solidFill>
                  <a:srgbClr val="0E1620"/>
                </a:solidFill>
                <a:latin typeface="Arial"/>
              </a:rPr>
              <a:t>  Infrequent, model-based marks understate true economic volatility — “volatility laundering.” Marked daily, a levered buyout would swing as much or more.</a:t>
            </a:r>
          </a:p>
          <a:p>
            <a:pPr marL="157738" indent="-157738">
              <a:lnSpc>
                <a:spcPct val="112000"/>
              </a:lnSpc>
              <a:spcAft>
                <a:spcPts val="1100"/>
              </a:spcAft>
            </a:pPr>
            <a:r>
              <a:rPr sz="1080" b="1">
                <a:solidFill>
                  <a:srgbClr val="314359"/>
                </a:solidFill>
                <a:latin typeface="Arial"/>
              </a:rPr>
              <a:t>›  </a:t>
            </a:r>
            <a:r>
              <a:rPr sz="1080" b="1">
                <a:solidFill>
                  <a:srgbClr val="314359"/>
                </a:solidFill>
                <a:latin typeface="Arial"/>
              </a:rPr>
              <a:t>Same economics, honest optics.</a:t>
            </a:r>
            <a:r>
              <a:rPr sz="1080">
                <a:solidFill>
                  <a:srgbClr val="0E1620"/>
                </a:solidFill>
                <a:latin typeface="Arial"/>
              </a:rPr>
              <a:t>  We hold the same kind of assets PE does — we simply report them at live prices and accept the J-curve as the toll paid for liquidity.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5157345" y="2243328"/>
          <a:ext cx="4316075" cy="380390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157345" y="6144768"/>
            <a:ext cx="4316075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Illustrative. Both reach the same value; only the public line shows the honest interim drawdown.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Strategic Case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2.11 Risk reframing for the investment committee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the committee sees on the surface — versus what it is actually underwriting.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17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3328499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1338" y="2292096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the IC sees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67422" y="2292096"/>
            <a:ext cx="5523114" cy="546201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869837" y="2292096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What it is actually underwriting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22" y="2838297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1338" y="2838297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Reputational / headline risk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67422" y="2838297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869837" y="2838297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The catalyst that forces repricing — and a moat that keeps competitors out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38922" y="3384499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1338" y="3384499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Public J-curve &amp; mark-to-market drawdown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767422" y="3384499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69837" y="3384499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A live, tradable entry into an asset already de-risked by board control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3930700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1338" y="3930700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~50% peak-to-trough swings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67422" y="3930700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869837" y="3930700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Optical volatility; two such drawdowns fully recovered (2010, 2020) · Sortino 2.40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22" y="4476902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1338" y="4476902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Concentration in 8–12 names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767422" y="4476902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869837" y="4476902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Deliberate conviction sizing — the skill (85.7% hit on ≥10% names; +0.73)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38922" y="5023104"/>
            <a:ext cx="3328499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1338" y="5023104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“Catching a falling knife”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767422" y="5023104"/>
            <a:ext cx="5523114" cy="54620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869837" y="5023104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Hard-floor valuation gates; entry below the value of the rectifiable core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5569305"/>
            <a:ext cx="3328499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1338" y="5569305"/>
            <a:ext cx="3152930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Single-name dependence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767422" y="5569305"/>
            <a:ext cx="5523114" cy="546201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869837" y="5569305"/>
            <a:ext cx="5347544" cy="54620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One ≥5× MOIC win every ~2 years; competitive even excluding the largest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22" y="6261811"/>
            <a:ext cx="8851613" cy="5852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The IC is not paying for safety. It is paying for proven willingness to take compensated discomfort — +6 percentage points per year, net of every fee, for 20 years.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4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2.12 Proof: outperformance with downside protection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18</a:t>
            </a:r>
          </a:p>
        </p:txBody>
      </p:sp>
      <p:graphicFrame>
        <p:nvGraphicFramePr>
          <p:cNvPr id="9" name="Chart 8"/>
          <p:cNvGraphicFramePr>
            <a:graphicFrameLocks noGrp="1"/>
          </p:cNvGraphicFramePr>
          <p:nvPr/>
        </p:nvGraphicFramePr>
        <p:xfrm>
          <a:off x="512076" y="1901952"/>
          <a:ext cx="5193921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925460" y="1999488"/>
            <a:ext cx="3365076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Haldex AB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81% IRR · 3.9x money multiple. Spun off Concentric, refocused the core, re-invested in 2020 for a further 2.0x in under two years.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Compounding</a:t>
            </a:r>
          </a:p>
          <a:p>
            <a:pPr algn="l">
              <a:lnSpc>
                <a:spcPct val="115000"/>
              </a:lnSpc>
              <a:spcAft>
                <a:spcPts val="140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~18x gross vs ~14x for MSCI IMI since 2006, with EBITA growth of +14.5% across portfolio companies.</a:t>
            </a:r>
          </a:p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80" b="1" i="0">
                <a:solidFill>
                  <a:srgbClr val="314359"/>
                </a:solidFill>
                <a:latin typeface="Times New Roman"/>
              </a:rPr>
              <a:t>Hit rate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1040" b="0" i="0">
                <a:solidFill>
                  <a:srgbClr val="0E1620"/>
                </a:solidFill>
                <a:latin typeface="Arial"/>
              </a:rPr>
              <a:t>39 larger investments since 2006 — profitable in 36, lost money in only 3.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2.13 AIP Fund II — transactions (2015–present)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Each position shown against its benchmark; invested capital weighted MOIC of 2.2x.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19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53" y="2292096"/>
            <a:ext cx="2414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7176" y="229209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962730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21253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Holding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25806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84329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421" y="2292096"/>
            <a:ext cx="1243615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27944" y="229209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13036" y="2292096"/>
            <a:ext cx="1463076" cy="20677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971560" y="229209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vs Index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53" y="2498871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7176" y="249887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Bufab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962730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021253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425806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84329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35%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421" y="2498871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27944" y="249887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913036" y="2498871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71560" y="249887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+27%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48653" y="2705646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7176" y="270564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DistIt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962730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021253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2015-2025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25806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84329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7%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421" y="2705646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27944" y="270564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913036" y="2705646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971560" y="270564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-1%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53" y="2912422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7176" y="291242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Ngex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962730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021253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425806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484329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69%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421" y="2912422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727944" y="291242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6.2x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913036" y="2912422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971560" y="291242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+59%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48653" y="3119197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7176" y="311919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Alcadon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962730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3021253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2016-2025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425806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484329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669421" y="3119197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727944" y="311919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913036" y="3119197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971560" y="311919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+65%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48653" y="3325973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7176" y="332597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Tempest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962730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021253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425806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484329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421" y="3325973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727944" y="332597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68" name="Rectangle 67"/>
          <p:cNvSpPr/>
          <p:nvPr/>
        </p:nvSpPr>
        <p:spPr>
          <a:xfrm>
            <a:off x="6913036" y="3325973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6971560" y="332597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+3%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48653" y="3532748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07176" y="353274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Zalaris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962730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3021253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425806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484329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26%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669421" y="3532748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727944" y="353274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913036" y="3532748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971560" y="353274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48653" y="3739524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607176" y="3739524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Zutec</a:t>
            </a:r>
          </a:p>
        </p:txBody>
      </p:sp>
      <p:sp>
        <p:nvSpPr>
          <p:cNvPr id="82" name="Rectangle 81"/>
          <p:cNvSpPr/>
          <p:nvPr/>
        </p:nvSpPr>
        <p:spPr>
          <a:xfrm>
            <a:off x="2962730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021253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2018-2025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425806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4484329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38%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669421" y="3739524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727944" y="3739524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2.8x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913036" y="3739524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6971560" y="3739524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+29%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48653" y="3946299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07176" y="3946299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Roko</a:t>
            </a:r>
          </a:p>
        </p:txBody>
      </p:sp>
      <p:sp>
        <p:nvSpPr>
          <p:cNvPr id="92" name="Rectangle 91"/>
          <p:cNvSpPr/>
          <p:nvPr/>
        </p:nvSpPr>
        <p:spPr>
          <a:xfrm>
            <a:off x="2962730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3021253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2019-2025</a:t>
            </a:r>
          </a:p>
        </p:txBody>
      </p:sp>
      <p:sp>
        <p:nvSpPr>
          <p:cNvPr id="94" name="Rectangle 93"/>
          <p:cNvSpPr/>
          <p:nvPr/>
        </p:nvSpPr>
        <p:spPr>
          <a:xfrm>
            <a:off x="4425806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4484329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28%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669421" y="3946299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727944" y="3946299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98" name="Rectangle 97"/>
          <p:cNvSpPr/>
          <p:nvPr/>
        </p:nvSpPr>
        <p:spPr>
          <a:xfrm>
            <a:off x="6913036" y="3946299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971560" y="3946299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+18%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48653" y="4153075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07176" y="4153075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Catella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2962730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021253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425806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4484329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12%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669421" y="4153075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727944" y="4153075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1.2x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6913036" y="4153075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6971560" y="4153075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48653" y="4359850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07176" y="4359850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AI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2962730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3021253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2020-2025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4425806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4484329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5669421" y="4359850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5727944" y="4359850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6913036" y="4359850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6971560" y="4359850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548653" y="4566626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07176" y="4566626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Renold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2962730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3021253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2024-2025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4425806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4484329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220%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669421" y="4566626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5727944" y="4566626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6913036" y="4566626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971560" y="4566626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+211%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48653" y="4773401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607176" y="4773401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Actic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2962730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3021253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2017-2023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4425806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4484329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-27%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669421" y="4773401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727944" y="4773401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0.4x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6913036" y="4773401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6971560" y="4773401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-33%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548653" y="4980177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607176" y="4980177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2962730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3021253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2019-2022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4425806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4484329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36%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5669421" y="4980177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5727944" y="4980177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913036" y="4980177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6971560" y="4980177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+33%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548653" y="5186952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07176" y="5186952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Robit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2962730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3021253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2015-2020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425806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4484329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14%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5669421" y="5186952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5727944" y="5186952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6913036" y="5186952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6971560" y="5186952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+8%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548653" y="539372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607176" y="539372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Kitron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2962730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3021253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2016-2018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4425806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4484329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40%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5669421" y="539372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5727944" y="539372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6913036" y="539372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6971560" y="539372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+16%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548653" y="5600503"/>
            <a:ext cx="2414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607176" y="5600503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Sandvik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2962730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3021253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2015-2017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4425806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4484329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49%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5669421" y="5600503"/>
            <a:ext cx="1243615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5727944" y="5600503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6913036" y="5600503"/>
            <a:ext cx="1463076" cy="20677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6971560" y="5600503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+43%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548653" y="5807278"/>
            <a:ext cx="2414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607176" y="5807278"/>
            <a:ext cx="2326291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2962730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3021253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2015-2016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4425806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4484329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80%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5669421" y="5807278"/>
            <a:ext cx="1243615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5727944" y="5807278"/>
            <a:ext cx="1155830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1.7x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6913036" y="5807278"/>
            <a:ext cx="1463076" cy="20677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6971560" y="5807278"/>
            <a:ext cx="1375292" cy="20677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+80%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548653" y="6111590"/>
            <a:ext cx="7827459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658384" y="6111590"/>
            <a:ext cx="7607998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Arial"/>
              </a:rPr>
              <a:t>17 deals   ·   weighted MOIC 2.2x   ·   ex best/worst IRR 41% vs index ~9%   ·   36 of 39 deals profitable since 2006</a:t>
            </a:r>
          </a:p>
        </p:txBody>
      </p:sp>
      <p:sp>
        <p:nvSpPr>
          <p:cNvPr id="192" name="TextBox 191"/>
          <p:cNvSpPr txBox="1"/>
          <p:nvPr/>
        </p:nvSpPr>
        <p:spPr>
          <a:xfrm>
            <a:off x="548653" y="6521241"/>
            <a:ext cx="8632151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IRR/MOIC net of the position; “n.m.” where short holding periods make annualised figures not meaningful. Capital in SEK.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Track Record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2.14 Prior period — transactions (2006–2014)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same strategy, the prior fund — repeatable across two decades and multiple cycles.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7446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41407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47259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4806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33329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8922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7446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Bilia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41407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7259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11%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474806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533329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2.9x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8922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7446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Concentric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41407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7259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81%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474806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533329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3.9x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8922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97446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eWork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7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247259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30%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474806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533329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4.4x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8922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7446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Haldex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41407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247259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94%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474806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533329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38922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7446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Lindab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41407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47259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474806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533329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1.6x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38922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7446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Note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41407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47259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32%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474806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33329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5.1x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38922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97446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Transcom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41407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47259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13%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474806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533329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1.3x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38922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97446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Global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41407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47259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16%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474806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533329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1.5x</a:t>
            </a:r>
          </a:p>
        </p:txBody>
      </p:sp>
      <p:sp>
        <p:nvSpPr>
          <p:cNvPr id="64" name="Rectangle 63"/>
          <p:cNvSpPr/>
          <p:nvPr/>
        </p:nvSpPr>
        <p:spPr>
          <a:xfrm>
            <a:off x="438922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97446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Ferronordic Machines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241407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47259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43%</a:t>
            </a:r>
          </a:p>
        </p:txBody>
      </p:sp>
      <p:sp>
        <p:nvSpPr>
          <p:cNvPr id="68" name="Rectangle 67"/>
          <p:cNvSpPr/>
          <p:nvPr/>
        </p:nvSpPr>
        <p:spPr>
          <a:xfrm>
            <a:off x="3474806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533329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2.0x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38922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97446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Klarna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41407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47259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108%</a:t>
            </a:r>
          </a:p>
        </p:txBody>
      </p:sp>
      <p:sp>
        <p:nvSpPr>
          <p:cNvPr id="74" name="Rectangle 73"/>
          <p:cNvSpPr/>
          <p:nvPr/>
        </p:nvSpPr>
        <p:spPr>
          <a:xfrm>
            <a:off x="3474806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3533329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28.2x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38922" y="5349837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497446" y="5349837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Acne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241407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247259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29%</a:t>
            </a:r>
          </a:p>
        </p:txBody>
      </p:sp>
      <p:sp>
        <p:nvSpPr>
          <p:cNvPr id="80" name="Rectangle 79"/>
          <p:cNvSpPr/>
          <p:nvPr/>
        </p:nvSpPr>
        <p:spPr>
          <a:xfrm>
            <a:off x="3474806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533329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5.5x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084191" y="2292096"/>
            <a:ext cx="1975153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142714" y="2292096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Company</a:t>
            </a:r>
          </a:p>
        </p:txBody>
      </p:sp>
      <p:sp>
        <p:nvSpPr>
          <p:cNvPr id="84" name="Rectangle 83"/>
          <p:cNvSpPr/>
          <p:nvPr/>
        </p:nvSpPr>
        <p:spPr>
          <a:xfrm>
            <a:off x="7059344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7117867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IRR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120075" y="2292096"/>
            <a:ext cx="1060730" cy="2779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178598" y="2292096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MOIC</a:t>
            </a:r>
          </a:p>
        </p:txBody>
      </p:sp>
      <p:sp>
        <p:nvSpPr>
          <p:cNvPr id="88" name="Rectangle 87"/>
          <p:cNvSpPr/>
          <p:nvPr/>
        </p:nvSpPr>
        <p:spPr>
          <a:xfrm>
            <a:off x="5084191" y="2570072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5142714" y="257007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Usports</a:t>
            </a:r>
          </a:p>
        </p:txBody>
      </p:sp>
      <p:sp>
        <p:nvSpPr>
          <p:cNvPr id="90" name="Rectangle 89"/>
          <p:cNvSpPr/>
          <p:nvPr/>
        </p:nvSpPr>
        <p:spPr>
          <a:xfrm>
            <a:off x="7059344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117867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-51%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120075" y="2570072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8178598" y="257007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0.3x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84191" y="2848049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5142714" y="2848049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Catena</a:t>
            </a:r>
          </a:p>
        </p:txBody>
      </p:sp>
      <p:sp>
        <p:nvSpPr>
          <p:cNvPr id="96" name="Rectangle 95"/>
          <p:cNvSpPr/>
          <p:nvPr/>
        </p:nvSpPr>
        <p:spPr>
          <a:xfrm>
            <a:off x="7059344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7117867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n.m.</a:t>
            </a:r>
          </a:p>
        </p:txBody>
      </p:sp>
      <p:sp>
        <p:nvSpPr>
          <p:cNvPr id="98" name="Rectangle 97"/>
          <p:cNvSpPr/>
          <p:nvPr/>
        </p:nvSpPr>
        <p:spPr>
          <a:xfrm>
            <a:off x="8120075" y="2848049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8178598" y="2848049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3.1x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5084191" y="3126025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142714" y="312602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Tigerholm Products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7059344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7117867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111%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8120075" y="3126025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8178598" y="312602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06" name="Rectangle 105"/>
          <p:cNvSpPr/>
          <p:nvPr/>
        </p:nvSpPr>
        <p:spPr>
          <a:xfrm>
            <a:off x="5084191" y="3404002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5142714" y="3404002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Avanza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7059344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7117867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34%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8120075" y="3404002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8178598" y="3404002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8.4x</a:t>
            </a:r>
          </a:p>
        </p:txBody>
      </p:sp>
      <p:sp>
        <p:nvSpPr>
          <p:cNvPr id="112" name="Rectangle 111"/>
          <p:cNvSpPr/>
          <p:nvPr/>
        </p:nvSpPr>
        <p:spPr>
          <a:xfrm>
            <a:off x="5084191" y="3681978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5142714" y="368197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Fabege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7059344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7117867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25%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8120075" y="3681978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8178598" y="368197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2.3x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084191" y="3959955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5142714" y="3959955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Johnson Pump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7059344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7117867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52%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8120075" y="3959955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178598" y="3959955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3.0x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5084191" y="4237931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5142714" y="423793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Klövern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7059344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7117867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18%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8120075" y="4237931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8178598" y="423793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2.1x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084191" y="4515908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5142714" y="4515908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Nobia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7059344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7117867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8%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8120075" y="4515908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8178598" y="4515908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1.4x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5084191" y="4793884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5142714" y="4793884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SkiStar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7059344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7117867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20%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8120075" y="4793884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8178598" y="4793884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5.4x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5084191" y="5071861"/>
            <a:ext cx="1975153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5142714" y="5071861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Brokk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7059344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7117867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74%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8120075" y="5071861"/>
            <a:ext cx="1060730" cy="2779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8178598" y="5071861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5.2x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5084191" y="5349837"/>
            <a:ext cx="1975153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5142714" y="5349837"/>
            <a:ext cx="1887368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HQ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7059344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7117867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-5%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8120075" y="5349837"/>
            <a:ext cx="1060730" cy="2779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8178598" y="5349837"/>
            <a:ext cx="972945" cy="2779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0.6x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438922" y="5754624"/>
            <a:ext cx="8083498" cy="331622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548653" y="5754624"/>
            <a:ext cx="7827459" cy="33162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FFFFFF"/>
                </a:solidFill>
                <a:latin typeface="Arial"/>
              </a:rPr>
              <a:t>22 deals   ·   weighted MOIC 2.7x   ·   average IRR 68%   ·   index outperformance +25 pts (invested-weighted)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438922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Selected larger deals of the investment team. Losses shown in italic. Capital in SEK; ~$400M invested over the period.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2.15 Independently validated: 20 years, net of every fee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 prospective LP’s investment committee reconciled the security-level (StatPro) data and the 236-month LP-level NET return series.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21</a:t>
            </a:r>
          </a:p>
        </p:txBody>
      </p:sp>
      <p:sp>
        <p:nvSpPr>
          <p:cNvPr id="9" name="Rectangle 8"/>
          <p:cNvSpPr/>
          <p:nvPr/>
        </p:nvSpPr>
        <p:spPr>
          <a:xfrm>
            <a:off x="54865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5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+1,402%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cumulative NET return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over 19.7 years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3836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3836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+14.8%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NET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(time-weighted, all fees)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8083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28083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+6.0 pts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annualised alpha,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net, for 20 years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17798" y="2292096"/>
            <a:ext cx="2158037" cy="175564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17798" y="2545689"/>
            <a:ext cx="2158037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400"/>
              </a:spcAft>
            </a:pPr>
            <a:r>
              <a:rPr sz="2720" b="0" i="0" spc="-102">
                <a:solidFill>
                  <a:srgbClr val="314359"/>
                </a:solidFill>
                <a:latin typeface="Times New Roman"/>
              </a:rPr>
              <a:t>3.11×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the relevant equity</a:t>
            </a:r>
          </a:p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benchmark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53" y="429158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Two full cycles, survived.</a:t>
            </a:r>
            <a:r>
              <a:rPr sz="1120">
                <a:solidFill>
                  <a:srgbClr val="0E1620"/>
                </a:solidFill>
                <a:latin typeface="Arial"/>
              </a:rPr>
              <a:t>  Drawdowns of −52.8% (2008, recovered by 2010) and −45.9% (2017–2020, recovered by Sep 2020) — navigated live with the same philosophy, not back-tested.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Top-tier downside-adjusted return.</a:t>
            </a:r>
            <a:r>
              <a:rPr sz="1120">
                <a:solidFill>
                  <a:srgbClr val="0E1620"/>
                </a:solidFill>
                <a:latin typeface="Arial"/>
              </a:rPr>
              <a:t>  20-year Sortino 1.54; AIPFII Sortino 2.40, with upside volatility 3.9× the downside.</a:t>
            </a:r>
          </a:p>
          <a:p>
            <a:pPr marL="163580" indent="-163580">
              <a:lnSpc>
                <a:spcPct val="112000"/>
              </a:lnSpc>
              <a:spcAft>
                <a:spcPts val="1000"/>
              </a:spcAft>
            </a:pPr>
            <a:r>
              <a:rPr sz="1120" b="1">
                <a:solidFill>
                  <a:srgbClr val="314359"/>
                </a:solidFill>
                <a:latin typeface="Arial"/>
              </a:rPr>
              <a:t>›  </a:t>
            </a:r>
            <a:r>
              <a:rPr sz="1120" b="1">
                <a:solidFill>
                  <a:srgbClr val="314359"/>
                </a:solidFill>
                <a:latin typeface="Arial"/>
              </a:rPr>
              <a:t>Realised cash, not marks.</a:t>
            </a:r>
            <a:r>
              <a:rPr sz="1120">
                <a:solidFill>
                  <a:srgbClr val="0E1620"/>
                </a:solidFill>
                <a:latin typeface="Arial"/>
              </a:rPr>
              <a:t>  The largest contributors are realised LP cash — removing the mark-to-model objection.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53" y="6778752"/>
            <a:ext cx="8632151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Source: independent institutional due-diligence review, May 2026, on StatPro security-level data and LP-level NET monthly returns (2006–2026).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Independent Review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2.16 Repeatable and conviction-sized — not lucky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The review tested the “you can’t rely on the big winners” objection directly against 39 deals over 20 years.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REPEATABLE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92% deal-level hit rate (36 of 39 profitable); losses ~8% of cumulative invested capital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10 of 39 deals returned ≥5× MOIC — one such win every ~2 years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decade-definers, not one: Klarna 28× (2007) and Athanase Tech 5.4× (2021)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Robust: even excluding Athanase Tech entirely, AIPFII still ~10% net annualised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CONVICTION-SIZED (THE SKILL SIGNAL)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7 positions ever sized ≥10% of NAV hit at 85.7% and contributed +209 pts — ~77% of the positive book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+0.73 rank correlation between position size and outcome within winners — they size their best ideas biggest</a:t>
            </a:r>
          </a:p>
          <a:p>
            <a:pPr algn="l">
              <a:lnSpc>
                <a:spcPct val="113000"/>
              </a:lnSpc>
              <a:spcAft>
                <a:spcPts val="9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Win/loss asymmetry: average winner 2.74× the average loser; +333 pts of winners vs −61 pts of losers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53" y="6193536"/>
            <a:ext cx="8632151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314359"/>
                </a:solidFill>
                <a:latin typeface="Arial"/>
              </a:rPr>
              <a:t>“The team has done this twice in 20 years, not once — the ‘every 10–20 years’ objection is empirically unsupportable.”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Allocation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2.17 Why a non-linear path won’t get you fired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Career risk is managed by mandate design — not by hoping the line goes straight.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53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SIZE AND STRUCTURE IT RIGHT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Size at 1–3% of total assets in a special-situations sleeve — no single mark can dominate the portfolio or force action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Pre-agree a ~50% mark-to-market drawdown tolerance with the IC at commitment; align reporting to the multi-year holding cycle, not monthly marks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Define reallocation triggers in advance — manager turnover, style drift, weaker sizing discipline — never the share price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120768" y="2292096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700"/>
              </a:spcAft>
            </a:pPr>
            <a:r>
              <a:rPr sz="1040" b="1" i="0">
                <a:solidFill>
                  <a:srgbClr val="314359"/>
                </a:solidFill>
                <a:latin typeface="Arial"/>
              </a:rPr>
              <a:t>JUDGE THE RIGHT THING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Underwrite whether business risk is falling — board seat secured, cash-flow control — not whether the news flow looks calm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The big winners are realised LP cash, not marks: the value is bankable, not modelled</a:t>
            </a:r>
          </a:p>
          <a:p>
            <a:pPr algn="l">
              <a:lnSpc>
                <a:spcPct val="113000"/>
              </a:lnSpc>
              <a:spcAft>
                <a:spcPts val="1000"/>
              </a:spcAft>
            </a:pPr>
            <a:r>
              <a:rPr sz="1120" b="0" i="0">
                <a:solidFill>
                  <a:srgbClr val="0E1620"/>
                </a:solidFill>
                <a:latin typeface="Arial"/>
              </a:rPr>
              <a:t>Two ~50% drawdowns have already been recovered with the same philosophy — the path has been bumpy before and still paid +6 pts/yr net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53" y="6096000"/>
            <a:ext cx="8668728" cy="604723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4961" y="6096000"/>
            <a:ext cx="8376113" cy="604723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80" b="0" i="1">
                <a:solidFill>
                  <a:srgbClr val="FFFFFF"/>
                </a:solidFill>
                <a:latin typeface="Arial"/>
              </a:rPr>
              <a:t>A pre-underwritten, correctly-sized, fundamentally-monitored allocation turns a bad quarter into “as expected” — not a surprise that invites blame.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Portfolio Impact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5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2.18 What it does to an allocator’s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Illustrative: redirecting a sleeve into Athanase rather than a long-only global fund or another activist.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24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438922" y="2340864"/>
          <a:ext cx="4901306" cy="4096512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Rectangle 10"/>
          <p:cNvSpPr/>
          <p:nvPr/>
        </p:nvSpPr>
        <p:spPr>
          <a:xfrm>
            <a:off x="3526014" y="2896819"/>
            <a:ext cx="12192" cy="2926080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94476" y="2643225"/>
            <a:ext cx="1463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Down-market year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84537" y="4392177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Athanase: holds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84537" y="5248689"/>
            <a:ext cx="1170461" cy="25359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556A83"/>
                </a:solidFill>
                <a:latin typeface="Arial"/>
              </a:rPr>
              <a:t>Long-only: −19%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1575" y="2828544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523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91575" y="4584192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271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91575" y="5169408"/>
            <a:ext cx="950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208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888883" y="2340864"/>
            <a:ext cx="3365076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Table 7.  Annual uplift to TOTAL-portfolio return (bps), by sleeve size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88883" y="2896819"/>
            <a:ext cx="1097307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62037" y="2896819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Sleeve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86190" y="2896819"/>
            <a:ext cx="1133884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059344" y="2896819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Long-only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20075" y="2896819"/>
            <a:ext cx="1426499" cy="448665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193228" y="2896819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FFFFFF"/>
                </a:solidFill>
                <a:latin typeface="Arial"/>
              </a:rPr>
              <a:t>vs Other activist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888883" y="3345484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62037" y="3345484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3%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86190" y="3345484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059344" y="3345484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+31 bps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120075" y="3345484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193228" y="3345484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+23 bps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88883" y="3794150"/>
            <a:ext cx="1097307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962037" y="3794150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5%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986190" y="3794150"/>
            <a:ext cx="1133884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59344" y="3794150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+52 bps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120075" y="3794150"/>
            <a:ext cx="1426499" cy="448665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193228" y="3794150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+38 bps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888883" y="4242816"/>
            <a:ext cx="1097307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962037" y="4242816"/>
            <a:ext cx="98026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Arial"/>
              </a:rPr>
              <a:t>8%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986190" y="4242816"/>
            <a:ext cx="1133884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059344" y="4242816"/>
            <a:ext cx="1016838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+83 bps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8120075" y="4242816"/>
            <a:ext cx="1426499" cy="44866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193228" y="4242816"/>
            <a:ext cx="1309453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0E1620"/>
                </a:solidFill>
                <a:latin typeface="Arial"/>
              </a:rPr>
              <a:t>+60 bps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888883" y="4847539"/>
            <a:ext cx="3365076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HOW THE PATH IS EARNED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888883" y="5140147"/>
            <a:ext cx="3365076" cy="21457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70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The smooth line is not won by chasing rallies. On average monthly returns (p.17), Athanase roughly matches the market up (1.2% vs 1.3%) but protects sharply down (+0.2% vs −1.7%).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919" b="0" i="0">
                <a:solidFill>
                  <a:srgbClr val="0E1620"/>
                </a:solidFill>
                <a:latin typeface="Arial"/>
              </a:rPr>
              <a:t>Losing less in the down months — not winning more up — is what compounds the lines apart: a steadier path, not just a higher one.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38922" y="6973824"/>
            <a:ext cx="6510690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Illustrative only; not a projection. Athanase 18% (headline net IRR); other activist 10.5%; long-only 7.6% (MSCI IMI). Uplift = sleeve × return spread; growth = annual compounding. Past performance ≠ future results.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2.19 Lower downside risk compounds into better outcomes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Athanase carries higher total volatility than the market — but its downside volatility is lower, which is what protects compounding.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8922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30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ANNUALISED RETURN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85230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6.1%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16.0%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16283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62591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TOTAL VOLATILITY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2591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16.3%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27.0%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93644" y="2292096"/>
            <a:ext cx="2889576" cy="124846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39952" y="2428646"/>
            <a:ext cx="25969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DOWNSIDE VOLATILITY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9952" y="2740761"/>
            <a:ext cx="2596960" cy="78028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880">
                <a:solidFill>
                  <a:srgbClr val="556A83"/>
                </a:solidFill>
                <a:latin typeface="Arial"/>
              </a:rPr>
              <a:t>MSCI  </a:t>
            </a:r>
            <a:r>
              <a:rPr sz="1520" b="1">
                <a:solidFill>
                  <a:srgbClr val="314359"/>
                </a:solidFill>
                <a:latin typeface="Times New Roman"/>
              </a:rPr>
              <a:t>11.5%</a:t>
            </a:r>
          </a:p>
          <a:p>
            <a:r>
              <a:rPr sz="880">
                <a:solidFill>
                  <a:srgbClr val="556A83"/>
                </a:solidFill>
                <a:latin typeface="Arial"/>
              </a:rPr>
              <a:t>AIP   </a:t>
            </a:r>
            <a:r>
              <a:rPr sz="1520" b="1">
                <a:solidFill>
                  <a:srgbClr val="152130"/>
                </a:solidFill>
                <a:latin typeface="Times New Roman"/>
              </a:rPr>
              <a:t>10.9%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81360" y="3579571"/>
            <a:ext cx="2889576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Aft>
                <a:spcPts val="0"/>
              </a:spcAft>
            </a:pPr>
            <a:r>
              <a:rPr sz="800" b="1" i="0">
                <a:solidFill>
                  <a:srgbClr val="152130"/>
                </a:solidFill>
                <a:latin typeface="Arial"/>
              </a:rPr>
              <a:t>↑ Athanase downside volatility is LOWER than the market’s.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22" y="3901440"/>
            <a:ext cx="877845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EXPECTED VALUE OF 100 INVESTED, BY HOLDING PERIOD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4194048"/>
            <a:ext cx="2560384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6707" y="419404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2999307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87091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3 years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578148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65933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5 years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156990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44775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7 years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735832" y="4194048"/>
            <a:ext cx="1578841" cy="341376"/>
          </a:xfrm>
          <a:prstGeom prst="rect">
            <a:avLst/>
          </a:prstGeom>
          <a:solidFill>
            <a:srgbClr val="3143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823617" y="419404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10 years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8922" y="4535424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6707" y="453542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Median outcome — MSCI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99307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072460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119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8148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651302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134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156990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30144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151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735832" y="4535424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808986" y="453542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181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8922" y="4876800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26707" y="4876800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Median outcome — Athanase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999307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072460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156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578148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651302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210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156990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30144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283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735832" y="4876800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808986" y="4876800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443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38922" y="5218176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26707" y="5218176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Adverse case* — MSCI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999307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072460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98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578148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651302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105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156990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30144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113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735832" y="5218176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808986" y="5218176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128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38922" y="5559552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26707" y="5559552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Adverse case* — Athanase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999307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072460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132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578148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651302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170</a:t>
            </a:r>
          </a:p>
        </p:txBody>
      </p:sp>
      <p:sp>
        <p:nvSpPr>
          <p:cNvPr id="67" name="Rectangle 66"/>
          <p:cNvSpPr/>
          <p:nvPr/>
        </p:nvSpPr>
        <p:spPr>
          <a:xfrm>
            <a:off x="6156990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230144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220</a:t>
            </a:r>
          </a:p>
        </p:txBody>
      </p:sp>
      <p:sp>
        <p:nvSpPr>
          <p:cNvPr id="69" name="Rectangle 68"/>
          <p:cNvSpPr/>
          <p:nvPr/>
        </p:nvSpPr>
        <p:spPr>
          <a:xfrm>
            <a:off x="7735832" y="5559552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808986" y="5559552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328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38922" y="5900928"/>
            <a:ext cx="2560384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26707" y="5900928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0">
                <a:solidFill>
                  <a:srgbClr val="556A83"/>
                </a:solidFill>
                <a:latin typeface="Arial"/>
              </a:rPr>
              <a:t>Chance of a loss — MSCI</a:t>
            </a:r>
          </a:p>
        </p:txBody>
      </p:sp>
      <p:sp>
        <p:nvSpPr>
          <p:cNvPr id="73" name="Rectangle 72"/>
          <p:cNvSpPr/>
          <p:nvPr/>
        </p:nvSpPr>
        <p:spPr>
          <a:xfrm>
            <a:off x="2999307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072460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18%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578148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651302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12%</a:t>
            </a:r>
          </a:p>
        </p:txBody>
      </p:sp>
      <p:sp>
        <p:nvSpPr>
          <p:cNvPr id="77" name="Rectangle 76"/>
          <p:cNvSpPr/>
          <p:nvPr/>
        </p:nvSpPr>
        <p:spPr>
          <a:xfrm>
            <a:off x="6156990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230144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8%</a:t>
            </a:r>
          </a:p>
        </p:txBody>
      </p:sp>
      <p:sp>
        <p:nvSpPr>
          <p:cNvPr id="79" name="Rectangle 78"/>
          <p:cNvSpPr/>
          <p:nvPr/>
        </p:nvSpPr>
        <p:spPr>
          <a:xfrm>
            <a:off x="7735832" y="5900928"/>
            <a:ext cx="1578841" cy="341376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808986" y="5900928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0" i="0">
                <a:solidFill>
                  <a:srgbClr val="556A83"/>
                </a:solidFill>
                <a:latin typeface="Arial"/>
              </a:rPr>
              <a:t>5%</a:t>
            </a:r>
          </a:p>
        </p:txBody>
      </p:sp>
      <p:sp>
        <p:nvSpPr>
          <p:cNvPr id="81" name="Rectangle 80"/>
          <p:cNvSpPr/>
          <p:nvPr/>
        </p:nvSpPr>
        <p:spPr>
          <a:xfrm>
            <a:off x="438922" y="6242304"/>
            <a:ext cx="2560384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526707" y="6242304"/>
            <a:ext cx="2414076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152130"/>
                </a:solidFill>
                <a:latin typeface="Arial"/>
              </a:rPr>
              <a:t>Chance of a loss — Athanase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999307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3072460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1%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578148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651302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7" name="Rectangle 86"/>
          <p:cNvSpPr/>
          <p:nvPr/>
        </p:nvSpPr>
        <p:spPr>
          <a:xfrm>
            <a:off x="6156990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6230144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89" name="Rectangle 88"/>
          <p:cNvSpPr/>
          <p:nvPr/>
        </p:nvSpPr>
        <p:spPr>
          <a:xfrm>
            <a:off x="7735832" y="6242304"/>
            <a:ext cx="1578841" cy="34137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7808986" y="6242304"/>
            <a:ext cx="1432534" cy="3413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Arial"/>
              </a:rPr>
              <a:t>0%</a:t>
            </a:r>
          </a:p>
        </p:txBody>
      </p:sp>
      <p:sp>
        <p:nvSpPr>
          <p:cNvPr id="91" name="Rectangle 90"/>
          <p:cNvSpPr/>
          <p:nvPr/>
        </p:nvSpPr>
        <p:spPr>
          <a:xfrm>
            <a:off x="438922" y="6661708"/>
            <a:ext cx="8873559" cy="370636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570599" y="6661708"/>
            <a:ext cx="8632151" cy="3706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0" i="1">
                <a:solidFill>
                  <a:srgbClr val="FFFFFF"/>
                </a:solidFill>
                <a:latin typeface="Arial"/>
              </a:rPr>
              <a:t>Even in the adverse case, Athanase’s lower downside volatility leaves an investor ahead at every horizon — and the gap widens with time.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438922" y="7110374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*Adverse case = one downside-deviation outcome (≈1-in-6), narrowing with horizon as dd/√T. Illustrative; past performance is not indicative of future results.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6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2.20 A complement to global equities, not a duplicate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What a global-equity holder asks of a new manager: do you keep up in rallies, lose less in selloffs, and add something the index can’t?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26</a:t>
            </a:r>
          </a:p>
        </p:txBody>
      </p:sp>
      <p:pic>
        <p:nvPicPr>
          <p:cNvPr id="10" name="Picture 9" descr="mc_cap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3627489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4791575" y="224332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52514" y="236037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CAPTURE ASYMMETRY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952514" y="2594457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93% up  /  43% down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52514" y="296509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Keeps pace with rallies but takes less than half of selloffs — the essence of the edge.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791575" y="3530803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2514" y="3647846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DIVERSIFICATION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52514" y="3881932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0.44 correlation  ·  0.73 beta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52514" y="4252569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Low correlation to your existing equity book — a genuine diversifier, not levered beta.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791575" y="4818278"/>
            <a:ext cx="4535537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952514" y="4935321"/>
            <a:ext cx="42136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RELIABILITY OVER TIME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52514" y="5169408"/>
            <a:ext cx="4213660" cy="3413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60" b="1" i="0">
                <a:solidFill>
                  <a:srgbClr val="314359"/>
                </a:solidFill>
                <a:latin typeface="Times New Roman"/>
              </a:rPr>
              <a:t>Beat MSCI in 90% of 5-yr and 100% of 7-yr windows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952514" y="5540044"/>
            <a:ext cx="4213660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Over every rolling 7-year holding period in 20 years, Athanase out-returned the index.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Athanase captures 93% of the market’s upside but only 43% of its downside — at 0.44 correlation, it improves the whole portfolio, not just one line of it.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(2006–2025). Capture = compounded Athanase return in the market’s up/down months ÷ the market’s. Past performance is not indicative of future results.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Risk-Adjusted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7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2.21 What a blend does to the whole portfolio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Adding Athanase to a global-equity book moves the portfolio up and to the left — more return for less downside risk, thanks to low correlation.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27</a:t>
            </a:r>
          </a:p>
        </p:txBody>
      </p:sp>
      <p:pic>
        <p:nvPicPr>
          <p:cNvPr id="10" name="Picture 9" descr="mc_fronti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194560"/>
            <a:ext cx="6002145" cy="299930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10690" y="2262835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1629" y="2379878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ALL GLOBAL EQUITIES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1629" y="2633472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6.1%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11.5% downside risk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71629" y="3062630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100% MSCI World IMI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510690" y="3569817"/>
            <a:ext cx="2816422" cy="117043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71629" y="3686860"/>
            <a:ext cx="2494545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ADD A PRUDENT 8% SLEEVE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1629" y="3940454"/>
            <a:ext cx="2494545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0"/>
              </a:spcAft>
            </a:pPr>
            <a:r>
              <a:rPr sz="1280" b="1">
                <a:solidFill>
                  <a:srgbClr val="314359"/>
                </a:solidFill>
                <a:latin typeface="Times New Roman"/>
              </a:rPr>
              <a:t>7.3% return</a:t>
            </a:r>
            <a:r>
              <a:rPr sz="960">
                <a:solidFill>
                  <a:srgbClr val="314359"/>
                </a:solidFill>
                <a:latin typeface="Arial"/>
              </a:rPr>
              <a:t>   ·   11.1% downside risk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71629" y="4369612"/>
            <a:ext cx="249454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92% MSCI  /  8%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10690" y="4896307"/>
            <a:ext cx="2816422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HOW TO READ 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10690" y="5169408"/>
            <a:ext cx="2816422" cy="1853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Every blend on the curve beats holding equities alone, and the benefit keeps building until past half the portfolio (downside risk bottoms near 60%). That is a directional case to size up — within prudent limits — not a target: a 59% position would breach concentration, liquidity and the 3–8% sizing discipline. Even an 8% sleeve already moves the portfolio the right way.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The blend is not a trade-off — every allocation improves the portfolio, so the case is to size up within prudent 3–8% limits, not to chase the mathematical optimum.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Source: monthly net returns, 235 months (2006–2025), monthly rebalanced blends. The minimum-risk point is in-sample and shown for shape, not as advice. Illustrative; past performance is not indicative of future results.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Table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2.22 What allocators actually earn from private equity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Stripping out headline-IRR marketing, cash-matched (PME) data shows PE earns a real ~3–6 pt premium over public markets — but lands below Athanase.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28</a:t>
            </a:r>
          </a:p>
        </p:txBody>
      </p:sp>
      <p:pic>
        <p:nvPicPr>
          <p:cNvPr id="10" name="Picture 9" descr="d_pe_realis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579118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547266" y="2292096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93574" y="2389632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HEADLINE ≠ REALISED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93574" y="2643225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Top-quartile IRR is shown as ~18–22%, struck on drawn capital. Cash-matched to public markets, the real figure is far lower.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47266" y="3560064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93574" y="3657600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REAL PREMIUM IS GENUINE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93574" y="3911193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PME studies agree: ~1.2× wealth multiple, a real 3–5 pt premium (Cambridge; Kaplan-Harris-Jenkinson / Burgiss; Cliffwater; BVCA).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47266" y="4828032"/>
            <a:ext cx="2779845" cy="1131417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93574" y="4925568"/>
            <a:ext cx="248723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BUT BELOW ATHANASE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93574" y="5179161"/>
            <a:ext cx="2487230" cy="7607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Allocators realise ~11–14% from PE. Athanase has delivered ~16% — net, real, and fully invested from day one.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PE’s premium over public markets is real — but Athanase’s ~16% sits above even what the best allocators realise, with daily liquidity.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Sources: Cliffwater (US state pensions, 2000–22) PE 11.4% vs PME 5.8%; BVCA / Capital Dynamics (UK &amp; Europe, 2001–23) 14.1% vs 7.7%; corroborated by Cambridge Associates mPME 1.15–1.25× and Kaplan-Harris-Jenkinson KS-PME 1.20–1.27×. Athanase real, net, 2006–2025. See references.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8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2.23 Switching a private-equity sleeve into Athanase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On true risk, PE and Athanase carry similar volatility — but Athanase’s is mostly upside, and it returns more, with daily liquidity.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29</a:t>
            </a:r>
          </a:p>
        </p:txBody>
      </p:sp>
      <p:pic>
        <p:nvPicPr>
          <p:cNvPr id="10" name="Picture 9" descr="d_pe_scatt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04070" cy="281642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2076" y="6096000"/>
            <a:ext cx="4535537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00" b="0" i="1">
                <a:solidFill>
                  <a:srgbClr val="556A83"/>
                </a:solidFill>
                <a:latin typeface="Arial"/>
              </a:rPr>
              <a:t>De-smoothed, PE’s ~10% reported vol is really ~28% (PIMCO; AQR beta 1.5–1.6) — about Athanase’s 27%, but levered downside, not upside.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57345" y="2262835"/>
            <a:ext cx="4169768" cy="81930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652" y="2360371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RETURN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56997" y="2350617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~16% vs ~11–14% realised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652" y="2652979"/>
            <a:ext cx="3877152" cy="4096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Above what even the best allocators realise from PE (Cliffwater; BVCA).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57345" y="3179673"/>
            <a:ext cx="4169768" cy="81930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652" y="3277209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LIQUIDITY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56997" y="3267456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vs 10-yr lock-up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652" y="3569817"/>
            <a:ext cx="3877152" cy="4096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Listed positions you can exit; no blind-pool capital calls.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57345" y="4096512"/>
            <a:ext cx="4169768" cy="81930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652" y="4194048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FEES &amp; CAPITAL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56997" y="4184294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Lower drag, fully invested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652" y="4486656"/>
            <a:ext cx="3877152" cy="4096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No fees on undeployed dry powder waiting in a queue.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157345" y="5013350"/>
            <a:ext cx="4169768" cy="81930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652" y="5110886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TRANSPARENCY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56997" y="5101132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Daily marks, real control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652" y="5403494"/>
            <a:ext cx="3877152" cy="4096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A public scoreboard plus board control of cash flow, capex and pay.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157345" y="5930188"/>
            <a:ext cx="4169768" cy="81930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03652" y="6027724"/>
            <a:ext cx="1463076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1" i="0">
                <a:solidFill>
                  <a:srgbClr val="314359"/>
                </a:solidFill>
                <a:latin typeface="Arial"/>
              </a:rPr>
              <a:t>RISK, HONESTLY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56997" y="6017971"/>
            <a:ext cx="248723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00" b="1" i="0">
                <a:solidFill>
                  <a:srgbClr val="314359"/>
                </a:solidFill>
                <a:latin typeface="Times New Roman"/>
              </a:rPr>
              <a:t>Similar vol, opposite shape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652" y="6320332"/>
            <a:ext cx="3877152" cy="4096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00" b="0" i="0">
                <a:solidFill>
                  <a:srgbClr val="0E1620"/>
                </a:solidFill>
                <a:latin typeface="Arial"/>
              </a:rPr>
              <a:t>PE’s true ~28% vol is levered downside; Athanase’s 27% is mostly upside (downside only ~11%).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Once PE’s smoothing is removed, the two carry similar volatility — but Athanase returns more, its risk is upside not downside, and it stays liquid and transparent.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Athanase: net monthly returns, 235 months (2006–2025), real (total vol 27%). PE realised ~11–14% vs headline IRR ~18–22%; reported ~10% vol de-smoothed to ~25–30% (PIMCO; AQR beta 1.5–1.6). See references.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9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2.24 The volatility gap is settled in the literature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Cash-flow models, secondary-market prices and econometric unsmoothing all converge: PE’s true risk is roughly 2–3× its reported figure.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30</a:t>
            </a:r>
          </a:p>
        </p:txBody>
      </p:sp>
      <p:pic>
        <p:nvPicPr>
          <p:cNvPr id="10" name="Picture 9" descr="d_pe_evid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9" y="2243328"/>
            <a:ext cx="4834738" cy="288957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6218075" y="2292096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64383" y="2389632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CASH-FLOW NPV MODEL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64383" y="2613964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Buyout vol 25% (vs 11% index), beta &gt; 1 — Ang, Chen, Goetzmann &amp; Phalippou (2018), J. Finance.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8075" y="3286963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4383" y="3384499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SECONDARY-MARKET PRICES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4383" y="3608832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Traded-stake beta &gt; 2.0 vs &lt; 0.5 on NAV — Boyer, Nadauld, Vorkink &amp; Weisbach (2018).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18075" y="4281830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364383" y="4379366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ECONOMETRIC UNSMOOTHING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64383" y="4603699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Illiquidity creates spurious smoothness — Getmansky, Lo &amp; Makarov (2004), JFE (cited 1,300+).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8075" y="5276697"/>
            <a:ext cx="3109037" cy="877824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64383" y="5374233"/>
            <a:ext cx="2816422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1" i="0">
                <a:solidFill>
                  <a:srgbClr val="314359"/>
                </a:solidFill>
                <a:latin typeface="Arial"/>
              </a:rPr>
              <a:t>CATERING / “LAUNDERING”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64383" y="5598566"/>
            <a:ext cx="2816422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GPs smooth because LPs value the “phony happiness” — Jackson, Ling &amp; Naranjo (2022); Couts et al. (2020).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Independent methods, the same answer: PE is a highly-levered equity portfolio whose reported smoothness is an artefact.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560" b="0" i="0">
                <a:solidFill>
                  <a:srgbClr val="556A83"/>
                </a:solidFill>
                <a:latin typeface="Arial"/>
              </a:rPr>
              <a:t>Sources: Ang, Chen, Goetzmann &amp; Phalippou (2018); Boyer, Nadauld, Vorkink &amp; Weisbach (2018); Getmansky, Lo &amp; Makarov (2004); Couts, Gonçalves &amp; Rossi (2020); Jackson, Ling &amp; Naranjo (2022); PIMCO (2022); AQR. Bars show vol-equivalent risk; beta rows scaled for comparison. See references.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10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2.25 Same headline volatility — far lower real risk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Volatility is not symmetric. PE’s true risk is levered downside; Athanase’s is mostly upside, so its real loss risk is a fraction of PE’s.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31</a:t>
            </a:r>
          </a:p>
        </p:txBody>
      </p:sp>
      <p:pic>
        <p:nvPicPr>
          <p:cNvPr id="10" name="Picture 9" descr="d_pe_realrisk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014211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157345" y="2292096"/>
            <a:ext cx="4169768" cy="170688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40229" y="2438400"/>
            <a:ext cx="38039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314359"/>
                </a:solidFill>
                <a:latin typeface="Arial"/>
              </a:rPr>
              <a:t>CHANCE OF A 30%+ LOSS OVER THREE YEARS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40229" y="2789529"/>
            <a:ext cx="3803999" cy="1072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200"/>
              </a:spcAft>
            </a:pPr>
            <a:r>
              <a:rPr sz="2560" b="1">
                <a:solidFill>
                  <a:srgbClr val="556A83"/>
                </a:solidFill>
                <a:latin typeface="Times New Roman"/>
              </a:rPr>
              <a:t>~16%</a:t>
            </a:r>
            <a:r>
              <a:rPr sz="1040">
                <a:solidFill>
                  <a:srgbClr val="556A83"/>
                </a:solidFill>
                <a:latin typeface="Arial"/>
              </a:rPr>
              <a:t>   private equity</a:t>
            </a:r>
          </a:p>
          <a:p>
            <a:r>
              <a:rPr sz="2560" b="1">
                <a:solidFill>
                  <a:srgbClr val="152130"/>
                </a:solidFill>
                <a:latin typeface="Times New Roman"/>
              </a:rPr>
              <a:t>~2%</a:t>
            </a:r>
            <a:r>
              <a:rPr sz="1040">
                <a:solidFill>
                  <a:srgbClr val="556A83"/>
                </a:solidFill>
                <a:latin typeface="Arial"/>
              </a:rPr>
              <a:t>   Athanase (actual 3-yr windows)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57345" y="4213555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40229" y="4330598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VOLATILITY ≠ RISK OF LOSS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40229" y="4584192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PE’s ~28% true vol is dominated by downside (levered, left-skewed). Athanase’s 27% is mostly upside — downside deviation only ~11%.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57345" y="5266944"/>
            <a:ext cx="4169768" cy="936345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40229" y="5383987"/>
            <a:ext cx="3803999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RISK THAT MATTERS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0229" y="5637580"/>
            <a:ext cx="3803999" cy="5364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On large permanent loss — what allocators actually fear — Athanase’s real risk is roughly one-eighth of private equity’s.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Matched on true volatility, Athanase carries far less of the risk that actually hurts: its downside is a fraction of private equity’s.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downside vol 11% vs total 27% (real); 30%+ loss in 2% of actual rolling 3-yr windows. PE de-smoothed total vol ~28%, ~15–16% chance of a 30% drawdown over 3 years (PIMCO, 2022). See references.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242229" y="263347"/>
            <a:ext cx="2084884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Figure 11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2.26 PE’s “diversification” is an artefact — Athanase’s is real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De-smoothed, PE is ~0.9 correlated to public equities: the same risk factors, just reported late. Athanase is genuinely uncorrelated.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32</a:t>
            </a:r>
          </a:p>
        </p:txBody>
      </p:sp>
      <p:pic>
        <p:nvPicPr>
          <p:cNvPr id="10" name="Picture 9" descr="d_pe_cor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02346" y="2243328"/>
            <a:ext cx="4160624" cy="2816422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5267075" y="2292096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28014" y="2409139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SMOOTHING ILLUSION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28014" y="266273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Quarterly appraisals lag the market, so reported correlation looks low (0.75, beta 0.41). De-smoothed it is 0.89 / beta 0.87 (Two Sigma, 2024).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267075" y="354055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28014" y="365759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SAME RISK FACTORS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28014" y="391119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PE is long-only levered equity driven by GDP, rates and earnings; over 10–20 yrs its correlation to small/mid-caps is ~0.89–0.92.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67075" y="4789015"/>
            <a:ext cx="4060037" cy="1111909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428014" y="4906058"/>
            <a:ext cx="3738160" cy="243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40" b="1" i="0">
                <a:solidFill>
                  <a:srgbClr val="314359"/>
                </a:solidFill>
                <a:latin typeface="Arial"/>
              </a:rPr>
              <a:t>THE CRISIS MIRAGE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28014" y="5159652"/>
            <a:ext cx="3738160" cy="702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In severe drawdowns true correlation converges toward 1.0 — PE takes the same hit, it just reports the markdown later.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PE adds leveraged beta dressed as diversification. Athanase, at 0.44 correlation, is the genuine diversifier in a public-equity portfolio.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22" y="6944563"/>
            <a:ext cx="9217382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Athanase correlation 0.44 / beta 0.73 to MSCI World IMI (real). PE reported 0.75 / beta 0.41 de-smoothed to 0.89 / beta 0.87 (Two Sigma / Venn, 2024); long-horizon PE–small/mid-cap correlation ~0.89–0.92. See references.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Private Equity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414272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2.27 When the tide goes out: the drawdown trap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3553" y="1511808"/>
            <a:ext cx="8705305" cy="48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040" b="0" i="1">
                <a:solidFill>
                  <a:srgbClr val="556A83"/>
                </a:solidFill>
                <a:latin typeface="Arial"/>
              </a:rPr>
              <a:t>PE’s smooth marks feel safe in calm markets — but in a shock they trigger the exact sequence that gets a CIO fired. Engaged ownership is the fiduciary safe harbour.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76" y="2292096"/>
            <a:ext cx="4316075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TRAP — HELD AT FAKE NAVs IN A CRASH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2076" y="2701747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3753" y="2828544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1 · The denominator effect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753" y="315041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Public equities fall 25%; PE is marked flat. The PE weight jumps from 15% to 22%+ — an instant breach of board concentration limits.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2076" y="3891686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3753" y="4018483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2 · The liquidity death spiral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3753" y="4340352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Distributions stop but capital calls keep coming. To meet them, the allocator is forced to sell liquid equities at the bottom.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12076" y="5081625"/>
            <a:ext cx="4316075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3753" y="5208422"/>
            <a:ext cx="4060037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314359"/>
                </a:solidFill>
                <a:latin typeface="Times New Roman"/>
              </a:rPr>
              <a:t>3 · The secondary-market humiliation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3753" y="5530291"/>
            <a:ext cx="4060037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To cure the breach, PE stakes are sold at 15–25% haircuts — publicly crystallising losses and proving the “low volatility” was a fiction.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84191" y="2292096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THE SAFE HARBOUR — ENGAGED OWNERSHIP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84191" y="2701747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215868" y="2828544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Honest pricing keeps weights balanced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5868" y="315041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Daily marks mean the sleeve falls with the market — so the denominator effect never fires and no threshold is breached.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084191" y="3891686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215868" y="4018483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Zero capital-call liability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5868" y="4340352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No blind pools, no surprise calls. The allocator is never forced to become a distressed seller of other assets.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84191" y="5081625"/>
            <a:ext cx="4279499" cy="1092403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215868" y="5208422"/>
            <a:ext cx="402346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1" i="0">
                <a:solidFill>
                  <a:srgbClr val="152130"/>
                </a:solidFill>
                <a:latin typeface="Times New Roman"/>
              </a:rPr>
              <a:t>Alpha from turnarounds, not leverage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15868" y="5530291"/>
            <a:ext cx="4023460" cy="64373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0"/>
              </a:spcAft>
            </a:pPr>
            <a:r>
              <a:rPr sz="840" b="0" i="0">
                <a:solidFill>
                  <a:srgbClr val="0E1620"/>
                </a:solidFill>
                <a:latin typeface="Arial"/>
              </a:rPr>
              <a:t>Returns come from board-led operational change in high-ROIIC mid-caps — not the leverage and multiple-expansion that break in a downturn.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38922" y="6456883"/>
            <a:ext cx="8873559" cy="448665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0599" y="6456883"/>
            <a:ext cx="8632151" cy="44866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1">
                <a:solidFill>
                  <a:srgbClr val="FFFFFF"/>
                </a:solidFill>
                <a:latin typeface="Arial"/>
              </a:rPr>
              <a:t>When the tide goes out, artificially-priced illiquid assets are indefensible to a board. Engaged ownership delivers PE-like alpha while protecting portfolio balance, liquidity — and the allocator’s seat.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22" y="6983577"/>
            <a:ext cx="9217382" cy="3901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600" b="0" i="0">
                <a:solidFill>
                  <a:srgbClr val="556A83"/>
                </a:solidFill>
                <a:latin typeface="Arial"/>
              </a:rPr>
              <a:t>Mechanism described follows from PE’s appraisal-based marking and capital-call structure (see references). Illustrative; for professional investors, not investment advice.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Ownership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04723"/>
            <a:ext cx="9753600" cy="1024128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38922" y="721766"/>
            <a:ext cx="8851613" cy="8290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2400" b="0" i="0" spc="-90">
                <a:solidFill>
                  <a:srgbClr val="314359"/>
                </a:solidFill>
                <a:latin typeface="Times New Roman"/>
              </a:rPr>
              <a:t>2.28 Responsible ownership, by construction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53" y="1901952"/>
            <a:ext cx="8705305" cy="45841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Governance is the lever.</a:t>
            </a:r>
            <a:r>
              <a:rPr sz="1280">
                <a:solidFill>
                  <a:srgbClr val="0E1620"/>
                </a:solidFill>
                <a:latin typeface="Arial"/>
              </a:rPr>
              <a:t>  Value is created through board representation and active promotion of strong corporate governance across all holdings.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Five improvement dimensions.</a:t>
            </a:r>
            <a:r>
              <a:rPr sz="1280">
                <a:solidFill>
                  <a:srgbClr val="0E1620"/>
                </a:solidFill>
                <a:latin typeface="Arial"/>
              </a:rPr>
              <a:t>  Operational, financial, structural, environmental and social improvements — each tied to enterprise value.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PRI signatory since 2019,</a:t>
            </a:r>
            <a:r>
              <a:rPr sz="1280">
                <a:solidFill>
                  <a:srgbClr val="0E1620"/>
                </a:solidFill>
                <a:latin typeface="Arial"/>
              </a:rPr>
              <a:t>  adhering to the Six Principles for Responsible Investment.</a:t>
            </a:r>
          </a:p>
          <a:p>
            <a:pPr marL="186949" indent="-186949">
              <a:lnSpc>
                <a:spcPct val="112000"/>
              </a:lnSpc>
              <a:spcAft>
                <a:spcPts val="1400"/>
              </a:spcAft>
            </a:pPr>
            <a:r>
              <a:rPr sz="1280" b="1">
                <a:solidFill>
                  <a:srgbClr val="314359"/>
                </a:solidFill>
                <a:latin typeface="Arial"/>
              </a:rPr>
              <a:t>›  </a:t>
            </a:r>
            <a:r>
              <a:rPr sz="1280" b="1">
                <a:solidFill>
                  <a:srgbClr val="314359"/>
                </a:solidFill>
                <a:latin typeface="Arial"/>
              </a:rPr>
              <a:t>Credible oversight.</a:t>
            </a:r>
            <a:r>
              <a:rPr sz="1280">
                <a:solidFill>
                  <a:srgbClr val="0E1620"/>
                </a:solidFill>
                <a:latin typeface="Arial"/>
              </a:rPr>
              <a:t>  SEB custodian · MUFG administrator · KPMG auditor · Swedish FI-registered AIFM.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1521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22" y="536448"/>
            <a:ext cx="1768098" cy="380399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2633472"/>
            <a:ext cx="365769" cy="29802"/>
          </a:xfrm>
          <a:prstGeom prst="rect">
            <a:avLst/>
          </a:prstGeom>
          <a:solidFill>
            <a:srgbClr val="556A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38922" y="2877312"/>
            <a:ext cx="8046921" cy="15605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2080" b="0" i="0" spc="-78">
                <a:solidFill>
                  <a:srgbClr val="FFFFFF"/>
                </a:solidFill>
                <a:latin typeface="Times New Roman"/>
              </a:rPr>
              <a:t>The asset class rewards patient, governance-minded capital.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440" b="0" i="1">
                <a:solidFill>
                  <a:srgbClr val="E2E5E9"/>
                </a:solidFill>
                <a:latin typeface="Times New Roman"/>
              </a:rPr>
              <a:t>Among engaged owners, Athanase brings the team, the discipline and the 20-year proof to deliver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8922" y="5266944"/>
            <a:ext cx="4389229" cy="136550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20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Stefan Charette</a:t>
            </a:r>
          </a:p>
          <a:p>
            <a:pPr algn="l">
              <a:lnSpc>
                <a:spcPct val="110000"/>
              </a:lnSpc>
              <a:spcAft>
                <a:spcPts val="800"/>
              </a:spcAft>
            </a:pPr>
            <a:r>
              <a:rPr sz="960" b="0" i="0">
                <a:solidFill>
                  <a:srgbClr val="E2E5E9"/>
                </a:solidFill>
                <a:latin typeface="Arial"/>
              </a:rPr>
              <a:t>Athanase Industrial Partner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60" b="0" i="0">
                <a:solidFill>
                  <a:srgbClr val="556A83"/>
                </a:solidFill>
                <a:latin typeface="Arial"/>
              </a:rPr>
              <a:t>charette@athanase.se   ·   +46 73 994 7079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844" y="5266944"/>
            <a:ext cx="2779845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960" b="1" i="0">
                <a:solidFill>
                  <a:srgbClr val="FFFFFF"/>
                </a:solidFill>
                <a:latin typeface="Arial"/>
              </a:rPr>
              <a:t>Offices</a:t>
            </a:r>
          </a:p>
          <a:p>
            <a:pPr algn="l">
              <a:lnSpc>
                <a:spcPct val="110000"/>
              </a:lnSpc>
              <a:spcAft>
                <a:spcPts val="40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Birger Jarlsgatan 6, 114 34 Stockholm, Sweden</a:t>
            </a:r>
          </a:p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Landmark Square, West Bay Road, Grand Cayman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1 of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Peer-reviewed literature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ENGAGED OWNERSHIP / ACTIVISM (PART I)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Bebchuk, L. A., Brav, A., &amp; Jiang, W. (2015). The long-term effects of hedge fund activism. </a:t>
            </a:r>
            <a:r>
              <a:rPr sz="720" i="1">
                <a:solidFill>
                  <a:srgbClr val="0E1620"/>
                </a:solidFill>
                <a:latin typeface="Arial"/>
              </a:rPr>
              <a:t>Columbia Law Review, 115</a:t>
            </a:r>
            <a:r>
              <a:rPr sz="720" i="0">
                <a:solidFill>
                  <a:srgbClr val="0E1620"/>
                </a:solidFill>
                <a:latin typeface="Arial"/>
              </a:rPr>
              <a:t>(5), 1085–1156.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Brav, A., Jiang, W., Partnoy, F., &amp; Thomas, R. (2008). Hedge fund activism, corporate governance, and firm performance. </a:t>
            </a:r>
            <a:r>
              <a:rPr sz="720" i="1">
                <a:solidFill>
                  <a:srgbClr val="0E1620"/>
                </a:solidFill>
                <a:latin typeface="Arial"/>
              </a:rPr>
              <a:t>The Journal of Finance, 63</a:t>
            </a:r>
            <a:r>
              <a:rPr sz="720" i="0">
                <a:solidFill>
                  <a:srgbClr val="0E1620"/>
                </a:solidFill>
                <a:latin typeface="Arial"/>
              </a:rPr>
              <a:t>(4), 1729–1775. https://doi.org/10.1111/j.1540-6261.2008.01373.x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Brav, A., Jiang, W., &amp; Kim, H. (2015). The real effects of hedge fund activism: Productivity, asset allocation, and labor outcomes. </a:t>
            </a:r>
            <a:r>
              <a:rPr sz="720" i="1">
                <a:solidFill>
                  <a:srgbClr val="0E1620"/>
                </a:solidFill>
                <a:latin typeface="Arial"/>
              </a:rPr>
              <a:t>The Review of Financial Studies, 28</a:t>
            </a:r>
            <a:r>
              <a:rPr sz="720" i="0">
                <a:solidFill>
                  <a:srgbClr val="0E1620"/>
                </a:solidFill>
                <a:latin typeface="Arial"/>
              </a:rPr>
              <a:t>(10), 2723–2769. https://doi.org/10.1093/rfs/hhv037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720" i="0">
                <a:solidFill>
                  <a:srgbClr val="0E1620"/>
                </a:solidFill>
                <a:latin typeface="Arial"/>
              </a:rPr>
              <a:t>Klein, A., &amp; Zur, E. (2009). Entrepreneurial shareholder activism: Hedge funds and other private investors. </a:t>
            </a:r>
            <a:r>
              <a:rPr sz="720" i="1">
                <a:solidFill>
                  <a:srgbClr val="0E1620"/>
                </a:solidFill>
                <a:latin typeface="Arial"/>
              </a:rPr>
              <a:t>The Journal of Finance, 64</a:t>
            </a:r>
            <a:r>
              <a:rPr sz="720" i="0">
                <a:solidFill>
                  <a:srgbClr val="0E1620"/>
                </a:solidFill>
                <a:latin typeface="Arial"/>
              </a:rPr>
              <a:t>(1), 187–229. https://doi.org/10.1111/j.1540-6261.2008.01432.x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PRIVATE EQUITY RISK &amp; RETURN (PART II)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Ang, A., Chen, B., Goetzmann, W. N., &amp; Phalippou, L. (2018). Estimating private equity returns from limited partner cash flows.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73</a:t>
            </a:r>
            <a:r>
              <a:rPr sz="680" i="0">
                <a:solidFill>
                  <a:srgbClr val="0E1620"/>
                </a:solidFill>
                <a:latin typeface="Arial"/>
              </a:rPr>
              <a:t>(4), 1751–1783. https://doi.org/10.1111/jofi.12688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Boyer, B. H., Nadauld, T. D., Vorkink, K. P., &amp; Weisbach, M. S. (2018). Private equity indices based on secondary market transactions.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https://doi.org/10.2139/ssrn.3272357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Buchner, A., Kaserer, C., &amp; Wagner, N. F. (2010). Private equity funds: Valuation, systematic risk and illiquidity.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https://doi.org/10.2139/ssrn.1102471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Couts, S., Gonçalves, A. S., &amp; Rossi, A. (2020). Unsmoothing returns of illiquid funds.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https://doi.org/10.2139/ssrn.3544854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Getmansky, M., Lo, A. W., &amp; Makarov, I. (2004). An econometric model of serial correlation and illiquidity in hedge fund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Journal of Financial Economics, 74</a:t>
            </a:r>
            <a:r>
              <a:rPr sz="680" i="0">
                <a:solidFill>
                  <a:srgbClr val="0E1620"/>
                </a:solidFill>
                <a:latin typeface="Arial"/>
              </a:rPr>
              <a:t>(3), 529–609. https://doi.org/10.1016/j.jfineco.2004.04.001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Harris, R. S., Jenkinson, T., &amp; Kaplan, S. N. (2014). Private equity performance: What do we know?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Finance, 69</a:t>
            </a:r>
            <a:r>
              <a:rPr sz="680" i="0">
                <a:solidFill>
                  <a:srgbClr val="0E1620"/>
                </a:solidFill>
                <a:latin typeface="Arial"/>
              </a:rPr>
              <a:t>(5), 1851–1882. https://doi.org/10.1111/jofi.12154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Hayley, S., &amp; Sefiloglu, O. (2022). Biases in private equity returns.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https://doi.org/10.2139/ssrn.4245715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Jackson, B., Ling, D. C., &amp; Naranjo, A. (2022). Catering and return manipulation in private equity. </a:t>
            </a:r>
            <a:r>
              <a:rPr sz="680" i="1">
                <a:solidFill>
                  <a:srgbClr val="0E1620"/>
                </a:solidFill>
                <a:latin typeface="Arial"/>
              </a:rPr>
              <a:t>SSRN Electronic Journal</a:t>
            </a:r>
            <a:r>
              <a:rPr sz="680" i="0">
                <a:solidFill>
                  <a:srgbClr val="0E1620"/>
                </a:solidFill>
                <a:latin typeface="Arial"/>
              </a:rPr>
              <a:t>. https://doi.org/10.2139/ssrn.4244467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Meyer, T. (2020). Hidden in plain sight — the impact of undrawn commitments.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Alternative Investments, 23</a:t>
            </a:r>
            <a:r>
              <a:rPr sz="680" i="0">
                <a:solidFill>
                  <a:srgbClr val="0E1620"/>
                </a:solidFill>
                <a:latin typeface="Arial"/>
              </a:rPr>
              <a:t>(2), 94–110. https://doi.org/10.3905/jai.2020.1.101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Phalippou, L. (2020). An inconvenient fact: Private equity returns and the billionaire factory. </a:t>
            </a:r>
            <a:r>
              <a:rPr sz="680" i="1">
                <a:solidFill>
                  <a:srgbClr val="0E1620"/>
                </a:solidFill>
                <a:latin typeface="Arial"/>
              </a:rPr>
              <a:t>The Journal of Investing, 30</a:t>
            </a:r>
            <a:r>
              <a:rPr sz="680" i="0">
                <a:solidFill>
                  <a:srgbClr val="0E1620"/>
                </a:solidFill>
                <a:latin typeface="Arial"/>
              </a:rPr>
              <a:t>(1), 11–39. https://doi.org/10.3905/joi.2020.1.153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753600" cy="73152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mark_dar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2346" y="234086"/>
            <a:ext cx="224012" cy="190199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16907" y="263347"/>
            <a:ext cx="512076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80" b="0" i="0">
                <a:solidFill>
                  <a:srgbClr val="556A83"/>
                </a:solidFill>
                <a:latin typeface="Arial"/>
              </a:rPr>
              <a:t>References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76460" y="263347"/>
            <a:ext cx="24506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880" b="1" i="0">
                <a:solidFill>
                  <a:srgbClr val="556A83"/>
                </a:solidFill>
                <a:latin typeface="Arial"/>
              </a:rPr>
              <a:t>2 of 2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04723"/>
            <a:ext cx="9753600" cy="897331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38922" y="702259"/>
            <a:ext cx="8851613" cy="6827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2080" b="0" i="0" spc="-78">
                <a:solidFill>
                  <a:srgbClr val="314359"/>
                </a:solidFill>
                <a:latin typeface="Times New Roman"/>
              </a:rPr>
              <a:t>References &amp; Methodology — Datasets, practitioner research &amp; methodology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844" y="6876288"/>
            <a:ext cx="2926153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10000"/>
              </a:lnSpc>
              <a:spcAft>
                <a:spcPts val="0"/>
              </a:spcAft>
            </a:pPr>
            <a:r>
              <a:rPr sz="680" b="0" i="0">
                <a:solidFill>
                  <a:srgbClr val="556A83"/>
                </a:solidFill>
                <a:latin typeface="Arial"/>
              </a:rPr>
              <a:t>Strictly confidential          36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8922" y="1706880"/>
            <a:ext cx="438922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INDUSTRY DATASETS &amp; PRACTITIONER RESEARCH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22" y="2067763"/>
            <a:ext cx="4389229" cy="4876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Asness, C. S. (2023). The volatility-laundering hidden in private-asset marks. </a:t>
            </a:r>
            <a:r>
              <a:rPr sz="680" i="1">
                <a:solidFill>
                  <a:srgbClr val="0E1620"/>
                </a:solidFill>
                <a:latin typeface="Arial"/>
              </a:rPr>
              <a:t>AQR Capital Management — Cliff’s Perspectives.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British Private Equity &amp; Venture Capital Association &amp; Capital Dynamics.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BVCA Private Equity Performance Measurement Survey (PME+).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BVCA.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Cambridge Associates.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US Private Equity Index and Selected Benchmark Statistics (Q2 2024).</a:t>
            </a:r>
            <a:r>
              <a:rPr sz="680" i="0">
                <a:solidFill>
                  <a:srgbClr val="0E1620"/>
                </a:solidFill>
                <a:latin typeface="Arial"/>
              </a:rPr>
              <a:t> Boston: Cambridge Associates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Cliffwater LLC.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Long-term private equity performance in US state pension plans (2000–2022).</a:t>
            </a:r>
            <a:r>
              <a:rPr sz="680" i="0">
                <a:solidFill>
                  <a:srgbClr val="0E1620"/>
                </a:solidFill>
                <a:latin typeface="Arial"/>
              </a:rPr>
              <a:t> Marina del Rey: Cliffwater LLC.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Financial Reporting Council. (2020). </a:t>
            </a:r>
            <a:r>
              <a:rPr sz="680" i="1">
                <a:solidFill>
                  <a:srgbClr val="0E1620"/>
                </a:solidFill>
                <a:latin typeface="Arial"/>
              </a:rPr>
              <a:t>The UK Stewardship Code 2020.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FRC.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Morningstar. (2023). </a:t>
            </a:r>
            <a:r>
              <a:rPr sz="680" i="1">
                <a:solidFill>
                  <a:srgbClr val="0E1620"/>
                </a:solidFill>
                <a:latin typeface="Arial"/>
              </a:rPr>
              <a:t>Volatility laundering: How private equity funds understate the risk of their investments.</a:t>
            </a:r>
            <a:r>
              <a:rPr sz="680" i="0">
                <a:solidFill>
                  <a:srgbClr val="0E1620"/>
                </a:solidFill>
                <a:latin typeface="Arial"/>
              </a:rPr>
              <a:t> Chicago: Morningstar, Inc.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PIMCO. (2022). </a:t>
            </a:r>
            <a:r>
              <a:rPr sz="680" i="1">
                <a:solidFill>
                  <a:srgbClr val="0E1620"/>
                </a:solidFill>
                <a:latin typeface="Arial"/>
              </a:rPr>
              <a:t>The discreet charm of private assets: De-smoothing and the true volatility of private equity.</a:t>
            </a:r>
            <a:r>
              <a:rPr sz="680" i="0">
                <a:solidFill>
                  <a:srgbClr val="0E1620"/>
                </a:solidFill>
                <a:latin typeface="Arial"/>
              </a:rPr>
              <a:t> Newport Beach: PIMCO.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Principles for Responsible Investment. (2021). </a:t>
            </a:r>
            <a:r>
              <a:rPr sz="680" i="1">
                <a:solidFill>
                  <a:srgbClr val="0E1620"/>
                </a:solidFill>
                <a:latin typeface="Arial"/>
              </a:rPr>
              <a:t>What are the Principles for Responsible Investment?</a:t>
            </a:r>
            <a:r>
              <a:rPr sz="680" i="0">
                <a:solidFill>
                  <a:srgbClr val="0E1620"/>
                </a:solidFill>
                <a:latin typeface="Arial"/>
              </a:rPr>
              <a:t> London: UN PRI.</a:t>
            </a:r>
          </a:p>
          <a:p>
            <a:pPr marL="190200" indent="-190200">
              <a:lnSpc>
                <a:spcPct val="104000"/>
              </a:lnSpc>
              <a:spcAft>
                <a:spcPts val="550"/>
              </a:spcAft>
            </a:pPr>
            <a:r>
              <a:rPr sz="680" i="0">
                <a:solidFill>
                  <a:srgbClr val="0E1620"/>
                </a:solidFill>
                <a:latin typeface="Arial"/>
              </a:rPr>
              <a:t>Two Sigma Investments. (2024). </a:t>
            </a:r>
            <a:r>
              <a:rPr sz="680" i="1">
                <a:solidFill>
                  <a:srgbClr val="0E1620"/>
                </a:solidFill>
                <a:latin typeface="Arial"/>
              </a:rPr>
              <a:t>The alternative truth of private equity (Venn by Two Sigma).</a:t>
            </a:r>
            <a:r>
              <a:rPr sz="680" i="0">
                <a:solidFill>
                  <a:srgbClr val="0E1620"/>
                </a:solidFill>
                <a:latin typeface="Arial"/>
              </a:rPr>
              <a:t> New York: Two Sigma.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84191" y="1706880"/>
            <a:ext cx="4279499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19" b="1" i="0">
                <a:solidFill>
                  <a:srgbClr val="314359"/>
                </a:solidFill>
                <a:latin typeface="Arial"/>
              </a:rPr>
              <a:t>DATA &amp; METHODOLOGY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191" y="2067763"/>
            <a:ext cx="4279499" cy="4486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760" b="0" i="0">
                <a:solidFill>
                  <a:srgbClr val="0E1620"/>
                </a:solidFill>
                <a:latin typeface="Arial"/>
              </a:rPr>
              <a:t>All Athanase figures are computed from the fund’s audited net monthly return series (235 months, 2006–2025):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Annualised return — geometric compounding of monthly net returns (16.0%).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Total volatility — st. dev. of monthly returns × √12 (27.0%).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Downside volatility — deviation of negative months below a 0% MAR × √12 (10.9%).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Correlation / beta — versus MSCI World IMI over the common period (0.44 / 0.73).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Large-loss frequency — share of rolling 36-month windows below −30% (≈2%).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Up/down capture — compounded Athanase return in the market’s up/down months ÷ the market’s.</a:t>
            </a:r>
          </a:p>
          <a:p>
            <a:pPr marL="117046" indent="-117046">
              <a:lnSpc>
                <a:spcPct val="112000"/>
              </a:lnSpc>
              <a:spcAft>
                <a:spcPts val="400"/>
              </a:spcAft>
            </a:pPr>
            <a:r>
              <a:rPr sz="720">
                <a:solidFill>
                  <a:srgbClr val="0E1620"/>
                </a:solidFill>
                <a:latin typeface="Arial"/>
              </a:rPr>
              <a:t>•  Efficient frontier — monthly-rebalanced MSCI/Athanase blends; minimum-risk point is in-sample.</a:t>
            </a:r>
          </a:p>
          <a:p>
            <a:pPr algn="l">
              <a:lnSpc>
                <a:spcPct val="115000"/>
              </a:lnSpc>
              <a:spcAft>
                <a:spcPts val="0"/>
              </a:spcAft>
            </a:pPr>
            <a:r>
              <a:rPr sz="680" b="0" i="1">
                <a:solidFill>
                  <a:srgbClr val="556A83"/>
                </a:solidFill>
                <a:latin typeface="Arial"/>
              </a:rPr>
              <a:t>Private-equity figures are taken from the cited research. De-smoothed / true-economic / committed-capital values reflect that literature rather than reported (appraisal-based) data; bridge and illustrative magnitudes reconcile cited endpoints and are labelled as such. For professional investors; not investment advice. Past performance is not indicative of future results.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152130"/>
      </a:dk1>
      <a:lt1>
        <a:srgbClr val="FFFFFF"/>
      </a:lt1>
      <a:dk2>
        <a:srgbClr val="0E1620"/>
      </a:dk2>
      <a:lt2>
        <a:srgbClr val="F6F7F9"/>
      </a:lt2>
      <a:accent1>
        <a:srgbClr val="152130"/>
      </a:accent1>
      <a:accent2>
        <a:srgbClr val="314359"/>
      </a:accent2>
      <a:accent3>
        <a:srgbClr val="556A83"/>
      </a:accent3>
      <a:accent4>
        <a:srgbClr val="0E1620"/>
      </a:accent4>
      <a:accent5>
        <a:srgbClr val="E2E5E9"/>
      </a:accent5>
      <a:accent6>
        <a:srgbClr val="F6F7F9"/>
      </a:accent6>
      <a:hlink>
        <a:srgbClr val="314359"/>
      </a:hlink>
      <a:folHlink>
        <a:srgbClr val="556A83"/>
      </a:folHlink>
    </a:clrScheme>
    <a:fontScheme name="Office">
      <a:majorFont>
        <a:latin typeface="Times New Roman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