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97536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80">
                <a:solidFill>
                  <a:srgbClr val="556A83"/>
                </a:solidFill>
              </a:rPr>
              <a:t>Figure 2.  “Probability decay”: strategy efficiency over a CEO cycle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 efficiency</c:v>
                </c:pt>
              </c:strCache>
            </c:strRef>
          </c:tx>
          <c:spPr>
            <a:ln w="31750">
              <a:solidFill>
                <a:srgbClr val="152130"/>
              </a:solidFill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720">
                    <a:solidFill>
                      <a:srgbClr val="314359"/>
                    </a:solidFill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  <c:pt idx="5">
                  <c:v>Yr 6</c:v>
                </c:pt>
                <c:pt idx="6">
                  <c:v>Yr 7</c:v>
                </c:pt>
                <c:pt idx="7">
                  <c:v>Yr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76</c:v>
                </c:pt>
                <c:pt idx="2">
                  <c:v>71</c:v>
                </c:pt>
                <c:pt idx="3">
                  <c:v>65</c:v>
                </c:pt>
                <c:pt idx="4">
                  <c:v>60</c:v>
                </c:pt>
                <c:pt idx="5">
                  <c:v>55</c:v>
                </c:pt>
                <c:pt idx="6">
                  <c:v>52</c:v>
                </c:pt>
                <c:pt idx="7">
                  <c:v>50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80">
                <a:solidFill>
                  <a:srgbClr val="556A83"/>
                </a:solidFill>
              </a:rPr>
              <a:t>Figure 4.  Same destination, different reported path (indexed to 100)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mark-to-market</c:v>
                </c:pt>
              </c:strCache>
            </c:strRef>
          </c:tx>
          <c:spPr>
            <a:ln w="31750">
              <a:solidFill>
                <a:srgbClr val="152130"/>
              </a:solidFill>
            </a:ln>
          </c:spPr>
          <c:marker>
            <c:symbol val="none"/>
          </c:marker>
          <c:dLbls>
            <c:numFmt formatCode="0" sourceLinked="0"/>
            <c:txPr>
              <a:bodyPr/>
              <a:lstStyle/>
              <a:p>
                <a:pPr>
                  <a:defRPr sz="640">
                    <a:solidFill>
                      <a:srgbClr val="314359"/>
                    </a:solidFill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/>
                </c:pt>
                <c:pt idx="2">
                  <c:v/>
                </c:pt>
                <c:pt idx="3">
                  <c:v>Yr 1</c:v>
                </c:pt>
                <c:pt idx="4">
                  <c:v/>
                </c:pt>
                <c:pt idx="5">
                  <c:v/>
                </c:pt>
                <c:pt idx="6">
                  <c:v>Yr 2</c:v>
                </c:pt>
                <c:pt idx="7">
                  <c:v/>
                </c:pt>
                <c:pt idx="8">
                  <c:v/>
                </c:pt>
                <c:pt idx="9">
                  <c:v>Yr 3</c:v>
                </c:pt>
                <c:pt idx="10">
                  <c:v/>
                </c:pt>
                <c:pt idx="11">
                  <c:v/>
                </c:pt>
                <c:pt idx="12">
                  <c:v>Exit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</c:v>
                </c:pt>
                <c:pt idx="1">
                  <c:v>92</c:v>
                </c:pt>
                <c:pt idx="2">
                  <c:v>80</c:v>
                </c:pt>
                <c:pt idx="3">
                  <c:v>72</c:v>
                </c:pt>
                <c:pt idx="4">
                  <c:v>85</c:v>
                </c:pt>
                <c:pt idx="5">
                  <c:v>95</c:v>
                </c:pt>
                <c:pt idx="6">
                  <c:v>88</c:v>
                </c:pt>
                <c:pt idx="7">
                  <c:v>112</c:v>
                </c:pt>
                <c:pt idx="8">
                  <c:v>142</c:v>
                </c:pt>
                <c:pt idx="9">
                  <c:v>175</c:v>
                </c:pt>
                <c:pt idx="10">
                  <c:v>212</c:v>
                </c:pt>
                <c:pt idx="11">
                  <c:v>255</c:v>
                </c:pt>
                <c:pt idx="12">
                  <c:v>300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 appraisal marks</c:v>
                </c:pt>
              </c:strCache>
            </c:strRef>
          </c:tx>
          <c:spPr>
            <a:ln w="25400">
              <a:solidFill>
                <a:srgbClr val="556A83"/>
              </a:solidFill>
              <a:prstDash val="sysDash"/>
            </a:ln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/>
                </c:pt>
                <c:pt idx="2">
                  <c:v/>
                </c:pt>
                <c:pt idx="3">
                  <c:v>Yr 1</c:v>
                </c:pt>
                <c:pt idx="4">
                  <c:v/>
                </c:pt>
                <c:pt idx="5">
                  <c:v/>
                </c:pt>
                <c:pt idx="6">
                  <c:v>Yr 2</c:v>
                </c:pt>
                <c:pt idx="7">
                  <c:v/>
                </c:pt>
                <c:pt idx="8">
                  <c:v/>
                </c:pt>
                <c:pt idx="9">
                  <c:v>Yr 3</c:v>
                </c:pt>
                <c:pt idx="10">
                  <c:v/>
                </c:pt>
                <c:pt idx="11">
                  <c:v/>
                </c:pt>
                <c:pt idx="12">
                  <c:v>Exit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100</c:v>
                </c:pt>
                <c:pt idx="1">
                  <c:v>104</c:v>
                </c:pt>
                <c:pt idx="2">
                  <c:v>110</c:v>
                </c:pt>
                <c:pt idx="3">
                  <c:v>118</c:v>
                </c:pt>
                <c:pt idx="4">
                  <c:v>128</c:v>
                </c:pt>
                <c:pt idx="5">
                  <c:v>140</c:v>
                </c:pt>
                <c:pt idx="6">
                  <c:v>155</c:v>
                </c:pt>
                <c:pt idx="7">
                  <c:v>172</c:v>
                </c:pt>
                <c:pt idx="8">
                  <c:v>192</c:v>
                </c:pt>
                <c:pt idx="9">
                  <c:v>215</c:v>
                </c:pt>
                <c:pt idx="10">
                  <c:v>245</c:v>
                </c:pt>
                <c:pt idx="11">
                  <c:v>272</c:v>
                </c:pt>
                <c:pt idx="12">
                  <c:v>300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80"/>
          </a:pPr>
        </a:p>
      </c:txPr>
    </c:legend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60">
                <a:solidFill>
                  <a:srgbClr val="556A83"/>
                </a:solidFill>
              </a:rPr>
              <a:t>Figure 5.  Average monthly return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Athanase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Sheet1!$A$2:$A$4</c:f>
              <c:strCache>
                <c:ptCount val="3"/>
                <c:pt idx="0">
                  <c:v>All markets</c:v>
                </c:pt>
                <c:pt idx="1">
                  <c:v>Up markets</c:v>
                </c:pt>
                <c:pt idx="2">
                  <c:v>Down markets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1.2</c:v>
                </c:pt>
                <c:pt idx="2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IMI</c:v>
                </c:pt>
              </c:strCache>
            </c:strRef>
          </c:tx>
          <c:spPr>
            <a:solidFill>
              <a:srgbClr val="556A83"/>
            </a:solidFill>
          </c:spPr>
          <c:cat>
            <c:strRef>
              <c:f>Sheet1!$A$2:$A$4</c:f>
              <c:strCache>
                <c:ptCount val="3"/>
                <c:pt idx="0">
                  <c:v>All markets</c:v>
                </c:pt>
                <c:pt idx="1">
                  <c:v>Up markets</c:v>
                </c:pt>
                <c:pt idx="2">
                  <c:v>Down markets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</c:v>
                </c:pt>
                <c:pt idx="1">
                  <c:v>1.3</c:v>
                </c:pt>
                <c:pt idx="2">
                  <c:v>-1.7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20">
                  <a:solidFill>
                    <a:srgbClr val="0E16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80"/>
          </a:pPr>
        </a:p>
      </c:txPr>
    </c:legend>
    <c:dispBlanksAs val="gap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80">
                <a:solidFill>
                  <a:srgbClr val="556A83"/>
                </a:solidFill>
              </a:rPr>
              <a:t>Figure 6.  Growth of a 100 sleeve through a market cycle (indexed)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Athanase (18%)</c:v>
                </c:pt>
              </c:strCache>
            </c:strRef>
          </c:tx>
          <c:spPr>
            <a:ln w="38100">
              <a:solidFill>
                <a:srgbClr val="15213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118</c:v>
                </c:pt>
                <c:pt idx="2">
                  <c:v>140</c:v>
                </c:pt>
                <c:pt idx="3">
                  <c:v>166</c:v>
                </c:pt>
                <c:pt idx="4">
                  <c:v>197</c:v>
                </c:pt>
                <c:pt idx="5">
                  <c:v>233</c:v>
                </c:pt>
                <c:pt idx="6">
                  <c:v>236</c:v>
                </c:pt>
                <c:pt idx="7">
                  <c:v>296</c:v>
                </c:pt>
                <c:pt idx="8">
                  <c:v>366</c:v>
                </c:pt>
                <c:pt idx="9">
                  <c:v>442</c:v>
                </c:pt>
                <c:pt idx="10">
                  <c:v>523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activist (10.5%)</c:v>
                </c:pt>
              </c:strCache>
            </c:strRef>
          </c:tx>
          <c:spPr>
            <a:ln w="25400">
              <a:solidFill>
                <a:srgbClr val="556A83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111</c:v>
                </c:pt>
                <c:pt idx="2">
                  <c:v>123</c:v>
                </c:pt>
                <c:pt idx="3">
                  <c:v>137</c:v>
                </c:pt>
                <c:pt idx="4">
                  <c:v>152</c:v>
                </c:pt>
                <c:pt idx="5">
                  <c:v>168</c:v>
                </c:pt>
                <c:pt idx="6">
                  <c:v>150</c:v>
                </c:pt>
                <c:pt idx="7">
                  <c:v>182</c:v>
                </c:pt>
                <c:pt idx="8">
                  <c:v>214</c:v>
                </c:pt>
                <c:pt idx="9">
                  <c:v>244</c:v>
                </c:pt>
                <c:pt idx="10">
                  <c:v>271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Long-only global (7.6%)</c:v>
                </c:pt>
              </c:strCache>
            </c:strRef>
          </c:tx>
          <c:spPr>
            <a:ln w="25400">
              <a:solidFill>
                <a:srgbClr val="E2E5E9"/>
              </a:solidFill>
              <a:prstDash val="sysDash"/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108</c:v>
                </c:pt>
                <c:pt idx="2">
                  <c:v>117</c:v>
                </c:pt>
                <c:pt idx="3">
                  <c:v>126</c:v>
                </c:pt>
                <c:pt idx="4">
                  <c:v>136</c:v>
                </c:pt>
                <c:pt idx="5">
                  <c:v>147</c:v>
                </c:pt>
                <c:pt idx="6">
                  <c:v>119</c:v>
                </c:pt>
                <c:pt idx="7">
                  <c:v>142</c:v>
                </c:pt>
                <c:pt idx="8">
                  <c:v>168</c:v>
                </c:pt>
                <c:pt idx="9">
                  <c:v>190</c:v>
                </c:pt>
                <c:pt idx="10">
                  <c:v>208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0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22" y="536448"/>
            <a:ext cx="1768098" cy="3803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389120"/>
            <a:ext cx="365769" cy="2980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22" y="4632960"/>
            <a:ext cx="8632151" cy="195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360" b="0" i="0" spc="-126">
                <a:solidFill>
                  <a:srgbClr val="FFFFFF"/>
                </a:solidFill>
                <a:latin typeface="Times New Roman"/>
              </a:rPr>
              <a:t>Engaged Ownership as an Asset Class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20" b="0" i="1" spc="-72">
                <a:solidFill>
                  <a:srgbClr val="E2E5E9"/>
                </a:solidFill>
                <a:latin typeface="Times New Roman"/>
              </a:rPr>
              <a:t>Why allocators should consider it — and why Athanase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553" y="6437376"/>
            <a:ext cx="5852306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556A83"/>
                </a:solidFill>
                <a:latin typeface="Arial"/>
              </a:rPr>
              <a:t>An allocator briefing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76" y="1901952"/>
            <a:ext cx="4279499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Part I  ·  Why allocate to engaged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76" y="2389632"/>
            <a:ext cx="4279499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1.1   </a:t>
            </a:r>
            <a:r>
              <a:rPr sz="919">
                <a:solidFill>
                  <a:srgbClr val="314359"/>
                </a:solidFill>
                <a:latin typeface="Arial"/>
              </a:rPr>
              <a:t>A catalyst-driven source of return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1.2   </a:t>
            </a:r>
            <a:r>
              <a:rPr sz="919">
                <a:solidFill>
                  <a:srgbClr val="314359"/>
                </a:solidFill>
                <a:latin typeface="Arial"/>
              </a:rPr>
              <a:t>Aligned with horizon and fiduciary duty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1.3   </a:t>
            </a:r>
            <a:r>
              <a:rPr sz="919">
                <a:solidFill>
                  <a:srgbClr val="314359"/>
                </a:solidFill>
                <a:latin typeface="Arial"/>
              </a:rPr>
              <a:t>Diversification and the total-portfolio view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1.4   </a:t>
            </a:r>
            <a:r>
              <a:rPr sz="919">
                <a:solidFill>
                  <a:srgbClr val="314359"/>
                </a:solidFill>
                <a:latin typeface="Arial"/>
              </a:rPr>
              <a:t>Governance and the ESG synergy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1.5   </a:t>
            </a:r>
            <a:r>
              <a:rPr sz="919">
                <a:solidFill>
                  <a:srgbClr val="314359"/>
                </a:solidFill>
                <a:latin typeface="Arial"/>
              </a:rPr>
              <a:t>Why mid-market is the sweet spot</a:t>
            </a:r>
            <a:r>
              <a:rPr sz="760" i="1">
                <a:solidFill>
                  <a:srgbClr val="556A83"/>
                </a:solidFill>
                <a:latin typeface="Arial"/>
              </a:rPr>
              <a:t>   (Table 1)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1.6   </a:t>
            </a:r>
            <a:r>
              <a:rPr sz="919">
                <a:solidFill>
                  <a:srgbClr val="314359"/>
                </a:solidFill>
                <a:latin typeface="Arial"/>
              </a:rPr>
              <a:t>Why mid-cap management listens</a:t>
            </a:r>
          </a:p>
          <a:p>
            <a:pPr>
              <a:lnSpc>
                <a:spcPct val="103000"/>
              </a:lnSpc>
              <a:spcAft>
                <a:spcPts val="70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1.7   </a:t>
            </a:r>
            <a:r>
              <a:rPr sz="919">
                <a:solidFill>
                  <a:srgbClr val="314359"/>
                </a:solidFill>
                <a:latin typeface="Arial"/>
              </a:rPr>
              <a:t>What separates a great engaged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345" y="1901952"/>
            <a:ext cx="4279499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Part II  ·  Why choose Athanase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345" y="2389632"/>
            <a:ext cx="4279499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2.1   </a:t>
            </a:r>
            <a:r>
              <a:rPr sz="840">
                <a:solidFill>
                  <a:srgbClr val="314359"/>
                </a:solidFill>
                <a:latin typeface="Arial"/>
              </a:rPr>
              <a:t>Athanase at a glance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2.2   </a:t>
            </a:r>
            <a:r>
              <a:rPr sz="840">
                <a:solidFill>
                  <a:srgbClr val="314359"/>
                </a:solidFill>
                <a:latin typeface="Arial"/>
              </a:rPr>
              <a:t>An integrated team, 20 years together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2.3   </a:t>
            </a:r>
            <a:r>
              <a:rPr sz="840">
                <a:solidFill>
                  <a:srgbClr val="314359"/>
                </a:solidFill>
                <a:latin typeface="Arial"/>
              </a:rPr>
              <a:t>The people behind the track record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2.4   </a:t>
            </a:r>
            <a:r>
              <a:rPr sz="840">
                <a:solidFill>
                  <a:srgbClr val="314359"/>
                </a:solidFill>
                <a:latin typeface="Arial"/>
              </a:rPr>
              <a:t>A disciplined, repeatable selection process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1)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2.5   </a:t>
            </a:r>
            <a:r>
              <a:rPr sz="840">
                <a:solidFill>
                  <a:srgbClr val="314359"/>
                </a:solidFill>
                <a:latin typeface="Arial"/>
              </a:rPr>
              <a:t>A risk system that engineers out permanent loss</a:t>
            </a:r>
            <a:r>
              <a:rPr sz="680" i="1">
                <a:solidFill>
                  <a:srgbClr val="556A83"/>
                </a:solidFill>
                <a:latin typeface="Arial"/>
              </a:rPr>
              <a:t>   (Table 2)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2.6   </a:t>
            </a:r>
            <a:r>
              <a:rPr sz="840">
                <a:solidFill>
                  <a:srgbClr val="314359"/>
                </a:solidFill>
                <a:latin typeface="Arial"/>
              </a:rPr>
              <a:t>The ownership playbook, honed over 40 investments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2.7   </a:t>
            </a:r>
            <a:r>
              <a:rPr sz="840">
                <a:solidFill>
                  <a:srgbClr val="314359"/>
                </a:solidFill>
                <a:latin typeface="Arial"/>
              </a:rPr>
              <a:t>The inefficiency Athanase harvests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2)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2.8   </a:t>
            </a:r>
            <a:r>
              <a:rPr sz="840">
                <a:solidFill>
                  <a:srgbClr val="314359"/>
                </a:solidFill>
                <a:latin typeface="Arial"/>
              </a:rPr>
              <a:t>We don’t buy broken companies — we buy hidden cores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3)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2.9   </a:t>
            </a:r>
            <a:r>
              <a:rPr sz="840">
                <a:solidFill>
                  <a:srgbClr val="314359"/>
                </a:solidFill>
                <a:latin typeface="Arial"/>
              </a:rPr>
              <a:t>Quality-core constructivism — how we differ</a:t>
            </a:r>
            <a:r>
              <a:rPr sz="680" i="1">
                <a:solidFill>
                  <a:srgbClr val="556A83"/>
                </a:solidFill>
                <a:latin typeface="Arial"/>
              </a:rPr>
              <a:t>   (Table 3)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2.10   </a:t>
            </a:r>
            <a:r>
              <a:rPr sz="840">
                <a:solidFill>
                  <a:srgbClr val="314359"/>
                </a:solidFill>
                <a:latin typeface="Arial"/>
              </a:rPr>
              <a:t>We don’t need to be right more than ~50%</a:t>
            </a:r>
            <a:r>
              <a:rPr sz="680" i="1">
                <a:solidFill>
                  <a:srgbClr val="556A83"/>
                </a:solidFill>
                <a:latin typeface="Arial"/>
              </a:rPr>
              <a:t>   (Table 4)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2.11   </a:t>
            </a:r>
            <a:r>
              <a:rPr sz="840">
                <a:solidFill>
                  <a:srgbClr val="314359"/>
                </a:solidFill>
                <a:latin typeface="Arial"/>
              </a:rPr>
              <a:t>The same playbook as mid-market PE — without its costs</a:t>
            </a:r>
            <a:r>
              <a:rPr sz="680" i="1">
                <a:solidFill>
                  <a:srgbClr val="556A83"/>
                </a:solidFill>
                <a:latin typeface="Arial"/>
              </a:rPr>
              <a:t>   (Table 5)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2.12   </a:t>
            </a:r>
            <a:r>
              <a:rPr sz="840">
                <a:solidFill>
                  <a:srgbClr val="314359"/>
                </a:solidFill>
                <a:latin typeface="Arial"/>
              </a:rPr>
              <a:t>A risk system built to avoid permanent loss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2.13   </a:t>
            </a:r>
            <a:r>
              <a:rPr sz="840">
                <a:solidFill>
                  <a:srgbClr val="314359"/>
                </a:solidFill>
                <a:latin typeface="Arial"/>
              </a:rPr>
              <a:t>The visible risks are the engine — not the cost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2.14   </a:t>
            </a:r>
            <a:r>
              <a:rPr sz="840">
                <a:solidFill>
                  <a:srgbClr val="314359"/>
                </a:solidFill>
                <a:latin typeface="Arial"/>
              </a:rPr>
              <a:t>A non-linear path — honestly priced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4)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2.15   </a:t>
            </a:r>
            <a:r>
              <a:rPr sz="840">
                <a:solidFill>
                  <a:srgbClr val="314359"/>
                </a:solidFill>
                <a:latin typeface="Arial"/>
              </a:rPr>
              <a:t>Risk reframing for the investment committee</a:t>
            </a:r>
            <a:r>
              <a:rPr sz="680" i="1">
                <a:solidFill>
                  <a:srgbClr val="556A83"/>
                </a:solidFill>
                <a:latin typeface="Arial"/>
              </a:rPr>
              <a:t>   (Table 6)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2.16   </a:t>
            </a:r>
            <a:r>
              <a:rPr sz="840">
                <a:solidFill>
                  <a:srgbClr val="314359"/>
                </a:solidFill>
                <a:latin typeface="Arial"/>
              </a:rPr>
              <a:t>Proof: outperformance with downside protection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5)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2.17   </a:t>
            </a:r>
            <a:r>
              <a:rPr sz="840">
                <a:solidFill>
                  <a:srgbClr val="314359"/>
                </a:solidFill>
                <a:latin typeface="Arial"/>
              </a:rPr>
              <a:t>AIP Fund II — transactions (2015–present)</a:t>
            </a:r>
            <a:r>
              <a:rPr sz="680" i="1">
                <a:solidFill>
                  <a:srgbClr val="556A83"/>
                </a:solidFill>
                <a:latin typeface="Arial"/>
              </a:rPr>
              <a:t>   (Table 7)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2.18   </a:t>
            </a:r>
            <a:r>
              <a:rPr sz="840">
                <a:solidFill>
                  <a:srgbClr val="314359"/>
                </a:solidFill>
                <a:latin typeface="Arial"/>
              </a:rPr>
              <a:t>Prior period — transactions (2006–2014)</a:t>
            </a:r>
            <a:r>
              <a:rPr sz="680" i="1">
                <a:solidFill>
                  <a:srgbClr val="556A83"/>
                </a:solidFill>
                <a:latin typeface="Arial"/>
              </a:rPr>
              <a:t>   (Table 8)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2.19   </a:t>
            </a:r>
            <a:r>
              <a:rPr sz="840">
                <a:solidFill>
                  <a:srgbClr val="314359"/>
                </a:solidFill>
                <a:latin typeface="Arial"/>
              </a:rPr>
              <a:t>Independently validated: 20 years, net of every fee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2.20   </a:t>
            </a:r>
            <a:r>
              <a:rPr sz="840">
                <a:solidFill>
                  <a:srgbClr val="314359"/>
                </a:solidFill>
                <a:latin typeface="Arial"/>
              </a:rPr>
              <a:t>Repeatable and conviction-sized — not lucky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2.21   </a:t>
            </a:r>
            <a:r>
              <a:rPr sz="840">
                <a:solidFill>
                  <a:srgbClr val="314359"/>
                </a:solidFill>
                <a:latin typeface="Arial"/>
              </a:rPr>
              <a:t>Why a non-linear path won’t get you fired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2.22   </a:t>
            </a:r>
            <a:r>
              <a:rPr sz="840">
                <a:solidFill>
                  <a:srgbClr val="314359"/>
                </a:solidFill>
                <a:latin typeface="Arial"/>
              </a:rPr>
              <a:t>What it does to an allocator’s portfolio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6)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2.23   </a:t>
            </a:r>
            <a:r>
              <a:rPr sz="840">
                <a:solidFill>
                  <a:srgbClr val="314359"/>
                </a:solidFill>
                <a:latin typeface="Arial"/>
              </a:rPr>
              <a:t>Lower downside risk compounds into better outcomes</a:t>
            </a:r>
            <a:r>
              <a:rPr sz="680" i="1">
                <a:solidFill>
                  <a:srgbClr val="556A83"/>
                </a:solidFill>
                <a:latin typeface="Arial"/>
              </a:rPr>
              <a:t>   (Table 10)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2.24   </a:t>
            </a:r>
            <a:r>
              <a:rPr sz="840">
                <a:solidFill>
                  <a:srgbClr val="314359"/>
                </a:solidFill>
                <a:latin typeface="Arial"/>
              </a:rPr>
              <a:t>A complement to global equities, not a duplicate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7)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2.25   </a:t>
            </a:r>
            <a:r>
              <a:rPr sz="840">
                <a:solidFill>
                  <a:srgbClr val="314359"/>
                </a:solidFill>
                <a:latin typeface="Arial"/>
              </a:rPr>
              <a:t>What a blend does to the whole portfolio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8)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2.26   </a:t>
            </a:r>
            <a:r>
              <a:rPr sz="840">
                <a:solidFill>
                  <a:srgbClr val="314359"/>
                </a:solidFill>
                <a:latin typeface="Arial"/>
              </a:rPr>
              <a:t>What allocators actually earn from private equity</a:t>
            </a:r>
            <a:r>
              <a:rPr sz="680" i="1">
                <a:solidFill>
                  <a:srgbClr val="556A83"/>
                </a:solidFill>
                <a:latin typeface="Arial"/>
              </a:rPr>
              <a:t>   (Table 11)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2.27   </a:t>
            </a:r>
            <a:r>
              <a:rPr sz="840">
                <a:solidFill>
                  <a:srgbClr val="314359"/>
                </a:solidFill>
                <a:latin typeface="Arial"/>
              </a:rPr>
              <a:t>Switching a private-equity sleeve into Athanase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9)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2.28   </a:t>
            </a:r>
            <a:r>
              <a:rPr sz="840">
                <a:solidFill>
                  <a:srgbClr val="314359"/>
                </a:solidFill>
                <a:latin typeface="Arial"/>
              </a:rPr>
              <a:t>The volatility gap is settled in the literature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10)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2.29   </a:t>
            </a:r>
            <a:r>
              <a:rPr sz="840">
                <a:solidFill>
                  <a:srgbClr val="314359"/>
                </a:solidFill>
                <a:latin typeface="Arial"/>
              </a:rPr>
              <a:t>Same headline volatility — far lower real risk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11)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2.30   </a:t>
            </a:r>
            <a:r>
              <a:rPr sz="840">
                <a:solidFill>
                  <a:srgbClr val="314359"/>
                </a:solidFill>
                <a:latin typeface="Arial"/>
              </a:rPr>
              <a:t>PE’s “diversification” is an artefact — Athanase’s is real</a:t>
            </a:r>
            <a:r>
              <a:rPr sz="680" i="1">
                <a:solidFill>
                  <a:srgbClr val="556A83"/>
                </a:solidFill>
                <a:latin typeface="Arial"/>
              </a:rPr>
              <a:t>   (Figure 12)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2.31   </a:t>
            </a:r>
            <a:r>
              <a:rPr sz="840">
                <a:solidFill>
                  <a:srgbClr val="314359"/>
                </a:solidFill>
                <a:latin typeface="Arial"/>
              </a:rPr>
              <a:t>When the tide goes out: the drawdown trap</a:t>
            </a:r>
          </a:p>
          <a:p>
            <a:pPr>
              <a:lnSpc>
                <a:spcPct val="103000"/>
              </a:lnSpc>
              <a:spcAft>
                <a:spcPts val="450"/>
              </a:spcAft>
            </a:pPr>
            <a:r>
              <a:rPr sz="840" b="1">
                <a:solidFill>
                  <a:srgbClr val="314359"/>
                </a:solidFill>
                <a:latin typeface="Arial"/>
              </a:rPr>
              <a:t>2.32   </a:t>
            </a:r>
            <a:r>
              <a:rPr sz="840">
                <a:solidFill>
                  <a:srgbClr val="314359"/>
                </a:solidFill>
                <a:latin typeface="Arial"/>
              </a:rPr>
              <a:t>Responsible ownership, by construction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22" y="536448"/>
            <a:ext cx="1591287" cy="34235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3553" y="2974848"/>
            <a:ext cx="365769" cy="2980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22" y="3169920"/>
            <a:ext cx="8558998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556A83"/>
                </a:solidFill>
                <a:latin typeface="Arial"/>
              </a:rPr>
              <a:t>PART I  ·  THE ASSET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22" y="3511296"/>
            <a:ext cx="8705305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 i="1" spc="-120">
                <a:solidFill>
                  <a:srgbClr val="E2E5E9"/>
                </a:solidFill>
                <a:latin typeface="Times New Roman"/>
              </a:rPr>
              <a:t>Why allocate to engaged ownership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1.1 A catalyst-driven source of return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Engaged owners change the outcome — they do not merely absorb underperformance.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2292096"/>
            <a:ext cx="8705305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81107" indent="-181107">
              <a:lnSpc>
                <a:spcPct val="112000"/>
              </a:lnSpc>
              <a:spcAft>
                <a:spcPts val="1200"/>
              </a:spcAft>
            </a:pPr>
            <a:r>
              <a:rPr sz="1240" b="1">
                <a:solidFill>
                  <a:srgbClr val="314359"/>
                </a:solidFill>
                <a:latin typeface="Arial"/>
              </a:rPr>
              <a:t>›  </a:t>
            </a:r>
            <a:r>
              <a:rPr sz="1240" b="1">
                <a:solidFill>
                  <a:srgbClr val="314359"/>
                </a:solidFill>
                <a:latin typeface="Arial"/>
              </a:rPr>
              <a:t>~7% announcement return.</a:t>
            </a:r>
            <a:r>
              <a:rPr sz="1240">
                <a:solidFill>
                  <a:srgbClr val="0E1620"/>
                </a:solidFill>
                <a:latin typeface="Arial"/>
              </a:rPr>
              <a:t>  Average abnormal return around an activist filing, with no reversal over the following year; success or partial success in ~two-thirds of campaigns (Brav, Jiang, Partnoy &amp; Thomas, 2008).</a:t>
            </a:r>
          </a:p>
          <a:p>
            <a:pPr marL="181107" indent="-181107">
              <a:lnSpc>
                <a:spcPct val="112000"/>
              </a:lnSpc>
              <a:spcAft>
                <a:spcPts val="1200"/>
              </a:spcAft>
            </a:pPr>
            <a:r>
              <a:rPr sz="1240" b="1">
                <a:solidFill>
                  <a:srgbClr val="314359"/>
                </a:solidFill>
                <a:latin typeface="Arial"/>
              </a:rPr>
              <a:t>›  </a:t>
            </a:r>
            <a:r>
              <a:rPr sz="1240" b="1">
                <a:solidFill>
                  <a:srgbClr val="314359"/>
                </a:solidFill>
                <a:latin typeface="Arial"/>
              </a:rPr>
              <a:t>~10.2% around the 13D,</a:t>
            </a:r>
            <a:r>
              <a:rPr sz="1240">
                <a:solidFill>
                  <a:srgbClr val="0E1620"/>
                </a:solidFill>
                <a:latin typeface="Arial"/>
              </a:rPr>
              <a:t>  plus a further ~11.4% over the next year for engaged-owner targets (Klein &amp; Zur, 2009).</a:t>
            </a:r>
          </a:p>
          <a:p>
            <a:pPr marL="181107" indent="-181107">
              <a:lnSpc>
                <a:spcPct val="112000"/>
              </a:lnSpc>
              <a:spcAft>
                <a:spcPts val="1200"/>
              </a:spcAft>
            </a:pPr>
            <a:r>
              <a:rPr sz="1240" b="1">
                <a:solidFill>
                  <a:srgbClr val="314359"/>
                </a:solidFill>
                <a:latin typeface="Arial"/>
              </a:rPr>
              <a:t>›  </a:t>
            </a:r>
            <a:r>
              <a:rPr sz="1240" b="1">
                <a:solidFill>
                  <a:srgbClr val="314359"/>
                </a:solidFill>
                <a:latin typeface="Arial"/>
              </a:rPr>
              <a:t>No long-term give-back.</a:t>
            </a:r>
            <a:r>
              <a:rPr sz="1240">
                <a:solidFill>
                  <a:srgbClr val="0E1620"/>
                </a:solidFill>
                <a:latin typeface="Arial"/>
              </a:rPr>
              <a:t>  ~2,000 interventions show no negative drift and no “pump-and-dump” (Bebchuk, Brav &amp; Jiang, 2015).</a:t>
            </a:r>
          </a:p>
          <a:p>
            <a:pPr marL="181107" indent="-181107">
              <a:lnSpc>
                <a:spcPct val="112000"/>
              </a:lnSpc>
              <a:spcAft>
                <a:spcPts val="1200"/>
              </a:spcAft>
            </a:pPr>
            <a:r>
              <a:rPr sz="1240" b="1">
                <a:solidFill>
                  <a:srgbClr val="314359"/>
                </a:solidFill>
                <a:latin typeface="Arial"/>
              </a:rPr>
              <a:t>›  </a:t>
            </a:r>
            <a:r>
              <a:rPr sz="1240" b="1">
                <a:solidFill>
                  <a:srgbClr val="314359"/>
                </a:solidFill>
                <a:latin typeface="Arial"/>
              </a:rPr>
              <a:t>Real, not financial, value.</a:t>
            </a:r>
            <a:r>
              <a:rPr sz="1240">
                <a:solidFill>
                  <a:srgbClr val="0E1620"/>
                </a:solidFill>
                <a:latin typeface="Arial"/>
              </a:rPr>
              <a:t>  Production efficiency improves in the three years after intervention (Brav, Jiang &amp; Kim, 2015).</a:t>
            </a:r>
          </a:p>
          <a:p>
            <a:pPr marL="181107" indent="-181107">
              <a:lnSpc>
                <a:spcPct val="112000"/>
              </a:lnSpc>
              <a:spcAft>
                <a:spcPts val="1200"/>
              </a:spcAft>
            </a:pPr>
            <a:r>
              <a:rPr sz="1240" b="1">
                <a:solidFill>
                  <a:srgbClr val="314359"/>
                </a:solidFill>
                <a:latin typeface="Arial"/>
              </a:rPr>
              <a:t>›  </a:t>
            </a:r>
            <a:r>
              <a:rPr sz="1240" b="1">
                <a:solidFill>
                  <a:srgbClr val="314359"/>
                </a:solidFill>
                <a:latin typeface="Arial"/>
              </a:rPr>
              <a:t>Idiosyncratic alpha.</a:t>
            </a:r>
            <a:r>
              <a:rPr sz="1240">
                <a:solidFill>
                  <a:srgbClr val="0E1620"/>
                </a:solidFill>
                <a:latin typeface="Arial"/>
              </a:rPr>
              <a:t>  Returns tied to a specific change at a specific company — scarce in a beta-dominated portfolio.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1.2 Aligned with horizon and fiduciary duty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1901952"/>
            <a:ext cx="8705305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Patient capital wins.</a:t>
            </a:r>
            <a:r>
              <a:rPr sz="1320">
                <a:solidFill>
                  <a:srgbClr val="0E1620"/>
                </a:solidFill>
                <a:latin typeface="Arial"/>
              </a:rPr>
              <a:t>  Board seats, strategic reviews and turnarounds play out over years — perpetual endowments and long-dated pensions can hold through to full value realisation.</a:t>
            </a:r>
          </a:p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Stewardship is the duty.</a:t>
            </a:r>
            <a:r>
              <a:rPr sz="1320">
                <a:solidFill>
                  <a:srgbClr val="0E1620"/>
                </a:solidFill>
                <a:latin typeface="Arial"/>
              </a:rPr>
              <a:t>  Engaged ownership expresses fiduciary obligation (UK Stewardship Code; UN PRI) rather than conflicting with it.</a:t>
            </a:r>
          </a:p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Mission alignment.</a:t>
            </a:r>
            <a:r>
              <a:rPr sz="1320">
                <a:solidFill>
                  <a:srgbClr val="0E1620"/>
                </a:solidFill>
                <a:latin typeface="Arial"/>
              </a:rPr>
              <a:t>  Demanding accountability and good governance reflects institutional values and is defensible to beneficiaries.</a:t>
            </a:r>
          </a:p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Engagement as risk management.</a:t>
            </a:r>
            <a:r>
              <a:rPr sz="1320">
                <a:solidFill>
                  <a:srgbClr val="0E1620"/>
                </a:solidFill>
                <a:latin typeface="Arial"/>
              </a:rPr>
              <a:t>  Turns hidden governance risk in the portfolio into a remediable, return-generating exposure.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1.3 Diversification and the total-portfolio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1901952"/>
            <a:ext cx="8705305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A distinct return engine.</a:t>
            </a:r>
            <a:r>
              <a:rPr sz="1320">
                <a:solidFill>
                  <a:srgbClr val="0E1620"/>
                </a:solidFill>
                <a:latin typeface="Arial"/>
              </a:rPr>
              <a:t>  Alpha driven by proxy contests, spin-offs and capital-return programmes — largely independent of rates, growth and inflation.</a:t>
            </a:r>
          </a:p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Diversifies the equity book.</a:t>
            </a:r>
            <a:r>
              <a:rPr sz="1320">
                <a:solidFill>
                  <a:srgbClr val="0E1620"/>
                </a:solidFill>
                <a:latin typeface="Arial"/>
              </a:rPr>
              <a:t>  Small- and mid-cap value and special situations, typically underweight in institutional portfolios.</a:t>
            </a:r>
          </a:p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Counter-cyclical dry powder.</a:t>
            </a:r>
            <a:r>
              <a:rPr sz="1320">
                <a:solidFill>
                  <a:srgbClr val="0E1620"/>
                </a:solidFill>
                <a:latin typeface="Arial"/>
              </a:rPr>
              <a:t>  Dislocations create the next targets; patient capital deploys into weakness rather than selling it.</a:t>
            </a:r>
          </a:p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PE-style upside, public-market terms.</a:t>
            </a:r>
            <a:r>
              <a:rPr sz="1320">
                <a:solidFill>
                  <a:srgbClr val="0E1620"/>
                </a:solidFill>
                <a:latin typeface="Arial"/>
              </a:rPr>
              <a:t>  Operational engagement with daily pricing, transparency, lower fees and better liquidity.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Stewardship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1.4 Governance and the ESG synergy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1901952"/>
            <a:ext cx="8705305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Applied governance.</a:t>
            </a:r>
            <a:r>
              <a:rPr sz="1320">
                <a:solidFill>
                  <a:srgbClr val="0E1620"/>
                </a:solidFill>
                <a:latin typeface="Arial"/>
              </a:rPr>
              <a:t>  Board independence, pay-for-performance and capital discipline are the “G” of ESG put into practice.</a:t>
            </a:r>
          </a:p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Constructive engagement.</a:t>
            </a:r>
            <a:r>
              <a:rPr sz="1320">
                <a:solidFill>
                  <a:srgbClr val="0E1620"/>
                </a:solidFill>
                <a:latin typeface="Arial"/>
              </a:rPr>
              <a:t>  Return and stewardship objectives expressed through one allocation, disciplined by a value thesis.</a:t>
            </a:r>
          </a:p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A positive externality.</a:t>
            </a:r>
            <a:r>
              <a:rPr sz="1320">
                <a:solidFill>
                  <a:srgbClr val="0E1620"/>
                </a:solidFill>
                <a:latin typeface="Arial"/>
              </a:rPr>
              <a:t>  Governance precedents improve the quality of the beta the whole portfolio owns.</a:t>
            </a:r>
          </a:p>
          <a:p>
            <a:pPr marL="192790" indent="-192790">
              <a:lnSpc>
                <a:spcPct val="112000"/>
              </a:lnSpc>
              <a:spcAft>
                <a:spcPts val="1600"/>
              </a:spcAft>
            </a:pPr>
            <a:r>
              <a:rPr sz="1320" b="1">
                <a:solidFill>
                  <a:srgbClr val="314359"/>
                </a:solidFill>
                <a:latin typeface="Arial"/>
              </a:rPr>
              <a:t>›  </a:t>
            </a:r>
            <a:r>
              <a:rPr sz="1320" b="1">
                <a:solidFill>
                  <a:srgbClr val="314359"/>
                </a:solidFill>
                <a:latin typeface="Arial"/>
              </a:rPr>
              <a:t>Defensible to stakeholders.</a:t>
            </a:r>
            <a:r>
              <a:rPr sz="1320">
                <a:solidFill>
                  <a:srgbClr val="0E1620"/>
                </a:solidFill>
                <a:latin typeface="Arial"/>
              </a:rPr>
              <a:t>  “We own companies and make them better-run and more valuable” is an easy story to tell.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1.5 Why mid-market is the sweet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Big enough to run well, small enough to change — and to grow. The engaged-ownership opportunity is richest in the middle.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828845" cy="390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130" y="2292096"/>
            <a:ext cx="168253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2231191" y="2292096"/>
            <a:ext cx="2377499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8976" y="2292096"/>
            <a:ext cx="2231191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Small-cap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691" y="2292096"/>
            <a:ext cx="2560384" cy="39014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6475" y="2292096"/>
            <a:ext cx="2414076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Mid-market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9075" y="2292096"/>
            <a:ext cx="2121461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6859" y="2292096"/>
            <a:ext cx="1975153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Large-cap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46" y="2682240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130" y="2682240"/>
            <a:ext cx="1682538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Organisational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1191" y="2682240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18976" y="2682240"/>
            <a:ext cx="2231191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Often too thin to support a capable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691" y="2682240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6475" y="2682240"/>
            <a:ext cx="2414076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Enough structure for a real management team and processes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9075" y="2682240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56859" y="2682240"/>
            <a:ext cx="1975153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Deep, but layered and slow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46" y="3443020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30" y="3443020"/>
            <a:ext cx="1682538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Growth runway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31191" y="3443020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18976" y="3443020"/>
            <a:ext cx="2231191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Long, but fragile and under-resourced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08691" y="3443020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6475" y="3443020"/>
            <a:ext cx="2414076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Still long — small enough to compound for years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9075" y="3443020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56859" y="3443020"/>
            <a:ext cx="1975153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Largely played out; growth is incremental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4203801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130" y="4203801"/>
            <a:ext cx="1682538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Speed of change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31191" y="4203801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18976" y="4203801"/>
            <a:ext cx="2231191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Fast, but limited resources to execute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08691" y="4203801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96475" y="4203801"/>
            <a:ext cx="2414076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Operational change lands within ~1.5 years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9075" y="4203801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6859" y="4203801"/>
            <a:ext cx="1975153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Years to turn; entrenched complexity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46" y="4964582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130" y="4964582"/>
            <a:ext cx="1682538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Owner influence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31191" y="4964582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18976" y="4964582"/>
            <a:ext cx="2231191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High, but little to work with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8691" y="4964582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96475" y="4964582"/>
            <a:ext cx="2414076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A board seat genuinely moves the outcome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69075" y="4964582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56859" y="4964582"/>
            <a:ext cx="1975153" cy="760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Diluted; one owner rarely shifts the agenda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46" y="5881420"/>
            <a:ext cx="8924767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Mid-market companies are run well enough to be worth owning, yet small enough that an engaged owner can still change — and grow —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1.6 Why mid-cap management listens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structural reason engaged ownership works here: capable operators with predictable blind spots, and the room to act on good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2292096"/>
            <a:ext cx="4279499" cy="448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THE BLIND SPOT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Mid-cap CEOs are usually promoted from sales or operations — strong in their domain, first-time chief executives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They have not run capital allocation, M&amp;A, financing or board strategy before — predictable, correctable gaps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They know it — so credible, experienced owners are welcomed, not resisted, unlike at entrenched large-caps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8" y="2292096"/>
            <a:ext cx="4279499" cy="448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WHAT IT MEANS FOR AN ENGAGED OWNER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A board seat is genuinely productive — advice is acted on, not filtered through layers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Change is collaborative, not a proxy fight — faster, cheaper, less headline risk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The owner supplies exactly the missing experience: capital discipline, focus and a wider strategic lens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6193536"/>
            <a:ext cx="8873559" cy="58521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599" y="6193536"/>
            <a:ext cx="8632151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FFFFFF"/>
                </a:solidFill>
                <a:latin typeface="Arial"/>
              </a:rPr>
              <a:t>Capable management with a known blind spot, in a company small enough to change: the conditions under which engaged ownership compounds.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1.7 What separates a great engaged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Dispersion is wide — manager selection matters more here than in almost any other equity strategy.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2292096"/>
            <a:ext cx="8705305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81107" indent="-181107">
              <a:lnSpc>
                <a:spcPct val="112000"/>
              </a:lnSpc>
              <a:spcAft>
                <a:spcPts val="1200"/>
              </a:spcAft>
            </a:pPr>
            <a:r>
              <a:rPr sz="1240" b="1">
                <a:solidFill>
                  <a:srgbClr val="314359"/>
                </a:solidFill>
                <a:latin typeface="Arial"/>
              </a:rPr>
              <a:t>›  </a:t>
            </a:r>
            <a:r>
              <a:rPr sz="1240" b="1">
                <a:solidFill>
                  <a:srgbClr val="314359"/>
                </a:solidFill>
                <a:latin typeface="Arial"/>
              </a:rPr>
              <a:t>A repeatable process</a:t>
            </a:r>
            <a:r>
              <a:rPr sz="1240">
                <a:solidFill>
                  <a:srgbClr val="0E1620"/>
                </a:solidFill>
                <a:latin typeface="Arial"/>
              </a:rPr>
              <a:t>  for sourcing and underwriting correctable, undervalued companies.</a:t>
            </a:r>
          </a:p>
          <a:p>
            <a:pPr marL="181107" indent="-181107">
              <a:lnSpc>
                <a:spcPct val="112000"/>
              </a:lnSpc>
              <a:spcAft>
                <a:spcPts val="1200"/>
              </a:spcAft>
            </a:pPr>
            <a:r>
              <a:rPr sz="1240" b="1">
                <a:solidFill>
                  <a:srgbClr val="314359"/>
                </a:solidFill>
                <a:latin typeface="Arial"/>
              </a:rPr>
              <a:t>›  </a:t>
            </a:r>
            <a:r>
              <a:rPr sz="1240" b="1">
                <a:solidFill>
                  <a:srgbClr val="314359"/>
                </a:solidFill>
                <a:latin typeface="Arial"/>
              </a:rPr>
              <a:t>Genuine operating capability,</a:t>
            </a:r>
            <a:r>
              <a:rPr sz="1240">
                <a:solidFill>
                  <a:srgbClr val="0E1620"/>
                </a:solidFill>
                <a:latin typeface="Arial"/>
              </a:rPr>
              <a:t>  not just financial engineering — the experience to control the outcome from the boardroom.</a:t>
            </a:r>
          </a:p>
          <a:p>
            <a:pPr marL="181107" indent="-181107">
              <a:lnSpc>
                <a:spcPct val="112000"/>
              </a:lnSpc>
              <a:spcAft>
                <a:spcPts val="1200"/>
              </a:spcAft>
            </a:pPr>
            <a:r>
              <a:rPr sz="1240" b="1">
                <a:solidFill>
                  <a:srgbClr val="314359"/>
                </a:solidFill>
                <a:latin typeface="Arial"/>
              </a:rPr>
              <a:t>›  </a:t>
            </a:r>
            <a:r>
              <a:rPr sz="1240" b="1">
                <a:solidFill>
                  <a:srgbClr val="314359"/>
                </a:solidFill>
                <a:latin typeface="Arial"/>
              </a:rPr>
              <a:t>A track record of outcomes,</a:t>
            </a:r>
            <a:r>
              <a:rPr sz="1240">
                <a:solidFill>
                  <a:srgbClr val="0E1620"/>
                </a:solidFill>
                <a:latin typeface="Arial"/>
              </a:rPr>
              <a:t>  board seats won and value delivered across multiple market cycles.</a:t>
            </a:r>
          </a:p>
          <a:p>
            <a:pPr marL="181107" indent="-181107">
              <a:lnSpc>
                <a:spcPct val="112000"/>
              </a:lnSpc>
              <a:spcAft>
                <a:spcPts val="1200"/>
              </a:spcAft>
            </a:pPr>
            <a:r>
              <a:rPr sz="1240" b="1">
                <a:solidFill>
                  <a:srgbClr val="314359"/>
                </a:solidFill>
                <a:latin typeface="Arial"/>
              </a:rPr>
              <a:t>›  </a:t>
            </a:r>
            <a:r>
              <a:rPr sz="1240" b="1">
                <a:solidFill>
                  <a:srgbClr val="314359"/>
                </a:solidFill>
                <a:latin typeface="Arial"/>
              </a:rPr>
              <a:t>Aligned economics</a:t>
            </a:r>
            <a:r>
              <a:rPr sz="1240">
                <a:solidFill>
                  <a:srgbClr val="0E1620"/>
                </a:solidFill>
                <a:latin typeface="Arial"/>
              </a:rPr>
              <a:t>  and a stable, long-tenured team that invests its own capital.</a:t>
            </a:r>
          </a:p>
          <a:p>
            <a:pPr marL="181107" indent="-181107">
              <a:lnSpc>
                <a:spcPct val="112000"/>
              </a:lnSpc>
              <a:spcAft>
                <a:spcPts val="1200"/>
              </a:spcAft>
            </a:pPr>
            <a:r>
              <a:rPr sz="1240" b="1">
                <a:solidFill>
                  <a:srgbClr val="314359"/>
                </a:solidFill>
                <a:latin typeface="Arial"/>
              </a:rPr>
              <a:t>›  </a:t>
            </a:r>
            <a:r>
              <a:rPr sz="1240" b="1">
                <a:solidFill>
                  <a:srgbClr val="314359"/>
                </a:solidFill>
                <a:latin typeface="Arial"/>
              </a:rPr>
              <a:t>Disciplined entry and risk control</a:t>
            </a:r>
            <a:r>
              <a:rPr sz="1240">
                <a:solidFill>
                  <a:srgbClr val="0E1620"/>
                </a:solidFill>
                <a:latin typeface="Arial"/>
              </a:rPr>
              <a:t>  so the strategy delivers without uncompensated concentration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291072"/>
            <a:ext cx="8632151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0" i="1">
                <a:solidFill>
                  <a:srgbClr val="314359"/>
                </a:solidFill>
                <a:latin typeface="Arial"/>
              </a:rPr>
              <a:t>Part II shows how Athanase meets each of these criteria.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22" y="536448"/>
            <a:ext cx="1591287" cy="34235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3553" y="2974848"/>
            <a:ext cx="365769" cy="2980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22" y="3169920"/>
            <a:ext cx="8558998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556A83"/>
                </a:solidFill>
                <a:latin typeface="Arial"/>
              </a:rPr>
              <a:t>PART II  ·  AMONG ENGAGED OWNERS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22" y="3511296"/>
            <a:ext cx="8705305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 i="1" spc="-120">
                <a:solidFill>
                  <a:srgbClr val="E2E5E9"/>
                </a:solidFill>
                <a:latin typeface="Times New Roman"/>
              </a:rPr>
              <a:t>Why Athanase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2.1 Athanase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5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53" y="2175052"/>
            <a:ext cx="2158037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40+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investments 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engaged owners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836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8368" y="2175052"/>
            <a:ext cx="2158037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18%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net annual IRR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since inception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808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8083" y="2175052"/>
            <a:ext cx="2158037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20 yrs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team working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together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1779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7798" y="2175052"/>
            <a:ext cx="2158037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7.1%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minimum annual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net return*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53" y="3998976"/>
            <a:ext cx="8705305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</a:t>
            </a:r>
            <a:r>
              <a:rPr sz="1200" b="1">
                <a:solidFill>
                  <a:srgbClr val="314359"/>
                </a:solidFill>
                <a:latin typeface="Arial"/>
              </a:rPr>
              <a:t>Average net return of 18.6%</a:t>
            </a:r>
            <a:r>
              <a:rPr sz="1200">
                <a:solidFill>
                  <a:srgbClr val="0E1620"/>
                </a:solidFill>
                <a:latin typeface="Arial"/>
              </a:rPr>
              <a:t>  (17.1% vs MSCI IMI 7.6% since inception), regardless of entry month.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</a:t>
            </a:r>
            <a:r>
              <a:rPr sz="1200" b="1">
                <a:solidFill>
                  <a:srgbClr val="314359"/>
                </a:solidFill>
                <a:latin typeface="Arial"/>
              </a:rPr>
              <a:t>+14.5% EBITA growth</a:t>
            </a:r>
            <a:r>
              <a:rPr sz="1200">
                <a:solidFill>
                  <a:srgbClr val="0E1620"/>
                </a:solidFill>
                <a:latin typeface="Arial"/>
              </a:rPr>
              <a:t>  in portfolio companies during the ownership period.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</a:t>
            </a:r>
            <a:r>
              <a:rPr sz="1200" b="1">
                <a:solidFill>
                  <a:srgbClr val="314359"/>
                </a:solidFill>
                <a:latin typeface="Arial"/>
              </a:rPr>
              <a:t>+0.2% in down markets</a:t>
            </a:r>
            <a:r>
              <a:rPr sz="1200">
                <a:solidFill>
                  <a:srgbClr val="0E1620"/>
                </a:solidFill>
                <a:latin typeface="Arial"/>
              </a:rPr>
              <a:t>  versus the market at –1.7% — downside protection when it matters most.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6583680"/>
            <a:ext cx="8632151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*Invested any month since 2006 and held to Dec 2025. Inception 2015-02-23.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2.2 An integrated team, 20 years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In a world of specialists, a rare unit that has the operating experience to control the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61" y="2701747"/>
            <a:ext cx="7242229" cy="21674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1463076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1992</a:t>
            </a:r>
          </a:p>
        </p:txBody>
      </p:sp>
      <p:sp>
        <p:nvSpPr>
          <p:cNvPr id="11" name="Oval 10"/>
          <p:cNvSpPr/>
          <p:nvPr/>
        </p:nvSpPr>
        <p:spPr>
          <a:xfrm>
            <a:off x="110462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9" y="2857804"/>
            <a:ext cx="16093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Öresund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99" y="2292096"/>
            <a:ext cx="1463076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1996</a:t>
            </a:r>
          </a:p>
        </p:txBody>
      </p:sp>
      <p:sp>
        <p:nvSpPr>
          <p:cNvPr id="14" name="Oval 13"/>
          <p:cNvSpPr/>
          <p:nvPr/>
        </p:nvSpPr>
        <p:spPr>
          <a:xfrm>
            <a:off x="3518699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845" y="2857804"/>
            <a:ext cx="16093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Custos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7075" y="2292096"/>
            <a:ext cx="1463076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2006</a:t>
            </a:r>
          </a:p>
        </p:txBody>
      </p:sp>
      <p:sp>
        <p:nvSpPr>
          <p:cNvPr id="17" name="Oval 16"/>
          <p:cNvSpPr/>
          <p:nvPr/>
        </p:nvSpPr>
        <p:spPr>
          <a:xfrm>
            <a:off x="5932775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921" y="2857804"/>
            <a:ext cx="16093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Creades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1152" y="2292096"/>
            <a:ext cx="1463076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2015</a:t>
            </a:r>
          </a:p>
        </p:txBody>
      </p:sp>
      <p:sp>
        <p:nvSpPr>
          <p:cNvPr id="20" name="Oval 19"/>
          <p:cNvSpPr/>
          <p:nvPr/>
        </p:nvSpPr>
        <p:spPr>
          <a:xfrm>
            <a:off x="834685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998" y="2857804"/>
            <a:ext cx="16093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Athanase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53" y="3511296"/>
            <a:ext cx="8705305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</a:t>
            </a:r>
            <a:r>
              <a:rPr sz="1160" b="1">
                <a:solidFill>
                  <a:srgbClr val="314359"/>
                </a:solidFill>
                <a:latin typeface="Arial"/>
              </a:rPr>
              <a:t>40+ companies managed,</a:t>
            </a:r>
            <a:r>
              <a:rPr sz="1160">
                <a:solidFill>
                  <a:srgbClr val="0E1620"/>
                </a:solidFill>
                <a:latin typeface="Arial"/>
              </a:rPr>
              <a:t>  with a proven ability to tell a “strong core” from a “prestige trap”.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</a:t>
            </a:r>
            <a:r>
              <a:rPr sz="1160" b="1">
                <a:solidFill>
                  <a:srgbClr val="314359"/>
                </a:solidFill>
                <a:latin typeface="Arial"/>
              </a:rPr>
              <a:t>30+ public board seats</a:t>
            </a:r>
            <a:r>
              <a:rPr sz="1160">
                <a:solidFill>
                  <a:srgbClr val="0E1620"/>
                </a:solidFill>
                <a:latin typeface="Arial"/>
              </a:rPr>
              <a:t>  — real experience mandating pivots and protecting shareholder interests, not writing engagement letters.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</a:t>
            </a:r>
            <a:r>
              <a:rPr sz="1160" b="1">
                <a:solidFill>
                  <a:srgbClr val="314359"/>
                </a:solidFill>
                <a:latin typeface="Arial"/>
              </a:rPr>
              <a:t>A dual lens:</a:t>
            </a:r>
            <a:r>
              <a:rPr sz="1160">
                <a:solidFill>
                  <a:srgbClr val="0E1620"/>
                </a:solidFill>
                <a:latin typeface="Arial"/>
              </a:rPr>
              <a:t>  a forensic investing lens to find the value and a C-suite operating lens that understands the “how” of execution.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</a:t>
            </a:r>
            <a:r>
              <a:rPr sz="1160" b="1">
                <a:solidFill>
                  <a:srgbClr val="314359"/>
                </a:solidFill>
                <a:latin typeface="Arial"/>
              </a:rPr>
              <a:t>Skin in the game.</a:t>
            </a:r>
            <a:r>
              <a:rPr sz="1160">
                <a:solidFill>
                  <a:srgbClr val="0E1620"/>
                </a:solidFill>
                <a:latin typeface="Arial"/>
              </a:rPr>
              <a:t>  The team uses Athanase as its own investment vehicle and shares in the success economics.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</a:t>
            </a:r>
            <a:r>
              <a:rPr sz="1160" b="1">
                <a:solidFill>
                  <a:srgbClr val="314359"/>
                </a:solidFill>
                <a:latin typeface="Arial"/>
              </a:rPr>
              <a:t>Institutional memory.</a:t>
            </a:r>
            <a:r>
              <a:rPr sz="1160">
                <a:solidFill>
                  <a:srgbClr val="0E1620"/>
                </a:solidFill>
                <a:latin typeface="Arial"/>
              </a:rPr>
              <a:t>  Multiple market cycles together eliminate key-person risk and prevent repeating historical mistakes.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2.3 The people behind the track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One investment team, working together across four vehicles since 1992 — operators, allocators and board directors.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904207" cy="187269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51207" cy="187269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807" y="2448153"/>
            <a:ext cx="26115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Stefan Charette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2740761"/>
            <a:ext cx="2611591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CIO &amp;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807" y="3023616"/>
            <a:ext cx="2575014" cy="1072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Leads the same team since 2006. Former CEO/CIO of industrial conglomerate Brokk; earlier Lehman Brothers and Salomon Smith Barney.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6283" y="2292096"/>
            <a:ext cx="2904207" cy="187269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6283" y="2292096"/>
            <a:ext cx="51207" cy="187269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9168" y="2448153"/>
            <a:ext cx="26115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Kenth Eriksson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9168" y="2740761"/>
            <a:ext cx="2611591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SENIOR PM &amp;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9168" y="3023616"/>
            <a:ext cx="2575014" cy="1072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Co-founder &amp; CEO of Tradimus; Senior VP at Electrolux; owner-operator of a group of private tech companies — deep industrial operating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93644" y="2292096"/>
            <a:ext cx="2904207" cy="187269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644" y="2292096"/>
            <a:ext cx="51207" cy="187269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6529" y="2448153"/>
            <a:ext cx="26115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Sven Thorén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6529" y="2740761"/>
            <a:ext cx="2611591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PM &amp; PARTNER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6529" y="3023616"/>
            <a:ext cx="2575014" cy="1072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Responsible PM at Adrigo, Catella, Pan Capital and Nordea; equity research at Brummer &amp; Partners and Cazenove.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22" y="4320844"/>
            <a:ext cx="2904207" cy="187269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22" y="4320844"/>
            <a:ext cx="51207" cy="187269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807" y="4476902"/>
            <a:ext cx="26115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Anders Elsell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807" y="4769510"/>
            <a:ext cx="2611591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SENIOR 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807" y="5052364"/>
            <a:ext cx="2575014" cy="1072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PM and Head of Research of the same team since 1996; former CEO &amp; CIO of HQ Fonder; multiple senior roles at Carnegie.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16283" y="4320844"/>
            <a:ext cx="2904207" cy="187269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16283" y="4320844"/>
            <a:ext cx="51207" cy="187269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9168" y="4476902"/>
            <a:ext cx="26115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Daniel Nyhrén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9168" y="4769510"/>
            <a:ext cx="2611591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PARTNER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99168" y="5052364"/>
            <a:ext cx="2575014" cy="1072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On the same investment team since 2006; former CFO of portfolio company Global Batterier — operator and financier.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3644" y="4320844"/>
            <a:ext cx="2904207" cy="187269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93644" y="4320844"/>
            <a:ext cx="51207" cy="187269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6529" y="4476902"/>
            <a:ext cx="26115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Malin Norrman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6529" y="4769510"/>
            <a:ext cx="2611591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CFO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6529" y="5052364"/>
            <a:ext cx="2575014" cy="1072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Previously COO/CFO at Captor Fund Management; risk manager at Carnegie Investment Bank and AB Industrivärden.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22" y="6339840"/>
            <a:ext cx="8924767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314359"/>
                </a:solidFill>
                <a:latin typeface="Arial"/>
              </a:rPr>
              <a:t>Supported by a dedicated fund-operations, risk and technology team — the same unit has compounded capital through every cycle since 1992.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2.4 A disciplined, repeatable selection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From a universe of strong businesses to a single high-conviction investment a year — through three hard gates.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1 · SOURCE &amp; 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76" y="2701747"/>
            <a:ext cx="2926153" cy="58521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76" y="2701747"/>
            <a:ext cx="2926153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~2,000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960" y="2818790"/>
            <a:ext cx="1463076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businesses with strong, durable moats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61" y="3404006"/>
            <a:ext cx="2560384" cy="58521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61" y="3404006"/>
            <a:ext cx="256038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~1,200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960" y="3521049"/>
            <a:ext cx="1463076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within target geographies and size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45" y="4106265"/>
            <a:ext cx="2194614" cy="58521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45" y="4106265"/>
            <a:ext cx="219461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~1,000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960" y="4223308"/>
            <a:ext cx="1463076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listed companies in selected sectors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0730" y="4808524"/>
            <a:ext cx="1828845" cy="58521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30" y="4808524"/>
            <a:ext cx="1828845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Shortlist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960" y="4925568"/>
            <a:ext cx="1463076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suitable shareholder base for constructive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76" y="5569305"/>
            <a:ext cx="4389229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1">
                <a:solidFill>
                  <a:srgbClr val="0E1620"/>
                </a:solidFill>
                <a:latin typeface="Arial"/>
              </a:rPr>
              <a:t>Sourced through the team’s network, own research, management interviews, site visits and external experts.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921" y="2292096"/>
            <a:ext cx="4096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2 · THREE TOLLGATES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93921" y="2701747"/>
            <a:ext cx="4133191" cy="11509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93921" y="2701747"/>
            <a:ext cx="51207" cy="115092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54860" y="2838297"/>
            <a:ext cx="38771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Tollgate 1 — Valuation floor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4860" y="3150412"/>
            <a:ext cx="3877152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Is the company attractive even if we change nothing? We only proceed when the core alone justifies the price.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93921" y="3950208"/>
            <a:ext cx="4133191" cy="11509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93921" y="3950208"/>
            <a:ext cx="51207" cy="115092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54860" y="4086758"/>
            <a:ext cx="38771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Tollgate 2 — Value of the improvement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4860" y="4398873"/>
            <a:ext cx="3877152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Quantify the upside across six levers — organic &amp; M&amp;A growth, cost, structural, operational and financial — and pressure-test it with industry experts.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3921" y="5198668"/>
            <a:ext cx="4133191" cy="11509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93921" y="5198668"/>
            <a:ext cx="51207" cy="115092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54860" y="5335219"/>
            <a:ext cx="38771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Tollgate 3 — Go / No-Go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4860" y="5647334"/>
            <a:ext cx="3877152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Engage key stakeholders, select board members and the management team, then decide. We make roughly one investment a year.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Selectivity is the edge: of ~1,000 candidates, only one clears all three gates each year.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2.5 A risk system that engineers out permanent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Risk is controlled before the investment is made — through valuation, diversification and influence — not managed after the 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096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BUILT ON THREE PILLARS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76" y="2701747"/>
            <a:ext cx="4133191" cy="11509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76" y="2701747"/>
            <a:ext cx="51207" cy="115092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015" y="2838297"/>
            <a:ext cx="38771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Predictability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015" y="3150412"/>
            <a:ext cx="3877152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Only durable, market-leading cores in slow-moving industries — businesses whose future demand we can underwrite.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76" y="3950208"/>
            <a:ext cx="4133191" cy="11509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76" y="3950208"/>
            <a:ext cx="51207" cy="115092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015" y="4086758"/>
            <a:ext cx="38771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015" y="4398873"/>
            <a:ext cx="3877152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A hard valuation floor: value the rectifiable core, assign zero to “growth-trap” divisions — a 30–40% margin of safety vs a PE bidder.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76" y="5198668"/>
            <a:ext cx="4133191" cy="11509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76" y="5198668"/>
            <a:ext cx="51207" cy="115092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015" y="5335219"/>
            <a:ext cx="38771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Influence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015" y="5647334"/>
            <a:ext cx="3877152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A board seat as the “kill switch” — the ability to stop one bad decision lowers risk below any passive or active manager.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921" y="2292096"/>
            <a:ext cx="4096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AUTOMATIC GUARDRAILS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921" y="2701747"/>
            <a:ext cx="4133191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Core &amp; satellite: a 30-stock equal-weighted index compounds all unallocated capital; 8–12 concentrated ideas sit on top.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921" y="3599078"/>
            <a:ext cx="4133191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Entry gauntlet: every idea must clear a ≥12% expected IRR and ≤20% probability of a 30% drawdown before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921" y="4496409"/>
            <a:ext cx="4133191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Eleven standardised risk tags cap any single macro/business factor at ~20% of the concentrated book.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921" y="5393740"/>
            <a:ext cx="4133191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Hard triggers at −10% / −20% / −30% force thesis review and exit — removing emotion and PM bias.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The system is designed to make permanent capital loss structurally unlikely — not merely to react to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Ownership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2.6 The ownership playbook, honed over 40 investments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repeatable sequence that turns a board seat into operational value — refocusing a good core, then growing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9861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307" y="2526182"/>
            <a:ext cx="2099514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Secure the board seat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3091891"/>
            <a:ext cx="2575014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Often a precondition to invest — the nomination committee proposes an AIP director.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77222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668" y="2526182"/>
            <a:ext cx="2099514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Align the 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9168" y="3091891"/>
            <a:ext cx="2575014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Collaborate with management and stakeholders to agree where the value is and what must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3644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4583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2029" y="2526182"/>
            <a:ext cx="2099514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Refocus to drive 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6529" y="3091891"/>
            <a:ext cx="2575014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Cut overhead and admin, optimise the footprint, exit loss-making “growth-trap” ventures.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9861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307" y="4359859"/>
            <a:ext cx="2099514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Reallocate to winners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807" y="4925568"/>
            <a:ext cx="2575014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Redeploy freed-up capital into the profitable core and its strongest adjacencies; lift R&amp;D where it pays.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6283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77222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668" y="4359859"/>
            <a:ext cx="2099514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Grow by acquisition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9168" y="4925568"/>
            <a:ext cx="2575014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Add complementary products, geographies or scale through value-accretive bolt-ons.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3644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54583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2029" y="4359859"/>
            <a:ext cx="2099514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6529" y="4925568"/>
            <a:ext cx="2575014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Realise via M&amp;A or in the equity market once the core is refocused and compounding.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22" y="6339840"/>
            <a:ext cx="8924767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314359"/>
                </a:solidFill>
                <a:latin typeface="Arial"/>
              </a:rPr>
              <a:t>The same playbook across 40 companies — value created by fixing capital allocation, not by financial engineering or leverage.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2.7 The inefficiency Athanase harvests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Corporate decay is structural — it continuously recreates low-risk, high-return entry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08691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</a:t>
            </a:r>
            <a:r>
              <a:rPr sz="1080" b="1">
                <a:solidFill>
                  <a:srgbClr val="314359"/>
                </a:solidFill>
                <a:latin typeface="Arial"/>
              </a:rPr>
              <a:t>Duration mismatch.</a:t>
            </a:r>
            <a:r>
              <a:rPr sz="1080">
                <a:solidFill>
                  <a:srgbClr val="0E1620"/>
                </a:solidFill>
                <a:latin typeface="Arial"/>
              </a:rPr>
              <a:t>  CEOs run 7–8 year defensive cycles while moats erode at hyper-speed; an 80%-correct strategy decays to ~50% efficient.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</a:t>
            </a:r>
            <a:r>
              <a:rPr sz="1080" b="1">
                <a:solidFill>
                  <a:srgbClr val="314359"/>
                </a:solidFill>
                <a:latin typeface="Arial"/>
              </a:rPr>
              <a:t>The prestige trap.</a:t>
            </a:r>
            <a:r>
              <a:rPr sz="1080">
                <a:solidFill>
                  <a:srgbClr val="0E1620"/>
                </a:solidFill>
                <a:latin typeface="Arial"/>
              </a:rPr>
              <a:t>  Empire-building and the sunk-cost fallacy lead management to double down on unprofitable ventures.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</a:t>
            </a:r>
            <a:r>
              <a:rPr sz="1080" b="1">
                <a:solidFill>
                  <a:srgbClr val="314359"/>
                </a:solidFill>
                <a:latin typeface="Arial"/>
              </a:rPr>
              <a:t>Shareholder exhaustion.</a:t>
            </a:r>
            <a:r>
              <a:rPr sz="1080">
                <a:solidFill>
                  <a:srgbClr val="0E1620"/>
                </a:solidFill>
                <a:latin typeface="Arial"/>
              </a:rPr>
              <a:t>  As patience runs out, price hits a long-term low and liquidity dries up — Athanase becomes the “buyer of last resort” at a discount.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</a:t>
            </a:r>
            <a:r>
              <a:rPr sz="1080" b="1">
                <a:solidFill>
                  <a:srgbClr val="314359"/>
                </a:solidFill>
                <a:latin typeface="Arial"/>
              </a:rPr>
              <a:t>Low competition.</a:t>
            </a:r>
            <a:r>
              <a:rPr sz="1080">
                <a:solidFill>
                  <a:srgbClr val="0E1620"/>
                </a:solidFill>
                <a:latin typeface="Arial"/>
              </a:rPr>
              <a:t>  Passive buys the most expensive names; active managers wait for proof; PE needs 10x the capital — leaving these bargains open.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230498" y="2487168"/>
          <a:ext cx="4169768" cy="351129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30498" y="6047232"/>
            <a:ext cx="4169768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Even an excellent team’s edge erodes as the external environment shifts.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2.8 We don’t buy broken companies — we buy hidden 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classic objection to activism is adverse selection. Our model inverts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81845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</a:t>
            </a:r>
            <a:r>
              <a:rPr sz="1080" b="1">
                <a:solidFill>
                  <a:srgbClr val="314359"/>
                </a:solidFill>
                <a:latin typeface="Arial"/>
              </a:rPr>
              <a:t>The critique.</a:t>
            </a:r>
            <a:r>
              <a:rPr sz="1080">
                <a:solidFill>
                  <a:srgbClr val="0E1620"/>
                </a:solidFill>
                <a:latin typeface="Arial"/>
              </a:rPr>
              <a:t>  Buy “cheap and troubled” and you select for lemons — worse than they look. The market discounted them for a reason.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</a:t>
            </a:r>
            <a:r>
              <a:rPr sz="1080" b="1">
                <a:solidFill>
                  <a:srgbClr val="314359"/>
                </a:solidFill>
                <a:latin typeface="Arial"/>
              </a:rPr>
              <a:t>Our precondition removes it.</a:t>
            </a:r>
            <a:r>
              <a:rPr sz="1080">
                <a:solidFill>
                  <a:srgbClr val="0E1620"/>
                </a:solidFill>
                <a:latin typeface="Arial"/>
              </a:rPr>
              <a:t>  We invest only where the core is a market leader earning high returns on capital — attractive even if we change nothing. No structurally-weak turnarounds.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</a:t>
            </a:r>
            <a:r>
              <a:rPr sz="1080" b="1">
                <a:solidFill>
                  <a:srgbClr val="314359"/>
                </a:solidFill>
                <a:latin typeface="Arial"/>
              </a:rPr>
              <a:t>The real setup.</a:t>
            </a:r>
            <a:r>
              <a:rPr sz="1080">
                <a:solidFill>
                  <a:srgbClr val="0E1620"/>
                </a:solidFill>
                <a:latin typeface="Arial"/>
              </a:rPr>
              <a:t>  Profitable leaders whose management pivoted into weak adjacencies — chasing growth as the core matured. A capital-allocation overlay on a good asset, not a bad asset.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</a:t>
            </a:r>
            <a:r>
              <a:rPr sz="1080" b="1">
                <a:solidFill>
                  <a:srgbClr val="314359"/>
                </a:solidFill>
                <a:latin typeface="Arial"/>
              </a:rPr>
              <a:t>The inversion.</a:t>
            </a:r>
            <a:r>
              <a:rPr sz="1080">
                <a:solidFill>
                  <a:srgbClr val="0E1620"/>
                </a:solidFill>
                <a:latin typeface="Arial"/>
              </a:rPr>
              <a:t>  Blended results make it look mediocre, so it is priced mediocre. The appearance understates reality.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0229" y="2243328"/>
            <a:ext cx="395030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Figure 3  ·  SUM-OF-THE-PARTS (ILLUSTRATIVE, INDEXED)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306" y="3706368"/>
            <a:ext cx="1170461" cy="1658112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306" y="3355238"/>
            <a:ext cx="1170461" cy="312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691" y="5462016"/>
            <a:ext cx="1755691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0E1620"/>
                </a:solidFill>
                <a:latin typeface="Arial"/>
              </a:rPr>
              <a:t>Market price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(blended optics)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305" y="3043123"/>
            <a:ext cx="1170461" cy="232135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305" y="2691993"/>
            <a:ext cx="1170461" cy="312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690" y="5462016"/>
            <a:ext cx="1755691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0E1620"/>
                </a:solidFill>
                <a:latin typeface="Arial"/>
              </a:rPr>
              <a:t>Core alone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(high ROIIC)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306" y="3706368"/>
            <a:ext cx="2487230" cy="16256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41882" y="3043123"/>
            <a:ext cx="20320" cy="6632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2037" y="3082137"/>
            <a:ext cx="2633537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+40% hidden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76" y="6291072"/>
            <a:ext cx="8778459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We remove the drag and refocus capital on the core — positive selection on a concealed asset, not negative selection on a lemon.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2.9 Quality-core constructivism — how we differ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Even Hohn (TCI) and Loeb (Third Point) pivoted to quality — we capture quality at a discount, with a catalyst in our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719115" cy="409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130" y="2292096"/>
            <a:ext cx="1572807" cy="4096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2121461" y="2292096"/>
            <a:ext cx="3547960" cy="409651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9245" y="2292096"/>
            <a:ext cx="3401653" cy="4096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Large generalist activists (e.g. Elliott)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421" y="2292096"/>
            <a:ext cx="3621114" cy="409651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57206" y="2292096"/>
            <a:ext cx="3474806" cy="4096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Athanase — quality-core constructivism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46" y="2701747"/>
            <a:ext cx="1719115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30" y="2701747"/>
            <a:ext cx="1572807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Entry precondition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21461" y="2701747"/>
            <a:ext cx="3547960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09245" y="2701747"/>
            <a:ext cx="3401653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Wide range of situations — breakups, credit, event-driven; business quality often secondary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421" y="2701747"/>
            <a:ext cx="3621114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57206" y="2701747"/>
            <a:ext cx="3474806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Only a market-leading, high-ROIIC core — “attractive even if we change nothing”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46" y="3423513"/>
            <a:ext cx="1719115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30" y="3423513"/>
            <a:ext cx="1572807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Source of return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61" y="3423513"/>
            <a:ext cx="3547960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09245" y="3423513"/>
            <a:ext cx="3401653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Financial / transactional pressure: force a sale, return cash, exit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421" y="3423513"/>
            <a:ext cx="3621114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57206" y="3423513"/>
            <a:ext cx="3474806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Operational refocus of a genuinely good business, from a board seat, over years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46" y="4145280"/>
            <a:ext cx="1719115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30" y="4145280"/>
            <a:ext cx="1572807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What gets fixed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21461" y="4145280"/>
            <a:ext cx="3547960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09245" y="4145280"/>
            <a:ext cx="3401653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The price, the structure, the outcome of a contest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421" y="4145280"/>
            <a:ext cx="3621114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57206" y="4145280"/>
            <a:ext cx="3474806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The capital-allocation overlay — the core already works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4867046"/>
            <a:ext cx="1719115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130" y="4867046"/>
            <a:ext cx="1572807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Margin of safety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21461" y="4867046"/>
            <a:ext cx="3547960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09245" y="4867046"/>
            <a:ext cx="3401653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Winning the campaign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421" y="4867046"/>
            <a:ext cx="3621114" cy="721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57206" y="4867046"/>
            <a:ext cx="3474806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The core’s proven high-ROIIC economics — the hard floor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46" y="5588812"/>
            <a:ext cx="1719115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30" y="5588812"/>
            <a:ext cx="1572807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Cadence &amp; style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61" y="5588812"/>
            <a:ext cx="3547960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09245" y="5588812"/>
            <a:ext cx="3401653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Many simultaneous campaigns, leverage, often confrontational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421" y="5588812"/>
            <a:ext cx="3621114" cy="72176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57206" y="5588812"/>
            <a:ext cx="3474806" cy="7217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~one deal a year, constructive, board-led, mid-cap surgical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46" y="6447129"/>
            <a:ext cx="8924767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The megacap activists left mid-cap surgical engagements behind as they scaled. That hidden-core niche is our lane.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2.10 We don’t need to be right more than ~50%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Because we buy at a discount, not at a 40% control premium.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53" y="2292096"/>
            <a:ext cx="2926153" cy="604723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2292096"/>
            <a:ext cx="2706691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806" y="2292096"/>
            <a:ext cx="2926153" cy="604723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537" y="2292096"/>
            <a:ext cx="2706691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"/>
              </a:rPr>
              <a:t>Private Equity (take-private)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960" y="2292096"/>
            <a:ext cx="2816422" cy="604723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690" y="2292096"/>
            <a:ext cx="2596960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"/>
              </a:rPr>
              <a:t>Athanase (engaged owner)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53" y="2896819"/>
            <a:ext cx="2926153" cy="604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84" y="2896819"/>
            <a:ext cx="2706691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Entry basis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806" y="2896819"/>
            <a:ext cx="2926153" cy="604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537" y="2896819"/>
            <a:ext cx="2706691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$140  (market + 40% premium)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960" y="2896819"/>
            <a:ext cx="2816422" cy="604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690" y="2896819"/>
            <a:ext cx="2596960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$100  (exhaustion price)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53" y="3501542"/>
            <a:ext cx="2926153" cy="60472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84" y="3501542"/>
            <a:ext cx="2706691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Holding period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806" y="3501542"/>
            <a:ext cx="2926153" cy="60472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537" y="3501542"/>
            <a:ext cx="2706691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5 years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960" y="3501542"/>
            <a:ext cx="2816422" cy="60472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690" y="3501542"/>
            <a:ext cx="2596960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3 years (rerating cycle)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53" y="4106265"/>
            <a:ext cx="2926153" cy="604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84" y="4106265"/>
            <a:ext cx="2706691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Value growth required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806" y="4106265"/>
            <a:ext cx="2926153" cy="604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4537" y="4106265"/>
            <a:ext cx="2706691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+148% total growth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960" y="4106265"/>
            <a:ext cx="2816422" cy="604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690" y="4106265"/>
            <a:ext cx="2596960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+73% total growth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53" y="4710988"/>
            <a:ext cx="2926153" cy="60472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84" y="4710988"/>
            <a:ext cx="2706691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Operational success needed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806" y="4710988"/>
            <a:ext cx="2926153" cy="60472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84537" y="4710988"/>
            <a:ext cx="2706691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~85–100% of thesis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960" y="4710988"/>
            <a:ext cx="2816422" cy="60472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690" y="4710988"/>
            <a:ext cx="2596960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~45–55% of thesis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53" y="5510784"/>
            <a:ext cx="8632151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0" i="1">
                <a:solidFill>
                  <a:srgbClr val="314359"/>
                </a:solidFill>
                <a:latin typeface="Arial"/>
              </a:rPr>
              <a:t>A margin-for-error strategy: we win by being directionally right where PE must be precisely perfect.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2.11 The same playbook as mid-market PE — without its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Operational value creation in mid-cap businesses, but in a public wrapper that removes private equity’s structural drags.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719115" cy="3511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130" y="2292096"/>
            <a:ext cx="1572807" cy="3511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2121461" y="2292096"/>
            <a:ext cx="3547960" cy="351129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9245" y="2292096"/>
            <a:ext cx="3401653" cy="3511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Mid-market private equity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421" y="2292096"/>
            <a:ext cx="3621114" cy="351129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57206" y="2292096"/>
            <a:ext cx="3474806" cy="3511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Athanase — engaged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46" y="2643225"/>
            <a:ext cx="1719115" cy="62423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30" y="2643225"/>
            <a:ext cx="1572807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Entry 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21461" y="2643225"/>
            <a:ext cx="3547960" cy="62423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09245" y="2643225"/>
            <a:ext cx="3401653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Market + ~40% control premium — pays up front for the right to fix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421" y="2643225"/>
            <a:ext cx="3621114" cy="62423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57206" y="2643225"/>
            <a:ext cx="3474806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A discount to the core’s value at “shareholder exhaustion” — gets that right for free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46" y="3267456"/>
            <a:ext cx="1719115" cy="6242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30" y="3267456"/>
            <a:ext cx="1572807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Liquidity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61" y="3267456"/>
            <a:ext cx="3547960" cy="6242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09245" y="3267456"/>
            <a:ext cx="3401653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10-year lock-up, blind pool; capital trapped until exit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421" y="3267456"/>
            <a:ext cx="3621114" cy="6242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57206" y="3267456"/>
            <a:ext cx="3474806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Listed, daily-priced positions — LPs keep liquidity and can exit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46" y="3891686"/>
            <a:ext cx="1719115" cy="62423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30" y="3891686"/>
            <a:ext cx="1572807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Fees &amp; capital efficiency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21461" y="3891686"/>
            <a:ext cx="3547960" cy="62423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09245" y="3891686"/>
            <a:ext cx="3401653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2&amp;20 on committed capital; fee drag while undeployed dry powder waits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421" y="3891686"/>
            <a:ext cx="3621114" cy="62423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57206" y="3891686"/>
            <a:ext cx="3474806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Lower fees; capital is deployed, not sitting in a capital-call queue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4515916"/>
            <a:ext cx="1719115" cy="6242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130" y="4515916"/>
            <a:ext cx="1572807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The J-curve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21461" y="4515916"/>
            <a:ext cx="3547960" cy="6242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09245" y="4515916"/>
            <a:ext cx="3401653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Opaque, model-marked write-downs before any mark-up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421" y="4515916"/>
            <a:ext cx="3621114" cy="6242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57206" y="4515916"/>
            <a:ext cx="3474806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Live and visible — a tradable entry point, not a hidden cost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46" y="5140147"/>
            <a:ext cx="1719115" cy="62423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30" y="5140147"/>
            <a:ext cx="1572807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Transparency &amp; control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61" y="5140147"/>
            <a:ext cx="3547960" cy="62423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09245" y="5140147"/>
            <a:ext cx="3401653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Annual mark-to-model; thesis underwritten once at close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421" y="5140147"/>
            <a:ext cx="3621114" cy="62423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57206" y="5140147"/>
            <a:ext cx="3474806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Daily public scoreboard; board control secures cash flow, capex and pay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46" y="5764377"/>
            <a:ext cx="1719115" cy="6242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0130" y="5764377"/>
            <a:ext cx="1572807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Scalability for 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21461" y="5764377"/>
            <a:ext cx="3547960" cy="6242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09245" y="5764377"/>
            <a:ext cx="3401653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Rational to skip: 10× more capital per buyout, richer fees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421" y="5764377"/>
            <a:ext cx="3621114" cy="6242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57206" y="5764377"/>
            <a:ext cx="3474806" cy="6242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Exactly why the niche stays open — little competition for these assets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46" y="6564172"/>
            <a:ext cx="8924767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Private-equity-style operational turnarounds, imported into public markets — keeping the liquidity, transparency and lower fees PE gives up.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2.12 A risk system built to avoid permanent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Predictability, price and influence combined to lower risk systematically.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2292096"/>
            <a:ext cx="4279499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THE VALUATION FLOOR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Enter only at “shareholder surrender” — dried-up liquidity and long-term price lows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Value only the rectifiable core; assign zero to “growth trap” divisions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Creates a structural 30–40% margin of safety vs a PE bidder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8" y="2292096"/>
            <a:ext cx="4242922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THE BOARD-LEVEL KILL SWITCH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Secure board seats and chairmanships as a prerequisite — not proxy threats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Mandated rectification: freeze prestige projects the moment the macro shifts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Automatic risk metrics (10/20/30% triggers) remove portfolio-manager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6193536"/>
            <a:ext cx="8632151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Core &amp; satellite: a 30-stock equal-weighted core index compounds capital; 8–12 concentrated ideas must clear a 12% IRR hurdle and a ≤20% downside gate.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Strategic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2.13 The visible risks are the engine — not the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From “corporate raider” to “industrial constructivist”: reputational friction and the public J-curve source the alpha and protect it from arbitrage.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2292096"/>
            <a:ext cx="8705305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69422" indent="-169422">
              <a:lnSpc>
                <a:spcPct val="112000"/>
              </a:lnSpc>
              <a:spcAft>
                <a:spcPts val="11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</a:t>
            </a:r>
            <a:r>
              <a:rPr sz="1160" b="1">
                <a:solidFill>
                  <a:srgbClr val="314359"/>
                </a:solidFill>
                <a:latin typeface="Arial"/>
              </a:rPr>
              <a:t>Friction is the catalyst.</a:t>
            </a:r>
            <a:r>
              <a:rPr sz="1160">
                <a:solidFill>
                  <a:srgbClr val="0E1620"/>
                </a:solidFill>
                <a:latin typeface="Arial"/>
              </a:rPr>
              <a:t>  Quiet engagement does not reprice a stock; public engagement forces the market to re-rate — and a 20-year reputation pulls sophisticated capital in behind us (the coattail effect).</a:t>
            </a:r>
          </a:p>
          <a:p>
            <a:pPr marL="169422" indent="-169422">
              <a:lnSpc>
                <a:spcPct val="112000"/>
              </a:lnSpc>
              <a:spcAft>
                <a:spcPts val="11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</a:t>
            </a:r>
            <a:r>
              <a:rPr sz="1160" b="1">
                <a:solidFill>
                  <a:srgbClr val="314359"/>
                </a:solidFill>
                <a:latin typeface="Arial"/>
              </a:rPr>
              <a:t>The discomfort is the moat.</a:t>
            </a:r>
            <a:r>
              <a:rPr sz="1160">
                <a:solidFill>
                  <a:srgbClr val="0E1620"/>
                </a:solidFill>
                <a:latin typeface="Arial"/>
              </a:rPr>
              <a:t>  Few managers have the industrial background and stamina to wage a multi-year campaign — so headline-shy capital leaves a persistent pricing inefficiency for those who will.</a:t>
            </a:r>
          </a:p>
          <a:p>
            <a:pPr marL="169422" indent="-169422">
              <a:lnSpc>
                <a:spcPct val="112000"/>
              </a:lnSpc>
              <a:spcAft>
                <a:spcPts val="11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</a:t>
            </a:r>
            <a:r>
              <a:rPr sz="1160" b="1">
                <a:solidFill>
                  <a:srgbClr val="314359"/>
                </a:solidFill>
                <a:latin typeface="Arial"/>
              </a:rPr>
              <a:t>A board seat de-risks the asset.</a:t>
            </a:r>
            <a:r>
              <a:rPr sz="1160">
                <a:solidFill>
                  <a:srgbClr val="0E1620"/>
                </a:solidFill>
                <a:latin typeface="Arial"/>
              </a:rPr>
              <a:t>  We trade optical, mark-to-market volatility for direct control of cash flow, capex and pay. Fundamental risk falls the moment control is secured — whatever the share price does.</a:t>
            </a:r>
          </a:p>
          <a:p>
            <a:pPr marL="169422" indent="-169422">
              <a:lnSpc>
                <a:spcPct val="112000"/>
              </a:lnSpc>
              <a:spcAft>
                <a:spcPts val="11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</a:t>
            </a:r>
            <a:r>
              <a:rPr sz="1160" b="1">
                <a:solidFill>
                  <a:srgbClr val="314359"/>
                </a:solidFill>
                <a:latin typeface="Arial"/>
              </a:rPr>
              <a:t>The J-curve is tradable, not painful.</a:t>
            </a:r>
            <a:r>
              <a:rPr sz="1160">
                <a:solidFill>
                  <a:srgbClr val="0E1620"/>
                </a:solidFill>
                <a:latin typeface="Arial"/>
              </a:rPr>
              <a:t>  Unlike PE’s accounting J-curve, ours is live and observable — an engineered entry point (and a co-invest “free look”) at de-risked governance at distressed prices.</a:t>
            </a:r>
          </a:p>
          <a:p>
            <a:pPr marL="169422" indent="-169422">
              <a:lnSpc>
                <a:spcPct val="112000"/>
              </a:lnSpc>
              <a:spcAft>
                <a:spcPts val="11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</a:t>
            </a:r>
            <a:r>
              <a:rPr sz="1160" b="1">
                <a:solidFill>
                  <a:srgbClr val="314359"/>
                </a:solidFill>
                <a:latin typeface="Arial"/>
              </a:rPr>
              <a:t>Public scoreboard, daily.</a:t>
            </a:r>
            <a:r>
              <a:rPr sz="1160">
                <a:solidFill>
                  <a:srgbClr val="0E1620"/>
                </a:solidFill>
                <a:latin typeface="Arial"/>
              </a:rPr>
              <a:t>  There is nowhere to hide poor capital allocation — the discipline behind a 92% deal-level hit rate over 20 years.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Strategic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2.14 A non-linear path — honestly priced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Public engaged ownership marks to market every day. The destination is the multiple; the route is rarely a straight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535537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1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</a:t>
            </a:r>
            <a:r>
              <a:rPr sz="1080" b="1">
                <a:solidFill>
                  <a:srgbClr val="314359"/>
                </a:solidFill>
                <a:latin typeface="Arial"/>
              </a:rPr>
              <a:t>Value moves over the holding period.</a:t>
            </a:r>
            <a:r>
              <a:rPr sz="1080">
                <a:solidFill>
                  <a:srgbClr val="0E1620"/>
                </a:solidFill>
                <a:latin typeface="Arial"/>
              </a:rPr>
              <a:t>  A 5× outcome is realised over years — the interim mark moves with the market, the cycle and the campaign. It is a journey, not a coupon.</a:t>
            </a:r>
          </a:p>
          <a:p>
            <a:pPr marL="157738" indent="-157738">
              <a:lnSpc>
                <a:spcPct val="112000"/>
              </a:lnSpc>
              <a:spcAft>
                <a:spcPts val="11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</a:t>
            </a:r>
            <a:r>
              <a:rPr sz="1080" b="1">
                <a:solidFill>
                  <a:srgbClr val="314359"/>
                </a:solidFill>
                <a:latin typeface="Arial"/>
              </a:rPr>
              <a:t>PE looks smooth because it is appraised, not traded.</a:t>
            </a:r>
            <a:r>
              <a:rPr sz="1080">
                <a:solidFill>
                  <a:srgbClr val="0E1620"/>
                </a:solidFill>
                <a:latin typeface="Arial"/>
              </a:rPr>
              <a:t>  Infrequent, model-based marks understate true economic volatility — “volatility laundering.” Marked daily, a levered buyout would swing as much or more.</a:t>
            </a:r>
          </a:p>
          <a:p>
            <a:pPr marL="157738" indent="-157738">
              <a:lnSpc>
                <a:spcPct val="112000"/>
              </a:lnSpc>
              <a:spcAft>
                <a:spcPts val="11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</a:t>
            </a:r>
            <a:r>
              <a:rPr sz="1080" b="1">
                <a:solidFill>
                  <a:srgbClr val="314359"/>
                </a:solidFill>
                <a:latin typeface="Arial"/>
              </a:rPr>
              <a:t>Same economics, honest optics.</a:t>
            </a:r>
            <a:r>
              <a:rPr sz="1080">
                <a:solidFill>
                  <a:srgbClr val="0E1620"/>
                </a:solidFill>
                <a:latin typeface="Arial"/>
              </a:rPr>
              <a:t>  We hold the same kind of assets PE does — we simply report them at live prices and accept the J-curve as the toll paid for liquidity.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157345" y="2243328"/>
          <a:ext cx="4316075" cy="38039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157345" y="6144768"/>
            <a:ext cx="431607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Illustrative. Both reach the same value; only the public line shows the honest interim drawdown.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Strategic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2.15 Risk reframing for the investment committee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What the committee sees on the surface — versus what it is actually underwriting.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3328499" cy="546201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38" y="2292096"/>
            <a:ext cx="3152930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What the IC sees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67422" y="2292096"/>
            <a:ext cx="5523114" cy="546201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9837" y="2292096"/>
            <a:ext cx="5347544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What it is actually underwriting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22" y="2838297"/>
            <a:ext cx="3328499" cy="54620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38" y="2838297"/>
            <a:ext cx="3152930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Reputational / headline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7422" y="2838297"/>
            <a:ext cx="5523114" cy="54620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9837" y="2838297"/>
            <a:ext cx="5347544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The catalyst that forces repricing — and a moat that keeps competitors 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22" y="3384499"/>
            <a:ext cx="3328499" cy="5462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338" y="3384499"/>
            <a:ext cx="3152930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Public J-curve &amp; mark-to-market drawdown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7422" y="3384499"/>
            <a:ext cx="5523114" cy="5462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9837" y="3384499"/>
            <a:ext cx="5347544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A live, tradable entry into an asset already de-risked by board control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22" y="3930700"/>
            <a:ext cx="3328499" cy="54620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38" y="3930700"/>
            <a:ext cx="3152930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~50% peak-to-trough swings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7422" y="3930700"/>
            <a:ext cx="5523114" cy="54620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9837" y="3930700"/>
            <a:ext cx="5347544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Optical volatility; two such drawdowns fully recovered (2010, 2020) · Sortino 2.40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22" y="4476902"/>
            <a:ext cx="3328499" cy="5462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338" y="4476902"/>
            <a:ext cx="3152930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Concentration in 8–12 names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67422" y="4476902"/>
            <a:ext cx="5523114" cy="5462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69837" y="4476902"/>
            <a:ext cx="5347544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Deliberate conviction sizing — the skill (85.7% hit on ≥10% names; +0.73)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22" y="5023104"/>
            <a:ext cx="3328499" cy="54620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338" y="5023104"/>
            <a:ext cx="3152930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“Catching a falling knife”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67422" y="5023104"/>
            <a:ext cx="5523114" cy="54620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69837" y="5023104"/>
            <a:ext cx="5347544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Hard-floor valuation gates; entry below the value of the rectifiable 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22" y="5569305"/>
            <a:ext cx="3328499" cy="5462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1338" y="5569305"/>
            <a:ext cx="3152930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Single-name dependence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67422" y="5569305"/>
            <a:ext cx="5523114" cy="5462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69837" y="5569305"/>
            <a:ext cx="5347544" cy="5462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One ≥5× MOIC win every ~2 years; competitive even excluding the largest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22" y="6261811"/>
            <a:ext cx="8851613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The IC is not paying for safety. It is paying for proven willingness to take compensated discomfort — +6 percentage points per year, net of every fee, for 20 years.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2.16 Proof: outperformance with downside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2076" y="1901952"/>
          <a:ext cx="5193921" cy="40965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25460" y="1999488"/>
            <a:ext cx="3365076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What downside protection means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In the market’s down months Athanase fell ~1.5% on average versus the market’s ~3.8% — losing less than half as much when it matters.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Positive when the market wasn’t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Across the six worst years for global equities, Athanase outperformed in five — and stayed positive in two: +9% in 2015 and +0.3% in 2022, while the market fell −6% and −20%.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Why it compounds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Losing less in drawdowns leaves more capital working in the recovery — the engine behind ~18x growth vs ~14x for MSCI IMI since 2006.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2.17 AIP Fund II — transactions (2015–present)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Each position shown against its benchmark; invested capital weighted MOIC of 2.2x.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53" y="2292096"/>
            <a:ext cx="2414076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176" y="2292096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2730" y="2292096"/>
            <a:ext cx="1463076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1253" y="2292096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Holding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806" y="2292096"/>
            <a:ext cx="1243615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4329" y="2292096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IRR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421" y="2292096"/>
            <a:ext cx="1243615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27944" y="2292096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MOIC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13036" y="2292096"/>
            <a:ext cx="1463076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1560" y="2292096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vs Index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53" y="2498871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76" y="2498871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Bufab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62730" y="2498871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21253" y="2498871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25806" y="2498871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4329" y="2498871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421" y="2498871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7944" y="2498871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2.0x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3036" y="2498871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1560" y="2498871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53" y="2705646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7176" y="2705646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DistIt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2730" y="2705646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1253" y="2705646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5806" y="2705646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4329" y="2705646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421" y="2705646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27944" y="2705646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13036" y="2705646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1560" y="2705646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-1%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53" y="2912422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7176" y="2912422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Ngex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62730" y="2912422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1253" y="2912422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25806" y="2912422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4329" y="2912422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69%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421" y="2912422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27944" y="2912422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6.2x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13036" y="2912422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71560" y="2912422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+59%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53" y="3119197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7176" y="3119197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Alcadon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62730" y="3119197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21253" y="3119197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25806" y="3119197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4329" y="3119197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74%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421" y="3119197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27944" y="3119197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1.7x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3036" y="3119197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71560" y="3119197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+65%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53" y="3325973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7176" y="3325973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Tempest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62730" y="3325973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21253" y="3325973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25806" y="3325973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4329" y="3325973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12%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421" y="3325973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27944" y="3325973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13036" y="3325973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71560" y="3325973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+3%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53" y="3532748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7176" y="3532748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Zalaris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62730" y="3532748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21253" y="3532748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25806" y="3532748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84329" y="3532748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421" y="3532748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27944" y="3532748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1.5x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13036" y="3532748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71560" y="3532748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+16%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53" y="3739524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7176" y="3739524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Zutec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62730" y="3739524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21253" y="3739524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5806" y="3739524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84329" y="3739524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38%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421" y="3739524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27944" y="3739524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2.8x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13036" y="3739524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971560" y="3739524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53" y="3946299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7176" y="3946299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Roko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62730" y="3946299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21253" y="3946299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2019-2025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25806" y="3946299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84329" y="3946299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28%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421" y="3946299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727944" y="3946299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5.1x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13036" y="3946299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71560" y="3946299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+18%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53" y="4153075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07176" y="4153075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Catella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62730" y="4153075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21253" y="4153075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2020-2025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425806" y="4153075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484329" y="4153075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12%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669421" y="4153075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727944" y="4153075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913036" y="4153075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971560" y="4153075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653" y="4359850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07176" y="4359850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962730" y="4359850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021253" y="4359850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2020-2025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425806" y="4359850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484329" y="4359850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n.m.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669421" y="4359850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727944" y="4359850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5.4x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913036" y="4359850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971560" y="4359850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n.m.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8653" y="4566626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07176" y="4566626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Renold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962730" y="4566626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021253" y="4566626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2024-2025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425806" y="4566626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484329" y="4566626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220%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69421" y="4566626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727944" y="4566626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1.6x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913036" y="4566626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971560" y="4566626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+211%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48653" y="4773401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07176" y="4773401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Actic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962730" y="4773401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021253" y="4773401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2017-2023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425806" y="4773401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84329" y="4773401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-27%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669421" y="4773401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727944" y="4773401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0.4x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913036" y="4773401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971560" y="4773401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-33%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48653" y="4980177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07176" y="4980177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Haldex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62730" y="4980177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021253" y="4980177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2019-2022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425806" y="4980177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484329" y="4980177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36%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669421" y="4980177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727944" y="4980177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1.6x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913036" y="4980177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971560" y="4980177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+33%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48653" y="5186952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07176" y="5186952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Robit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962730" y="5186952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021253" y="5186952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425806" y="5186952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484329" y="5186952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14%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669421" y="5186952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727944" y="5186952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1.4x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913036" y="5186952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971560" y="5186952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+8%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8653" y="5393728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07176" y="5393728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Kitron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962730" y="539372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021253" y="5393728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2016-2018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425806" y="539372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484329" y="5393728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40%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669421" y="539372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727944" y="5393728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1.5x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913036" y="539372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971560" y="5393728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+16%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48653" y="5600503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07176" y="5600503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Sandvik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962730" y="5600503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021253" y="5600503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2015-2017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425806" y="5600503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484329" y="5600503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49%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669421" y="5600503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727944" y="5600503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1.6x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913036" y="5600503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971560" y="5600503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+43%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48653" y="5807278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07176" y="5807278"/>
            <a:ext cx="2326291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Transcom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962730" y="580727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021253" y="5807278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2015-2016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425806" y="580727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484329" y="5807278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80%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669421" y="580727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727944" y="5807278"/>
            <a:ext cx="1155830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1.7x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913036" y="580727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971560" y="5807278"/>
            <a:ext cx="1375292" cy="206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+80%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48653" y="6111590"/>
            <a:ext cx="7827459" cy="33162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58384" y="6111590"/>
            <a:ext cx="7607998" cy="3316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FFFFFF"/>
                </a:solidFill>
                <a:latin typeface="Arial"/>
              </a:rPr>
              <a:t>17 deals   ·   weighted MOIC 2.2x   ·   ex best/worst IRR 41% vs index ~9%   ·   36 of 39 deals profitable since 2006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48653" y="6521241"/>
            <a:ext cx="8632151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IRR/MOIC net of the position; “n.m.” where short holding periods make annualised figures not meaningful. Capital in SEK.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2.18 Prior period — transactions (2006–2014)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same strategy, the prior fund — repeatable across two decades and multiple cycles.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1975153" cy="2779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7446" y="2292096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4076" y="2292096"/>
            <a:ext cx="1060730" cy="2779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2599" y="2292096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IRR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806" y="2292096"/>
            <a:ext cx="1060730" cy="2779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3329" y="2292096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MOIC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22" y="2570072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46" y="2570072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Bilia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14076" y="2570072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72599" y="2570072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806" y="2570072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3329" y="2570072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2.9x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22" y="2848049"/>
            <a:ext cx="1975153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46" y="2848049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Concentric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14076" y="2848049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2599" y="2848049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81%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806" y="2848049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3329" y="2848049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3.9x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22" y="3126025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7446" y="3126025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eWork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14076" y="3126025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72599" y="3126025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806" y="3126025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3329" y="3126025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4.4x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22" y="3404002"/>
            <a:ext cx="1975153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46" y="3404002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Haldex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14076" y="3404002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72599" y="3404002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94%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806" y="3404002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33329" y="3404002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5.5x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22" y="3681978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7446" y="3681978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Lindab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14076" y="3681978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72599" y="3681978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806" y="3681978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33329" y="3681978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22" y="3959955"/>
            <a:ext cx="1975153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7446" y="3959955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Note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14076" y="3959955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72599" y="3959955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806" y="3959955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33329" y="3959955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5.1x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22" y="4237931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7446" y="4237931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Transcom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14076" y="4237931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72599" y="4237931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13%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806" y="4237931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33329" y="4237931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1.3x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22" y="4515908"/>
            <a:ext cx="1975153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7446" y="4515908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Global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14076" y="4515908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72599" y="4515908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806" y="4515908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33329" y="4515908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1.5x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22" y="4793884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7446" y="4793884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Ferronordic Machines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14076" y="4793884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72599" y="4793884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43%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806" y="4793884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33329" y="4793884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2.0x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922" y="5071861"/>
            <a:ext cx="1975153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7446" y="5071861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Klarna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14076" y="5071861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72599" y="5071861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108%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74806" y="5071861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33329" y="5071861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28.2x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8922" y="5349837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7446" y="5349837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Acne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14076" y="5349837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72599" y="5349837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29%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74806" y="5349837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33329" y="5349837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5.5x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84191" y="2292096"/>
            <a:ext cx="1975153" cy="2779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42714" y="2292096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59344" y="2292096"/>
            <a:ext cx="1060730" cy="2779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17867" y="2292096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IRR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20075" y="2292096"/>
            <a:ext cx="1060730" cy="2779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78598" y="2292096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MOIC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84191" y="2570072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42714" y="2570072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Usports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59344" y="2570072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17867" y="2570072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-51%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120075" y="2570072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78598" y="2570072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0.3x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84191" y="2848049"/>
            <a:ext cx="1975153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42714" y="2848049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Catena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59344" y="2848049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117867" y="2848049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n.m.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20075" y="2848049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78598" y="2848049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3.1x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84191" y="3126025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142714" y="3126025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Tigerholm Products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59344" y="3126025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17867" y="3126025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111%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120075" y="3126025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178598" y="3126025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1.4x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84191" y="3404002"/>
            <a:ext cx="1975153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142714" y="3404002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Avanza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059344" y="3404002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117867" y="3404002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34%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120075" y="3404002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78598" y="3404002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8.4x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84191" y="3681978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142714" y="3681978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Fabege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59344" y="3681978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117867" y="3681978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25%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120075" y="3681978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178598" y="3681978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2.3x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84191" y="3959955"/>
            <a:ext cx="1975153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142714" y="3959955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Johnson Pump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059344" y="3959955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117867" y="3959955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52%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120075" y="3959955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78598" y="3959955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3.0x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084191" y="4237931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142714" y="4237931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Klövern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059344" y="4237931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117867" y="4237931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18%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120075" y="4237931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178598" y="4237931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2.1x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84191" y="4515908"/>
            <a:ext cx="1975153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42714" y="4515908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Nobia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059344" y="4515908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17867" y="4515908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8%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120075" y="4515908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178598" y="4515908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1.4x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084191" y="4793884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142714" y="4793884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SkiStar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059344" y="4793884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117867" y="4793884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120075" y="4793884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178598" y="4793884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5.4x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084191" y="5071861"/>
            <a:ext cx="1975153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142714" y="5071861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Brokk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059344" y="5071861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117867" y="5071861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74%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20075" y="5071861"/>
            <a:ext cx="1060730" cy="277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178598" y="5071861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5.2x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84191" y="5349837"/>
            <a:ext cx="1975153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142714" y="5349837"/>
            <a:ext cx="1887368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HQ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059344" y="5349837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117867" y="5349837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-5%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120075" y="5349837"/>
            <a:ext cx="1060730" cy="2779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178598" y="5349837"/>
            <a:ext cx="972945" cy="277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0.6x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38922" y="5754624"/>
            <a:ext cx="8083498" cy="33162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48653" y="5754624"/>
            <a:ext cx="7827459" cy="3316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FFFFFF"/>
                </a:solidFill>
                <a:latin typeface="Arial"/>
              </a:rPr>
              <a:t>22 deals   ·   weighted MOIC 2.7x   ·   average IRR 68%   ·   index outperformance +25 pts (invested-weighted)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38922" y="6778752"/>
            <a:ext cx="8632151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Selected larger deals of the investment team. Losses shown in italic. Capital in SEK; ~$400M invested over the period.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Independent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2.19 Independently validated: 20 years, net of every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prospective LP’s investment committee reconciled the security-level (StatPro) data and the 236-month LP-level NET return series.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53" y="2545689"/>
            <a:ext cx="2158037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+1,402%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cumulative NET return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over 19.7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836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8368" y="2545689"/>
            <a:ext cx="2158037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+14.8%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NET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(time-weighted, all fees)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808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8083" y="2545689"/>
            <a:ext cx="2158037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+6.0 pts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alpha,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net, for 20 years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779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7798" y="2545689"/>
            <a:ext cx="2158037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3.11×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the relevant equity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4291582"/>
            <a:ext cx="8705305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</a:t>
            </a:r>
            <a:r>
              <a:rPr sz="1120" b="1">
                <a:solidFill>
                  <a:srgbClr val="314359"/>
                </a:solidFill>
                <a:latin typeface="Arial"/>
              </a:rPr>
              <a:t>Two full cycles, survived.</a:t>
            </a:r>
            <a:r>
              <a:rPr sz="1120">
                <a:solidFill>
                  <a:srgbClr val="0E1620"/>
                </a:solidFill>
                <a:latin typeface="Arial"/>
              </a:rPr>
              <a:t>  Drawdowns of −52.8% (2008, recovered by 2010) and −45.9% (2017–2020, recovered by Sep 2020) — navigated live with the same philosophy, not back-tested.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</a:t>
            </a:r>
            <a:r>
              <a:rPr sz="1120" b="1">
                <a:solidFill>
                  <a:srgbClr val="314359"/>
                </a:solidFill>
                <a:latin typeface="Arial"/>
              </a:rPr>
              <a:t>Top-tier downside-adjusted return.</a:t>
            </a:r>
            <a:r>
              <a:rPr sz="1120">
                <a:solidFill>
                  <a:srgbClr val="0E1620"/>
                </a:solidFill>
                <a:latin typeface="Arial"/>
              </a:rPr>
              <a:t>  20-year Sortino 1.54; AIPFII Sortino 2.40, with upside volatility 3.9× the downside.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</a:t>
            </a:r>
            <a:r>
              <a:rPr sz="1120" b="1">
                <a:solidFill>
                  <a:srgbClr val="314359"/>
                </a:solidFill>
                <a:latin typeface="Arial"/>
              </a:rPr>
              <a:t>Realised cash, not marks.</a:t>
            </a:r>
            <a:r>
              <a:rPr sz="1120">
                <a:solidFill>
                  <a:srgbClr val="0E1620"/>
                </a:solidFill>
                <a:latin typeface="Arial"/>
              </a:rPr>
              <a:t>  The largest contributors are realised LP cash — removing the mark-to-model objection.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6778752"/>
            <a:ext cx="8632151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Source: independent institutional due-diligence review, May 2026, on StatPro security-level data and LP-level NET monthly returns (2006–2026).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Independent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2.20 Repeatable and conviction-sized — not lucky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review tested the “you can’t rely on the big winners” objection directly against 39 deals over 20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2292096"/>
            <a:ext cx="4279499" cy="448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REPEATABLE</a:t>
            </a:r>
          </a:p>
          <a:p>
            <a:pPr algn="l">
              <a:lnSpc>
                <a:spcPct val="113000"/>
              </a:lnSpc>
              <a:spcAft>
                <a:spcPts val="11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92% deal-level hit rate (36 of 39 profitable); losses ~8% of cumulative invested capital</a:t>
            </a:r>
          </a:p>
          <a:p>
            <a:pPr algn="l">
              <a:lnSpc>
                <a:spcPct val="113000"/>
              </a:lnSpc>
              <a:spcAft>
                <a:spcPts val="11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10 of 39 deals returned ≥5× MOIC — one such win every ~2 years</a:t>
            </a:r>
          </a:p>
          <a:p>
            <a:pPr algn="l">
              <a:lnSpc>
                <a:spcPct val="113000"/>
              </a:lnSpc>
              <a:spcAft>
                <a:spcPts val="11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Two decade-definers, not one: Klarna 28× (2007) and Athanase Tech 5.4× (2021)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8" y="2292096"/>
            <a:ext cx="4279499" cy="448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CONVICTION-SIZED (THE SKILL SIGNAL)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The 7 positions ever sized ≥10% of NAV hit at 85.7% and contributed +209 pts — ~77% of the positive book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+0.73 rank correlation between position size and outcome within winners — they size their best ideas biggest</a:t>
            </a:r>
          </a:p>
          <a:p>
            <a:pPr algn="l">
              <a:lnSpc>
                <a:spcPct val="113000"/>
              </a:lnSpc>
              <a:spcAft>
                <a:spcPts val="9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Win/loss asymmetry: average winner 2.74× the average loser; +333 pts of winners vs −61 pts of losers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6193536"/>
            <a:ext cx="8632151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“The team has done this twice in 20 years, not once — the ‘every 10–20 years’ objection is empirically unsupportable.”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Allocation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2.21 Why a non-linear path won’t get you fired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Career risk is managed by mandate design — not by hoping the line goes straight.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2292096"/>
            <a:ext cx="4279499" cy="448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SIZE AND STRUCTURE IT RIGHT</a:t>
            </a:r>
          </a:p>
          <a:p>
            <a:pPr algn="l">
              <a:lnSpc>
                <a:spcPct val="113000"/>
              </a:lnSpc>
              <a:spcAft>
                <a:spcPts val="10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Size at 1–3% of total assets in a special-situations sleeve — no single mark can dominate the portfolio or force action</a:t>
            </a:r>
          </a:p>
          <a:p>
            <a:pPr algn="l">
              <a:lnSpc>
                <a:spcPct val="113000"/>
              </a:lnSpc>
              <a:spcAft>
                <a:spcPts val="10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Pre-agree a ~50% mark-to-market drawdown tolerance with the IC at commitment; align reporting to the multi-year holding cycle, not monthly marks</a:t>
            </a:r>
          </a:p>
          <a:p>
            <a:pPr algn="l">
              <a:lnSpc>
                <a:spcPct val="113000"/>
              </a:lnSpc>
              <a:spcAft>
                <a:spcPts val="10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Define reallocation triggers in advance — manager turnover, style drift, weaker sizing discipline — never the share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8" y="2292096"/>
            <a:ext cx="4279499" cy="448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JUDGE THE RIGHT THING</a:t>
            </a:r>
          </a:p>
          <a:p>
            <a:pPr algn="l">
              <a:lnSpc>
                <a:spcPct val="113000"/>
              </a:lnSpc>
              <a:spcAft>
                <a:spcPts val="10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Underwrite whether business risk is falling — board seat secured, cash-flow control — not whether the news flow looks calm</a:t>
            </a:r>
          </a:p>
          <a:p>
            <a:pPr algn="l">
              <a:lnSpc>
                <a:spcPct val="113000"/>
              </a:lnSpc>
              <a:spcAft>
                <a:spcPts val="10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The big winners are realised LP cash, not marks: the value is bankable, not modelled</a:t>
            </a:r>
          </a:p>
          <a:p>
            <a:pPr algn="l">
              <a:lnSpc>
                <a:spcPct val="113000"/>
              </a:lnSpc>
              <a:spcAft>
                <a:spcPts val="1000"/>
              </a:spcAft>
            </a:pPr>
            <a:r>
              <a:rPr sz="1120" b="0" i="0">
                <a:solidFill>
                  <a:srgbClr val="0E1620"/>
                </a:solidFill>
                <a:latin typeface="Arial"/>
              </a:rPr>
              <a:t>Two ~50% drawdowns have already been recovered with the same philosophy — the path has been bumpy before and still paid +6 pts/yr 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53" y="6096000"/>
            <a:ext cx="8668728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61" y="6096000"/>
            <a:ext cx="8376113" cy="604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1">
                <a:solidFill>
                  <a:srgbClr val="FFFFFF"/>
                </a:solidFill>
                <a:latin typeface="Arial"/>
              </a:rPr>
              <a:t>A pre-underwritten, correctly-sized, fundamentally-monitored allocation turns a bad quarter into “as expected” — not a surprise that invites blame.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Portfolio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2.22 What it does to an allocator’s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Illustrative: redirecting a sleeve into Athanase rather than a long-only global fund or another activist.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22" y="2340864"/>
          <a:ext cx="4901306" cy="40965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3526014" y="2896819"/>
            <a:ext cx="12192" cy="2926080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4476" y="2643225"/>
            <a:ext cx="14630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Down-market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537" y="4392177"/>
            <a:ext cx="1170461" cy="2535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Athanase: 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537" y="5248689"/>
            <a:ext cx="1170461" cy="2535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556A83"/>
                </a:solidFill>
                <a:latin typeface="Arial"/>
              </a:rPr>
              <a:t>Long-only: −19%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575" y="2828544"/>
            <a:ext cx="9509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575" y="4584192"/>
            <a:ext cx="9509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271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575" y="5169408"/>
            <a:ext cx="9509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883" y="2340864"/>
            <a:ext cx="3365076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Table 9.  Annual uplift to TOTAL-portfolio return (bps), by sleeve 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88883" y="2896819"/>
            <a:ext cx="1097307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2037" y="2896819"/>
            <a:ext cx="98026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Sleeve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6190" y="2896819"/>
            <a:ext cx="1133884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344" y="2896819"/>
            <a:ext cx="1016838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Long-only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0075" y="2896819"/>
            <a:ext cx="1426499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228" y="2896819"/>
            <a:ext cx="1309453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Other activist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8883" y="3345484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2037" y="3345484"/>
            <a:ext cx="98026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86190" y="3345484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9344" y="3345484"/>
            <a:ext cx="1016838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+31 bps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0075" y="3345484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228" y="3345484"/>
            <a:ext cx="1309453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+23 bps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88883" y="3794150"/>
            <a:ext cx="1097307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2037" y="3794150"/>
            <a:ext cx="98026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86190" y="3794150"/>
            <a:ext cx="1133884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344" y="3794150"/>
            <a:ext cx="1016838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+52 bps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0075" y="3794150"/>
            <a:ext cx="1426499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228" y="3794150"/>
            <a:ext cx="1309453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+38 bps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8883" y="4242816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62037" y="4242816"/>
            <a:ext cx="98026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6190" y="4242816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344" y="4242816"/>
            <a:ext cx="1016838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+83 bps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0075" y="4242816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3228" y="4242816"/>
            <a:ext cx="1309453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+60 bps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88883" y="4847539"/>
            <a:ext cx="33650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HOW THE PATH IS EARNED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88883" y="5140147"/>
            <a:ext cx="3365076" cy="2145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The smooth line is not won by chasing rallies. On average monthly returns (p.17), Athanase roughly matches the market up (1.2% vs 1.3%) but protects sharply down (+0.2% vs −1.7%).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Losing less in the down months — not winning more up — is what compounds the lines apart: a steadier path, not just a higher 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22" y="6973824"/>
            <a:ext cx="6510690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Illustrative only; not a projection. Athanase 18% (headline net IRR); other activist 10.5%; long-only 7.6% (MSCI IMI). Uplift = sleeve × return spread; growth = annual compounding. Past performance ≠ future results.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2.23 Lower downside risk compounds into better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Athanase carries higher total volatility than the market — but its downside volatility is lower, which is what protects compounding.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30" y="2428646"/>
            <a:ext cx="259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ANNUALISED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30" y="2740761"/>
            <a:ext cx="2596960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6.1%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16.0%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2591" y="2428646"/>
            <a:ext cx="259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TOTAL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591" y="2740761"/>
            <a:ext cx="2596960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16.3%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27.0%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3644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9952" y="2428646"/>
            <a:ext cx="259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DOWNSIDE VOLATILITY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9952" y="2740761"/>
            <a:ext cx="2596960" cy="78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11.5%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10.9%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360" y="3579571"/>
            <a:ext cx="2889576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152130"/>
                </a:solidFill>
                <a:latin typeface="Arial"/>
              </a:rPr>
              <a:t>↑ Athanase downside volatility is LOWER than the market’s.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22" y="3901440"/>
            <a:ext cx="87784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EXPECTED VALUE OF 100 INVESTED, BY HOLDING PERIOD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94048"/>
            <a:ext cx="2560384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707" y="4194048"/>
            <a:ext cx="2414076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999307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7091" y="4194048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3 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8148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5933" y="4194048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5 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6990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4775" y="4194048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7 years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35832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3617" y="4194048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10 years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22" y="4535424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6707" y="4535424"/>
            <a:ext cx="2414076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Median outcome — MSCI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99307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72460" y="4535424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8148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51302" y="4535424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134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6990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0144" y="4535424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151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35832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08986" y="4535424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22" y="4876800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6707" y="4876800"/>
            <a:ext cx="2414076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Median outcome — Athanase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99307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72460" y="4876800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156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8148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51302" y="4876800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56990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0144" y="4876800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283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35832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08986" y="4876800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443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22" y="5218176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6707" y="5218176"/>
            <a:ext cx="2414076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Adverse case* — MSCI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99307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72460" y="5218176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98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8148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51302" y="5218176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105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56990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0144" y="5218176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35832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08986" y="5218176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22" y="5559552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6707" y="5559552"/>
            <a:ext cx="2414076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Adverse case* — Athanase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99307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72460" y="5559552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132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8148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51302" y="5559552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56990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30144" y="5559552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35832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08986" y="5559552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328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22" y="5900928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6707" y="5900928"/>
            <a:ext cx="2414076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Chance of a loss — MSCI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99307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72460" y="5900928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8148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51302" y="5900928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56990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0144" y="5900928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35832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08986" y="5900928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5%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22" y="6242304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6707" y="6242304"/>
            <a:ext cx="2414076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Chance of a loss — Athanase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99307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72460" y="6242304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8148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51302" y="6242304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6990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30144" y="6242304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35832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808986" y="6242304"/>
            <a:ext cx="1432534" cy="341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8922" y="6661708"/>
            <a:ext cx="8873559" cy="37063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0599" y="6661708"/>
            <a:ext cx="8632151" cy="3706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1">
                <a:solidFill>
                  <a:srgbClr val="FFFFFF"/>
                </a:solidFill>
                <a:latin typeface="Arial"/>
              </a:rPr>
              <a:t>Even in the adverse case, Athanase’s lower downside volatility leaves an investor ahead at every horizon — and the gap widens with time.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22" y="7110374"/>
            <a:ext cx="921738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*Adverse case = one downside-deviation outcome (≈1-in-6), narrowing with horizon as dd/√T. Illustrative; past performance is not indicative of future results.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2.24 A complement to global equities, not a duplicate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What a global-equity holder asks of a new manager: do you keep up in rallies, lose less in selloffs, and add something the index can’t?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32</a:t>
            </a:r>
          </a:p>
        </p:txBody>
      </p:sp>
      <p:pic>
        <p:nvPicPr>
          <p:cNvPr id="10" name="Picture 9" descr="mc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3627489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91575" y="224332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2514" y="2360371"/>
            <a:ext cx="421366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CAPTURE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2514" y="2594457"/>
            <a:ext cx="42136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93% up  /  43%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514" y="2965094"/>
            <a:ext cx="42136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Keeps pace with rallies but takes less than half of selloffs — the essence of the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575" y="3530803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2514" y="3647846"/>
            <a:ext cx="421366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DIVERSIFICATION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2514" y="3881932"/>
            <a:ext cx="42136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0.44 correlation  ·  0.73 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514" y="4252569"/>
            <a:ext cx="42136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Low correlation to your existing equity book — a genuine diversifier, not levered beta.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575" y="481827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2514" y="4935321"/>
            <a:ext cx="421366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RELIABILITY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2514" y="5169408"/>
            <a:ext cx="42136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Beat MSCI in 90% of 5-yr and 100% of 7-yr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514" y="5540044"/>
            <a:ext cx="42136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Over every rolling 7-year holding period in 20 years, Athanase out-returned the index.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Athanase captures 93% of the market’s upside but only 43% of its downside — at 0.44 correlation, it improves the whole portfolio, not just one line of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Capture = compounded Athanase return in the market’s up/down months ÷ the market’s. Past performance is not indicative of future results.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2.25 What a blend does to the whole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Adding Athanase to a global-equity book moves the portfolio up and to the left — more return for less downside risk, thanks to low correlation.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33</a:t>
            </a:r>
          </a:p>
        </p:txBody>
      </p:sp>
      <p:pic>
        <p:nvPicPr>
          <p:cNvPr id="10" name="Picture 9" descr="mc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6002145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10690" y="2262835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1629" y="2379878"/>
            <a:ext cx="2494545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ALL GLOBAL EQUITIES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1629" y="2633472"/>
            <a:ext cx="249454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6.1%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11.5% downside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1629" y="3062630"/>
            <a:ext cx="249454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100% MSCI World IMI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690" y="3569817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1629" y="3686860"/>
            <a:ext cx="2494545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ADD A PRUDENT 8% SLEEVE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1629" y="3940454"/>
            <a:ext cx="249454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7.3%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11.1% downside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1629" y="4369612"/>
            <a:ext cx="249454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92% MSCI  /  8% Athanase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690" y="4896307"/>
            <a:ext cx="281642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HOW TO 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690" y="5169408"/>
            <a:ext cx="2816422" cy="1853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Every blend on the curve beats holding equities alone, and the benefit keeps building until past half the portfolio (downside risk bottoms near 60%). That is a directional case to size up — within prudent limits — not a target: a 59% position would breach concentration, liquidity and the 3–8% sizing discipline. Even an 8% sleeve already moves the portfolio the right way.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The blend is not a trade-off — every allocation improves the portfolio, so the case is to size up within prudent 3–8% limits, not to chase the mathematical optimum.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(2006–2025), monthly rebalanced blends. The minimum-risk point is in-sample and shown for shape, not as advice. Illustrative; past performance is not indicative of future results.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Private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2.26 What allocators actually earn from private equity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Stripping out headline-IRR marketing, cash-matched (PME) data shows PE earns a real ~3–6 pt premium over public markets — but lands below Athanase.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34</a:t>
            </a:r>
          </a:p>
        </p:txBody>
      </p:sp>
      <p:pic>
        <p:nvPicPr>
          <p:cNvPr id="10" name="Picture 9" descr="d_pe_reali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243328"/>
            <a:ext cx="5791184" cy="281642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47266" y="2292096"/>
            <a:ext cx="2779845" cy="113141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574" y="2389632"/>
            <a:ext cx="248723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HEADLINE ≠ REALISED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574" y="2643225"/>
            <a:ext cx="2487230" cy="760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Top-quartile IRR is shown as ~18–22%, struck on drawn capital. Cash-matched to public markets, the real figure is far lower.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47266" y="3560064"/>
            <a:ext cx="2779845" cy="113141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574" y="3657600"/>
            <a:ext cx="248723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THE REAL PREMIUM IS GENUINE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574" y="3911193"/>
            <a:ext cx="2487230" cy="760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PME studies agree: ~1.2× wealth multiple, a real 3–5 pt premium (Cambridge; Kaplan-Harris-Jenkinson / Burgiss; Cliffwater; BVCA).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7266" y="4828032"/>
            <a:ext cx="2779845" cy="113141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574" y="4925568"/>
            <a:ext cx="248723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BUT BELOW ATHANASE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574" y="5179161"/>
            <a:ext cx="2487230" cy="760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Allocators realise ~11–14% from PE. Athanase has delivered ~16% — net, real, and fully invested from day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PE’s premium over public markets is real — but Athanase’s ~16% sits above even what the best allocators realise, with daily liquidity.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22" y="6944563"/>
            <a:ext cx="9217382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Sources: Cliffwater (US state pensions, 2000–22) PE 11.4% vs PME 5.8%; BVCA / Capital Dynamics (UK &amp; Europe, 2001–23) 14.1% vs 7.7%; corroborated by Cambridge Associates mPME 1.15–1.25× and Kaplan-Harris-Jenkinson KS-PME 1.20–1.27×. Athanase real, net, 2006–2025. See references.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Private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2.27 Switching a private-equity sleeve into Athanase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On true risk, PE and Athanase carry similar volatility — but Athanase’s is mostly upside, and it returns more, with daily liquidity.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35</a:t>
            </a:r>
          </a:p>
        </p:txBody>
      </p:sp>
      <p:pic>
        <p:nvPicPr>
          <p:cNvPr id="10" name="Picture 9" descr="d_pe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243328"/>
            <a:ext cx="4004070" cy="28164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2076" y="6096000"/>
            <a:ext cx="4535537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De-smoothed, PE’s ~10% reported vol is really ~28% (PIMCO; AQR beta 1.5–1.6) — about Athanase’s 27%, but levered downside, not upside.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57345" y="2223819"/>
            <a:ext cx="4169768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652" y="2311602"/>
            <a:ext cx="1463076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997" y="2301848"/>
            <a:ext cx="24872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~16% vs ~11–14% realised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652" y="2574949"/>
            <a:ext cx="387715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Above what even the best allocators realise from PE (Cliffwater; BVCA).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7345" y="3043122"/>
            <a:ext cx="4169768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652" y="3130904"/>
            <a:ext cx="1463076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LIQUIDITY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997" y="3121150"/>
            <a:ext cx="24872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Daily vs 10-yr lock-up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652" y="3394251"/>
            <a:ext cx="387715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Listed positions you can exit; no blind-pool capital calls.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7345" y="3862424"/>
            <a:ext cx="4169768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652" y="3950206"/>
            <a:ext cx="1463076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FEES &amp; CAPITAL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997" y="3940453"/>
            <a:ext cx="24872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Lower drag, fully invested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652" y="4213554"/>
            <a:ext cx="387715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No fees on undeployed dry powder waiting in a queue.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57345" y="4681726"/>
            <a:ext cx="4169768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652" y="4769509"/>
            <a:ext cx="1463076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TRANSPARENCY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997" y="4759755"/>
            <a:ext cx="24872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Daily marks, real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652" y="5032856"/>
            <a:ext cx="387715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 public scoreboard plus board control of cash flow, capex and pay.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57345" y="5501029"/>
            <a:ext cx="4169768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652" y="5588811"/>
            <a:ext cx="1463076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RISK, HONESTLY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997" y="5579058"/>
            <a:ext cx="24872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Similar vol, opposite shape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652" y="5852158"/>
            <a:ext cx="387715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PE’s true ~28% vol is levered downside; Athanase’s 27% is mostly upside (downside only ~11%).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Once PE’s smoothing is removed, the two carry similar volatility — but Athanase returns more, its risk is upside not downside, and it stays liquid and transparent.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22" y="6944563"/>
            <a:ext cx="9217382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Athanase: net monthly returns, 235 months (2006–2025), real (total vol 27%). PE realised ~11–14% vs headline IRR ~18–22%; reported ~10% vol de-smoothed to ~25–30% (PIMCO; AQR beta 1.5–1.6). See references.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Private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2.28 The volatility gap is settled in the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Cash-flow models, secondary-market prices and econometric unsmoothing all converge: PE’s true risk is roughly 2–3× its reported figure.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36</a:t>
            </a:r>
          </a:p>
        </p:txBody>
      </p:sp>
      <p:pic>
        <p:nvPicPr>
          <p:cNvPr id="10" name="Picture 9" descr="d_pe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9" y="2243328"/>
            <a:ext cx="4834738" cy="28895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8075" y="2292096"/>
            <a:ext cx="3109037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383" y="2389632"/>
            <a:ext cx="2816422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CASH-FLOW NPV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383" y="2613964"/>
            <a:ext cx="2816422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Buyout vol 25% (vs 11% index), beta &gt; 1 — Ang, Chen, Goetzmann &amp; Phalippou (2018), J. Finance.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8075" y="3286963"/>
            <a:ext cx="3109037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383" y="3384499"/>
            <a:ext cx="2816422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SECONDARY-MARKET PRICES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383" y="3608832"/>
            <a:ext cx="2816422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Traded-stake beta &gt; 2.0 vs &lt; 0.5 on NAV — Boyer, Nadauld, Vorkink &amp; Weisbach (2018).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8075" y="4281830"/>
            <a:ext cx="3109037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383" y="4379366"/>
            <a:ext cx="2816422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ECONOMETRIC UNSMOOTHING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383" y="4603699"/>
            <a:ext cx="2816422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Illiquidity creates spurious smoothness — Getmansky, Lo &amp; Makarov (2004), JFE (cited 1,300+).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8075" y="5276697"/>
            <a:ext cx="3109037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383" y="5374233"/>
            <a:ext cx="2816422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CATERING / “LAUNDERING”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383" y="5598566"/>
            <a:ext cx="2816422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GPs smooth because LPs value the “phony happiness” — Jackson, Ling &amp; Naranjo (2022); Couts et al. (2020).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Independent methods, the same answer: PE is a highly-levered equity portfolio whose reported smoothness is an artefact.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22" y="6944563"/>
            <a:ext cx="9217382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60" b="0" i="0">
                <a:solidFill>
                  <a:srgbClr val="556A83"/>
                </a:solidFill>
                <a:latin typeface="Arial"/>
              </a:rPr>
              <a:t>Sources: Ang, Chen, Goetzmann &amp; Phalippou (2018); Boyer, Nadauld, Vorkink &amp; Weisbach (2018); Getmansky, Lo &amp; Makarov (2004); Couts, Gonçalves &amp; Rossi (2020); Jackson, Ling &amp; Naranjo (2022); PIMCO (2022); AQR. Bars show vol-equivalent risk; beta rows scaled for comparison. See references.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Private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2.29 Same headline volatility — far lower real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Volatility is not symmetric. PE’s true risk is levered downside; Athanase’s is mostly upside, so its real loss risk is a fraction of PE’s.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37</a:t>
            </a:r>
          </a:p>
        </p:txBody>
      </p:sp>
      <p:pic>
        <p:nvPicPr>
          <p:cNvPr id="10" name="Picture 9" descr="d_pe_real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243328"/>
            <a:ext cx="4014211" cy="281642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157345" y="2292096"/>
            <a:ext cx="4169768" cy="17068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229" y="2438400"/>
            <a:ext cx="38039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CHANCE OF A 30%+ LOSS OVER THREE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0229" y="2789529"/>
            <a:ext cx="3803999" cy="1072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60" b="1">
                <a:solidFill>
                  <a:srgbClr val="556A83"/>
                </a:solidFill>
                <a:latin typeface="Times New Roman"/>
              </a:rPr>
              <a:t>~16%</a:t>
            </a:r>
            <a:r>
              <a:rPr sz="1040">
                <a:solidFill>
                  <a:srgbClr val="556A83"/>
                </a:solidFill>
                <a:latin typeface="Arial"/>
              </a:rPr>
              <a:t>   private equity</a:t>
            </a:r>
          </a:p>
          <a:p>
            <a:r>
              <a:rPr sz="2560" b="1">
                <a:solidFill>
                  <a:srgbClr val="152130"/>
                </a:solidFill>
                <a:latin typeface="Times New Roman"/>
              </a:rPr>
              <a:t>~2%</a:t>
            </a:r>
            <a:r>
              <a:rPr sz="1040">
                <a:solidFill>
                  <a:srgbClr val="556A83"/>
                </a:solidFill>
                <a:latin typeface="Arial"/>
              </a:rPr>
              <a:t>   Athanase (actual 3-yr windows)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7345" y="4213555"/>
            <a:ext cx="4169768" cy="93634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0229" y="4330598"/>
            <a:ext cx="380399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VOLATILITY ≠ RISK OF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229" y="4584192"/>
            <a:ext cx="3803999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PE’s ~28% true vol is dominated by downside (levered, left-skewed). Athanase’s 27% is mostly upside — downside deviation only ~11%.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57345" y="5266944"/>
            <a:ext cx="4169768" cy="93634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229" y="5383987"/>
            <a:ext cx="380399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THE RISK THAT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229" y="5637580"/>
            <a:ext cx="3803999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On large permanent loss — what allocators actually fear — Athanase’s real risk is roughly one-eighth of private equity’s.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Matched on true volatility, Athanase carries far less of the risk that actually hurts: its downside is a fraction of private equity’s.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22" y="6944563"/>
            <a:ext cx="9217382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Athanase downside vol 11% vs total 27% (real); 30%+ loss in 2% of actual rolling 3-yr windows. PE de-smoothed total vol ~28%, ~15–16% chance of a 30% drawdown over 3 years (PIMCO, 2022). See references.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Private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2.30 PE’s “diversification” is an artefact — Athanase’s is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De-smoothed, PE is ~0.9 correlated to public equities: the same risk factors, just reported late. Athanase is genuinely uncorrelated.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38</a:t>
            </a:r>
          </a:p>
        </p:txBody>
      </p:sp>
      <p:pic>
        <p:nvPicPr>
          <p:cNvPr id="10" name="Picture 9" descr="d_pe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243328"/>
            <a:ext cx="4160624" cy="281642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267075" y="2292096"/>
            <a:ext cx="4060037" cy="11119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8014" y="2409139"/>
            <a:ext cx="373816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THE SMOOTHING ILLUSION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8014" y="2662732"/>
            <a:ext cx="3738160" cy="702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Quarterly appraisals lag the market, so reported correlation looks low (0.75, beta 0.41). De-smoothed it is 0.89 / beta 0.87 (Two Sigma, 2024).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67075" y="3540555"/>
            <a:ext cx="4060037" cy="11119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8014" y="3657598"/>
            <a:ext cx="373816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SAME RISK FACTORS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8014" y="3911192"/>
            <a:ext cx="3738160" cy="702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PE is long-only levered equity driven by GDP, rates and earnings; over 10–20 yrs its correlation to small/mid-caps is ~0.89–0.92.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67075" y="4789015"/>
            <a:ext cx="4060037" cy="11119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8014" y="4906058"/>
            <a:ext cx="373816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THE CRISIS MIRAGE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8014" y="5159652"/>
            <a:ext cx="3738160" cy="702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In severe drawdowns true correlation converges toward 1.0 — PE takes the same hit, it just reports the markdown later.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PE adds leveraged beta dressed as diversification. Athanase, at 0.44 correlation, is the genuine diversifier in a public-equity portfolio.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22" y="6944563"/>
            <a:ext cx="9217382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Athanase correlation 0.44 / beta 0.73 to MSCI World IMI (real). PE reported 0.75 / beta 0.41 de-smoothed to 0.89 / beta 0.87 (Two Sigma / Venn, 2024); long-horizon PE–small/mid-cap correlation ~0.89–0.92. See references.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Private Equity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2.31 When the tide goes out: the drawdown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PE’s smooth marks feel safe in calm markets — but in a shock they trigger the exact sequence that gets a CIO fired. Engaged ownership is the fiduciary safe harbour.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76" y="2292096"/>
            <a:ext cx="43160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THE TRAP — HELD AT FAKE NAVs IN A CRASH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76" y="2701747"/>
            <a:ext cx="4316075" cy="109240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53" y="2828544"/>
            <a:ext cx="406003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Times New Roman"/>
              </a:rPr>
              <a:t>1 · The denominator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53" y="3150412"/>
            <a:ext cx="4060037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Public equities fall 25%; PE is marked flat. The PE weight jumps from 15% to 22%+ — an instant breach of board concentration limits.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76" y="3891686"/>
            <a:ext cx="4316075" cy="109240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53" y="4018483"/>
            <a:ext cx="406003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Times New Roman"/>
              </a:rPr>
              <a:t>2 · The liquidity death spiral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53" y="4340352"/>
            <a:ext cx="4060037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Distributions stop but capital calls keep coming. To meet them, the allocator is forced to sell liquid equities at the bottom.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76" y="5081625"/>
            <a:ext cx="4316075" cy="109240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53" y="5208422"/>
            <a:ext cx="406003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Times New Roman"/>
              </a:rPr>
              <a:t>3 · The secondary-market humiliation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53" y="5530291"/>
            <a:ext cx="4060037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To cure the breach, PE stakes are sold at 15–25% haircuts — publicly crystallising losses and proving the “low volatility” was a fiction.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191" y="2292096"/>
            <a:ext cx="42794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THE SAFE HARBOUR — ENGAGED OWNERSHIP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191" y="2701747"/>
            <a:ext cx="4279499" cy="109240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5868" y="2828544"/>
            <a:ext cx="40234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152130"/>
                </a:solidFill>
                <a:latin typeface="Times New Roman"/>
              </a:rPr>
              <a:t>Honest pricing keeps weights balanced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5868" y="3150412"/>
            <a:ext cx="4023460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Daily marks mean the sleeve falls with the market — so the denominator effect never fires and no threshold is breached.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191" y="3891686"/>
            <a:ext cx="4279499" cy="109240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5868" y="4018483"/>
            <a:ext cx="40234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152130"/>
                </a:solidFill>
                <a:latin typeface="Times New Roman"/>
              </a:rPr>
              <a:t>Zero capital-call 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5868" y="4340352"/>
            <a:ext cx="4023460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No blind pools, no surprise calls. The allocator is never forced to become a distressed seller of other assets.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4191" y="5081625"/>
            <a:ext cx="4279499" cy="109240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5868" y="5208422"/>
            <a:ext cx="40234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152130"/>
                </a:solidFill>
                <a:latin typeface="Times New Roman"/>
              </a:rPr>
              <a:t>Alpha from turnarounds, not leverage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5868" y="5530291"/>
            <a:ext cx="4023460" cy="643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Returns come from board-led operational change in high-ROIIC mid-caps — not the leverage and multiple-expansion that break in a downturn.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When the tide goes out, artificially-priced illiquid assets are indefensible to a board. Engaged ownership delivers PE-like alpha while protecting portfolio balance, liquidity — and the allocator’s seat.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Mechanism described follows from PE’s appraisal-based marking and capital-call structure (see references). Illustrative; for professional investors, not investment advice.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Ownership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2.32 Responsible ownership, by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1901952"/>
            <a:ext cx="8705305" cy="4584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86949" indent="-186949">
              <a:lnSpc>
                <a:spcPct val="112000"/>
              </a:lnSpc>
              <a:spcAft>
                <a:spcPts val="1400"/>
              </a:spcAft>
            </a:pPr>
            <a:r>
              <a:rPr sz="1280" b="1">
                <a:solidFill>
                  <a:srgbClr val="314359"/>
                </a:solidFill>
                <a:latin typeface="Arial"/>
              </a:rPr>
              <a:t>›  </a:t>
            </a:r>
            <a:r>
              <a:rPr sz="1280" b="1">
                <a:solidFill>
                  <a:srgbClr val="314359"/>
                </a:solidFill>
                <a:latin typeface="Arial"/>
              </a:rPr>
              <a:t>Governance is the lever.</a:t>
            </a:r>
            <a:r>
              <a:rPr sz="1280">
                <a:solidFill>
                  <a:srgbClr val="0E1620"/>
                </a:solidFill>
                <a:latin typeface="Arial"/>
              </a:rPr>
              <a:t>  Value is created through board representation and active promotion of strong corporate governance across all holdings.</a:t>
            </a:r>
          </a:p>
          <a:p>
            <a:pPr marL="186949" indent="-186949">
              <a:lnSpc>
                <a:spcPct val="112000"/>
              </a:lnSpc>
              <a:spcAft>
                <a:spcPts val="1400"/>
              </a:spcAft>
            </a:pPr>
            <a:r>
              <a:rPr sz="1280" b="1">
                <a:solidFill>
                  <a:srgbClr val="314359"/>
                </a:solidFill>
                <a:latin typeface="Arial"/>
              </a:rPr>
              <a:t>›  </a:t>
            </a:r>
            <a:r>
              <a:rPr sz="1280" b="1">
                <a:solidFill>
                  <a:srgbClr val="314359"/>
                </a:solidFill>
                <a:latin typeface="Arial"/>
              </a:rPr>
              <a:t>Five improvement dimensions.</a:t>
            </a:r>
            <a:r>
              <a:rPr sz="1280">
                <a:solidFill>
                  <a:srgbClr val="0E1620"/>
                </a:solidFill>
                <a:latin typeface="Arial"/>
              </a:rPr>
              <a:t>  Operational, financial, structural, environmental and social improvements — each tied to enterprise value.</a:t>
            </a:r>
          </a:p>
          <a:p>
            <a:pPr marL="186949" indent="-186949">
              <a:lnSpc>
                <a:spcPct val="112000"/>
              </a:lnSpc>
              <a:spcAft>
                <a:spcPts val="1400"/>
              </a:spcAft>
            </a:pPr>
            <a:r>
              <a:rPr sz="1280" b="1">
                <a:solidFill>
                  <a:srgbClr val="314359"/>
                </a:solidFill>
                <a:latin typeface="Arial"/>
              </a:rPr>
              <a:t>›  </a:t>
            </a:r>
            <a:r>
              <a:rPr sz="1280" b="1">
                <a:solidFill>
                  <a:srgbClr val="314359"/>
                </a:solidFill>
                <a:latin typeface="Arial"/>
              </a:rPr>
              <a:t>PRI signatory since 2019,</a:t>
            </a:r>
            <a:r>
              <a:rPr sz="1280">
                <a:solidFill>
                  <a:srgbClr val="0E1620"/>
                </a:solidFill>
                <a:latin typeface="Arial"/>
              </a:rPr>
              <a:t>  adhering to the Six Principles for Responsible Investment.</a:t>
            </a:r>
          </a:p>
          <a:p>
            <a:pPr marL="186949" indent="-186949">
              <a:lnSpc>
                <a:spcPct val="112000"/>
              </a:lnSpc>
              <a:spcAft>
                <a:spcPts val="1400"/>
              </a:spcAft>
            </a:pPr>
            <a:r>
              <a:rPr sz="1280" b="1">
                <a:solidFill>
                  <a:srgbClr val="314359"/>
                </a:solidFill>
                <a:latin typeface="Arial"/>
              </a:rPr>
              <a:t>›  </a:t>
            </a:r>
            <a:r>
              <a:rPr sz="1280" b="1">
                <a:solidFill>
                  <a:srgbClr val="314359"/>
                </a:solidFill>
                <a:latin typeface="Arial"/>
              </a:rPr>
              <a:t>Credible oversight.</a:t>
            </a:r>
            <a:r>
              <a:rPr sz="1280">
                <a:solidFill>
                  <a:srgbClr val="0E1620"/>
                </a:solidFill>
                <a:latin typeface="Arial"/>
              </a:rPr>
              <a:t>  SEB custodian · MUFG administrator · KPMG auditor · Swedish FI-registered AIFM.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22" y="536448"/>
            <a:ext cx="1768098" cy="3803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633472"/>
            <a:ext cx="365769" cy="2980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22" y="2877312"/>
            <a:ext cx="8046921" cy="1560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80" b="0" i="0" spc="-78">
                <a:solidFill>
                  <a:srgbClr val="FFFFFF"/>
                </a:solidFill>
                <a:latin typeface="Times New Roman"/>
              </a:rPr>
              <a:t>The asset class rewards patient, governance-minded capital.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40" b="0" i="1">
                <a:solidFill>
                  <a:srgbClr val="E2E5E9"/>
                </a:solidFill>
                <a:latin typeface="Times New Roman"/>
              </a:rPr>
              <a:t>Among engaged owners, Athanase brings the team, the discipline and the 20-year proof to deliver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22" y="5266944"/>
            <a:ext cx="4389229" cy="1365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Stefan Charette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960" b="0" i="0">
                <a:solidFill>
                  <a:srgbClr val="E2E5E9"/>
                </a:solidFill>
                <a:latin typeface="Arial"/>
              </a:rPr>
              <a:t>Athanase Industrial Partner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charette@athanase.se   ·   +46 73 994 7079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5266944"/>
            <a:ext cx="277984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Offices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Birger Jarlsgatan 6, 114 34 Stockholm, Sweden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Landmark Square, West Bay Road, Grand Cayman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460" y="263347"/>
            <a:ext cx="24506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1 of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89733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02259"/>
            <a:ext cx="8851613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80" b="0" i="0" spc="-78">
                <a:solidFill>
                  <a:srgbClr val="314359"/>
                </a:solidFill>
                <a:latin typeface="Times New Roman"/>
              </a:rPr>
              <a:t>References &amp; Methodology — Peer-reviewed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22" y="1706880"/>
            <a:ext cx="4389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ENGAGED OWNERSHIP / ACTIVISM (PART 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22" y="2067763"/>
            <a:ext cx="4389229" cy="487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720" i="0">
                <a:solidFill>
                  <a:srgbClr val="0E1620"/>
                </a:solidFill>
                <a:latin typeface="Arial"/>
              </a:rPr>
              <a:t>Bebchuk, L. A., Brav, A., &amp; Jiang, W. (2015). The long-term effects of hedge fund activism. </a:t>
            </a:r>
            <a:r>
              <a:rPr sz="720" i="1">
                <a:solidFill>
                  <a:srgbClr val="0E1620"/>
                </a:solidFill>
                <a:latin typeface="Arial"/>
              </a:rPr>
              <a:t>Columbia Law Review, 115</a:t>
            </a:r>
            <a:r>
              <a:rPr sz="720" i="0">
                <a:solidFill>
                  <a:srgbClr val="0E1620"/>
                </a:solidFill>
                <a:latin typeface="Arial"/>
              </a:rPr>
              <a:t>(5), 1085–1156.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720" i="0">
                <a:solidFill>
                  <a:srgbClr val="0E1620"/>
                </a:solidFill>
                <a:latin typeface="Arial"/>
              </a:rPr>
              <a:t>Brav, A., Jiang, W., Partnoy, F., &amp; Thomas, R. (2008). Hedge fund activism, corporate governance, and firm performance. </a:t>
            </a:r>
            <a:r>
              <a:rPr sz="720" i="1">
                <a:solidFill>
                  <a:srgbClr val="0E1620"/>
                </a:solidFill>
                <a:latin typeface="Arial"/>
              </a:rPr>
              <a:t>The Journal of Finance, 63</a:t>
            </a:r>
            <a:r>
              <a:rPr sz="720" i="0">
                <a:solidFill>
                  <a:srgbClr val="0E1620"/>
                </a:solidFill>
                <a:latin typeface="Arial"/>
              </a:rPr>
              <a:t>(4), 1729–1775. https://doi.org/10.1111/j.1540-6261.2008.01373.x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720" i="0">
                <a:solidFill>
                  <a:srgbClr val="0E1620"/>
                </a:solidFill>
                <a:latin typeface="Arial"/>
              </a:rPr>
              <a:t>Brav, A., Jiang, W., &amp; Kim, H. (2015). The real effects of hedge fund activism: Productivity, asset allocation, and labor outcomes. </a:t>
            </a:r>
            <a:r>
              <a:rPr sz="720" i="1">
                <a:solidFill>
                  <a:srgbClr val="0E1620"/>
                </a:solidFill>
                <a:latin typeface="Arial"/>
              </a:rPr>
              <a:t>The Review of Financial Studies, 28</a:t>
            </a:r>
            <a:r>
              <a:rPr sz="720" i="0">
                <a:solidFill>
                  <a:srgbClr val="0E1620"/>
                </a:solidFill>
                <a:latin typeface="Arial"/>
              </a:rPr>
              <a:t>(10), 2723–2769. https://doi.org/10.1093/rfs/hhv037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720" i="0">
                <a:solidFill>
                  <a:srgbClr val="0E1620"/>
                </a:solidFill>
                <a:latin typeface="Arial"/>
              </a:rPr>
              <a:t>Klein, A., &amp; Zur, E. (2009). Entrepreneurial shareholder activism: Hedge funds and other private investors. </a:t>
            </a:r>
            <a:r>
              <a:rPr sz="720" i="1">
                <a:solidFill>
                  <a:srgbClr val="0E1620"/>
                </a:solidFill>
                <a:latin typeface="Arial"/>
              </a:rPr>
              <a:t>The Journal of Finance, 64</a:t>
            </a:r>
            <a:r>
              <a:rPr sz="720" i="0">
                <a:solidFill>
                  <a:srgbClr val="0E1620"/>
                </a:solidFill>
                <a:latin typeface="Arial"/>
              </a:rPr>
              <a:t>(1), 187–229. https://doi.org/10.1111/j.1540-6261.2008.01432.x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191" y="1706880"/>
            <a:ext cx="42794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PRIVATE EQUITY RISK &amp; RETURN (PART 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191" y="2067763"/>
            <a:ext cx="4279499" cy="487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Ang, A., Chen, B., Goetzmann, W. N., &amp; Phalippou, L. (2018). Estimating private equity returns from limited partner cash flows. </a:t>
            </a:r>
            <a:r>
              <a:rPr sz="680" i="1">
                <a:solidFill>
                  <a:srgbClr val="0E1620"/>
                </a:solidFill>
                <a:latin typeface="Arial"/>
              </a:rPr>
              <a:t>The Journal of Finance, 73</a:t>
            </a:r>
            <a:r>
              <a:rPr sz="680" i="0">
                <a:solidFill>
                  <a:srgbClr val="0E1620"/>
                </a:solidFill>
                <a:latin typeface="Arial"/>
              </a:rPr>
              <a:t>(4), 1751–1783. https://doi.org/10.1111/jofi.12688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Boyer, B. H., Nadauld, T. D., Vorkink, K. P., &amp; Weisbach, M. S. (2018). Private equity indices based on secondary market transactions. </a:t>
            </a:r>
            <a:r>
              <a:rPr sz="680" i="1">
                <a:solidFill>
                  <a:srgbClr val="0E1620"/>
                </a:solidFill>
                <a:latin typeface="Arial"/>
              </a:rPr>
              <a:t>SSRN Electronic Journal</a:t>
            </a:r>
            <a:r>
              <a:rPr sz="680" i="0">
                <a:solidFill>
                  <a:srgbClr val="0E1620"/>
                </a:solidFill>
                <a:latin typeface="Arial"/>
              </a:rPr>
              <a:t>. https://doi.org/10.2139/ssrn.3272357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Buchner, A., Kaserer, C., &amp; Wagner, N. F. (2010). Private equity funds: Valuation, systematic risk and illiquidity. </a:t>
            </a:r>
            <a:r>
              <a:rPr sz="680" i="1">
                <a:solidFill>
                  <a:srgbClr val="0E1620"/>
                </a:solidFill>
                <a:latin typeface="Arial"/>
              </a:rPr>
              <a:t>SSRN Electronic Journal</a:t>
            </a:r>
            <a:r>
              <a:rPr sz="680" i="0">
                <a:solidFill>
                  <a:srgbClr val="0E1620"/>
                </a:solidFill>
                <a:latin typeface="Arial"/>
              </a:rPr>
              <a:t>. https://doi.org/10.2139/ssrn.1102471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Couts, S., Gonçalves, A. S., &amp; Rossi, A. (2020). Unsmoothing returns of illiquid funds. </a:t>
            </a:r>
            <a:r>
              <a:rPr sz="680" i="1">
                <a:solidFill>
                  <a:srgbClr val="0E1620"/>
                </a:solidFill>
                <a:latin typeface="Arial"/>
              </a:rPr>
              <a:t>SSRN Electronic Journal</a:t>
            </a:r>
            <a:r>
              <a:rPr sz="680" i="0">
                <a:solidFill>
                  <a:srgbClr val="0E1620"/>
                </a:solidFill>
                <a:latin typeface="Arial"/>
              </a:rPr>
              <a:t>. https://doi.org/10.2139/ssrn.3544854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Getmansky, M., Lo, A. W., &amp; Makarov, I. (2004). An econometric model of serial correlation and illiquidity in hedge fund returns. </a:t>
            </a:r>
            <a:r>
              <a:rPr sz="680" i="1">
                <a:solidFill>
                  <a:srgbClr val="0E1620"/>
                </a:solidFill>
                <a:latin typeface="Arial"/>
              </a:rPr>
              <a:t>Journal of Financial Economics, 74</a:t>
            </a:r>
            <a:r>
              <a:rPr sz="680" i="0">
                <a:solidFill>
                  <a:srgbClr val="0E1620"/>
                </a:solidFill>
                <a:latin typeface="Arial"/>
              </a:rPr>
              <a:t>(3), 529–609. https://doi.org/10.1016/j.jfineco.2004.04.001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Harris, R. S., Jenkinson, T., &amp; Kaplan, S. N. (2014). Private equity performance: What do we know? </a:t>
            </a:r>
            <a:r>
              <a:rPr sz="680" i="1">
                <a:solidFill>
                  <a:srgbClr val="0E1620"/>
                </a:solidFill>
                <a:latin typeface="Arial"/>
              </a:rPr>
              <a:t>The Journal of Finance, 69</a:t>
            </a:r>
            <a:r>
              <a:rPr sz="680" i="0">
                <a:solidFill>
                  <a:srgbClr val="0E1620"/>
                </a:solidFill>
                <a:latin typeface="Arial"/>
              </a:rPr>
              <a:t>(5), 1851–1882. https://doi.org/10.1111/jofi.12154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Hayley, S., &amp; Sefiloglu, O. (2022). Biases in private equity returns. </a:t>
            </a:r>
            <a:r>
              <a:rPr sz="680" i="1">
                <a:solidFill>
                  <a:srgbClr val="0E1620"/>
                </a:solidFill>
                <a:latin typeface="Arial"/>
              </a:rPr>
              <a:t>SSRN Electronic Journal</a:t>
            </a:r>
            <a:r>
              <a:rPr sz="680" i="0">
                <a:solidFill>
                  <a:srgbClr val="0E1620"/>
                </a:solidFill>
                <a:latin typeface="Arial"/>
              </a:rPr>
              <a:t>. https://doi.org/10.2139/ssrn.4245715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Jackson, B., Ling, D. C., &amp; Naranjo, A. (2022). Catering and return manipulation in private equity. </a:t>
            </a:r>
            <a:r>
              <a:rPr sz="680" i="1">
                <a:solidFill>
                  <a:srgbClr val="0E1620"/>
                </a:solidFill>
                <a:latin typeface="Arial"/>
              </a:rPr>
              <a:t>SSRN Electronic Journal</a:t>
            </a:r>
            <a:r>
              <a:rPr sz="680" i="0">
                <a:solidFill>
                  <a:srgbClr val="0E1620"/>
                </a:solidFill>
                <a:latin typeface="Arial"/>
              </a:rPr>
              <a:t>. https://doi.org/10.2139/ssrn.4244467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Meyer, T. (2020). Hidden in plain sight — the impact of undrawn commitments. </a:t>
            </a:r>
            <a:r>
              <a:rPr sz="680" i="1">
                <a:solidFill>
                  <a:srgbClr val="0E1620"/>
                </a:solidFill>
                <a:latin typeface="Arial"/>
              </a:rPr>
              <a:t>The Journal of Alternative Investments, 23</a:t>
            </a:r>
            <a:r>
              <a:rPr sz="680" i="0">
                <a:solidFill>
                  <a:srgbClr val="0E1620"/>
                </a:solidFill>
                <a:latin typeface="Arial"/>
              </a:rPr>
              <a:t>(2), 94–110. https://doi.org/10.3905/jai.2020.1.101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Phalippou, L. (2020). An inconvenient fact: Private equity returns and the billionaire factory. </a:t>
            </a:r>
            <a:r>
              <a:rPr sz="680" i="1">
                <a:solidFill>
                  <a:srgbClr val="0E1620"/>
                </a:solidFill>
                <a:latin typeface="Arial"/>
              </a:rPr>
              <a:t>The Journal of Investing, 30</a:t>
            </a:r>
            <a:r>
              <a:rPr sz="680" i="0">
                <a:solidFill>
                  <a:srgbClr val="0E1620"/>
                </a:solidFill>
                <a:latin typeface="Arial"/>
              </a:rPr>
              <a:t>(1), 11–39. https://doi.org/10.3905/joi.2020.1.153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76460" y="263347"/>
            <a:ext cx="24506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2 of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89733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22" y="702259"/>
            <a:ext cx="8851613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80" b="0" i="0" spc="-78">
                <a:solidFill>
                  <a:srgbClr val="314359"/>
                </a:solidFill>
                <a:latin typeface="Times New Roman"/>
              </a:rPr>
              <a:t>References &amp; Methodology — Datasets, practitioner research &amp;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22" y="1706880"/>
            <a:ext cx="43892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INDUSTRY DATASETS &amp; PRACTITIONER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22" y="2067763"/>
            <a:ext cx="4389229" cy="487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Asness, C. S. (2023). The volatility-laundering hidden in private-asset marks. </a:t>
            </a:r>
            <a:r>
              <a:rPr sz="680" i="1">
                <a:solidFill>
                  <a:srgbClr val="0E1620"/>
                </a:solidFill>
                <a:latin typeface="Arial"/>
              </a:rPr>
              <a:t>AQR Capital Management — Cliff’s Perspectives.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British Private Equity &amp; Venture Capital Association &amp; Capital Dynamics. (2024). </a:t>
            </a:r>
            <a:r>
              <a:rPr sz="680" i="1">
                <a:solidFill>
                  <a:srgbClr val="0E1620"/>
                </a:solidFill>
                <a:latin typeface="Arial"/>
              </a:rPr>
              <a:t>BVCA Private Equity Performance Measurement Survey (PME+).</a:t>
            </a:r>
            <a:r>
              <a:rPr sz="680" i="0">
                <a:solidFill>
                  <a:srgbClr val="0E1620"/>
                </a:solidFill>
                <a:latin typeface="Arial"/>
              </a:rPr>
              <a:t> London: BVCA.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Cambridge Associates. (2024). </a:t>
            </a:r>
            <a:r>
              <a:rPr sz="680" i="1">
                <a:solidFill>
                  <a:srgbClr val="0E1620"/>
                </a:solidFill>
                <a:latin typeface="Arial"/>
              </a:rPr>
              <a:t>US Private Equity Index and Selected Benchmark Statistics (Q2 2024).</a:t>
            </a:r>
            <a:r>
              <a:rPr sz="680" i="0">
                <a:solidFill>
                  <a:srgbClr val="0E1620"/>
                </a:solidFill>
                <a:latin typeface="Arial"/>
              </a:rPr>
              <a:t> Boston: Cambridge Associates LLC.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Cliffwater LLC. (2023). </a:t>
            </a:r>
            <a:r>
              <a:rPr sz="680" i="1">
                <a:solidFill>
                  <a:srgbClr val="0E1620"/>
                </a:solidFill>
                <a:latin typeface="Arial"/>
              </a:rPr>
              <a:t>Long-term private equity performance in US state pension plans (2000–2022).</a:t>
            </a:r>
            <a:r>
              <a:rPr sz="680" i="0">
                <a:solidFill>
                  <a:srgbClr val="0E1620"/>
                </a:solidFill>
                <a:latin typeface="Arial"/>
              </a:rPr>
              <a:t> Marina del Rey: Cliffwater LLC.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Financial Reporting Council. (2020). </a:t>
            </a:r>
            <a:r>
              <a:rPr sz="680" i="1">
                <a:solidFill>
                  <a:srgbClr val="0E1620"/>
                </a:solidFill>
                <a:latin typeface="Arial"/>
              </a:rPr>
              <a:t>The UK Stewardship Code 2020.</a:t>
            </a:r>
            <a:r>
              <a:rPr sz="680" i="0">
                <a:solidFill>
                  <a:srgbClr val="0E1620"/>
                </a:solidFill>
                <a:latin typeface="Arial"/>
              </a:rPr>
              <a:t> London: FRC.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Morningstar. (2023). </a:t>
            </a:r>
            <a:r>
              <a:rPr sz="680" i="1">
                <a:solidFill>
                  <a:srgbClr val="0E1620"/>
                </a:solidFill>
                <a:latin typeface="Arial"/>
              </a:rPr>
              <a:t>Volatility laundering: How private equity funds understate the risk of their investments.</a:t>
            </a:r>
            <a:r>
              <a:rPr sz="680" i="0">
                <a:solidFill>
                  <a:srgbClr val="0E1620"/>
                </a:solidFill>
                <a:latin typeface="Arial"/>
              </a:rPr>
              <a:t> Chicago: Morningstar, Inc.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PIMCO. (2022). </a:t>
            </a:r>
            <a:r>
              <a:rPr sz="680" i="1">
                <a:solidFill>
                  <a:srgbClr val="0E1620"/>
                </a:solidFill>
                <a:latin typeface="Arial"/>
              </a:rPr>
              <a:t>The discreet charm of private assets: De-smoothing and the true volatility of private equity.</a:t>
            </a:r>
            <a:r>
              <a:rPr sz="680" i="0">
                <a:solidFill>
                  <a:srgbClr val="0E1620"/>
                </a:solidFill>
                <a:latin typeface="Arial"/>
              </a:rPr>
              <a:t> Newport Beach: PIMCO.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Principles for Responsible Investment. (2021). </a:t>
            </a:r>
            <a:r>
              <a:rPr sz="680" i="1">
                <a:solidFill>
                  <a:srgbClr val="0E1620"/>
                </a:solidFill>
                <a:latin typeface="Arial"/>
              </a:rPr>
              <a:t>What are the Principles for Responsible Investment?</a:t>
            </a:r>
            <a:r>
              <a:rPr sz="680" i="0">
                <a:solidFill>
                  <a:srgbClr val="0E1620"/>
                </a:solidFill>
                <a:latin typeface="Arial"/>
              </a:rPr>
              <a:t> London: UN PRI.</a:t>
            </a:r>
          </a:p>
          <a:p>
            <a:pPr marL="190200" indent="-190200">
              <a:lnSpc>
                <a:spcPct val="104000"/>
              </a:lnSpc>
              <a:spcAft>
                <a:spcPts val="550"/>
              </a:spcAft>
            </a:pPr>
            <a:r>
              <a:rPr sz="680" i="0">
                <a:solidFill>
                  <a:srgbClr val="0E1620"/>
                </a:solidFill>
                <a:latin typeface="Arial"/>
              </a:rPr>
              <a:t>Two Sigma Investments. (2024). </a:t>
            </a:r>
            <a:r>
              <a:rPr sz="680" i="1">
                <a:solidFill>
                  <a:srgbClr val="0E1620"/>
                </a:solidFill>
                <a:latin typeface="Arial"/>
              </a:rPr>
              <a:t>The alternative truth of private equity (Venn by Two Sigma).</a:t>
            </a:r>
            <a:r>
              <a:rPr sz="680" i="0">
                <a:solidFill>
                  <a:srgbClr val="0E1620"/>
                </a:solidFill>
                <a:latin typeface="Arial"/>
              </a:rPr>
              <a:t> New York: Two Sigma.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191" y="1706880"/>
            <a:ext cx="42794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DATA &amp;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191" y="2067763"/>
            <a:ext cx="4279499" cy="448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All Athanase figures are computed from the fund’s audited net monthly return series (235 months, 2006–2025):</a:t>
            </a:r>
          </a:p>
          <a:p>
            <a:pPr marL="117046" indent="-117046">
              <a:lnSpc>
                <a:spcPct val="112000"/>
              </a:lnSpc>
              <a:spcAft>
                <a:spcPts val="400"/>
              </a:spcAft>
            </a:pPr>
            <a:r>
              <a:rPr sz="720">
                <a:solidFill>
                  <a:srgbClr val="0E1620"/>
                </a:solidFill>
                <a:latin typeface="Arial"/>
              </a:rPr>
              <a:t>•  Annualised return — geometric compounding of monthly net returns (16.0%).</a:t>
            </a:r>
          </a:p>
          <a:p>
            <a:pPr marL="117046" indent="-117046">
              <a:lnSpc>
                <a:spcPct val="112000"/>
              </a:lnSpc>
              <a:spcAft>
                <a:spcPts val="400"/>
              </a:spcAft>
            </a:pPr>
            <a:r>
              <a:rPr sz="720">
                <a:solidFill>
                  <a:srgbClr val="0E1620"/>
                </a:solidFill>
                <a:latin typeface="Arial"/>
              </a:rPr>
              <a:t>•  Total volatility — st. dev. of monthly returns × √12 (27.0%).</a:t>
            </a:r>
          </a:p>
          <a:p>
            <a:pPr marL="117046" indent="-117046">
              <a:lnSpc>
                <a:spcPct val="112000"/>
              </a:lnSpc>
              <a:spcAft>
                <a:spcPts val="400"/>
              </a:spcAft>
            </a:pPr>
            <a:r>
              <a:rPr sz="720">
                <a:solidFill>
                  <a:srgbClr val="0E1620"/>
                </a:solidFill>
                <a:latin typeface="Arial"/>
              </a:rPr>
              <a:t>•  Downside volatility — deviation of negative months below a 0% MAR × √12 (10.9%).</a:t>
            </a:r>
          </a:p>
          <a:p>
            <a:pPr marL="117046" indent="-117046">
              <a:lnSpc>
                <a:spcPct val="112000"/>
              </a:lnSpc>
              <a:spcAft>
                <a:spcPts val="400"/>
              </a:spcAft>
            </a:pPr>
            <a:r>
              <a:rPr sz="720">
                <a:solidFill>
                  <a:srgbClr val="0E1620"/>
                </a:solidFill>
                <a:latin typeface="Arial"/>
              </a:rPr>
              <a:t>•  Correlation / beta — versus MSCI World IMI over the common period (0.44 / 0.73).</a:t>
            </a:r>
          </a:p>
          <a:p>
            <a:pPr marL="117046" indent="-117046">
              <a:lnSpc>
                <a:spcPct val="112000"/>
              </a:lnSpc>
              <a:spcAft>
                <a:spcPts val="400"/>
              </a:spcAft>
            </a:pPr>
            <a:r>
              <a:rPr sz="720">
                <a:solidFill>
                  <a:srgbClr val="0E1620"/>
                </a:solidFill>
                <a:latin typeface="Arial"/>
              </a:rPr>
              <a:t>•  Large-loss frequency — share of rolling 36-month windows below −30% (≈2%).</a:t>
            </a:r>
          </a:p>
          <a:p>
            <a:pPr marL="117046" indent="-117046">
              <a:lnSpc>
                <a:spcPct val="112000"/>
              </a:lnSpc>
              <a:spcAft>
                <a:spcPts val="400"/>
              </a:spcAft>
            </a:pPr>
            <a:r>
              <a:rPr sz="720">
                <a:solidFill>
                  <a:srgbClr val="0E1620"/>
                </a:solidFill>
                <a:latin typeface="Arial"/>
              </a:rPr>
              <a:t>•  Up/down capture — compounded Athanase return in the market’s up/down months ÷ the market’s.</a:t>
            </a:r>
          </a:p>
          <a:p>
            <a:pPr marL="117046" indent="-117046">
              <a:lnSpc>
                <a:spcPct val="112000"/>
              </a:lnSpc>
              <a:spcAft>
                <a:spcPts val="400"/>
              </a:spcAft>
            </a:pPr>
            <a:r>
              <a:rPr sz="720">
                <a:solidFill>
                  <a:srgbClr val="0E1620"/>
                </a:solidFill>
                <a:latin typeface="Arial"/>
              </a:rPr>
              <a:t>•  Efficient frontier — monthly-rebalanced MSCI/Athanase blends; minimum-risk point is in-sample.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80" b="0" i="1">
                <a:solidFill>
                  <a:srgbClr val="556A83"/>
                </a:solidFill>
                <a:latin typeface="Arial"/>
              </a:rPr>
              <a:t>Private-equity figures are taken from the cited research. De-smoothed / true-economic / committed-capital values reflect that literature rather than reported (appraisal-based) data; bridge and illustrative magnitudes reconcile cited endpoints and are labelled as such. For professional investors; not investment advice. Past performance is not indicative of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52130"/>
      </a:dk1>
      <a:lt1>
        <a:srgbClr val="FFFFFF"/>
      </a:lt1>
      <a:dk2>
        <a:srgbClr val="0E1620"/>
      </a:dk2>
      <a:lt2>
        <a:srgbClr val="F6F7F9"/>
      </a:lt2>
      <a:accent1>
        <a:srgbClr val="152130"/>
      </a:accent1>
      <a:accent2>
        <a:srgbClr val="314359"/>
      </a:accent2>
      <a:accent3>
        <a:srgbClr val="556A83"/>
      </a:accent3>
      <a:accent4>
        <a:srgbClr val="0E1620"/>
      </a:accent4>
      <a:accent5>
        <a:srgbClr val="E2E5E9"/>
      </a:accent5>
      <a:accent6>
        <a:srgbClr val="F6F7F9"/>
      </a:accent6>
      <a:hlink>
        <a:srgbClr val="314359"/>
      </a:hlink>
      <a:folHlink>
        <a:srgbClr val="556A83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