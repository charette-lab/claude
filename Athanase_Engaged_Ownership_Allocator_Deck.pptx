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2.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1.6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1.7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   </a:t>
            </a:r>
            <a:r>
              <a:rPr sz="8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   </a:t>
            </a:r>
            <a:r>
              <a:rPr sz="8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   </a:t>
            </a:r>
            <a:r>
              <a:rPr sz="8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   </a:t>
            </a:r>
            <a:r>
              <a:rPr sz="840">
                <a:solidFill>
                  <a:srgbClr val="314359"/>
                </a:solidFill>
                <a:latin typeface="Arial"/>
              </a:rPr>
              <a:t>A disciplined, repeatable selection process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   </a:t>
            </a:r>
            <a:r>
              <a:rPr sz="8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2.7   </a:t>
            </a:r>
            <a:r>
              <a:rPr sz="8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2.8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2.9   </a:t>
            </a:r>
            <a:r>
              <a:rPr sz="8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2.10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2.11   </a:t>
            </a:r>
            <a:r>
              <a:rPr sz="8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2.12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2.13   </a:t>
            </a:r>
            <a:r>
              <a:rPr sz="8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2.14   </a:t>
            </a:r>
            <a:r>
              <a:rPr sz="8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2.15   </a:t>
            </a:r>
            <a:r>
              <a:rPr sz="8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2.16   </a:t>
            </a:r>
            <a:r>
              <a:rPr sz="8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2.17   </a:t>
            </a:r>
            <a:r>
              <a:rPr sz="8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2.18   </a:t>
            </a:r>
            <a:r>
              <a:rPr sz="8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2.19   </a:t>
            </a:r>
            <a:r>
              <a:rPr sz="8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2.20   </a:t>
            </a:r>
            <a:r>
              <a:rPr sz="8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2.21   </a:t>
            </a:r>
            <a:r>
              <a:rPr sz="8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2.22   </a:t>
            </a:r>
            <a:r>
              <a:rPr sz="8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2.23   </a:t>
            </a:r>
            <a:r>
              <a:rPr sz="8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2.24   </a:t>
            </a:r>
            <a:r>
              <a:rPr sz="8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2.25   </a:t>
            </a:r>
            <a:r>
              <a:rPr sz="8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2.26   </a:t>
            </a:r>
            <a:r>
              <a:rPr sz="8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2.27   </a:t>
            </a:r>
            <a:r>
              <a:rPr sz="8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2.28   </a:t>
            </a:r>
            <a:r>
              <a:rPr sz="8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2.29   </a:t>
            </a:r>
            <a:r>
              <a:rPr sz="8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2.30   </a:t>
            </a:r>
            <a:r>
              <a:rPr sz="8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2.31   </a:t>
            </a:r>
            <a:r>
              <a:rPr sz="8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2.32   </a:t>
            </a:r>
            <a:r>
              <a:rPr sz="8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1.6 Why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2.4 A disciplined, repeatable selection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a universe of strong businesses to a single high-conviction investment a year — through three hard gates.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1 · SOURCE &amp; SCREEN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~2,000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960" y="2818790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businesses with strong, durable moats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960" y="3521049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within target geographies and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960" y="422330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listed companies in selected sectors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Shortlist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960" y="492556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76" y="5569305"/>
            <a:ext cx="438922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0E1620"/>
                </a:solidFill>
                <a:latin typeface="Arial"/>
              </a:rPr>
              <a:t>Sourced through the team’s network, own research, management interviews, site visits and external experts.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2 · THREE TOLLGATES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93921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93921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4860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1 — Valuation floor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4860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Is the company attractive even if we change nothing? We only proceed when the core alone justifies the price.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93921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93921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54860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2 — Value of the improvement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54860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Quantify the upside across six levers — organic &amp; M&amp;A growth, cost, structural, operational and financial — and pressure-test it with industry experts.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93921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93921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860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3 — Go / No-Go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4860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Engage key stakeholders, select board members and the management team, then decide. We make roughly one investment a year.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Selectivity is the edge: of ~1,000 candidates, only one clears all three gates each year.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3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2.19 Independently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2.20 Repeatable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2.21 Why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2.22 What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2.23 Lower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2.24 A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2.26 What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2.27 Switching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2.28 The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2.29 Same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2.30 PE’s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2.31 When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2.32 Responsible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