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walk-away ledger: agreement before capital,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log every Tollgate-2 “No-Go.” We will not size to conviction without secured board alignment — if alignment fails, the position is unwound. One documented entry; the full ledger is available in diligence.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84" y="2292096"/>
            <a:ext cx="18654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8037" y="2292096"/>
            <a:ext cx="17337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Value hypothesis (Tollgate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0306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460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Diligence &amp; sizing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267" y="2292096"/>
            <a:ext cx="1792268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421" y="2292096"/>
            <a:ext cx="1660591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The breaking point (Tollgate 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8536" y="2292096"/>
            <a:ext cx="1901999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690" y="2292096"/>
            <a:ext cx="1770322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Exit &amp; post-walk-away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2828544"/>
            <a:ext cx="43892" cy="19019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 Plc — Finnish-listed drilling tools &amp; consumables (Nasdaq Helsinki).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84884" y="2828544"/>
            <a:ext cx="1865422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614" y="2945587"/>
            <a:ext cx="1675222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Niche consumables franchise below intrinsic value; correctable cost base and capital allocation — a board-level engagement.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306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0037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Invested in stages from May 2015; followed and added on over several years while pursuing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6267" y="2828544"/>
            <a:ext cx="1792268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998" y="2945587"/>
            <a:ext cx="160206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536" y="2828544"/>
            <a:ext cx="1901999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267" y="2945587"/>
            <a:ext cx="1711799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Exited rather than stay without influence — still ~14% IRR (&gt;2× the index). Shares have since roughly halved: the discipline avoided the loss.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4828032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One documented entry shown; further Tollgate-2 No-Go decisions are logged and available in diligence. Robit was a built, multi-year position, not a small toehold — the discipline is the same.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exit trade is small and clean — but the point is the fundamental risk we avoided: we take a paper cut over a value trap, every time.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 cadence is the risk control — not 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objection: a higher deal count diversifies risk. In engaged ownership that logic inverts — every additional campaign compounds frictional, operational and reputational exposure. Concentration under board control is the discipline, not the hazard.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292096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MATHEMATICS OF RUIN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604211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0E1620"/>
                </a:solidFill>
                <a:latin typeface="Arial"/>
              </a:rPr>
              <a:t>Hold the loss rate fixed at 8%. The crisis count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091891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3091891"/>
            <a:ext cx="58523" cy="10924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61" y="3091891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68" y="3091891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Low cadence → ≈ 1 situation to contain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Highly vetted; a single underperformer to manage and contain.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359859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4359859"/>
            <a:ext cx="5852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61" y="4359859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68" y="4359859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High cadence → ≈ 8 concurrent crises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public engagement a “failure” is a broken turnaround or board battle — eight running at once.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5491276"/>
            <a:ext cx="435265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Absolute exposure to tail events scales with the number of transactions — not with the percentage loss 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191" y="2292096"/>
            <a:ext cx="4242922" cy="7412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Activity is not risk management.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Diversification lowers idiosyncratic risk in passive equity; in engaged ownership it dilutes the board control that actually de-risks the asset.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191" y="3033369"/>
            <a:ext cx="4242922" cy="1248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churn tax — measured, not asserted.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campaign carries a large fixed cost — ~$10.7m on average (Gantchev, 2013) — recovered only by holding through the operating turnaround, where the value is actually made: activist targets keep improving operationally for years after intervention (Bebchuk, Brav &amp; Jiang, 2015). A high-cadence book re-pays that cost every turn and exits before the change compounds; we hold until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191" y="4281829"/>
            <a:ext cx="4242922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Forced deployment lowers the bar.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high-velocity machine must keep buying — pushing managers to thinner margins of safety and weaker turnarounds to keep capital moving.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191" y="5003596"/>
            <a:ext cx="4242922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Reputational surface area.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Every public campaign is an option on controversy. High velocity multiplies the headline surface; conviction holders win seats quietly.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191" y="5676595"/>
            <a:ext cx="4242922" cy="195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Sources: Gantchev (2013), JFE; Bebchuk, Brav &amp; Jiang (2015), Columbia Law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5891174"/>
            <a:ext cx="8873559" cy="92659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807" y="5891174"/>
            <a:ext cx="8522421" cy="926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Our record: 38 deals in 20 years — about one a year, held ~5 years across 8–12 names, at a 92% deal-level hit rate.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We pay these frictions once per hold and let earnings growth amortise them; a high-cadence book re-pays them every turn — taxing the compounding it claims to diversify.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Built for the committee: the harder objections, answered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volatility, headline and concentration (prior page), four structural objections decide a conservative allocation — each answered so the choice is defensible to a board, not just attractive in a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94614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20336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537" y="2292096"/>
            <a:ext cx="2523807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5953" y="2292096"/>
            <a:ext cx="236286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concern beneath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7345" y="2292096"/>
            <a:ext cx="4133191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9760" y="2292096"/>
            <a:ext cx="397225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structural cover we provide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2779776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2779776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99" y="2887065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It doesn’t fit our public- or private-equity bucket.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537" y="2779776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5214" y="2887065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Public-sleeve tracking error invites scrutiny; PE-sleeve liquidity invites the auditors.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2779776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9021" y="2887065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Sits in the PE sleeve as a liquidity-positive complement — PE-style operational returns (~16% net) with daily marks and zero capital calls, so it cushions the denominator effect instead of feeding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774643"/>
            <a:ext cx="2194614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22" y="3774643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3881932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 boutique carries key-person risk for a small sleeve.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33537" y="3774643"/>
            <a:ext cx="2523807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5214" y="3881932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If a boutique stumbles, the choice is hard to defend without a household name behind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57345" y="3774643"/>
            <a:ext cx="4133191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9021" y="3881932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boutique team inside an institutional fortress: investment, risk and valuation segregated; custody SEB, administration MUFG, audit KPMG — an independently validated, tier-one paper trail.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769510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22" y="4769510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4876800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~One mid-cap deal a year can’t move our needle.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537" y="4769510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5214" y="4876800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Hard to justify the team’s underwriting bandwidth on a 1–3% sleeve.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57345" y="4769510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9021" y="4876800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first-right co-investment “free look”: scale nominal exposure into the highest-conviction, already board-de-risked targets — without diluting the core fund’s agility (full terms in the appendix).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5852160"/>
            <a:ext cx="8851613" cy="9558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807" y="5852160"/>
            <a:ext cx="4791575" cy="955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And the statistical blanket: across 20 years of live cycles, even the single unluckiest entry month still compounded positively — net of all fees.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3114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~19%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23114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avg net, any
entry 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0152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+7%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30152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worst-ever
entry 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37190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7190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lost over the
hold period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Optional co-investment facility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co-investment “free look”: a post-engagement drawdown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decouple the co-investment’s timing from the engagement: the main fund bears the execution risk, and LP capital enters only after the turnaround is board-secured — when the public market discounts the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1 · MAIN FUND LEADS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Initiates the position, clears the tollgates and secures the board seat — the capital-allocation kill switch. Fundamental risk is structurally lowered.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4545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4745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7160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2 · FACILITY UNCALLED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84745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1791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Co-investment is committed but dormant through the engagement — no upfront execution risk, control premium or broken-deal cost for the LP.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0368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0568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2983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3 · VALUATION TRIGGER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0568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4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Activated only if the public market later dislocates and discounts the price — after the board seat and operating plan are confirmed.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190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6390" y="2292096"/>
            <a:ext cx="211414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8806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4 · LP CAPITAL ENTERS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6390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93436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Capital draws instantly at the pre-agreed threshold, accumulating at the discounted multiple — below the main fund’s own basis.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4077003"/>
            <a:ext cx="4352652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THE CO-INVESTOR GETS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De-risked, at a discount.</a:t>
            </a:r>
            <a:r>
              <a:rPr sz="760">
                <a:solidFill>
                  <a:srgbClr val="0E1620"/>
                </a:solidFill>
                <a:latin typeface="Arial"/>
              </a:rPr>
              <a:t> — a governed, ROIIC-compounding core bought after the plan is secured — at a basis below the main fund’s.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Zero frictional drag.</a:t>
            </a:r>
            <a:r>
              <a:rPr sz="760">
                <a:solidFill>
                  <a:srgbClr val="0E1620"/>
                </a:solidFill>
                <a:latin typeface="Arial"/>
              </a:rPr>
              <a:t> — no broken-deal, advisory or syndication fees; ~20,000-company research is baseline, so 100% of drawn capital compounds in the equity.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scramble.</a:t>
            </a:r>
            <a:r>
              <a:rPr sz="760">
                <a:solidFill>
                  <a:srgbClr val="0E1620"/>
                </a:solidFill>
                <a:latin typeface="Arial"/>
              </a:rPr>
              <a:t> — pre-agreed terms bypass the 3–4-week syndication — capital hits the dislocation instantly at the optimal basis.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191" y="4077003"/>
            <a:ext cx="4206345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ALIGNMENT &amp; EXIT GOVERNANCE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Pro-rata exit.</a:t>
            </a:r>
            <a:r>
              <a:rPr sz="760">
                <a:solidFill>
                  <a:srgbClr val="0E1620"/>
                </a:solidFill>
                <a:latin typeface="Arial"/>
              </a:rPr>
              <a:t> — bound to exit in lockstep with the main fund — no separate timing, full parity with the Investment Committee.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Patient-capital enforcement.</a:t>
            </a:r>
            <a:r>
              <a:rPr sz="760">
                <a:solidFill>
                  <a:srgbClr val="0E1620"/>
                </a:solidFill>
                <a:latin typeface="Arial"/>
              </a:rPr>
              <a:t> — the same multi-year holding discipline — no reactionary selling into daily liquidity before the restructuring shows in cash flows and earnings.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5657088"/>
            <a:ext cx="8851613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The core fund carries zero capital calls; this optional facility is the single, deliberate exception — and only on a named, board-de-risked asset.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5910681"/>
            <a:ext cx="8851613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807" y="5910681"/>
            <a:ext cx="8485844" cy="8973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Decoupled in time, optical volatility becomes a pricing advantage — the ultimate institutional free look: turnaround execution risk, stripped of deal costs, priced at a market-driven discount.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term sheet: the drawdown mechanics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Dormant until the board seat is secured; drawn only on a 20–30% dislocation to accumulate a 10–20% block; zero fees until the promote; converts to a permanent capital vehicle at 2.5×.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707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1 · ACTIVATION PREREQUISITES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1338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Board control secured</a:t>
            </a:r>
            <a:r>
              <a:rPr sz="680">
                <a:solidFill>
                  <a:srgbClr val="0E1620"/>
                </a:solidFill>
                <a:latin typeface="Arial"/>
              </a:rPr>
              <a:t> — the vehicle stays dormant until the main fund holds the board seat and the capital-allocation playbook.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blind-pool risk</a:t>
            </a:r>
            <a:r>
              <a:rPr sz="680">
                <a:solidFill>
                  <a:srgbClr val="0E1620"/>
                </a:solidFill>
                <a:latin typeface="Arial"/>
              </a:rPr>
              <a:t> — any drawdown notice names a vetted asset the team already runs from the inside.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8476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260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2 · DRAWDOWN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8476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891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Price is the sole trigger</a:t>
            </a:r>
            <a:r>
              <a:rPr sz="680">
                <a:solidFill>
                  <a:srgbClr val="0E1620"/>
                </a:solidFill>
                <a:latin typeface="Arial"/>
              </a:rPr>
              <a:t> — capital is called only if the market hands LPs a 20–30% discount; the main fund drives the operational change either way.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Offensive accumulation</a:t>
            </a:r>
            <a:r>
              <a:rPr sz="680">
                <a:solidFill>
                  <a:srgbClr val="0E1620"/>
                </a:solidFill>
                <a:latin typeface="Arial"/>
              </a:rPr>
              <a:t> — build a 10–20% block at exhaustion prices — arbitrage on market psychology, not a falling knife: the board seat already floors fundamental risk.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18029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5813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3 · CALL EXECUTION &amp; EXPIRY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18029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0444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Notice period</a:t>
            </a:r>
            <a:r>
              <a:rPr sz="680">
                <a:solidFill>
                  <a:srgbClr val="0E1620"/>
                </a:solidFill>
                <a:latin typeface="Arial"/>
              </a:rPr>
              <a:t> — a standard 10–15 business-day capital call funds the block build.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Time is the sole opt-out</a:t>
            </a:r>
            <a:r>
              <a:rPr sz="680">
                <a:solidFill>
                  <a:srgbClr val="0E1620"/>
                </a:solidFill>
                <a:latin typeface="Arial"/>
              </a:rPr>
              <a:t> — an 18-month sunset from the board seat; if no discount appears the commitment expires uncalled — LPs pay next to nothing for the optionality and free the risk budget.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4 · FEES &amp; PROMOTE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1338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management fees</a:t>
            </a:r>
            <a:r>
              <a:rPr sz="680">
                <a:solidFill>
                  <a:srgbClr val="0E1620"/>
                </a:solidFill>
                <a:latin typeface="Arial"/>
              </a:rPr>
              <a:t> — through dormancy and accumulation — only a capped pass-through of verified admin and legal costs.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2.5× super-promote</a:t>
            </a:r>
            <a:r>
              <a:rPr sz="680">
                <a:solidFill>
                  <a:srgbClr val="0E1620"/>
                </a:solidFill>
                <a:latin typeface="Arial"/>
              </a:rPr>
              <a:t> — the manager takes a 20% stake in the listed vehicle only at 2.5× drawn capital, tested continuously (not a single date) — the moment LPs lock a 2.0× net return.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8476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16260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5 · LIQUIDITY — THE PCV FLIP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8476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30891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Direct listing at NAV</a:t>
            </a:r>
            <a:r>
              <a:rPr sz="680">
                <a:solidFill>
                  <a:srgbClr val="0E1620"/>
                </a:solidFill>
                <a:latin typeface="Arial"/>
              </a:rPr>
              <a:t> — a pre-agreed direct listing — a route the team has executed in Sweden — converts the vehicle to a PCV at NAV, with no bookbuild discount.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NAV-tight &amp; evergreen</a:t>
            </a:r>
            <a:r>
              <a:rPr sz="680">
                <a:solidFill>
                  <a:srgbClr val="0E1620"/>
                </a:solidFill>
                <a:latin typeface="Arial"/>
              </a:rPr>
              <a:t> — a mandatory buyback whenever the price trades &gt;10% below NAV holds the discount tight; LPs get daily liquidity, the manager keeps infinite duration.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8029" y="3969715"/>
            <a:ext cx="2872507" cy="3901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5813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LP PROTECTIONS · PROPOSED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8029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0444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 gaming the conversion</a:t>
            </a:r>
            <a:r>
              <a:rPr sz="680">
                <a:solidFill>
                  <a:srgbClr val="0E1620"/>
                </a:solidFill>
                <a:latin typeface="Arial"/>
              </a:rPr>
              <a:t> — NAV is mark-to-market from the listed holdings, valued on a 10-day VWAP — no independent appraisal, and a continuous test leaves no single window the manager can time.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Catastrophe-only LP veto</a:t>
            </a:r>
            <a:r>
              <a:rPr sz="680">
                <a:solidFill>
                  <a:srgbClr val="0E1620"/>
                </a:solidFill>
                <a:latin typeface="Arial"/>
              </a:rPr>
              <a:t> — the LPAC veto covers fund-level events only — key-person or style drift — never the target’s price or operating metrics; NAV redemption if no listing by the longstop.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676595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807" y="5676595"/>
            <a:ext cx="8485844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Fees accrue to LPs first: nothing to the manager until 2.5× — at which point the LP’s 2.0× net is already locked.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242304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Indicative terms for IC / LP discussion, subject to final fund documentation. The 2.0× is a contractual lock contingent on the 2.5× test — not a guarantee. Buybacks are funded from the vehicle’s distributable cash and capped per year. The “LP protections” cell is a proposal, not yet agreed.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capacity: a dividend for backing the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Capacity is allocated by flagship commitment, not handed out as a marketing tool — so the “free look” rewards the partners who back the core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7523871" cy="70225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62794" y="2292096"/>
            <a:ext cx="1327742" cy="702259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292096"/>
            <a:ext cx="7523871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85%  ·  STRICT PRO-RATA — by flagship commitment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62794" y="2292096"/>
            <a:ext cx="1327742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15%  ·  GP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22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Pro-rata by flagship commitment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 LP’s right of first refusal equals its share of main-fund commitments — 15% of the fund earns first call on 15% of the sidecar. The lucrative free look is a structural dividend for the investors who back the core.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62614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62614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2614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Roll-up of declined capacity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Capacity a smaller LP declines is pooled and re-offered, pro-rata, to the remaining participants — automatically concentrating the sidecar among the largest, most agile institutional anchors.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86306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306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306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A 15% GP-discretionary carve-out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85% is allocated by strict formula to prevent LP infighting; the GP retains discretion over the remaining 15% — to reward critical diligence intelligence, or to anchor a major new flagship subscription.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6164275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164275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Capacity rewards conviction: the free look deepens the relationships with the anchors who fund the flagship — a structural dividend, not a giveaway.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