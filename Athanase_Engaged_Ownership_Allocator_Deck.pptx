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5.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   </a:t>
            </a:r>
            <a:r>
              <a:rPr sz="8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   </a:t>
            </a:r>
            <a:r>
              <a:rPr sz="8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   </a:t>
            </a:r>
            <a:r>
              <a:rPr sz="8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   </a:t>
            </a:r>
            <a:r>
              <a:rPr sz="8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2.7   </a:t>
            </a:r>
            <a:r>
              <a:rPr sz="8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2.8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2.9   </a:t>
            </a:r>
            <a:r>
              <a:rPr sz="8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2.10   </a:t>
            </a:r>
            <a:r>
              <a:rPr sz="8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2.11   </a:t>
            </a:r>
            <a:r>
              <a:rPr sz="8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2.12   </a:t>
            </a:r>
            <a:r>
              <a:rPr sz="8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2.13   </a:t>
            </a:r>
            <a:r>
              <a:rPr sz="8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2.14   </a:t>
            </a:r>
            <a:r>
              <a:rPr sz="8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2.15   </a:t>
            </a:r>
            <a:r>
              <a:rPr sz="8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2.16   </a:t>
            </a:r>
            <a:r>
              <a:rPr sz="8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2.17   </a:t>
            </a:r>
            <a:r>
              <a:rPr sz="8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2.18   </a:t>
            </a:r>
            <a:r>
              <a:rPr sz="8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2.19   </a:t>
            </a:r>
            <a:r>
              <a:rPr sz="8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2.20   </a:t>
            </a:r>
            <a:r>
              <a:rPr sz="8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2.21   </a:t>
            </a:r>
            <a:r>
              <a:rPr sz="8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2.22   </a:t>
            </a:r>
            <a:r>
              <a:rPr sz="8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2.23   </a:t>
            </a:r>
            <a:r>
              <a:rPr sz="8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2.24   </a:t>
            </a:r>
            <a:r>
              <a:rPr sz="8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2.25   </a:t>
            </a:r>
            <a:r>
              <a:rPr sz="8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2.26   </a:t>
            </a:r>
            <a:r>
              <a:rPr sz="8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2.27   </a:t>
            </a:r>
            <a:r>
              <a:rPr sz="8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2.28   </a:t>
            </a:r>
            <a:r>
              <a:rPr sz="8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~18x growth vs ~14x for MSCI IMI since 2006.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7.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2.19 Lower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2.20 A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2.21 What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2.22 What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2.23 Switching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2.24 The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2.25 Same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2.26 PE’s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2.27 When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2.28 Responsible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(235 months, 2006–2025):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geometric compounding of monthly net returns (16.0%).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