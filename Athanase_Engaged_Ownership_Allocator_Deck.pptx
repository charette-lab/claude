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</p:sldIdLst>
  <p:sldSz cx="9753600" cy="73152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880">
                <a:solidFill>
                  <a:srgbClr val="556A83"/>
                </a:solidFill>
              </a:rPr>
              <a:t>Figure 2.  “Probability decay”: strategy efficiency over a CEO cycle (%)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Strategy efficiency</c:v>
                </c:pt>
              </c:strCache>
            </c:strRef>
          </c:tx>
          <c:spPr>
            <a:ln w="31750">
              <a:solidFill>
                <a:srgbClr val="152130"/>
              </a:solidFill>
            </a:ln>
          </c:spPr>
          <c:dLbls>
            <c:numFmt formatCode="0&quot;%&quot;" sourceLinked="0"/>
            <c:txPr>
              <a:bodyPr/>
              <a:lstStyle/>
              <a:p>
                <a:pPr>
                  <a:defRPr sz="720">
                    <a:solidFill>
                      <a:srgbClr val="314359"/>
                    </a:solidFill>
                  </a:defRPr>
                </a:pPr>
              </a:p>
            </c:txPr>
            <c:dLblPos val="t"/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Sheet1!$A$2:$A$9</c:f>
              <c:strCache>
                <c:ptCount val="8"/>
                <c:pt idx="0">
                  <c:v>Yr 1</c:v>
                </c:pt>
                <c:pt idx="1">
                  <c:v>Yr 2</c:v>
                </c:pt>
                <c:pt idx="2">
                  <c:v>Yr 3</c:v>
                </c:pt>
                <c:pt idx="3">
                  <c:v>Yr 4</c:v>
                </c:pt>
                <c:pt idx="4">
                  <c:v>Yr 5</c:v>
                </c:pt>
                <c:pt idx="5">
                  <c:v>Yr 6</c:v>
                </c:pt>
                <c:pt idx="6">
                  <c:v>Yr 7</c:v>
                </c:pt>
                <c:pt idx="7">
                  <c:v>Yr 8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80</c:v>
                </c:pt>
                <c:pt idx="1">
                  <c:v>76</c:v>
                </c:pt>
                <c:pt idx="2">
                  <c:v>71</c:v>
                </c:pt>
                <c:pt idx="3">
                  <c:v>65</c:v>
                </c:pt>
                <c:pt idx="4">
                  <c:v>60</c:v>
                </c:pt>
                <c:pt idx="5">
                  <c:v>55</c:v>
                </c:pt>
                <c:pt idx="6">
                  <c:v>52</c:v>
                </c:pt>
                <c:pt idx="7">
                  <c:v>50</c:v>
                </c:pt>
              </c:numCache>
            </c:numRef>
          </c:val>
          <c:smooth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100.0"/>
          <c:min val="0.0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18791784"/>
        <c:crosses val="autoZero"/>
      </c:valAx>
    </c:plotArea>
    <c:plotVisOnly val="1"/>
    <c:dispBlanksAs val="gap"/>
    <c:showDLblsOverMax val="0"/>
  </c:chart>
  <c:txPr>
    <a:bodyPr/>
    <a:lstStyle/>
    <a:p>
      <a:pPr>
        <a:defRPr sz="144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880">
                <a:solidFill>
                  <a:srgbClr val="556A83"/>
                </a:solidFill>
              </a:rPr>
              <a:t>Figure 4.  Same destination, different reported path (indexed to 100)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Public mark-to-market</c:v>
                </c:pt>
              </c:strCache>
            </c:strRef>
          </c:tx>
          <c:spPr>
            <a:ln w="31750">
              <a:solidFill>
                <a:srgbClr val="152130"/>
              </a:solidFill>
            </a:ln>
          </c:spPr>
          <c:marker>
            <c:symbol val="none"/>
          </c:marker>
          <c:dLbls>
            <c:numFmt formatCode="0" sourceLinked="0"/>
            <c:txPr>
              <a:bodyPr/>
              <a:lstStyle/>
              <a:p>
                <a:pPr>
                  <a:defRPr sz="640">
                    <a:solidFill>
                      <a:srgbClr val="314359"/>
                    </a:solidFill>
                  </a:defRPr>
                </a:pPr>
              </a:p>
            </c:txPr>
            <c:dLblPos val="b"/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Sheet1!$A$2:$A$14</c:f>
              <c:strCache>
                <c:ptCount val="13"/>
                <c:pt idx="0">
                  <c:v>0</c:v>
                </c:pt>
                <c:pt idx="1">
                  <c:v/>
                </c:pt>
                <c:pt idx="2">
                  <c:v/>
                </c:pt>
                <c:pt idx="3">
                  <c:v>Yr 1</c:v>
                </c:pt>
                <c:pt idx="4">
                  <c:v/>
                </c:pt>
                <c:pt idx="5">
                  <c:v/>
                </c:pt>
                <c:pt idx="6">
                  <c:v>Yr 2</c:v>
                </c:pt>
                <c:pt idx="7">
                  <c:v/>
                </c:pt>
                <c:pt idx="8">
                  <c:v/>
                </c:pt>
                <c:pt idx="9">
                  <c:v>Yr 3</c:v>
                </c:pt>
                <c:pt idx="10">
                  <c:v/>
                </c:pt>
                <c:pt idx="11">
                  <c:v/>
                </c:pt>
                <c:pt idx="12">
                  <c:v>Exit</c:v>
                </c:pt>
              </c:strCache>
            </c:strRef>
          </c:cat>
          <c:val>
            <c:numRef>
              <c:f>Sheet1!$B$2:$B$14</c:f>
              <c:numCache>
                <c:formatCode>General</c:formatCode>
                <c:ptCount val="13"/>
                <c:pt idx="0">
                  <c:v>100</c:v>
                </c:pt>
                <c:pt idx="1">
                  <c:v>92</c:v>
                </c:pt>
                <c:pt idx="2">
                  <c:v>80</c:v>
                </c:pt>
                <c:pt idx="3">
                  <c:v>72</c:v>
                </c:pt>
                <c:pt idx="4">
                  <c:v>85</c:v>
                </c:pt>
                <c:pt idx="5">
                  <c:v>95</c:v>
                </c:pt>
                <c:pt idx="6">
                  <c:v>88</c:v>
                </c:pt>
                <c:pt idx="7">
                  <c:v>112</c:v>
                </c:pt>
                <c:pt idx="8">
                  <c:v>142</c:v>
                </c:pt>
                <c:pt idx="9">
                  <c:v>175</c:v>
                </c:pt>
                <c:pt idx="10">
                  <c:v>212</c:v>
                </c:pt>
                <c:pt idx="11">
                  <c:v>255</c:v>
                </c:pt>
                <c:pt idx="12">
                  <c:v>300</c:v>
                </c:pt>
              </c:numCache>
            </c:numRef>
          </c:val>
          <c:smooth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PE appraisal marks</c:v>
                </c:pt>
              </c:strCache>
            </c:strRef>
          </c:tx>
          <c:spPr>
            <a:ln w="25400">
              <a:solidFill>
                <a:srgbClr val="556A83"/>
              </a:solidFill>
              <a:prstDash val="sysDash"/>
            </a:ln>
          </c:spPr>
          <c:marker>
            <c:symbol val="none"/>
          </c:marker>
          <c:cat>
            <c:strRef>
              <c:f>Sheet1!$A$2:$A$14</c:f>
              <c:strCache>
                <c:ptCount val="13"/>
                <c:pt idx="0">
                  <c:v>0</c:v>
                </c:pt>
                <c:pt idx="1">
                  <c:v/>
                </c:pt>
                <c:pt idx="2">
                  <c:v/>
                </c:pt>
                <c:pt idx="3">
                  <c:v>Yr 1</c:v>
                </c:pt>
                <c:pt idx="4">
                  <c:v/>
                </c:pt>
                <c:pt idx="5">
                  <c:v/>
                </c:pt>
                <c:pt idx="6">
                  <c:v>Yr 2</c:v>
                </c:pt>
                <c:pt idx="7">
                  <c:v/>
                </c:pt>
                <c:pt idx="8">
                  <c:v/>
                </c:pt>
                <c:pt idx="9">
                  <c:v>Yr 3</c:v>
                </c:pt>
                <c:pt idx="10">
                  <c:v/>
                </c:pt>
                <c:pt idx="11">
                  <c:v/>
                </c:pt>
                <c:pt idx="12">
                  <c:v>Exit</c:v>
                </c:pt>
              </c:strCache>
            </c:strRef>
          </c:cat>
          <c:val>
            <c:numRef>
              <c:f>Sheet1!$C$2:$C$14</c:f>
              <c:numCache>
                <c:formatCode>General</c:formatCode>
                <c:ptCount val="13"/>
                <c:pt idx="0">
                  <c:v>100</c:v>
                </c:pt>
                <c:pt idx="1">
                  <c:v>104</c:v>
                </c:pt>
                <c:pt idx="2">
                  <c:v>110</c:v>
                </c:pt>
                <c:pt idx="3">
                  <c:v>118</c:v>
                </c:pt>
                <c:pt idx="4">
                  <c:v>128</c:v>
                </c:pt>
                <c:pt idx="5">
                  <c:v>140</c:v>
                </c:pt>
                <c:pt idx="6">
                  <c:v>155</c:v>
                </c:pt>
                <c:pt idx="7">
                  <c:v>172</c:v>
                </c:pt>
                <c:pt idx="8">
                  <c:v>192</c:v>
                </c:pt>
                <c:pt idx="9">
                  <c:v>215</c:v>
                </c:pt>
                <c:pt idx="10">
                  <c:v>245</c:v>
                </c:pt>
                <c:pt idx="11">
                  <c:v>272</c:v>
                </c:pt>
                <c:pt idx="12">
                  <c:v>300</c:v>
                </c:pt>
              </c:numCache>
            </c:numRef>
          </c:val>
          <c:smooth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880"/>
          </a:pPr>
        </a:p>
      </c:txPr>
    </c:legend>
    <c:plotVisOnly val="1"/>
    <c:dispBlanksAs val="gap"/>
    <c:showDLblsOverMax val="0"/>
  </c:chart>
  <c:txPr>
    <a:bodyPr/>
    <a:lstStyle/>
    <a:p>
      <a:pPr>
        <a:defRPr sz="144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960">
                <a:solidFill>
                  <a:srgbClr val="556A83"/>
                </a:solidFill>
              </a:rPr>
              <a:t>Figure 5.  Average monthly return (%)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Athanase</c:v>
                </c:pt>
              </c:strCache>
            </c:strRef>
          </c:tx>
          <c:spPr>
            <a:solidFill>
              <a:srgbClr val="152130"/>
            </a:solidFill>
          </c:spPr>
          <c:cat>
            <c:strRef>
              <c:f>Sheet1!$A$2:$A$4</c:f>
              <c:strCache>
                <c:ptCount val="3"/>
                <c:pt idx="0">
                  <c:v>All markets</c:v>
                </c:pt>
                <c:pt idx="1">
                  <c:v>Up markets</c:v>
                </c:pt>
                <c:pt idx="2">
                  <c:v>Down markets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1.5</c:v>
                </c:pt>
                <c:pt idx="1">
                  <c:v>1.2</c:v>
                </c:pt>
                <c:pt idx="2">
                  <c:v>0.2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MSCI IMI</c:v>
                </c:pt>
              </c:strCache>
            </c:strRef>
          </c:tx>
          <c:spPr>
            <a:solidFill>
              <a:srgbClr val="556A83"/>
            </a:solidFill>
          </c:spPr>
          <c:cat>
            <c:strRef>
              <c:f>Sheet1!$A$2:$A$4</c:f>
              <c:strCache>
                <c:ptCount val="3"/>
                <c:pt idx="0">
                  <c:v>All markets</c:v>
                </c:pt>
                <c:pt idx="1">
                  <c:v>Up markets</c:v>
                </c:pt>
                <c:pt idx="2">
                  <c:v>Down markets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0.6</c:v>
                </c:pt>
                <c:pt idx="1">
                  <c:v>1.3</c:v>
                </c:pt>
                <c:pt idx="2">
                  <c:v>-1.7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sz="720">
                  <a:solidFill>
                    <a:srgbClr val="0E1620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8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800">
                <a:solidFill>
                  <a:srgbClr val="0E1620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800">
                <a:solidFill>
                  <a:srgbClr val="0E1620"/>
                </a:solidFill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880"/>
          </a:pPr>
        </a:p>
      </c:txPr>
    </c:legend>
    <c:dispBlanksAs val="gap"/>
  </c:chart>
  <c:txPr>
    <a:bodyPr/>
    <a:lstStyle/>
    <a:p>
      <a:pPr>
        <a:defRPr sz="144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880">
                <a:solidFill>
                  <a:srgbClr val="556A83"/>
                </a:solidFill>
              </a:rPr>
              <a:t>Figure 6.  Growth of a 100 sleeve through a market cycle (indexed)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Athanase (18%)</c:v>
                </c:pt>
              </c:strCache>
            </c:strRef>
          </c:tx>
          <c:spPr>
            <a:ln w="38100">
              <a:solidFill>
                <a:srgbClr val="152130"/>
              </a:solidFill>
            </a:ln>
          </c:spPr>
          <c:marker>
            <c:symbol val="none"/>
          </c:marker>
          <c:cat>
            <c:strRef>
              <c:f>Sheet1!$A$2:$A$12</c:f>
              <c:strCache>
                <c:ptCount val="1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</c:strCache>
            </c: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100</c:v>
                </c:pt>
                <c:pt idx="1">
                  <c:v>118</c:v>
                </c:pt>
                <c:pt idx="2">
                  <c:v>140</c:v>
                </c:pt>
                <c:pt idx="3">
                  <c:v>166</c:v>
                </c:pt>
                <c:pt idx="4">
                  <c:v>197</c:v>
                </c:pt>
                <c:pt idx="5">
                  <c:v>233</c:v>
                </c:pt>
                <c:pt idx="6">
                  <c:v>236</c:v>
                </c:pt>
                <c:pt idx="7">
                  <c:v>296</c:v>
                </c:pt>
                <c:pt idx="8">
                  <c:v>366</c:v>
                </c:pt>
                <c:pt idx="9">
                  <c:v>442</c:v>
                </c:pt>
                <c:pt idx="10">
                  <c:v>523</c:v>
                </c:pt>
              </c:numCache>
            </c:numRef>
          </c:val>
          <c:smooth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Other activist (10.5%)</c:v>
                </c:pt>
              </c:strCache>
            </c:strRef>
          </c:tx>
          <c:spPr>
            <a:ln w="25400">
              <a:solidFill>
                <a:srgbClr val="556A83"/>
              </a:solidFill>
            </a:ln>
          </c:spPr>
          <c:marker>
            <c:symbol val="none"/>
          </c:marker>
          <c:cat>
            <c:strRef>
              <c:f>Sheet1!$A$2:$A$12</c:f>
              <c:strCache>
                <c:ptCount val="1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</c:strCache>
            </c:strRef>
          </c:cat>
          <c:val>
            <c:numRef>
              <c:f>Sheet1!$C$2:$C$12</c:f>
              <c:numCache>
                <c:formatCode>General</c:formatCode>
                <c:ptCount val="11"/>
                <c:pt idx="0">
                  <c:v>100</c:v>
                </c:pt>
                <c:pt idx="1">
                  <c:v>111</c:v>
                </c:pt>
                <c:pt idx="2">
                  <c:v>123</c:v>
                </c:pt>
                <c:pt idx="3">
                  <c:v>137</c:v>
                </c:pt>
                <c:pt idx="4">
                  <c:v>152</c:v>
                </c:pt>
                <c:pt idx="5">
                  <c:v>168</c:v>
                </c:pt>
                <c:pt idx="6">
                  <c:v>150</c:v>
                </c:pt>
                <c:pt idx="7">
                  <c:v>182</c:v>
                </c:pt>
                <c:pt idx="8">
                  <c:v>214</c:v>
                </c:pt>
                <c:pt idx="9">
                  <c:v>244</c:v>
                </c:pt>
                <c:pt idx="10">
                  <c:v>271</c:v>
                </c:pt>
              </c:numCache>
            </c:numRef>
          </c:val>
          <c:smooth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Long-only global (7.6%)</c:v>
                </c:pt>
              </c:strCache>
            </c:strRef>
          </c:tx>
          <c:spPr>
            <a:ln w="25400">
              <a:solidFill>
                <a:srgbClr val="E2E5E9"/>
              </a:solidFill>
              <a:prstDash val="sysDash"/>
            </a:ln>
          </c:spPr>
          <c:marker>
            <c:symbol val="none"/>
          </c:marker>
          <c:cat>
            <c:strRef>
              <c:f>Sheet1!$A$2:$A$12</c:f>
              <c:strCache>
                <c:ptCount val="1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</c:strCache>
            </c:strRef>
          </c:cat>
          <c:val>
            <c:numRef>
              <c:f>Sheet1!$D$2:$D$12</c:f>
              <c:numCache>
                <c:formatCode>General</c:formatCode>
                <c:ptCount val="11"/>
                <c:pt idx="0">
                  <c:v>100</c:v>
                </c:pt>
                <c:pt idx="1">
                  <c:v>108</c:v>
                </c:pt>
                <c:pt idx="2">
                  <c:v>117</c:v>
                </c:pt>
                <c:pt idx="3">
                  <c:v>126</c:v>
                </c:pt>
                <c:pt idx="4">
                  <c:v>136</c:v>
                </c:pt>
                <c:pt idx="5">
                  <c:v>147</c:v>
                </c:pt>
                <c:pt idx="6">
                  <c:v>119</c:v>
                </c:pt>
                <c:pt idx="7">
                  <c:v>142</c:v>
                </c:pt>
                <c:pt idx="8">
                  <c:v>168</c:v>
                </c:pt>
                <c:pt idx="9">
                  <c:v>190</c:v>
                </c:pt>
                <c:pt idx="10">
                  <c:v>208</c:v>
                </c:pt>
              </c:numCache>
            </c:numRef>
          </c:val>
          <c:smooth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600.0"/>
          <c:min val="0.0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800"/>
          </a:pPr>
        </a:p>
      </c:txPr>
    </c:legend>
    <c:plotVisOnly val="1"/>
    <c:dispBlanksAs val="gap"/>
    <c:showDLblsOverMax val="0"/>
  </c:chart>
  <c:txPr>
    <a:bodyPr/>
    <a:lstStyle/>
    <a:p>
      <a:pPr>
        <a:defRPr sz="144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2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3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4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4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5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6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7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8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9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768098" cy="38039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4389120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8922" y="4632960"/>
            <a:ext cx="8632151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360" b="0" i="0" spc="-126">
                <a:solidFill>
                  <a:srgbClr val="FFFFFF"/>
                </a:solidFill>
                <a:latin typeface="Times New Roman"/>
              </a:rPr>
              <a:t>Engaged Ownership as an Asset Class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920" b="0" i="1" spc="-72">
                <a:solidFill>
                  <a:srgbClr val="E2E5E9"/>
                </a:solidFill>
                <a:latin typeface="Times New Roman"/>
              </a:rPr>
              <a:t>Why allocators should consider it — and why Athanase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3553" y="6437376"/>
            <a:ext cx="5852306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An allocator briefing  ·  May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Overview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Contents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12076" y="1784908"/>
            <a:ext cx="4279499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20" b="1" i="0">
                <a:solidFill>
                  <a:srgbClr val="314359"/>
                </a:solidFill>
                <a:latin typeface="Times New Roman"/>
              </a:rPr>
              <a:t>Part I  ·  Why allocate to engaged ownership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076" y="2175052"/>
            <a:ext cx="4279499" cy="5169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2000"/>
              </a:lnSpc>
              <a:spcAft>
                <a:spcPts val="700"/>
              </a:spcAft>
            </a:pPr>
            <a:r>
              <a:rPr sz="919" b="1">
                <a:solidFill>
                  <a:srgbClr val="314359"/>
                </a:solidFill>
                <a:latin typeface="Arial"/>
              </a:rPr>
              <a:t>1   </a:t>
            </a:r>
            <a:r>
              <a:rPr sz="919">
                <a:solidFill>
                  <a:srgbClr val="314359"/>
                </a:solidFill>
                <a:latin typeface="Arial"/>
              </a:rPr>
              <a:t>A catalyst-driven source of return</a:t>
            </a:r>
          </a:p>
          <a:p>
            <a:pPr>
              <a:lnSpc>
                <a:spcPct val="102000"/>
              </a:lnSpc>
              <a:spcAft>
                <a:spcPts val="700"/>
              </a:spcAft>
            </a:pPr>
            <a:r>
              <a:rPr sz="919" b="1">
                <a:solidFill>
                  <a:srgbClr val="314359"/>
                </a:solidFill>
                <a:latin typeface="Arial"/>
              </a:rPr>
              <a:t>2   </a:t>
            </a:r>
            <a:r>
              <a:rPr sz="919">
                <a:solidFill>
                  <a:srgbClr val="314359"/>
                </a:solidFill>
                <a:latin typeface="Arial"/>
              </a:rPr>
              <a:t>Aligned with horizon and fiduciary duty</a:t>
            </a:r>
          </a:p>
          <a:p>
            <a:pPr>
              <a:lnSpc>
                <a:spcPct val="102000"/>
              </a:lnSpc>
              <a:spcAft>
                <a:spcPts val="700"/>
              </a:spcAft>
            </a:pPr>
            <a:r>
              <a:rPr sz="919" b="1">
                <a:solidFill>
                  <a:srgbClr val="314359"/>
                </a:solidFill>
                <a:latin typeface="Arial"/>
              </a:rPr>
              <a:t>3   </a:t>
            </a:r>
            <a:r>
              <a:rPr sz="919">
                <a:solidFill>
                  <a:srgbClr val="314359"/>
                </a:solidFill>
                <a:latin typeface="Arial"/>
              </a:rPr>
              <a:t>Diversification and the total-portfolio view</a:t>
            </a:r>
          </a:p>
          <a:p>
            <a:pPr>
              <a:lnSpc>
                <a:spcPct val="102000"/>
              </a:lnSpc>
              <a:spcAft>
                <a:spcPts val="700"/>
              </a:spcAft>
            </a:pPr>
            <a:r>
              <a:rPr sz="919" b="1">
                <a:solidFill>
                  <a:srgbClr val="314359"/>
                </a:solidFill>
                <a:latin typeface="Arial"/>
              </a:rPr>
              <a:t>4   </a:t>
            </a:r>
            <a:r>
              <a:rPr sz="919">
                <a:solidFill>
                  <a:srgbClr val="314359"/>
                </a:solidFill>
                <a:latin typeface="Arial"/>
              </a:rPr>
              <a:t>Where the allocation fits: three legitimate homes</a:t>
            </a:r>
          </a:p>
          <a:p>
            <a:pPr>
              <a:lnSpc>
                <a:spcPct val="102000"/>
              </a:lnSpc>
              <a:spcAft>
                <a:spcPts val="700"/>
              </a:spcAft>
            </a:pPr>
            <a:r>
              <a:rPr sz="919" b="1">
                <a:solidFill>
                  <a:srgbClr val="314359"/>
                </a:solidFill>
                <a:latin typeface="Arial"/>
              </a:rPr>
              <a:t>5   </a:t>
            </a:r>
            <a:r>
              <a:rPr sz="919">
                <a:solidFill>
                  <a:srgbClr val="314359"/>
                </a:solidFill>
                <a:latin typeface="Arial"/>
              </a:rPr>
              <a:t>Governance and the ESG synergy</a:t>
            </a:r>
          </a:p>
          <a:p>
            <a:pPr>
              <a:lnSpc>
                <a:spcPct val="102000"/>
              </a:lnSpc>
              <a:spcAft>
                <a:spcPts val="700"/>
              </a:spcAft>
            </a:pPr>
            <a:r>
              <a:rPr sz="919" b="1">
                <a:solidFill>
                  <a:srgbClr val="314359"/>
                </a:solidFill>
                <a:latin typeface="Arial"/>
              </a:rPr>
              <a:t>6   </a:t>
            </a:r>
            <a:r>
              <a:rPr sz="919">
                <a:solidFill>
                  <a:srgbClr val="314359"/>
                </a:solidFill>
                <a:latin typeface="Arial"/>
              </a:rPr>
              <a:t>Why mid-market is the sweet spot</a:t>
            </a:r>
            <a:r>
              <a:rPr sz="760" i="1">
                <a:solidFill>
                  <a:srgbClr val="556A83"/>
                </a:solidFill>
                <a:latin typeface="Arial"/>
              </a:rPr>
              <a:t>   (Table 1)</a:t>
            </a:r>
          </a:p>
          <a:p>
            <a:pPr>
              <a:lnSpc>
                <a:spcPct val="102000"/>
              </a:lnSpc>
              <a:spcAft>
                <a:spcPts val="700"/>
              </a:spcAft>
            </a:pPr>
            <a:r>
              <a:rPr sz="919" b="1">
                <a:solidFill>
                  <a:srgbClr val="314359"/>
                </a:solidFill>
                <a:latin typeface="Arial"/>
              </a:rPr>
              <a:t>7   </a:t>
            </a:r>
            <a:r>
              <a:rPr sz="919">
                <a:solidFill>
                  <a:srgbClr val="314359"/>
                </a:solidFill>
                <a:latin typeface="Arial"/>
              </a:rPr>
              <a:t>Why mid-cap management listens</a:t>
            </a:r>
          </a:p>
          <a:p>
            <a:pPr>
              <a:lnSpc>
                <a:spcPct val="102000"/>
              </a:lnSpc>
              <a:spcAft>
                <a:spcPts val="700"/>
              </a:spcAft>
            </a:pPr>
            <a:r>
              <a:rPr sz="919" b="1">
                <a:solidFill>
                  <a:srgbClr val="314359"/>
                </a:solidFill>
                <a:latin typeface="Arial"/>
              </a:rPr>
              <a:t>8   </a:t>
            </a:r>
            <a:r>
              <a:rPr sz="919">
                <a:solidFill>
                  <a:srgbClr val="314359"/>
                </a:solidFill>
                <a:latin typeface="Arial"/>
              </a:rPr>
              <a:t>What separates a great engaged owner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57345" y="1784908"/>
            <a:ext cx="4279499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20" b="1" i="0">
                <a:solidFill>
                  <a:srgbClr val="314359"/>
                </a:solidFill>
                <a:latin typeface="Times New Roman"/>
              </a:rPr>
              <a:t>Part II  ·  Why choose Athanase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57345" y="2175052"/>
            <a:ext cx="4279499" cy="5169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760" b="1">
                <a:solidFill>
                  <a:srgbClr val="314359"/>
                </a:solidFill>
                <a:latin typeface="Times New Roman"/>
              </a:rPr>
              <a:t>1   Team &amp; operations</a:t>
            </a:r>
          </a:p>
          <a:p>
            <a:pPr>
              <a:lnSpc>
                <a:spcPct val="100000"/>
              </a:lnSpc>
              <a:spcAft>
                <a:spcPts val="80"/>
              </a:spcAft>
            </a:pPr>
            <a:r>
              <a:rPr sz="720" b="0">
                <a:solidFill>
                  <a:srgbClr val="314359"/>
                </a:solidFill>
                <a:latin typeface="Arial"/>
              </a:rPr>
              <a:t>      1.1   </a:t>
            </a:r>
            <a:r>
              <a:rPr sz="720">
                <a:solidFill>
                  <a:srgbClr val="314359"/>
                </a:solidFill>
                <a:latin typeface="Arial"/>
              </a:rPr>
              <a:t>Athanase at a glance</a:t>
            </a:r>
          </a:p>
          <a:p>
            <a:pPr>
              <a:lnSpc>
                <a:spcPct val="100000"/>
              </a:lnSpc>
              <a:spcAft>
                <a:spcPts val="80"/>
              </a:spcAft>
            </a:pPr>
            <a:r>
              <a:rPr sz="720" b="0">
                <a:solidFill>
                  <a:srgbClr val="314359"/>
                </a:solidFill>
                <a:latin typeface="Arial"/>
              </a:rPr>
              <a:t>      1.2   </a:t>
            </a:r>
            <a:r>
              <a:rPr sz="720">
                <a:solidFill>
                  <a:srgbClr val="314359"/>
                </a:solidFill>
                <a:latin typeface="Arial"/>
              </a:rPr>
              <a:t>An integrated team, 20 years together</a:t>
            </a:r>
          </a:p>
          <a:p>
            <a:pPr>
              <a:lnSpc>
                <a:spcPct val="100000"/>
              </a:lnSpc>
              <a:spcAft>
                <a:spcPts val="80"/>
              </a:spcAft>
            </a:pPr>
            <a:r>
              <a:rPr sz="720" b="0">
                <a:solidFill>
                  <a:srgbClr val="314359"/>
                </a:solidFill>
                <a:latin typeface="Arial"/>
              </a:rPr>
              <a:t>      1.3   </a:t>
            </a:r>
            <a:r>
              <a:rPr sz="720">
                <a:solidFill>
                  <a:srgbClr val="314359"/>
                </a:solidFill>
                <a:latin typeface="Arial"/>
              </a:rPr>
              <a:t>The people behind the track record</a:t>
            </a:r>
          </a:p>
          <a:p>
            <a:pPr>
              <a:lnSpc>
                <a:spcPct val="100000"/>
              </a:lnSpc>
              <a:spcAft>
                <a:spcPts val="80"/>
              </a:spcAft>
            </a:pPr>
            <a:r>
              <a:rPr sz="720" b="0">
                <a:solidFill>
                  <a:srgbClr val="314359"/>
                </a:solidFill>
                <a:latin typeface="Arial"/>
              </a:rPr>
              <a:t>      1.4   </a:t>
            </a:r>
            <a:r>
              <a:rPr sz="720">
                <a:solidFill>
                  <a:srgbClr val="314359"/>
                </a:solidFill>
                <a:latin typeface="Arial"/>
              </a:rPr>
              <a:t>A disciplined, repeatable selection process</a:t>
            </a:r>
            <a:r>
              <a:rPr sz="560" i="1">
                <a:solidFill>
                  <a:srgbClr val="556A83"/>
                </a:solidFill>
                <a:latin typeface="Arial"/>
              </a:rPr>
              <a:t>   (Figure 1)</a:t>
            </a:r>
          </a:p>
          <a:p>
            <a:pPr>
              <a:lnSpc>
                <a:spcPct val="100000"/>
              </a:lnSpc>
              <a:spcAft>
                <a:spcPts val="80"/>
              </a:spcAft>
            </a:pPr>
            <a:r>
              <a:rPr sz="720" b="0">
                <a:solidFill>
                  <a:srgbClr val="314359"/>
                </a:solidFill>
                <a:latin typeface="Arial"/>
              </a:rPr>
              <a:t>      1.5   </a:t>
            </a:r>
            <a:r>
              <a:rPr sz="720">
                <a:solidFill>
                  <a:srgbClr val="314359"/>
                </a:solidFill>
                <a:latin typeface="Arial"/>
              </a:rPr>
              <a:t>A risk system that engineers out permanent loss</a:t>
            </a:r>
            <a:r>
              <a:rPr sz="560" i="1">
                <a:solidFill>
                  <a:srgbClr val="556A83"/>
                </a:solidFill>
                <a:latin typeface="Arial"/>
              </a:rPr>
              <a:t>   (Table 2)</a:t>
            </a:r>
          </a:p>
          <a:p>
            <a:pPr>
              <a:lnSpc>
                <a:spcPct val="100000"/>
              </a:lnSpc>
              <a:spcAft>
                <a:spcPts val="80"/>
              </a:spcAft>
            </a:pPr>
            <a:r>
              <a:rPr sz="720" b="0">
                <a:solidFill>
                  <a:srgbClr val="314359"/>
                </a:solidFill>
                <a:latin typeface="Arial"/>
              </a:rPr>
              <a:t>      1.6   </a:t>
            </a:r>
            <a:r>
              <a:rPr sz="720">
                <a:solidFill>
                  <a:srgbClr val="314359"/>
                </a:solidFill>
                <a:latin typeface="Arial"/>
              </a:rPr>
              <a:t>The ownership playbook, honed over 40 investments</a:t>
            </a:r>
          </a:p>
          <a:p>
            <a:pPr>
              <a:lnSpc>
                <a:spcPct val="100000"/>
              </a:lnSpc>
              <a:spcBef>
                <a:spcPts val="200"/>
              </a:spcBef>
              <a:spcAft>
                <a:spcPts val="100"/>
              </a:spcAft>
            </a:pPr>
            <a:r>
              <a:rPr sz="760" b="1">
                <a:solidFill>
                  <a:srgbClr val="314359"/>
                </a:solidFill>
                <a:latin typeface="Times New Roman"/>
              </a:rPr>
              <a:t>2   The opportunity &amp; our edge</a:t>
            </a:r>
          </a:p>
          <a:p>
            <a:pPr>
              <a:lnSpc>
                <a:spcPct val="100000"/>
              </a:lnSpc>
              <a:spcAft>
                <a:spcPts val="80"/>
              </a:spcAft>
            </a:pPr>
            <a:r>
              <a:rPr sz="720" b="0">
                <a:solidFill>
                  <a:srgbClr val="314359"/>
                </a:solidFill>
                <a:latin typeface="Arial"/>
              </a:rPr>
              <a:t>      2.1   </a:t>
            </a:r>
            <a:r>
              <a:rPr sz="720">
                <a:solidFill>
                  <a:srgbClr val="314359"/>
                </a:solidFill>
                <a:latin typeface="Arial"/>
              </a:rPr>
              <a:t>The inefficiency Athanase harvests</a:t>
            </a:r>
            <a:r>
              <a:rPr sz="560" i="1">
                <a:solidFill>
                  <a:srgbClr val="556A83"/>
                </a:solidFill>
                <a:latin typeface="Arial"/>
              </a:rPr>
              <a:t>   (Figure 2)</a:t>
            </a:r>
          </a:p>
          <a:p>
            <a:pPr>
              <a:lnSpc>
                <a:spcPct val="100000"/>
              </a:lnSpc>
              <a:spcAft>
                <a:spcPts val="80"/>
              </a:spcAft>
            </a:pPr>
            <a:r>
              <a:rPr sz="720" b="0">
                <a:solidFill>
                  <a:srgbClr val="314359"/>
                </a:solidFill>
                <a:latin typeface="Arial"/>
              </a:rPr>
              <a:t>      2.2   </a:t>
            </a:r>
            <a:r>
              <a:rPr sz="720">
                <a:solidFill>
                  <a:srgbClr val="314359"/>
                </a:solidFill>
                <a:latin typeface="Arial"/>
              </a:rPr>
              <a:t>We don’t buy broken companies — we buy hidden cores</a:t>
            </a:r>
            <a:r>
              <a:rPr sz="560" i="1">
                <a:solidFill>
                  <a:srgbClr val="556A83"/>
                </a:solidFill>
                <a:latin typeface="Arial"/>
              </a:rPr>
              <a:t>   (Figure 3)</a:t>
            </a:r>
          </a:p>
          <a:p>
            <a:pPr>
              <a:lnSpc>
                <a:spcPct val="100000"/>
              </a:lnSpc>
              <a:spcAft>
                <a:spcPts val="80"/>
              </a:spcAft>
            </a:pPr>
            <a:r>
              <a:rPr sz="720" b="0">
                <a:solidFill>
                  <a:srgbClr val="314359"/>
                </a:solidFill>
                <a:latin typeface="Arial"/>
              </a:rPr>
              <a:t>      2.3   </a:t>
            </a:r>
            <a:r>
              <a:rPr sz="720">
                <a:solidFill>
                  <a:srgbClr val="314359"/>
                </a:solidFill>
                <a:latin typeface="Arial"/>
              </a:rPr>
              <a:t>Quality-core constructivism — how we differ</a:t>
            </a:r>
            <a:r>
              <a:rPr sz="560" i="1">
                <a:solidFill>
                  <a:srgbClr val="556A83"/>
                </a:solidFill>
                <a:latin typeface="Arial"/>
              </a:rPr>
              <a:t>   (Table 3)</a:t>
            </a:r>
          </a:p>
          <a:p>
            <a:pPr>
              <a:lnSpc>
                <a:spcPct val="100000"/>
              </a:lnSpc>
              <a:spcAft>
                <a:spcPts val="80"/>
              </a:spcAft>
            </a:pPr>
            <a:r>
              <a:rPr sz="720" b="0">
                <a:solidFill>
                  <a:srgbClr val="314359"/>
                </a:solidFill>
                <a:latin typeface="Arial"/>
              </a:rPr>
              <a:t>      2.4   </a:t>
            </a:r>
            <a:r>
              <a:rPr sz="720">
                <a:solidFill>
                  <a:srgbClr val="314359"/>
                </a:solidFill>
                <a:latin typeface="Arial"/>
              </a:rPr>
              <a:t>We don’t need to be right more than ~50%</a:t>
            </a:r>
            <a:r>
              <a:rPr sz="560" i="1">
                <a:solidFill>
                  <a:srgbClr val="556A83"/>
                </a:solidFill>
                <a:latin typeface="Arial"/>
              </a:rPr>
              <a:t>   (Table 4)</a:t>
            </a:r>
          </a:p>
          <a:p>
            <a:pPr>
              <a:lnSpc>
                <a:spcPct val="100000"/>
              </a:lnSpc>
              <a:spcAft>
                <a:spcPts val="80"/>
              </a:spcAft>
            </a:pPr>
            <a:r>
              <a:rPr sz="720" b="0">
                <a:solidFill>
                  <a:srgbClr val="314359"/>
                </a:solidFill>
                <a:latin typeface="Arial"/>
              </a:rPr>
              <a:t>      2.5   </a:t>
            </a:r>
            <a:r>
              <a:rPr sz="720">
                <a:solidFill>
                  <a:srgbClr val="314359"/>
                </a:solidFill>
                <a:latin typeface="Arial"/>
              </a:rPr>
              <a:t>The same playbook as mid-market PE — without its costs</a:t>
            </a:r>
            <a:r>
              <a:rPr sz="560" i="1">
                <a:solidFill>
                  <a:srgbClr val="556A83"/>
                </a:solidFill>
                <a:latin typeface="Arial"/>
              </a:rPr>
              <a:t>   (Table 5)</a:t>
            </a:r>
          </a:p>
          <a:p>
            <a:pPr>
              <a:lnSpc>
                <a:spcPct val="100000"/>
              </a:lnSpc>
              <a:spcBef>
                <a:spcPts val="200"/>
              </a:spcBef>
              <a:spcAft>
                <a:spcPts val="100"/>
              </a:spcAft>
            </a:pPr>
            <a:r>
              <a:rPr sz="760" b="1">
                <a:solidFill>
                  <a:srgbClr val="314359"/>
                </a:solidFill>
                <a:latin typeface="Times New Roman"/>
              </a:rPr>
              <a:t>3   Risk, honestly</a:t>
            </a:r>
          </a:p>
          <a:p>
            <a:pPr>
              <a:lnSpc>
                <a:spcPct val="100000"/>
              </a:lnSpc>
              <a:spcAft>
                <a:spcPts val="80"/>
              </a:spcAft>
            </a:pPr>
            <a:r>
              <a:rPr sz="720" b="0">
                <a:solidFill>
                  <a:srgbClr val="314359"/>
                </a:solidFill>
                <a:latin typeface="Arial"/>
              </a:rPr>
              <a:t>      3.1   </a:t>
            </a:r>
            <a:r>
              <a:rPr sz="720">
                <a:solidFill>
                  <a:srgbClr val="314359"/>
                </a:solidFill>
                <a:latin typeface="Arial"/>
              </a:rPr>
              <a:t>A risk system built to avoid permanent loss</a:t>
            </a:r>
          </a:p>
          <a:p>
            <a:pPr>
              <a:lnSpc>
                <a:spcPct val="100000"/>
              </a:lnSpc>
              <a:spcAft>
                <a:spcPts val="80"/>
              </a:spcAft>
            </a:pPr>
            <a:r>
              <a:rPr sz="720" b="0">
                <a:solidFill>
                  <a:srgbClr val="314359"/>
                </a:solidFill>
                <a:latin typeface="Arial"/>
              </a:rPr>
              <a:t>      3.2   </a:t>
            </a:r>
            <a:r>
              <a:rPr sz="720">
                <a:solidFill>
                  <a:srgbClr val="314359"/>
                </a:solidFill>
                <a:latin typeface="Arial"/>
              </a:rPr>
              <a:t>The visible risks are the engine — not the cost</a:t>
            </a:r>
          </a:p>
          <a:p>
            <a:pPr>
              <a:lnSpc>
                <a:spcPct val="100000"/>
              </a:lnSpc>
              <a:spcAft>
                <a:spcPts val="80"/>
              </a:spcAft>
            </a:pPr>
            <a:r>
              <a:rPr sz="720" b="0">
                <a:solidFill>
                  <a:srgbClr val="314359"/>
                </a:solidFill>
                <a:latin typeface="Arial"/>
              </a:rPr>
              <a:t>      3.3   </a:t>
            </a:r>
            <a:r>
              <a:rPr sz="720">
                <a:solidFill>
                  <a:srgbClr val="314359"/>
                </a:solidFill>
                <a:latin typeface="Arial"/>
              </a:rPr>
              <a:t>A non-linear path — honestly priced</a:t>
            </a:r>
            <a:r>
              <a:rPr sz="560" i="1">
                <a:solidFill>
                  <a:srgbClr val="556A83"/>
                </a:solidFill>
                <a:latin typeface="Arial"/>
              </a:rPr>
              <a:t>   (Figure 4)</a:t>
            </a:r>
          </a:p>
          <a:p>
            <a:pPr>
              <a:lnSpc>
                <a:spcPct val="100000"/>
              </a:lnSpc>
              <a:spcAft>
                <a:spcPts val="80"/>
              </a:spcAft>
            </a:pPr>
            <a:r>
              <a:rPr sz="720" b="0">
                <a:solidFill>
                  <a:srgbClr val="314359"/>
                </a:solidFill>
                <a:latin typeface="Arial"/>
              </a:rPr>
              <a:t>      3.4   </a:t>
            </a:r>
            <a:r>
              <a:rPr sz="720">
                <a:solidFill>
                  <a:srgbClr val="314359"/>
                </a:solidFill>
                <a:latin typeface="Arial"/>
              </a:rPr>
              <a:t>Risk reframing for the investment committee</a:t>
            </a:r>
            <a:r>
              <a:rPr sz="560" i="1">
                <a:solidFill>
                  <a:srgbClr val="556A83"/>
                </a:solidFill>
                <a:latin typeface="Arial"/>
              </a:rPr>
              <a:t>   (Table 6)</a:t>
            </a:r>
          </a:p>
          <a:p>
            <a:pPr>
              <a:lnSpc>
                <a:spcPct val="100000"/>
              </a:lnSpc>
              <a:spcBef>
                <a:spcPts val="200"/>
              </a:spcBef>
              <a:spcAft>
                <a:spcPts val="100"/>
              </a:spcAft>
            </a:pPr>
            <a:r>
              <a:rPr sz="760" b="1">
                <a:solidFill>
                  <a:srgbClr val="314359"/>
                </a:solidFill>
                <a:latin typeface="Times New Roman"/>
              </a:rPr>
              <a:t>4   The 20-year track record</a:t>
            </a:r>
          </a:p>
          <a:p>
            <a:pPr>
              <a:lnSpc>
                <a:spcPct val="100000"/>
              </a:lnSpc>
              <a:spcAft>
                <a:spcPts val="80"/>
              </a:spcAft>
            </a:pPr>
            <a:r>
              <a:rPr sz="720" b="0">
                <a:solidFill>
                  <a:srgbClr val="314359"/>
                </a:solidFill>
                <a:latin typeface="Arial"/>
              </a:rPr>
              <a:t>      4.1   </a:t>
            </a:r>
            <a:r>
              <a:rPr sz="720">
                <a:solidFill>
                  <a:srgbClr val="314359"/>
                </a:solidFill>
                <a:latin typeface="Arial"/>
              </a:rPr>
              <a:t>Proof: outperformance with downside protection</a:t>
            </a:r>
            <a:r>
              <a:rPr sz="560" i="1">
                <a:solidFill>
                  <a:srgbClr val="556A83"/>
                </a:solidFill>
                <a:latin typeface="Arial"/>
              </a:rPr>
              <a:t>   (Figure 5)</a:t>
            </a:r>
          </a:p>
          <a:p>
            <a:pPr>
              <a:lnSpc>
                <a:spcPct val="100000"/>
              </a:lnSpc>
              <a:spcAft>
                <a:spcPts val="80"/>
              </a:spcAft>
            </a:pPr>
            <a:r>
              <a:rPr sz="720" b="0">
                <a:solidFill>
                  <a:srgbClr val="314359"/>
                </a:solidFill>
                <a:latin typeface="Arial"/>
              </a:rPr>
              <a:t>      4.2   </a:t>
            </a:r>
            <a:r>
              <a:rPr sz="720">
                <a:solidFill>
                  <a:srgbClr val="314359"/>
                </a:solidFill>
                <a:latin typeface="Arial"/>
              </a:rPr>
              <a:t>AIP Fund II — transactions (2015–present)</a:t>
            </a:r>
            <a:r>
              <a:rPr sz="560" i="1">
                <a:solidFill>
                  <a:srgbClr val="556A83"/>
                </a:solidFill>
                <a:latin typeface="Arial"/>
              </a:rPr>
              <a:t>   (Table 7)</a:t>
            </a:r>
          </a:p>
          <a:p>
            <a:pPr>
              <a:lnSpc>
                <a:spcPct val="100000"/>
              </a:lnSpc>
              <a:spcAft>
                <a:spcPts val="80"/>
              </a:spcAft>
            </a:pPr>
            <a:r>
              <a:rPr sz="720" b="0">
                <a:solidFill>
                  <a:srgbClr val="314359"/>
                </a:solidFill>
                <a:latin typeface="Arial"/>
              </a:rPr>
              <a:t>      4.3   </a:t>
            </a:r>
            <a:r>
              <a:rPr sz="720">
                <a:solidFill>
                  <a:srgbClr val="314359"/>
                </a:solidFill>
                <a:latin typeface="Arial"/>
              </a:rPr>
              <a:t>Prior period — transactions (2006–2014)</a:t>
            </a:r>
            <a:r>
              <a:rPr sz="560" i="1">
                <a:solidFill>
                  <a:srgbClr val="556A83"/>
                </a:solidFill>
                <a:latin typeface="Arial"/>
              </a:rPr>
              <a:t>   (Table 8)</a:t>
            </a:r>
          </a:p>
          <a:p>
            <a:pPr>
              <a:lnSpc>
                <a:spcPct val="100000"/>
              </a:lnSpc>
              <a:spcAft>
                <a:spcPts val="80"/>
              </a:spcAft>
            </a:pPr>
            <a:r>
              <a:rPr sz="720" b="0">
                <a:solidFill>
                  <a:srgbClr val="314359"/>
                </a:solidFill>
                <a:latin typeface="Arial"/>
              </a:rPr>
              <a:t>      4.4   </a:t>
            </a:r>
            <a:r>
              <a:rPr sz="720">
                <a:solidFill>
                  <a:srgbClr val="314359"/>
                </a:solidFill>
                <a:latin typeface="Arial"/>
              </a:rPr>
              <a:t>Independently validated: 20 years, net of every fee</a:t>
            </a:r>
          </a:p>
          <a:p>
            <a:pPr>
              <a:lnSpc>
                <a:spcPct val="100000"/>
              </a:lnSpc>
              <a:spcAft>
                <a:spcPts val="80"/>
              </a:spcAft>
            </a:pPr>
            <a:r>
              <a:rPr sz="720" b="0">
                <a:solidFill>
                  <a:srgbClr val="314359"/>
                </a:solidFill>
                <a:latin typeface="Arial"/>
              </a:rPr>
              <a:t>      4.5   </a:t>
            </a:r>
            <a:r>
              <a:rPr sz="720">
                <a:solidFill>
                  <a:srgbClr val="314359"/>
                </a:solidFill>
                <a:latin typeface="Arial"/>
              </a:rPr>
              <a:t>Repeatable and conviction-sized — not lucky</a:t>
            </a:r>
          </a:p>
          <a:p>
            <a:pPr>
              <a:lnSpc>
                <a:spcPct val="100000"/>
              </a:lnSpc>
              <a:spcAft>
                <a:spcPts val="80"/>
              </a:spcAft>
            </a:pPr>
            <a:r>
              <a:rPr sz="720" b="0">
                <a:solidFill>
                  <a:srgbClr val="314359"/>
                </a:solidFill>
                <a:latin typeface="Arial"/>
              </a:rPr>
              <a:t>      4.6   </a:t>
            </a:r>
            <a:r>
              <a:rPr sz="720">
                <a:solidFill>
                  <a:srgbClr val="314359"/>
                </a:solidFill>
                <a:latin typeface="Arial"/>
              </a:rPr>
              <a:t>Why a non-linear path won’t get you fired</a:t>
            </a:r>
          </a:p>
          <a:p>
            <a:pPr>
              <a:lnSpc>
                <a:spcPct val="100000"/>
              </a:lnSpc>
              <a:spcBef>
                <a:spcPts val="200"/>
              </a:spcBef>
              <a:spcAft>
                <a:spcPts val="100"/>
              </a:spcAft>
            </a:pPr>
            <a:r>
              <a:rPr sz="760" b="1">
                <a:solidFill>
                  <a:srgbClr val="314359"/>
                </a:solidFill>
                <a:latin typeface="Times New Roman"/>
              </a:rPr>
              <a:t>5   What it means for your portfolio</a:t>
            </a:r>
          </a:p>
          <a:p>
            <a:pPr>
              <a:lnSpc>
                <a:spcPct val="100000"/>
              </a:lnSpc>
              <a:spcAft>
                <a:spcPts val="80"/>
              </a:spcAft>
            </a:pPr>
            <a:r>
              <a:rPr sz="720" b="0">
                <a:solidFill>
                  <a:srgbClr val="314359"/>
                </a:solidFill>
                <a:latin typeface="Arial"/>
              </a:rPr>
              <a:t>      5.1   </a:t>
            </a:r>
            <a:r>
              <a:rPr sz="720">
                <a:solidFill>
                  <a:srgbClr val="314359"/>
                </a:solidFill>
                <a:latin typeface="Arial"/>
              </a:rPr>
              <a:t>What it does to an allocator’s portfolio</a:t>
            </a:r>
            <a:r>
              <a:rPr sz="560" i="1">
                <a:solidFill>
                  <a:srgbClr val="556A83"/>
                </a:solidFill>
                <a:latin typeface="Arial"/>
              </a:rPr>
              <a:t>   (Figure 6)</a:t>
            </a:r>
          </a:p>
          <a:p>
            <a:pPr>
              <a:lnSpc>
                <a:spcPct val="100000"/>
              </a:lnSpc>
              <a:spcAft>
                <a:spcPts val="80"/>
              </a:spcAft>
            </a:pPr>
            <a:r>
              <a:rPr sz="720" b="0">
                <a:solidFill>
                  <a:srgbClr val="314359"/>
                </a:solidFill>
                <a:latin typeface="Arial"/>
              </a:rPr>
              <a:t>      5.2   </a:t>
            </a:r>
            <a:r>
              <a:rPr sz="720">
                <a:solidFill>
                  <a:srgbClr val="314359"/>
                </a:solidFill>
                <a:latin typeface="Arial"/>
              </a:rPr>
              <a:t>Lower downside risk compounds into better outcomes</a:t>
            </a:r>
            <a:r>
              <a:rPr sz="560" i="1">
                <a:solidFill>
                  <a:srgbClr val="556A83"/>
                </a:solidFill>
                <a:latin typeface="Arial"/>
              </a:rPr>
              <a:t>   (Table 10)</a:t>
            </a:r>
          </a:p>
          <a:p>
            <a:pPr>
              <a:lnSpc>
                <a:spcPct val="100000"/>
              </a:lnSpc>
              <a:spcAft>
                <a:spcPts val="80"/>
              </a:spcAft>
            </a:pPr>
            <a:r>
              <a:rPr sz="720" b="0">
                <a:solidFill>
                  <a:srgbClr val="314359"/>
                </a:solidFill>
                <a:latin typeface="Arial"/>
              </a:rPr>
              <a:t>      5.3   </a:t>
            </a:r>
            <a:r>
              <a:rPr sz="720">
                <a:solidFill>
                  <a:srgbClr val="314359"/>
                </a:solidFill>
                <a:latin typeface="Arial"/>
              </a:rPr>
              <a:t>A complement to global equities, not a duplicate</a:t>
            </a:r>
            <a:r>
              <a:rPr sz="560" i="1">
                <a:solidFill>
                  <a:srgbClr val="556A83"/>
                </a:solidFill>
                <a:latin typeface="Arial"/>
              </a:rPr>
              <a:t>   (Figure 7)</a:t>
            </a:r>
          </a:p>
          <a:p>
            <a:pPr>
              <a:lnSpc>
                <a:spcPct val="100000"/>
              </a:lnSpc>
              <a:spcAft>
                <a:spcPts val="80"/>
              </a:spcAft>
            </a:pPr>
            <a:r>
              <a:rPr sz="720" b="0">
                <a:solidFill>
                  <a:srgbClr val="314359"/>
                </a:solidFill>
                <a:latin typeface="Arial"/>
              </a:rPr>
              <a:t>      5.4   </a:t>
            </a:r>
            <a:r>
              <a:rPr sz="720">
                <a:solidFill>
                  <a:srgbClr val="314359"/>
                </a:solidFill>
                <a:latin typeface="Arial"/>
              </a:rPr>
              <a:t>What a blend does to the whole portfolio</a:t>
            </a:r>
            <a:r>
              <a:rPr sz="560" i="1">
                <a:solidFill>
                  <a:srgbClr val="556A83"/>
                </a:solidFill>
                <a:latin typeface="Arial"/>
              </a:rPr>
              <a:t>   (Figure 8)</a:t>
            </a:r>
          </a:p>
          <a:p>
            <a:pPr>
              <a:lnSpc>
                <a:spcPct val="100000"/>
              </a:lnSpc>
              <a:spcBef>
                <a:spcPts val="200"/>
              </a:spcBef>
              <a:spcAft>
                <a:spcPts val="100"/>
              </a:spcAft>
            </a:pPr>
            <a:r>
              <a:rPr sz="760" b="1">
                <a:solidFill>
                  <a:srgbClr val="314359"/>
                </a:solidFill>
                <a:latin typeface="Times New Roman"/>
              </a:rPr>
              <a:t>6   Versus private equity</a:t>
            </a:r>
          </a:p>
          <a:p>
            <a:pPr>
              <a:lnSpc>
                <a:spcPct val="100000"/>
              </a:lnSpc>
              <a:spcAft>
                <a:spcPts val="80"/>
              </a:spcAft>
            </a:pPr>
            <a:r>
              <a:rPr sz="720" b="0">
                <a:solidFill>
                  <a:srgbClr val="314359"/>
                </a:solidFill>
                <a:latin typeface="Arial"/>
              </a:rPr>
              <a:t>      6.1   </a:t>
            </a:r>
            <a:r>
              <a:rPr sz="720">
                <a:solidFill>
                  <a:srgbClr val="314359"/>
                </a:solidFill>
                <a:latin typeface="Arial"/>
              </a:rPr>
              <a:t>What allocators actually earn from private equity</a:t>
            </a:r>
            <a:r>
              <a:rPr sz="560" i="1">
                <a:solidFill>
                  <a:srgbClr val="556A83"/>
                </a:solidFill>
                <a:latin typeface="Arial"/>
              </a:rPr>
              <a:t>   (Table 11)</a:t>
            </a:r>
          </a:p>
          <a:p>
            <a:pPr>
              <a:lnSpc>
                <a:spcPct val="100000"/>
              </a:lnSpc>
              <a:spcAft>
                <a:spcPts val="80"/>
              </a:spcAft>
            </a:pPr>
            <a:r>
              <a:rPr sz="720" b="0">
                <a:solidFill>
                  <a:srgbClr val="314359"/>
                </a:solidFill>
                <a:latin typeface="Arial"/>
              </a:rPr>
              <a:t>      6.2   </a:t>
            </a:r>
            <a:r>
              <a:rPr sz="720">
                <a:solidFill>
                  <a:srgbClr val="314359"/>
                </a:solidFill>
                <a:latin typeface="Arial"/>
              </a:rPr>
              <a:t>Switching a private-equity sleeve into Athanase</a:t>
            </a:r>
            <a:r>
              <a:rPr sz="560" i="1">
                <a:solidFill>
                  <a:srgbClr val="556A83"/>
                </a:solidFill>
                <a:latin typeface="Arial"/>
              </a:rPr>
              <a:t>   (Figure 9)</a:t>
            </a:r>
          </a:p>
          <a:p>
            <a:pPr>
              <a:lnSpc>
                <a:spcPct val="100000"/>
              </a:lnSpc>
              <a:spcAft>
                <a:spcPts val="80"/>
              </a:spcAft>
            </a:pPr>
            <a:r>
              <a:rPr sz="720" b="0">
                <a:solidFill>
                  <a:srgbClr val="314359"/>
                </a:solidFill>
                <a:latin typeface="Arial"/>
              </a:rPr>
              <a:t>      6.3   </a:t>
            </a:r>
            <a:r>
              <a:rPr sz="720">
                <a:solidFill>
                  <a:srgbClr val="314359"/>
                </a:solidFill>
                <a:latin typeface="Arial"/>
              </a:rPr>
              <a:t>The volatility gap is settled in the literature</a:t>
            </a:r>
            <a:r>
              <a:rPr sz="560" i="1">
                <a:solidFill>
                  <a:srgbClr val="556A83"/>
                </a:solidFill>
                <a:latin typeface="Arial"/>
              </a:rPr>
              <a:t>   (Figure 10)</a:t>
            </a:r>
          </a:p>
          <a:p>
            <a:pPr>
              <a:lnSpc>
                <a:spcPct val="100000"/>
              </a:lnSpc>
              <a:spcAft>
                <a:spcPts val="80"/>
              </a:spcAft>
            </a:pPr>
            <a:r>
              <a:rPr sz="720" b="0">
                <a:solidFill>
                  <a:srgbClr val="314359"/>
                </a:solidFill>
                <a:latin typeface="Arial"/>
              </a:rPr>
              <a:t>      6.4   </a:t>
            </a:r>
            <a:r>
              <a:rPr sz="720">
                <a:solidFill>
                  <a:srgbClr val="314359"/>
                </a:solidFill>
                <a:latin typeface="Arial"/>
              </a:rPr>
              <a:t>Same headline volatility — far lower real risk</a:t>
            </a:r>
            <a:r>
              <a:rPr sz="560" i="1">
                <a:solidFill>
                  <a:srgbClr val="556A83"/>
                </a:solidFill>
                <a:latin typeface="Arial"/>
              </a:rPr>
              <a:t>   (Figure 11)</a:t>
            </a:r>
          </a:p>
          <a:p>
            <a:pPr>
              <a:lnSpc>
                <a:spcPct val="100000"/>
              </a:lnSpc>
              <a:spcAft>
                <a:spcPts val="80"/>
              </a:spcAft>
            </a:pPr>
            <a:r>
              <a:rPr sz="720" b="0">
                <a:solidFill>
                  <a:srgbClr val="314359"/>
                </a:solidFill>
                <a:latin typeface="Arial"/>
              </a:rPr>
              <a:t>      6.5   </a:t>
            </a:r>
            <a:r>
              <a:rPr sz="720">
                <a:solidFill>
                  <a:srgbClr val="314359"/>
                </a:solidFill>
                <a:latin typeface="Arial"/>
              </a:rPr>
              <a:t>PE’s “diversification” is an artefact — Athanase’s is real</a:t>
            </a:r>
            <a:r>
              <a:rPr sz="560" i="1">
                <a:solidFill>
                  <a:srgbClr val="556A83"/>
                </a:solidFill>
                <a:latin typeface="Arial"/>
              </a:rPr>
              <a:t>   (Figure 12)</a:t>
            </a:r>
          </a:p>
          <a:p>
            <a:pPr>
              <a:lnSpc>
                <a:spcPct val="100000"/>
              </a:lnSpc>
              <a:spcAft>
                <a:spcPts val="80"/>
              </a:spcAft>
            </a:pPr>
            <a:r>
              <a:rPr sz="720" b="0">
                <a:solidFill>
                  <a:srgbClr val="314359"/>
                </a:solidFill>
                <a:latin typeface="Arial"/>
              </a:rPr>
              <a:t>      6.6   </a:t>
            </a:r>
            <a:r>
              <a:rPr sz="720">
                <a:solidFill>
                  <a:srgbClr val="314359"/>
                </a:solidFill>
                <a:latin typeface="Arial"/>
              </a:rPr>
              <a:t>When the tide goes out: the drawdown trap</a:t>
            </a:r>
          </a:p>
          <a:p>
            <a:pPr>
              <a:lnSpc>
                <a:spcPct val="100000"/>
              </a:lnSpc>
              <a:spcAft>
                <a:spcPts val="80"/>
              </a:spcAft>
            </a:pPr>
            <a:r>
              <a:rPr sz="720" b="0">
                <a:solidFill>
                  <a:srgbClr val="314359"/>
                </a:solidFill>
                <a:latin typeface="Arial"/>
              </a:rPr>
              <a:t>      6.7   </a:t>
            </a:r>
            <a:r>
              <a:rPr sz="720">
                <a:solidFill>
                  <a:srgbClr val="314359"/>
                </a:solidFill>
                <a:latin typeface="Arial"/>
              </a:rPr>
              <a:t>Responsible ownership, by construction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453553" y="2974848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8922" y="3169920"/>
            <a:ext cx="8558998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  ·  THE ASSET CLASS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22" y="3511296"/>
            <a:ext cx="8705305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Why allocate to engaged ownership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Proposition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1 A catalyst-driven source of return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Engaged owners change the outcome — they do not merely absorb underperformance.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~7% announcement return.</a:t>
            </a:r>
            <a:r>
              <a:rPr sz="1240">
                <a:solidFill>
                  <a:srgbClr val="0E1620"/>
                </a:solidFill>
                <a:latin typeface="Arial"/>
              </a:rPr>
              <a:t>  Average abnormal return around an activist filing, with no reversal over the following year; success or partial success in ~two-thirds of campaigns (Brav, Jiang, Partnoy &amp; Thomas, 2008).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~10.2% around the 13D,</a:t>
            </a:r>
            <a:r>
              <a:rPr sz="1240">
                <a:solidFill>
                  <a:srgbClr val="0E1620"/>
                </a:solidFill>
                <a:latin typeface="Arial"/>
              </a:rPr>
              <a:t>  plus a further ~11.4% over the next year for engaged-owner targets (Klein &amp; Zur, 2009).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No long-term give-back.</a:t>
            </a:r>
            <a:r>
              <a:rPr sz="1240">
                <a:solidFill>
                  <a:srgbClr val="0E1620"/>
                </a:solidFill>
                <a:latin typeface="Arial"/>
              </a:rPr>
              <a:t>  ~2,000 interventions show no negative drift and no “pump-and-dump” (Bebchuk, Brav &amp; Jiang, 2015).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Real, not financial, value.</a:t>
            </a:r>
            <a:r>
              <a:rPr sz="1240">
                <a:solidFill>
                  <a:srgbClr val="0E1620"/>
                </a:solidFill>
                <a:latin typeface="Arial"/>
              </a:rPr>
              <a:t>  Production efficiency improves in the three years after intervention (Brav, Jiang &amp; Kim, 2015).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Idiosyncratic alpha.</a:t>
            </a:r>
            <a:r>
              <a:rPr sz="1240">
                <a:solidFill>
                  <a:srgbClr val="0E1620"/>
                </a:solidFill>
                <a:latin typeface="Arial"/>
              </a:rPr>
              <a:t>  Returns tied to a specific change at a specific company — scarce in a beta-dominated portfolio.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Fit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2 Aligned with horizon and fiduciary duty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53" y="1901952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Patient capital wins.</a:t>
            </a:r>
            <a:r>
              <a:rPr sz="1320">
                <a:solidFill>
                  <a:srgbClr val="0E1620"/>
                </a:solidFill>
                <a:latin typeface="Arial"/>
              </a:rPr>
              <a:t>  Board seats, strategic reviews and turnarounds play out over years — perpetual endowments and long-dated pensions can hold through to full value realisation.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Stewardship is the duty.</a:t>
            </a:r>
            <a:r>
              <a:rPr sz="1320">
                <a:solidFill>
                  <a:srgbClr val="0E1620"/>
                </a:solidFill>
                <a:latin typeface="Arial"/>
              </a:rPr>
              <a:t>  Engaged ownership expresses fiduciary obligation (UK Stewardship Code; UN PRI) rather than conflicting with it.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Mission alignment.</a:t>
            </a:r>
            <a:r>
              <a:rPr sz="1320">
                <a:solidFill>
                  <a:srgbClr val="0E1620"/>
                </a:solidFill>
                <a:latin typeface="Arial"/>
              </a:rPr>
              <a:t>  Demanding accountability and good governance reflects institutional values and is defensible to beneficiaries.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Engagement as risk management.</a:t>
            </a:r>
            <a:r>
              <a:rPr sz="1320">
                <a:solidFill>
                  <a:srgbClr val="0E1620"/>
                </a:solidFill>
                <a:latin typeface="Arial"/>
              </a:rPr>
              <a:t>  Turns hidden governance risk in the portfolio into a remediable, return-generating exposure.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Portfolio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3 Diversification and the total-portfolio 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53" y="1901952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A distinct return engine.</a:t>
            </a:r>
            <a:r>
              <a:rPr sz="1320">
                <a:solidFill>
                  <a:srgbClr val="0E1620"/>
                </a:solidFill>
                <a:latin typeface="Arial"/>
              </a:rPr>
              <a:t>  Alpha driven by proxy contests, spin-offs and capital-return programmes — largely independent of rates, growth and inflation.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Diversifies the equity book.</a:t>
            </a:r>
            <a:r>
              <a:rPr sz="1320">
                <a:solidFill>
                  <a:srgbClr val="0E1620"/>
                </a:solidFill>
                <a:latin typeface="Arial"/>
              </a:rPr>
              <a:t>  Small- and mid-cap value and special situations, typically underweight in institutional portfolios.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Counter-cyclical dry powder.</a:t>
            </a:r>
            <a:r>
              <a:rPr sz="1320">
                <a:solidFill>
                  <a:srgbClr val="0E1620"/>
                </a:solidFill>
                <a:latin typeface="Arial"/>
              </a:rPr>
              <a:t>  Dislocations create the next targets; patient capital deploys into weakness rather than selling it.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PE-style upside, public-market terms.</a:t>
            </a:r>
            <a:r>
              <a:rPr sz="1320">
                <a:solidFill>
                  <a:srgbClr val="0E1620"/>
                </a:solidFill>
                <a:latin typeface="Arial"/>
              </a:rPr>
              <a:t>  Operational engagement with daily pricing, transparency, lower fees and better liquidity.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Portfolio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4 Where the allocation fits: three legitimate homes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Engaged ownership does not need a bucket of its own. It can be funded from public equity, event-driven hedge funds or private equity — each defensible, depending on what it replaces.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</a:t>
            </a:r>
          </a:p>
        </p:txBody>
      </p:sp>
      <p:sp>
        <p:nvSpPr>
          <p:cNvPr id="9" name="Rectangle 8"/>
          <p:cNvSpPr/>
          <p:nvPr/>
        </p:nvSpPr>
        <p:spPr>
          <a:xfrm>
            <a:off x="453553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3553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Times New Roman"/>
              </a:rPr>
              <a:t>Public equity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3553" y="2779776"/>
            <a:ext cx="2823737" cy="34137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2916326"/>
            <a:ext cx="2560384" cy="31406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LENS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A concentrated, active equity sleeve — long-only public companies with daily pricing and full transparency.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WHY FUND IT HERE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Adds idiosyncratic, governance-driven alpha to a beta-dominated equity book, while keeping liquidity, transparency and low fees inside an existing equity mandate.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TRADE-OFF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Higher active risk than an index sleeve — it is meant to differ from the benchmark.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08968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08968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Times New Roman"/>
              </a:rPr>
              <a:t>Event-driven hedge funds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08968" y="2779776"/>
            <a:ext cx="2823737" cy="34137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40645" y="2916326"/>
            <a:ext cx="2560384" cy="31406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LENS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A catalyst strategy — returns come from proxy contests, board change, spin-offs, M&amp;A and capital-return programmes, not market direction.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WHY FUND IT HERE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The return driver is event-specific and largely independent of rates and growth; it diversifies an absolute-return book and matches how the alpha is actually generated.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TRADE-OFF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More concentrated and longer-horizon than a typical multi-strategy fund; positions are owned outright, not hedged.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64383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64383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Times New Roman"/>
              </a:rPr>
              <a:t>Private equity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64383" y="2779776"/>
            <a:ext cx="2823737" cy="34137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96060" y="2916326"/>
            <a:ext cx="2560384" cy="31406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LENS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PE-style value creation — board influence, operational improvement and multi-year holds — executed in public markets.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WHY FUND IT HERE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The same engaged-ownership return engine as private equity, but with public-market liquidity, daily transparency, lower fees and no J-curve or lock-up.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TRADE-OFF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Marked to market daily — honest volatility instead of smoothed quarterly appraisals (see Part II).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3553" y="6291072"/>
            <a:ext cx="8734567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85230" y="6291072"/>
            <a:ext cx="8485844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FFFFFF"/>
                </a:solidFill>
                <a:latin typeface="Arial"/>
              </a:rPr>
              <a:t>The same strategy, three valid homes — fund it wherever engaged ownership is the better risk-adjusted alternative to what it replaces.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Stewardship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5 Governance and the ESG synergy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53" y="1901952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Applied governance.</a:t>
            </a:r>
            <a:r>
              <a:rPr sz="1320">
                <a:solidFill>
                  <a:srgbClr val="0E1620"/>
                </a:solidFill>
                <a:latin typeface="Arial"/>
              </a:rPr>
              <a:t>  Board independence, pay-for-performance and capital discipline are the “G” of ESG put into practice.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Constructive engagement.</a:t>
            </a:r>
            <a:r>
              <a:rPr sz="1320">
                <a:solidFill>
                  <a:srgbClr val="0E1620"/>
                </a:solidFill>
                <a:latin typeface="Arial"/>
              </a:rPr>
              <a:t>  Return and stewardship objectives expressed through one allocation, disciplined by a value thesis.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A positive externality.</a:t>
            </a:r>
            <a:r>
              <a:rPr sz="1320">
                <a:solidFill>
                  <a:srgbClr val="0E1620"/>
                </a:solidFill>
                <a:latin typeface="Arial"/>
              </a:rPr>
              <a:t>  Governance precedents improve the quality of the beta the whole portfolio owns.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Defensible to stakeholders.</a:t>
            </a:r>
            <a:r>
              <a:rPr sz="1320">
                <a:solidFill>
                  <a:srgbClr val="0E1620"/>
                </a:solidFill>
                <a:latin typeface="Arial"/>
              </a:rPr>
              <a:t>  “We own companies and make them better-run and more valuable” is an easy story to tell.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Opportunity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1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6 Why mid-market is the sweet spot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Big enough to run well, small enough to change — and to grow. The engaged-ownership opportunity is richest in the middle.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7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2346" y="2292096"/>
            <a:ext cx="1828845" cy="3901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0130" y="2292096"/>
            <a:ext cx="1682538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12" name="Rectangle 11"/>
          <p:cNvSpPr/>
          <p:nvPr/>
        </p:nvSpPr>
        <p:spPr>
          <a:xfrm>
            <a:off x="2231191" y="2292096"/>
            <a:ext cx="2377499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318976" y="2292096"/>
            <a:ext cx="2231191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Small-cap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608691" y="2292096"/>
            <a:ext cx="2560384" cy="390144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96475" y="2292096"/>
            <a:ext cx="2414076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Mid-market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169075" y="2292096"/>
            <a:ext cx="2121461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56859" y="2292096"/>
            <a:ext cx="1975153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Large-cap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02346" y="2682240"/>
            <a:ext cx="1828845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90130" y="2682240"/>
            <a:ext cx="1682538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Organisational depth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231191" y="2682240"/>
            <a:ext cx="2377499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318976" y="2682240"/>
            <a:ext cx="2231191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Often too thin to support a capable team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608691" y="2682240"/>
            <a:ext cx="2560384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696475" y="2682240"/>
            <a:ext cx="2414076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Enough structure for a real management team and processes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169075" y="2682240"/>
            <a:ext cx="2121461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256859" y="2682240"/>
            <a:ext cx="1975153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Deep, but layered and slow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02346" y="3443020"/>
            <a:ext cx="1828845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90130" y="3443020"/>
            <a:ext cx="1682538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Growth runway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231191" y="3443020"/>
            <a:ext cx="2377499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318976" y="3443020"/>
            <a:ext cx="2231191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Long, but fragile and under-resourced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608691" y="3443020"/>
            <a:ext cx="2560384" cy="760780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696475" y="3443020"/>
            <a:ext cx="2414076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Still long — small enough to compound for years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169075" y="3443020"/>
            <a:ext cx="2121461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256859" y="3443020"/>
            <a:ext cx="1975153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Largely played out; growth is incremental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02346" y="4203801"/>
            <a:ext cx="1828845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90130" y="4203801"/>
            <a:ext cx="1682538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Speed of change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231191" y="4203801"/>
            <a:ext cx="2377499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318976" y="4203801"/>
            <a:ext cx="2231191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Fast, but limited resources to execute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608691" y="4203801"/>
            <a:ext cx="2560384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696475" y="4203801"/>
            <a:ext cx="2414076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Operational change lands within ~1.5 years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169075" y="4203801"/>
            <a:ext cx="2121461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256859" y="4203801"/>
            <a:ext cx="1975153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Years to turn; entrenched complexity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02346" y="4964582"/>
            <a:ext cx="1828845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90130" y="4964582"/>
            <a:ext cx="1682538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Owner influence</a:t>
            </a:r>
          </a:p>
        </p:txBody>
      </p:sp>
      <p:sp>
        <p:nvSpPr>
          <p:cNvPr id="44" name="Rectangle 43"/>
          <p:cNvSpPr/>
          <p:nvPr/>
        </p:nvSpPr>
        <p:spPr>
          <a:xfrm>
            <a:off x="2231191" y="4964582"/>
            <a:ext cx="2377499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318976" y="4964582"/>
            <a:ext cx="2231191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High, but little to work with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608691" y="4964582"/>
            <a:ext cx="2560384" cy="760780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696475" y="4964582"/>
            <a:ext cx="2414076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A board seat genuinely moves the outcome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169075" y="4964582"/>
            <a:ext cx="2121461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256859" y="4964582"/>
            <a:ext cx="1975153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Diluted; one owner rarely shifts the agenda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02346" y="5881420"/>
            <a:ext cx="8924767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Mid-market companies are run well enough to be worth owning, yet small enough that an engaged owner can still change — and grow — them.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Opportunity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7 Why mid-cap management listens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structural reason engaged ownership works here: capable operators with predictable blind spots, and the room to act on good advice.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THE BLIND SPOT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Mid-cap CEOs are usually promoted from sales or operations — strong in their domain, first-time chief executives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They have not run capital allocation, M&amp;A, financing or board strategy before — predictable, correctable gaps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They know it — so credible, experienced owners are welcomed, not resisted, unlike at entrenched large-caps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WHAT IT MEANS FOR AN ENGAGED OWNER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A board seat is genuinely productive — advice is acted on, not filtered through layers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Change is collaborative, not a proxy fight — faster, cheaper, less headline risk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The owner supplies exactly the missing experience: capital discipline, focus and a wider strategic lens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6193536"/>
            <a:ext cx="8873559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70599" y="6193536"/>
            <a:ext cx="8632151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FFFFFF"/>
                </a:solidFill>
                <a:latin typeface="Arial"/>
              </a:rPr>
              <a:t>Capable management with a known blind spot, in a company small enough to change: the conditions under which engaged ownership compounds.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Selection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8 What separates a great engaged owner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Dispersion is wide — manager selection matters more here than in almost any other equity strategy.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A repeatable process</a:t>
            </a:r>
            <a:r>
              <a:rPr sz="1240">
                <a:solidFill>
                  <a:srgbClr val="0E1620"/>
                </a:solidFill>
                <a:latin typeface="Arial"/>
              </a:rPr>
              <a:t>  for sourcing and underwriting correctable, undervalued companies.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Genuine operating capability,</a:t>
            </a:r>
            <a:r>
              <a:rPr sz="1240">
                <a:solidFill>
                  <a:srgbClr val="0E1620"/>
                </a:solidFill>
                <a:latin typeface="Arial"/>
              </a:rPr>
              <a:t>  not just financial engineering — the experience to control the outcome from the boardroom.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A track record of outcomes,</a:t>
            </a:r>
            <a:r>
              <a:rPr sz="1240">
                <a:solidFill>
                  <a:srgbClr val="0E1620"/>
                </a:solidFill>
                <a:latin typeface="Arial"/>
              </a:rPr>
              <a:t>  board seats won and value delivered across multiple market cycles.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Aligned economics</a:t>
            </a:r>
            <a:r>
              <a:rPr sz="1240">
                <a:solidFill>
                  <a:srgbClr val="0E1620"/>
                </a:solidFill>
                <a:latin typeface="Arial"/>
              </a:rPr>
              <a:t>  and a stable, long-tenured team that invests its own capital.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Disciplined entry and risk control</a:t>
            </a:r>
            <a:r>
              <a:rPr sz="1240">
                <a:solidFill>
                  <a:srgbClr val="0E1620"/>
                </a:solidFill>
                <a:latin typeface="Arial"/>
              </a:rPr>
              <a:t>  so the strategy delivers without uncompensated concentration risk.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53" y="6291072"/>
            <a:ext cx="8632151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20" b="0" i="1">
                <a:solidFill>
                  <a:srgbClr val="314359"/>
                </a:solidFill>
                <a:latin typeface="Arial"/>
              </a:rPr>
              <a:t>Part II shows how Athanase meets each of these criteria.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453553" y="2974848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8922" y="3169920"/>
            <a:ext cx="8558998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 ·  AMONG ENGAGED OWNERS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22" y="3511296"/>
            <a:ext cx="8705305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Why Athanase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1 OF 6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Team &amp;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1   </a:t>
            </a:r>
            <a:r>
              <a:rPr sz="1000" b="1">
                <a:solidFill>
                  <a:srgbClr val="FFFFFF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2   </a:t>
            </a:r>
            <a:r>
              <a:rPr sz="880" b="0">
                <a:solidFill>
                  <a:srgbClr val="556A83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3   </a:t>
            </a:r>
            <a:r>
              <a:rPr sz="880" b="0">
                <a:solidFill>
                  <a:srgbClr val="556A83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4   </a:t>
            </a:r>
            <a:r>
              <a:rPr sz="880" b="0">
                <a:solidFill>
                  <a:srgbClr val="556A83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5   </a:t>
            </a:r>
            <a:r>
              <a:rPr sz="880" b="0">
                <a:solidFill>
                  <a:srgbClr val="556A83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6   </a:t>
            </a:r>
            <a:r>
              <a:rPr sz="880" b="0">
                <a:solidFill>
                  <a:srgbClr val="556A83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10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Overview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1.1 Athanase at a glance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11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53" y="1901952"/>
            <a:ext cx="2158037" cy="180441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53" y="2175052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3200" b="0" i="0" spc="-120">
                <a:solidFill>
                  <a:srgbClr val="314359"/>
                </a:solidFill>
                <a:latin typeface="Times New Roman"/>
              </a:rPr>
              <a:t>40+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investments as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engaged owners</a:t>
            </a:r>
          </a:p>
        </p:txBody>
      </p:sp>
      <p:sp>
        <p:nvSpPr>
          <p:cNvPr id="10" name="Rectangle 9"/>
          <p:cNvSpPr/>
          <p:nvPr/>
        </p:nvSpPr>
        <p:spPr>
          <a:xfrm>
            <a:off x="2838368" y="1901952"/>
            <a:ext cx="2158037" cy="180441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38368" y="2175052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3200" b="0" i="0" spc="-120">
                <a:solidFill>
                  <a:srgbClr val="314359"/>
                </a:solidFill>
                <a:latin typeface="Times New Roman"/>
              </a:rPr>
              <a:t>19%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avg annualised NET,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any entry month*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128083" y="1901952"/>
            <a:ext cx="2158037" cy="180441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28083" y="2175052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3200" b="0" i="0" spc="-120">
                <a:solidFill>
                  <a:srgbClr val="314359"/>
                </a:solidFill>
                <a:latin typeface="Times New Roman"/>
              </a:rPr>
              <a:t>7%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worst-ever entry,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still positive*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417798" y="1901952"/>
            <a:ext cx="2158037" cy="180441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17798" y="2175052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3200" b="0" i="0" spc="-120">
                <a:solidFill>
                  <a:srgbClr val="314359"/>
                </a:solidFill>
                <a:latin typeface="Times New Roman"/>
              </a:rPr>
              <a:t>18×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growth of capital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since 2006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53" y="3998976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75264" indent="-175264">
              <a:lnSpc>
                <a:spcPct val="112000"/>
              </a:lnSpc>
              <a:spcAft>
                <a:spcPts val="1000"/>
              </a:spcAft>
            </a:pPr>
            <a:r>
              <a:rPr sz="1200" b="1">
                <a:solidFill>
                  <a:srgbClr val="314359"/>
                </a:solidFill>
                <a:latin typeface="Arial"/>
              </a:rPr>
              <a:t>›  </a:t>
            </a:r>
            <a:r>
              <a:rPr sz="1200" b="1">
                <a:solidFill>
                  <a:srgbClr val="314359"/>
                </a:solidFill>
                <a:latin typeface="Arial"/>
              </a:rPr>
              <a:t>~19% average annualised return*</a:t>
            </a:r>
            <a:r>
              <a:rPr sz="1200">
                <a:solidFill>
                  <a:srgbClr val="0E1620"/>
                </a:solidFill>
                <a:latin typeface="Arial"/>
              </a:rPr>
              <a:t>  whatever month you invested and held to today — entry timing has barely mattered.</a:t>
            </a:r>
          </a:p>
          <a:p>
            <a:pPr marL="175264" indent="-175264">
              <a:lnSpc>
                <a:spcPct val="112000"/>
              </a:lnSpc>
              <a:spcAft>
                <a:spcPts val="1000"/>
              </a:spcAft>
            </a:pPr>
            <a:r>
              <a:rPr sz="1200" b="1">
                <a:solidFill>
                  <a:srgbClr val="314359"/>
                </a:solidFill>
                <a:latin typeface="Arial"/>
              </a:rPr>
              <a:t>›  </a:t>
            </a:r>
            <a:r>
              <a:rPr sz="1200" b="1">
                <a:solidFill>
                  <a:srgbClr val="314359"/>
                </a:solidFill>
                <a:latin typeface="Arial"/>
              </a:rPr>
              <a:t>~7% in the single worst entry month</a:t>
            </a:r>
            <a:r>
              <a:rPr sz="1200">
                <a:solidFill>
                  <a:srgbClr val="0E1620"/>
                </a:solidFill>
                <a:latin typeface="Arial"/>
              </a:rPr>
              <a:t>  even the unluckiest possible entry still compounded at a mid-single-digit net return — no investor lost over the holding period.</a:t>
            </a:r>
          </a:p>
          <a:p>
            <a:pPr marL="175264" indent="-175264">
              <a:lnSpc>
                <a:spcPct val="112000"/>
              </a:lnSpc>
              <a:spcAft>
                <a:spcPts val="1000"/>
              </a:spcAft>
            </a:pPr>
            <a:r>
              <a:rPr sz="1200" b="1">
                <a:solidFill>
                  <a:srgbClr val="314359"/>
                </a:solidFill>
                <a:latin typeface="Arial"/>
              </a:rPr>
              <a:t>›  </a:t>
            </a:r>
            <a:r>
              <a:rPr sz="1200" b="1">
                <a:solidFill>
                  <a:srgbClr val="314359"/>
                </a:solidFill>
                <a:latin typeface="Arial"/>
              </a:rPr>
              <a:t>16.1% time-weighted NET since 2006</a:t>
            </a:r>
            <a:r>
              <a:rPr sz="1200">
                <a:solidFill>
                  <a:srgbClr val="0E1620"/>
                </a:solidFill>
                <a:latin typeface="Arial"/>
              </a:rPr>
              <a:t>  vs MSCI IMI 6.1% — net of all fees.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53" y="6583680"/>
            <a:ext cx="8632151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556A83"/>
                </a:solidFill>
                <a:latin typeface="Arial"/>
              </a:rPr>
              <a:t>*Average of the annualised NET return earned investing in each individual month and holding to the end (107 entry months, AIPFII). Time-weighted figure annualised over actual invested time. Past performance is not indicative of future results.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Experience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1.2 An integrated team, 20 years together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In a world of specialists, a rare unit that has the operating experience to control the outcome.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12</a:t>
            </a:r>
          </a:p>
        </p:txBody>
      </p:sp>
      <p:sp>
        <p:nvSpPr>
          <p:cNvPr id="9" name="Rectangle 8"/>
          <p:cNvSpPr/>
          <p:nvPr/>
        </p:nvSpPr>
        <p:spPr>
          <a:xfrm>
            <a:off x="1170461" y="2701747"/>
            <a:ext cx="7242229" cy="21674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8922" y="2292096"/>
            <a:ext cx="1463076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314359"/>
                </a:solidFill>
                <a:latin typeface="Times New Roman"/>
              </a:rPr>
              <a:t>1992</a:t>
            </a:r>
          </a:p>
        </p:txBody>
      </p:sp>
      <p:sp>
        <p:nvSpPr>
          <p:cNvPr id="11" name="Oval 10"/>
          <p:cNvSpPr/>
          <p:nvPr/>
        </p:nvSpPr>
        <p:spPr>
          <a:xfrm>
            <a:off x="1104622" y="2633472"/>
            <a:ext cx="131676" cy="175564"/>
          </a:xfrm>
          <a:prstGeom prst="ellipse">
            <a:avLst/>
          </a:prstGeom>
          <a:solidFill>
            <a:srgbClr val="15213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9" y="2857804"/>
            <a:ext cx="16093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314359"/>
                </a:solidFill>
                <a:latin typeface="Arial"/>
              </a:rPr>
              <a:t>Öresund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52999" y="2292096"/>
            <a:ext cx="1463076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314359"/>
                </a:solidFill>
                <a:latin typeface="Times New Roman"/>
              </a:rPr>
              <a:t>1996</a:t>
            </a:r>
          </a:p>
        </p:txBody>
      </p:sp>
      <p:sp>
        <p:nvSpPr>
          <p:cNvPr id="14" name="Oval 13"/>
          <p:cNvSpPr/>
          <p:nvPr/>
        </p:nvSpPr>
        <p:spPr>
          <a:xfrm>
            <a:off x="3518699" y="2633472"/>
            <a:ext cx="131676" cy="175564"/>
          </a:xfrm>
          <a:prstGeom prst="ellipse">
            <a:avLst/>
          </a:prstGeom>
          <a:solidFill>
            <a:srgbClr val="15213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779845" y="2857804"/>
            <a:ext cx="16093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314359"/>
                </a:solidFill>
                <a:latin typeface="Arial"/>
              </a:rPr>
              <a:t>Custos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67075" y="2292096"/>
            <a:ext cx="1463076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314359"/>
                </a:solidFill>
                <a:latin typeface="Times New Roman"/>
              </a:rPr>
              <a:t>2006</a:t>
            </a:r>
          </a:p>
        </p:txBody>
      </p:sp>
      <p:sp>
        <p:nvSpPr>
          <p:cNvPr id="17" name="Oval 16"/>
          <p:cNvSpPr/>
          <p:nvPr/>
        </p:nvSpPr>
        <p:spPr>
          <a:xfrm>
            <a:off x="5932775" y="2633472"/>
            <a:ext cx="131676" cy="175564"/>
          </a:xfrm>
          <a:prstGeom prst="ellipse">
            <a:avLst/>
          </a:prstGeom>
          <a:solidFill>
            <a:srgbClr val="15213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193921" y="2857804"/>
            <a:ext cx="16093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314359"/>
                </a:solidFill>
                <a:latin typeface="Arial"/>
              </a:rPr>
              <a:t>Creades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81152" y="2292096"/>
            <a:ext cx="1463076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314359"/>
                </a:solidFill>
                <a:latin typeface="Times New Roman"/>
              </a:rPr>
              <a:t>2015</a:t>
            </a:r>
          </a:p>
        </p:txBody>
      </p:sp>
      <p:sp>
        <p:nvSpPr>
          <p:cNvPr id="20" name="Oval 19"/>
          <p:cNvSpPr/>
          <p:nvPr/>
        </p:nvSpPr>
        <p:spPr>
          <a:xfrm>
            <a:off x="8346852" y="2633472"/>
            <a:ext cx="131676" cy="175564"/>
          </a:xfrm>
          <a:prstGeom prst="ellipse">
            <a:avLst/>
          </a:prstGeom>
          <a:solidFill>
            <a:srgbClr val="15213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607998" y="2857804"/>
            <a:ext cx="16093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314359"/>
                </a:solidFill>
                <a:latin typeface="Arial"/>
              </a:rPr>
              <a:t>Athanase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53" y="3511296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40+ companies managed,</a:t>
            </a:r>
            <a:r>
              <a:rPr sz="1160">
                <a:solidFill>
                  <a:srgbClr val="0E1620"/>
                </a:solidFill>
                <a:latin typeface="Arial"/>
              </a:rPr>
              <a:t>  with a proven ability to tell a “strong core” from a “prestige trap”.</a:t>
            </a:r>
          </a:p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30+ public board seats</a:t>
            </a:r>
            <a:r>
              <a:rPr sz="1160">
                <a:solidFill>
                  <a:srgbClr val="0E1620"/>
                </a:solidFill>
                <a:latin typeface="Arial"/>
              </a:rPr>
              <a:t>  — real experience mandating pivots and protecting shareholder interests, not writing engagement letters.</a:t>
            </a:r>
          </a:p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A dual lens:</a:t>
            </a:r>
            <a:r>
              <a:rPr sz="1160">
                <a:solidFill>
                  <a:srgbClr val="0E1620"/>
                </a:solidFill>
                <a:latin typeface="Arial"/>
              </a:rPr>
              <a:t>  a forensic investing lens to find the value and a C-suite operating lens that understands the “how” of execution.</a:t>
            </a:r>
          </a:p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Skin in the game.</a:t>
            </a:r>
            <a:r>
              <a:rPr sz="1160">
                <a:solidFill>
                  <a:srgbClr val="0E1620"/>
                </a:solidFill>
                <a:latin typeface="Arial"/>
              </a:rPr>
              <a:t>  The team uses Athanase as its own investment vehicle and shares in the success economics.</a:t>
            </a:r>
          </a:p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Institutional memory.</a:t>
            </a:r>
            <a:r>
              <a:rPr sz="1160">
                <a:solidFill>
                  <a:srgbClr val="0E1620"/>
                </a:solidFill>
                <a:latin typeface="Arial"/>
              </a:rPr>
              <a:t>  Multiple market cycles together eliminate key-person risk and prevent repeating historical mistakes.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Experience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1.3 The people behind the track record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An integrated investment team — and an independent operations, finance and control function that safeguards investor capital.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22" y="2126284"/>
            <a:ext cx="585230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INVESTMENT TEAM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438400"/>
            <a:ext cx="1704484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8922" y="2438400"/>
            <a:ext cx="43892" cy="146304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2565196"/>
            <a:ext cx="147039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Stefan Charette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5230" y="2848051"/>
            <a:ext cx="147039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CIO &amp; PARTNER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5230" y="3101644"/>
            <a:ext cx="145576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Ex-CEO/CIO of Brokk; Lehman Brothers, Salomon Smith Barney.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231191" y="2438400"/>
            <a:ext cx="1704484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231191" y="2438400"/>
            <a:ext cx="43892" cy="146304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377499" y="2565196"/>
            <a:ext cx="147039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Kenth Eriksson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77499" y="2848051"/>
            <a:ext cx="147039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SENIOR PM &amp; PARTNER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77499" y="3101644"/>
            <a:ext cx="145576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Ex-CEO of Tradimus; Senior VP, Electrolux; tech owner-operator.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023460" y="2438400"/>
            <a:ext cx="1704484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023460" y="2438400"/>
            <a:ext cx="43892" cy="146304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169768" y="2565196"/>
            <a:ext cx="147039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Sven Thorén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69768" y="2848051"/>
            <a:ext cx="147039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PM &amp; PARTNER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69768" y="3101644"/>
            <a:ext cx="145576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Ex-PM at Adrigo, Catella, Pan Capital and Nordea.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815729" y="2438400"/>
            <a:ext cx="1704484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815729" y="2438400"/>
            <a:ext cx="43892" cy="146304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962037" y="2565196"/>
            <a:ext cx="147039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Anders Elsell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962037" y="2848051"/>
            <a:ext cx="147039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SENIOR PM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962037" y="3101644"/>
            <a:ext cx="145576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On the team since 1996; ex-CEO/CIO of HQ Fonder; Carnegie.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607998" y="2438400"/>
            <a:ext cx="1704484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607998" y="2438400"/>
            <a:ext cx="43892" cy="146304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754305" y="2565196"/>
            <a:ext cx="147039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Daniel Nyhrén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54305" y="2848051"/>
            <a:ext cx="147039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PARTNER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54305" y="3101644"/>
            <a:ext cx="145576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On the team since 2006; ex-CFO of Global Batterier.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38922" y="4096512"/>
            <a:ext cx="658384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OPERATIONS, FINANCE &amp; CONTROL — INDEPENDENT OF THE INVESTMENT TEAM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38922" y="4408626"/>
            <a:ext cx="2165353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38922" y="4408626"/>
            <a:ext cx="43892" cy="141427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85230" y="4535422"/>
            <a:ext cx="193126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Malin Norrman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85230" y="4818277"/>
            <a:ext cx="193126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CFO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85230" y="5071870"/>
            <a:ext cx="1916630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Ex-COO/CFO of Captor Fund Mgmt; risk manager at Carnegie and AB Industrivärden.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699376" y="4408626"/>
            <a:ext cx="2165353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2699376" y="4408626"/>
            <a:ext cx="43892" cy="141427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845683" y="4535422"/>
            <a:ext cx="193126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Grant Loon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845683" y="4818277"/>
            <a:ext cx="193126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HEAD OF FUND OPERATIONS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845683" y="5071870"/>
            <a:ext cx="1916630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Ex-COO of Madrague Capital and Port Capital; Soros, Commerzbank, Morgan Stanley.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959829" y="4408626"/>
            <a:ext cx="2165353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4959829" y="4408626"/>
            <a:ext cx="43892" cy="141427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106137" y="4535422"/>
            <a:ext cx="193126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Eva Andersson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106137" y="4818277"/>
            <a:ext cx="193126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FUND OPERATIONS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106137" y="5071870"/>
            <a:ext cx="1916630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MBA, Business School London; sales-executive background.</a:t>
            </a:r>
          </a:p>
        </p:txBody>
      </p:sp>
      <p:sp>
        <p:nvSpPr>
          <p:cNvPr id="51" name="Rectangle 50"/>
          <p:cNvSpPr/>
          <p:nvPr/>
        </p:nvSpPr>
        <p:spPr>
          <a:xfrm>
            <a:off x="7220283" y="4408626"/>
            <a:ext cx="2165353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7220283" y="4408626"/>
            <a:ext cx="43892" cy="141427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7366590" y="4535422"/>
            <a:ext cx="193126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Zetong Liu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366590" y="4818277"/>
            <a:ext cx="193126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TECHNOLOGY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366590" y="5071870"/>
            <a:ext cx="1916630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MSc applied &amp; computational mathematics, KTH; projects for the Swiss Finance Institute / EPFL.</a:t>
            </a:r>
          </a:p>
        </p:txBody>
      </p:sp>
      <p:sp>
        <p:nvSpPr>
          <p:cNvPr id="56" name="Rectangle 55"/>
          <p:cNvSpPr/>
          <p:nvPr/>
        </p:nvSpPr>
        <p:spPr>
          <a:xfrm>
            <a:off x="438922" y="6164275"/>
            <a:ext cx="8873559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85230" y="6164275"/>
            <a:ext cx="8558998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Segregation of duties protects investors: operations, valuation and risk sit apart from investment decisions — with SEB (custody), MUFG (administration) and KPMG (audit) independently verifying every NAV and fee.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Investment Process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1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1.4 A disciplined, repeatable selection process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From a universe of strong businesses to a single high-conviction investment a year — through three hard gates.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292096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1 · SOURCE &amp; SCREEN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12076" y="2701747"/>
            <a:ext cx="2926153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12076" y="2701747"/>
            <a:ext cx="2926153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~2,000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47960" y="2818790"/>
            <a:ext cx="1463076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 i="0">
                <a:solidFill>
                  <a:srgbClr val="556A83"/>
                </a:solidFill>
                <a:latin typeface="Arial"/>
              </a:rPr>
              <a:t>businesses with strong, durable moats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94961" y="3404006"/>
            <a:ext cx="2560384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94961" y="3404006"/>
            <a:ext cx="2560384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~1,200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47960" y="3521049"/>
            <a:ext cx="1463076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 i="0">
                <a:solidFill>
                  <a:srgbClr val="556A83"/>
                </a:solidFill>
                <a:latin typeface="Arial"/>
              </a:rPr>
              <a:t>within target geographies and size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77845" y="4106265"/>
            <a:ext cx="2194614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77845" y="4106265"/>
            <a:ext cx="2194614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~1,000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47960" y="4223308"/>
            <a:ext cx="1463076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 i="0">
                <a:solidFill>
                  <a:srgbClr val="556A83"/>
                </a:solidFill>
                <a:latin typeface="Arial"/>
              </a:rPr>
              <a:t>listed companies in selected sectors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60730" y="4808524"/>
            <a:ext cx="1828845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60730" y="4808524"/>
            <a:ext cx="1828845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Shortlist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47960" y="4925568"/>
            <a:ext cx="1463076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 i="0">
                <a:solidFill>
                  <a:srgbClr val="556A83"/>
                </a:solidFill>
                <a:latin typeface="Arial"/>
              </a:rPr>
              <a:t>suitable shareholder base for constructive ownership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2076" y="5569305"/>
            <a:ext cx="4389229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1">
                <a:solidFill>
                  <a:srgbClr val="0E1620"/>
                </a:solidFill>
                <a:latin typeface="Arial"/>
              </a:rPr>
              <a:t>Sourced through the team’s network, own research, management interviews, site visits and external experts.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93921" y="2292096"/>
            <a:ext cx="409661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2 · THREE TOLLGATES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193921" y="2701747"/>
            <a:ext cx="4133191" cy="11509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193921" y="2701747"/>
            <a:ext cx="51207" cy="1150924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354860" y="2838297"/>
            <a:ext cx="38771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Tollgate 1 — Valuation floor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354860" y="3150412"/>
            <a:ext cx="3877152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Is the company attractive even if we change nothing? We only proceed when the core alone justifies the price.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193921" y="3950208"/>
            <a:ext cx="4133191" cy="11509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193921" y="3950208"/>
            <a:ext cx="51207" cy="1150924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354860" y="4086758"/>
            <a:ext cx="38771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Tollgate 2 — Value of the improvement plan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354860" y="4398873"/>
            <a:ext cx="3877152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Quantify the upside across six levers — organic &amp; M&amp;A growth, cost, structural, operational and financial — and pressure-test it with industry experts.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193921" y="5198668"/>
            <a:ext cx="4133191" cy="11509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5193921" y="5198668"/>
            <a:ext cx="51207" cy="1150924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354860" y="5335219"/>
            <a:ext cx="38771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Tollgate 3 — Go / No-Go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354860" y="5647334"/>
            <a:ext cx="3877152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Engage key stakeholders, select board members and the management team, then decide. We make roughly one investment a year.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38922" y="6983577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556A83"/>
                </a:solidFill>
                <a:latin typeface="Arial"/>
              </a:rPr>
              <a:t>Selectivity is the edge: of ~1,000 candidates, only one clears all three gates each year.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 Management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1.5 A risk system that engineers out permanent loss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Risk is controlled before the investment is made — through valuation, diversification and influence — not managed after the fact.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292096"/>
            <a:ext cx="409661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BUILT ON THREE PILLARS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12076" y="2701747"/>
            <a:ext cx="4133191" cy="11509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12076" y="2701747"/>
            <a:ext cx="51207" cy="1150924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3015" y="2838297"/>
            <a:ext cx="38771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Predictability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3015" y="3150412"/>
            <a:ext cx="3877152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Only durable, market-leading cores in slow-moving industries — businesses whose future demand we can underwrite.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12076" y="3950208"/>
            <a:ext cx="4133191" cy="11509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12076" y="3950208"/>
            <a:ext cx="51207" cy="1150924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73015" y="4086758"/>
            <a:ext cx="38771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Price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3015" y="4398873"/>
            <a:ext cx="3877152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A hard valuation floor: value the rectifiable core, assign zero to “growth-trap” divisions — a 30–40% margin of safety vs a PE bidder.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12076" y="5198668"/>
            <a:ext cx="4133191" cy="11509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12076" y="5198668"/>
            <a:ext cx="51207" cy="1150924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73015" y="5335219"/>
            <a:ext cx="38771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Influence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3015" y="5647334"/>
            <a:ext cx="3877152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A board seat as the “kill switch” — the ability to stop one bad decision lowers risk below any passive or active manager.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93921" y="2292096"/>
            <a:ext cx="409661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AUTOMATIC GUARDRAILS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93921" y="2701747"/>
            <a:ext cx="4133191" cy="877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Core &amp; satellite: a 30-stock equal-weighted index compounds all unallocated capital; 8–12 concentrated ideas sit on top.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193921" y="3599078"/>
            <a:ext cx="4133191" cy="877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Entry gauntlet: every idea must clear a ≥12% expected IRR and ≤20% probability of a 30% drawdown before funding.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193921" y="4496409"/>
            <a:ext cx="4133191" cy="877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Eleven standardised risk tags cap any single macro/business factor at ~20% of the concentrated book.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93921" y="5393740"/>
            <a:ext cx="4133191" cy="877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Hard triggers at −10% / −20% / −30% force thesis review and exit — removing emotion and PM bias.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922" y="6983577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556A83"/>
                </a:solidFill>
                <a:latin typeface="Arial"/>
              </a:rPr>
              <a:t>The system is designed to make permanent capital loss structurally unlikely — not merely to react to it.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Ownership Model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1.6 The ownership playbook, honed over 40 investments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 repeatable sequence that turns a board seat into operational value — refocusing a good core, then growing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16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22" y="2292096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99861" y="2487168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307" y="2526182"/>
            <a:ext cx="2099514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Secure the board seat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807" y="3091891"/>
            <a:ext cx="2575014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Often a precondition to invest — the nomination committee proposes an AIP director.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16283" y="2292096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577222" y="2487168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074668" y="2526182"/>
            <a:ext cx="2099514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Align the thesis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99168" y="3091891"/>
            <a:ext cx="2575014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Collaborate with management and stakeholders to agree where the value is and what must change.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93644" y="2292096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554583" y="2487168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52029" y="2526182"/>
            <a:ext cx="2099514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Refocus to drive earnings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76529" y="3091891"/>
            <a:ext cx="2575014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Cut overhead and admin, optimise the footprint, exit loss-making “growth-trap” ventures.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8922" y="4125772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599861" y="4320844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7307" y="4359859"/>
            <a:ext cx="2099514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Reallocate to winners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1807" y="4925568"/>
            <a:ext cx="2575014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Redeploy freed-up capital into the profitable core and its strongest adjacencies; lift R&amp;D where it pays.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416283" y="4125772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3577222" y="4320844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074668" y="4359859"/>
            <a:ext cx="2099514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Grow by acquisition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599168" y="4925568"/>
            <a:ext cx="2575014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Add complementary products, geographies or scale through value-accretive bolt-ons.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93644" y="4125772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554583" y="4320844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052029" y="4359859"/>
            <a:ext cx="2099514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Exit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76529" y="4925568"/>
            <a:ext cx="2575014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Realise via M&amp;A or in the equity market once the core is refocused and compounding.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38922" y="6339840"/>
            <a:ext cx="8924767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314359"/>
                </a:solidFill>
                <a:latin typeface="Arial"/>
              </a:rPr>
              <a:t>The same playbook across 40 companies — value created by fixing capital allocation, not by financial engineering or leverage.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2 OF 6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The opportunity &amp; our edge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1   </a:t>
            </a:r>
            <a:r>
              <a:rPr sz="880" b="0">
                <a:solidFill>
                  <a:srgbClr val="556A83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2   </a:t>
            </a:r>
            <a:r>
              <a:rPr sz="1000" b="1">
                <a:solidFill>
                  <a:srgbClr val="FFFFFF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3   </a:t>
            </a:r>
            <a:r>
              <a:rPr sz="880" b="0">
                <a:solidFill>
                  <a:srgbClr val="556A83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4   </a:t>
            </a:r>
            <a:r>
              <a:rPr sz="880" b="0">
                <a:solidFill>
                  <a:srgbClr val="556A83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5   </a:t>
            </a:r>
            <a:r>
              <a:rPr sz="880" b="0">
                <a:solidFill>
                  <a:srgbClr val="556A83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6   </a:t>
            </a:r>
            <a:r>
              <a:rPr sz="880" b="0">
                <a:solidFill>
                  <a:srgbClr val="556A83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17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Market Opportunity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2.1 The inefficiency Athanase harvests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Corporate decay is structural — it continuously recreates low-risk, high-return entry points.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292096"/>
            <a:ext cx="4608691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57738" indent="-157738">
              <a:lnSpc>
                <a:spcPct val="112000"/>
              </a:lnSpc>
              <a:spcAft>
                <a:spcPts val="14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Duration mismatch.</a:t>
            </a:r>
            <a:r>
              <a:rPr sz="1080">
                <a:solidFill>
                  <a:srgbClr val="0E1620"/>
                </a:solidFill>
                <a:latin typeface="Arial"/>
              </a:rPr>
              <a:t>  CEOs run 7–8 year defensive cycles while moats erode at hyper-speed; an 80%-correct strategy decays to ~50% efficient.</a:t>
            </a:r>
          </a:p>
          <a:p>
            <a:pPr marL="157738" indent="-157738">
              <a:lnSpc>
                <a:spcPct val="112000"/>
              </a:lnSpc>
              <a:spcAft>
                <a:spcPts val="14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The prestige trap.</a:t>
            </a:r>
            <a:r>
              <a:rPr sz="1080">
                <a:solidFill>
                  <a:srgbClr val="0E1620"/>
                </a:solidFill>
                <a:latin typeface="Arial"/>
              </a:rPr>
              <a:t>  Empire-building and the sunk-cost fallacy lead management to double down on unprofitable ventures.</a:t>
            </a:r>
          </a:p>
          <a:p>
            <a:pPr marL="157738" indent="-157738">
              <a:lnSpc>
                <a:spcPct val="112000"/>
              </a:lnSpc>
              <a:spcAft>
                <a:spcPts val="14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Shareholder exhaustion.</a:t>
            </a:r>
            <a:r>
              <a:rPr sz="1080">
                <a:solidFill>
                  <a:srgbClr val="0E1620"/>
                </a:solidFill>
                <a:latin typeface="Arial"/>
              </a:rPr>
              <a:t>  As patience runs out, price hits a long-term low and liquidity dries up — Athanase becomes the “buyer of last resort” at a discount.</a:t>
            </a:r>
          </a:p>
          <a:p>
            <a:pPr marL="157738" indent="-157738">
              <a:lnSpc>
                <a:spcPct val="112000"/>
              </a:lnSpc>
              <a:spcAft>
                <a:spcPts val="14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Low competition.</a:t>
            </a:r>
            <a:r>
              <a:rPr sz="1080">
                <a:solidFill>
                  <a:srgbClr val="0E1620"/>
                </a:solidFill>
                <a:latin typeface="Arial"/>
              </a:rPr>
              <a:t>  Passive buys the most expensive names; active managers wait for proof; PE needs 10x the capital — leaving these bargains open.</a:t>
            </a:r>
          </a:p>
        </p:txBody>
      </p:sp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5230498" y="2487168"/>
          <a:ext cx="4169768" cy="3511296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5230498" y="6047232"/>
            <a:ext cx="416976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Even an excellent team’s edge erodes as the external environment shifts.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Investment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3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2.2 We don’t buy broken companies — we buy hidden cores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classic objection to activism is adverse selection. Our model inverts it.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292096"/>
            <a:ext cx="468184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57738" indent="-157738">
              <a:lnSpc>
                <a:spcPct val="112000"/>
              </a:lnSpc>
              <a:spcAft>
                <a:spcPts val="13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The critique.</a:t>
            </a:r>
            <a:r>
              <a:rPr sz="1080">
                <a:solidFill>
                  <a:srgbClr val="0E1620"/>
                </a:solidFill>
                <a:latin typeface="Arial"/>
              </a:rPr>
              <a:t>  Buy “cheap and troubled” and you select for lemons — worse than they look. The market discounted them for a reason.</a:t>
            </a:r>
          </a:p>
          <a:p>
            <a:pPr marL="157738" indent="-157738">
              <a:lnSpc>
                <a:spcPct val="112000"/>
              </a:lnSpc>
              <a:spcAft>
                <a:spcPts val="13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Our precondition removes it.</a:t>
            </a:r>
            <a:r>
              <a:rPr sz="1080">
                <a:solidFill>
                  <a:srgbClr val="0E1620"/>
                </a:solidFill>
                <a:latin typeface="Arial"/>
              </a:rPr>
              <a:t>  We invest only where the core is a market leader earning high returns on capital — attractive even if we change nothing. No structurally-weak turnarounds.</a:t>
            </a:r>
          </a:p>
          <a:p>
            <a:pPr marL="157738" indent="-157738">
              <a:lnSpc>
                <a:spcPct val="112000"/>
              </a:lnSpc>
              <a:spcAft>
                <a:spcPts val="13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The real setup.</a:t>
            </a:r>
            <a:r>
              <a:rPr sz="1080">
                <a:solidFill>
                  <a:srgbClr val="0E1620"/>
                </a:solidFill>
                <a:latin typeface="Arial"/>
              </a:rPr>
              <a:t>  Profitable leaders whose management pivoted into weak adjacencies — chasing growth as the core matured. A capital-allocation overlay on a good asset, not a bad asset.</a:t>
            </a:r>
          </a:p>
          <a:p>
            <a:pPr marL="157738" indent="-157738">
              <a:lnSpc>
                <a:spcPct val="112000"/>
              </a:lnSpc>
              <a:spcAft>
                <a:spcPts val="13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The inversion.</a:t>
            </a:r>
            <a:r>
              <a:rPr sz="1080">
                <a:solidFill>
                  <a:srgbClr val="0E1620"/>
                </a:solidFill>
                <a:latin typeface="Arial"/>
              </a:rPr>
              <a:t>  Blended results make it look mediocre, so it is priced mediocre. The appearance understates reality.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40229" y="2243328"/>
            <a:ext cx="395030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Figure 3  ·  SUM-OF-THE-PARTS (ILLUSTRATIVE, INDEXED)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852306" y="3706368"/>
            <a:ext cx="1170461" cy="1658112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852306" y="3355238"/>
            <a:ext cx="1170461" cy="3121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20" b="1" i="0">
                <a:solidFill>
                  <a:srgbClr val="314359"/>
                </a:solidFill>
                <a:latin typeface="Arial"/>
              </a:rPr>
              <a:t>100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559691" y="5462016"/>
            <a:ext cx="1755691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19" b="1" i="0">
                <a:solidFill>
                  <a:srgbClr val="0E1620"/>
                </a:solidFill>
                <a:latin typeface="Arial"/>
              </a:rPr>
              <a:t>Market price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(blended optics)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54305" y="3043123"/>
            <a:ext cx="1170461" cy="232135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54305" y="2691993"/>
            <a:ext cx="1170461" cy="3121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20" b="1" i="0">
                <a:solidFill>
                  <a:srgbClr val="314359"/>
                </a:solidFill>
                <a:latin typeface="Arial"/>
              </a:rPr>
              <a:t>140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61690" y="5462016"/>
            <a:ext cx="1755691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19" b="1" i="0">
                <a:solidFill>
                  <a:srgbClr val="0E1620"/>
                </a:solidFill>
                <a:latin typeface="Arial"/>
              </a:rPr>
              <a:t>Core alone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(high ROIIC)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852306" y="3706368"/>
            <a:ext cx="2487230" cy="16256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741882" y="3043123"/>
            <a:ext cx="20320" cy="6632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62037" y="3082137"/>
            <a:ext cx="2633537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+40% hidden value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2076" y="6291072"/>
            <a:ext cx="8778459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We remove the drag and refocus capital on the core — positive selection on a concealed asset, not negative selection on a lemon.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Investment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3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2.3 Quality-core constructivism — how we differ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Even Hohn (TCI) and Loeb (Third Point) pivoted to quality — we capture quality at a discount, with a catalyst in our control.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20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2346" y="2292096"/>
            <a:ext cx="1719115" cy="40965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0130" y="2292096"/>
            <a:ext cx="1572807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12" name="Rectangle 11"/>
          <p:cNvSpPr/>
          <p:nvPr/>
        </p:nvSpPr>
        <p:spPr>
          <a:xfrm>
            <a:off x="2121461" y="2292096"/>
            <a:ext cx="3547960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209245" y="2292096"/>
            <a:ext cx="3401653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Large generalist activists (e.g. Elliott)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421" y="2292096"/>
            <a:ext cx="3621114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57206" y="2292096"/>
            <a:ext cx="3474806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Athanase — quality-core constructivism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02346" y="2701747"/>
            <a:ext cx="1719115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0130" y="2701747"/>
            <a:ext cx="1572807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Entry precondition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121461" y="2701747"/>
            <a:ext cx="3547960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209245" y="2701747"/>
            <a:ext cx="3401653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Wide range of situations — breakups, credit, event-driven; business quality often secondary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421" y="2701747"/>
            <a:ext cx="3621114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57206" y="2701747"/>
            <a:ext cx="3474806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Only a market-leading, high-ROIIC core — “attractive even if we change nothing”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02346" y="3423513"/>
            <a:ext cx="1719115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0130" y="3423513"/>
            <a:ext cx="1572807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Source of return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121461" y="3423513"/>
            <a:ext cx="3547960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209245" y="3423513"/>
            <a:ext cx="3401653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Financial / transactional pressure: force a sale, return cash, exit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421" y="3423513"/>
            <a:ext cx="3621114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757206" y="3423513"/>
            <a:ext cx="3474806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Operational refocus of a genuinely good business, from a board seat, over years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02346" y="4145280"/>
            <a:ext cx="1719115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90130" y="4145280"/>
            <a:ext cx="1572807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What gets fixed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121461" y="4145280"/>
            <a:ext cx="3547960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209245" y="4145280"/>
            <a:ext cx="3401653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The price, the structure, the outcome of a contest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669421" y="4145280"/>
            <a:ext cx="3621114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757206" y="4145280"/>
            <a:ext cx="3474806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The capital-allocation overlay — the core already works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02346" y="4867046"/>
            <a:ext cx="1719115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90130" y="4867046"/>
            <a:ext cx="1572807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Margin of safety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121461" y="4867046"/>
            <a:ext cx="3547960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209245" y="4867046"/>
            <a:ext cx="3401653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Winning the campaign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669421" y="4867046"/>
            <a:ext cx="3621114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757206" y="4867046"/>
            <a:ext cx="3474806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The core’s proven high-ROIIC economics — the hard floor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02346" y="5588812"/>
            <a:ext cx="1719115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90130" y="5588812"/>
            <a:ext cx="1572807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Cadence &amp; style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121461" y="5588812"/>
            <a:ext cx="3547960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209245" y="5588812"/>
            <a:ext cx="3401653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Many simultaneous campaigns, leverage, often confrontational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669421" y="5588812"/>
            <a:ext cx="3621114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757206" y="5588812"/>
            <a:ext cx="3474806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~one deal a year, constructive, board-led, mid-cap surgical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02346" y="6447129"/>
            <a:ext cx="8924767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The megacap activists left mid-cap surgical engagements behind as they scaled. That hidden-core niche is our lane.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Investment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4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2.4 We don’t need to be right more than ~50%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Because we buy at a discount, not at a 40% control premium.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21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53" y="2292096"/>
            <a:ext cx="2926153" cy="604723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84" y="2292096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Arial"/>
              </a:rPr>
              <a:t>Metric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474806" y="2292096"/>
            <a:ext cx="2926153" cy="604723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84537" y="2292096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Arial"/>
              </a:rPr>
              <a:t>Private Equity (take-private)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960" y="2292096"/>
            <a:ext cx="2816422" cy="604723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10690" y="2292096"/>
            <a:ext cx="259696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Arial"/>
              </a:rPr>
              <a:t>Athanase (engaged owner)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53" y="2896819"/>
            <a:ext cx="2926153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84" y="2896819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Entry basis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474806" y="2896819"/>
            <a:ext cx="2926153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584537" y="2896819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$140  (market + 40% premium)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960" y="2896819"/>
            <a:ext cx="2816422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10690" y="2896819"/>
            <a:ext cx="259696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$100  (exhaustion price)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53" y="3501542"/>
            <a:ext cx="2926153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8384" y="3501542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Holding period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474806" y="3501542"/>
            <a:ext cx="2926153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584537" y="3501542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5 years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00960" y="3501542"/>
            <a:ext cx="2816422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10690" y="3501542"/>
            <a:ext cx="259696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3 years (rerating cycle)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8653" y="4106265"/>
            <a:ext cx="2926153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8384" y="4106265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Value growth required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474806" y="4106265"/>
            <a:ext cx="2926153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584537" y="4106265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+148% total growth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00960" y="4106265"/>
            <a:ext cx="2816422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510690" y="4106265"/>
            <a:ext cx="259696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+73% total growth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48653" y="4710988"/>
            <a:ext cx="2926153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58384" y="4710988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Operational success needed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474806" y="4710988"/>
            <a:ext cx="2926153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584537" y="4710988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~85–100% of thesis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400960" y="4710988"/>
            <a:ext cx="2816422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510690" y="4710988"/>
            <a:ext cx="259696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~45–55% of thesis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48653" y="5510784"/>
            <a:ext cx="8632151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20" b="0" i="1">
                <a:solidFill>
                  <a:srgbClr val="314359"/>
                </a:solidFill>
                <a:latin typeface="Arial"/>
              </a:rPr>
              <a:t>A margin-for-error strategy: we win by being directionally right where PE must be precisely perfect.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Investment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5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2.5 The same playbook as mid-market PE — without its costs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Operational value creation in mid-cap businesses, but in a public wrapper that removes private equity’s structural drags.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22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2346" y="2292096"/>
            <a:ext cx="1719115" cy="35112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0130" y="2292096"/>
            <a:ext cx="1572807" cy="35112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12" name="Rectangle 11"/>
          <p:cNvSpPr/>
          <p:nvPr/>
        </p:nvSpPr>
        <p:spPr>
          <a:xfrm>
            <a:off x="2121461" y="2292096"/>
            <a:ext cx="3547960" cy="351129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209245" y="2292096"/>
            <a:ext cx="3401653" cy="35112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Mid-market private equity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421" y="2292096"/>
            <a:ext cx="3621114" cy="351129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57206" y="2292096"/>
            <a:ext cx="3474806" cy="35112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Athanase — engaged owner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02346" y="2643225"/>
            <a:ext cx="1719115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0130" y="2643225"/>
            <a:ext cx="1572807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Entry price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121461" y="2643225"/>
            <a:ext cx="3547960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209245" y="2643225"/>
            <a:ext cx="3401653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Market + ~40% control premium — pays up front for the right to fix it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421" y="2643225"/>
            <a:ext cx="3621114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57206" y="2643225"/>
            <a:ext cx="3474806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A discount to the core’s value at “shareholder exhaustion” — gets that right for free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02346" y="3267456"/>
            <a:ext cx="1719115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0130" y="3267456"/>
            <a:ext cx="1572807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Liquidity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121461" y="3267456"/>
            <a:ext cx="3547960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209245" y="3267456"/>
            <a:ext cx="3401653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10-year lock-up, blind pool; capital trapped until exit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421" y="3267456"/>
            <a:ext cx="3621114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757206" y="3267456"/>
            <a:ext cx="3474806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Listed, daily-priced positions — LPs keep liquidity and can exit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02346" y="3891686"/>
            <a:ext cx="1719115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90130" y="3891686"/>
            <a:ext cx="1572807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Fees &amp; capital efficiency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121461" y="3891686"/>
            <a:ext cx="3547960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209245" y="3891686"/>
            <a:ext cx="3401653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2&amp;20 on committed capital; fee drag while undeployed dry powder waits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669421" y="3891686"/>
            <a:ext cx="3621114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757206" y="3891686"/>
            <a:ext cx="3474806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Lower fees; capital is deployed, not sitting in a capital-call queue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02346" y="4515916"/>
            <a:ext cx="1719115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90130" y="4515916"/>
            <a:ext cx="1572807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The J-curve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121461" y="4515916"/>
            <a:ext cx="3547960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209245" y="4515916"/>
            <a:ext cx="3401653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Opaque, model-marked write-downs before any mark-up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669421" y="4515916"/>
            <a:ext cx="3621114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757206" y="4515916"/>
            <a:ext cx="3474806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Live and visible — a tradable entry point, not a hidden cost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02346" y="5140147"/>
            <a:ext cx="1719115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90130" y="5140147"/>
            <a:ext cx="1572807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Transparency &amp; control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121461" y="5140147"/>
            <a:ext cx="3547960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209245" y="5140147"/>
            <a:ext cx="3401653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Annual mark-to-model; thesis underwritten once at close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669421" y="5140147"/>
            <a:ext cx="3621114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757206" y="5140147"/>
            <a:ext cx="3474806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Daily public scoreboard; board control secures cash flow, capex and pay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02346" y="5764377"/>
            <a:ext cx="1719115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90130" y="5764377"/>
            <a:ext cx="1572807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Scalability for PE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121461" y="5764377"/>
            <a:ext cx="3547960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209245" y="5764377"/>
            <a:ext cx="3401653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Rational to skip: 10× more capital per buyout, richer fees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669421" y="5764377"/>
            <a:ext cx="3621114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757206" y="5764377"/>
            <a:ext cx="3474806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Exactly why the niche stays open — little competition for these assets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02346" y="6564172"/>
            <a:ext cx="8924767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Private-equity-style operational turnarounds, imported into public markets — keeping the liquidity, transparency and lower fees PE gives up.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3 OF 6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Risk, honestly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1   </a:t>
            </a:r>
            <a:r>
              <a:rPr sz="880" b="0">
                <a:solidFill>
                  <a:srgbClr val="556A83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2   </a:t>
            </a:r>
            <a:r>
              <a:rPr sz="880" b="0">
                <a:solidFill>
                  <a:srgbClr val="556A83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3   </a:t>
            </a:r>
            <a:r>
              <a:rPr sz="1000" b="1">
                <a:solidFill>
                  <a:srgbClr val="FFFFFF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4   </a:t>
            </a:r>
            <a:r>
              <a:rPr sz="880" b="0">
                <a:solidFill>
                  <a:srgbClr val="556A83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5   </a:t>
            </a:r>
            <a:r>
              <a:rPr sz="880" b="0">
                <a:solidFill>
                  <a:srgbClr val="556A83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6   </a:t>
            </a:r>
            <a:r>
              <a:rPr sz="880" b="0">
                <a:solidFill>
                  <a:srgbClr val="556A83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23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 Management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3.1 A risk system built to avoid permanent loss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Predictability, price and influence combined to lower risk systematically.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THE VALUATION FLOOR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Enter only at “shareholder surrender” — dried-up liquidity and long-term price lows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Value only the rectifiable core; assign zero to “growth trap” divisions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Creates a structural 30–40% margin of safety vs a PE bidder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42922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THE BOARD-LEVEL KILL SWITCH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Secure board seats and chairmanships as a prerequisite — not proxy threats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Mandated rectification: freeze prestige projects the moment the macro shifts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Automatic risk metrics (10/20/30% triggers) remove portfolio-manager bias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53" y="6193536"/>
            <a:ext cx="8632151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Core &amp; satellite: a 30-stock equal-weighted core index compounds capital; 8–12 concentrated ideas must clear a 12% IRR hurdle and a ≤20% downside gate.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Strategic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3.2 The visible risks are the engine — not the cost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From “corporate raider” to “industrial constructivist”: reputational friction and the public J-curve source the alpha and protect it from arbitrage.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69422" indent="-169422">
              <a:lnSpc>
                <a:spcPct val="112000"/>
              </a:lnSpc>
              <a:spcAft>
                <a:spcPts val="11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Friction is the catalyst.</a:t>
            </a:r>
            <a:r>
              <a:rPr sz="1160">
                <a:solidFill>
                  <a:srgbClr val="0E1620"/>
                </a:solidFill>
                <a:latin typeface="Arial"/>
              </a:rPr>
              <a:t>  Quiet engagement does not reprice a stock; public engagement forces the market to re-rate — and a 20-year reputation pulls sophisticated capital in behind us (the coattail effect).</a:t>
            </a:r>
          </a:p>
          <a:p>
            <a:pPr marL="169422" indent="-169422">
              <a:lnSpc>
                <a:spcPct val="112000"/>
              </a:lnSpc>
              <a:spcAft>
                <a:spcPts val="11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The discomfort is the moat.</a:t>
            </a:r>
            <a:r>
              <a:rPr sz="1160">
                <a:solidFill>
                  <a:srgbClr val="0E1620"/>
                </a:solidFill>
                <a:latin typeface="Arial"/>
              </a:rPr>
              <a:t>  Few managers have the industrial background and stamina to wage a multi-year campaign — so headline-shy capital leaves a persistent pricing inefficiency for those who will.</a:t>
            </a:r>
          </a:p>
          <a:p>
            <a:pPr marL="169422" indent="-169422">
              <a:lnSpc>
                <a:spcPct val="112000"/>
              </a:lnSpc>
              <a:spcAft>
                <a:spcPts val="11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A board seat de-risks the asset.</a:t>
            </a:r>
            <a:r>
              <a:rPr sz="1160">
                <a:solidFill>
                  <a:srgbClr val="0E1620"/>
                </a:solidFill>
                <a:latin typeface="Arial"/>
              </a:rPr>
              <a:t>  We trade optical, mark-to-market volatility for direct control of cash flow, capex and pay. Fundamental risk falls the moment control is secured — whatever the share price does.</a:t>
            </a:r>
          </a:p>
          <a:p>
            <a:pPr marL="169422" indent="-169422">
              <a:lnSpc>
                <a:spcPct val="112000"/>
              </a:lnSpc>
              <a:spcAft>
                <a:spcPts val="11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The J-curve is tradable, not painful.</a:t>
            </a:r>
            <a:r>
              <a:rPr sz="1160">
                <a:solidFill>
                  <a:srgbClr val="0E1620"/>
                </a:solidFill>
                <a:latin typeface="Arial"/>
              </a:rPr>
              <a:t>  Unlike PE’s accounting J-curve, ours is live and observable — an engineered entry point (and a co-invest “free look”) at de-risked governance at distressed prices.</a:t>
            </a:r>
          </a:p>
          <a:p>
            <a:pPr marL="169422" indent="-169422">
              <a:lnSpc>
                <a:spcPct val="112000"/>
              </a:lnSpc>
              <a:spcAft>
                <a:spcPts val="11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Public scoreboard, daily.</a:t>
            </a:r>
            <a:r>
              <a:rPr sz="1160">
                <a:solidFill>
                  <a:srgbClr val="0E1620"/>
                </a:solidFill>
                <a:latin typeface="Arial"/>
              </a:rPr>
              <a:t>  There is nowhere to hide poor capital allocation — the discipline behind a 92% deal-level hit rate over 20 years.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Strategic Case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4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3.3 A non-linear path — honestly priced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Public engaged ownership marks to market every day. The destination is the multiple; the route is rarely a straight line.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292096"/>
            <a:ext cx="4535537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57738" indent="-157738">
              <a:lnSpc>
                <a:spcPct val="112000"/>
              </a:lnSpc>
              <a:spcAft>
                <a:spcPts val="11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Value moves over the holding period.</a:t>
            </a:r>
            <a:r>
              <a:rPr sz="1080">
                <a:solidFill>
                  <a:srgbClr val="0E1620"/>
                </a:solidFill>
                <a:latin typeface="Arial"/>
              </a:rPr>
              <a:t>  A 5× outcome is realised over years — the interim mark moves with the market, the cycle and the campaign. It is a journey, not a coupon.</a:t>
            </a:r>
          </a:p>
          <a:p>
            <a:pPr marL="157738" indent="-157738">
              <a:lnSpc>
                <a:spcPct val="112000"/>
              </a:lnSpc>
              <a:spcAft>
                <a:spcPts val="11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PE looks smooth because it is appraised, not traded.</a:t>
            </a:r>
            <a:r>
              <a:rPr sz="1080">
                <a:solidFill>
                  <a:srgbClr val="0E1620"/>
                </a:solidFill>
                <a:latin typeface="Arial"/>
              </a:rPr>
              <a:t>  Infrequent, model-based marks understate true economic volatility — “volatility laundering.” Marked daily, a levered buyout would swing as much or more.</a:t>
            </a:r>
          </a:p>
          <a:p>
            <a:pPr marL="157738" indent="-157738">
              <a:lnSpc>
                <a:spcPct val="112000"/>
              </a:lnSpc>
              <a:spcAft>
                <a:spcPts val="11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Same economics, honest optics.</a:t>
            </a:r>
            <a:r>
              <a:rPr sz="1080">
                <a:solidFill>
                  <a:srgbClr val="0E1620"/>
                </a:solidFill>
                <a:latin typeface="Arial"/>
              </a:rPr>
              <a:t>  We hold the same kind of assets PE does — we simply report them at live prices and accept the J-curve as the toll paid for liquidity.</a:t>
            </a:r>
          </a:p>
        </p:txBody>
      </p:sp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5157345" y="2243328"/>
          <a:ext cx="4316075" cy="380390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5157345" y="6144768"/>
            <a:ext cx="4316075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Illustrative. Both reach the same value; only the public line shows the honest interim drawdown.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Strategic Case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6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3.4 Risk reframing for the investment committee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What the committee sees on the surface — versus what it is actually underwriting.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27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3328499" cy="54620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1338" y="2292096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What the IC sees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767422" y="2292096"/>
            <a:ext cx="5523114" cy="54620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69837" y="2292096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What it is actually underwriting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8922" y="2838297"/>
            <a:ext cx="3328499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1338" y="2838297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Reputational / headline risk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767422" y="2838297"/>
            <a:ext cx="5523114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869837" y="2838297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The catalyst that forces repricing — and a moat that keeps competitors out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8922" y="3384499"/>
            <a:ext cx="3328499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1338" y="3384499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Public J-curve &amp; mark-to-market drawdown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767422" y="3384499"/>
            <a:ext cx="5523114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869837" y="3384499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A live, tradable entry into an asset already de-risked by board control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8922" y="3930700"/>
            <a:ext cx="3328499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1338" y="3930700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~50% peak-to-trough swings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767422" y="3930700"/>
            <a:ext cx="5523114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869837" y="3930700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Optical volatility; two such drawdowns fully recovered (2010, 2020) · Sortino 2.40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38922" y="4476902"/>
            <a:ext cx="3328499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41338" y="4476902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Concentration in 8–12 names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767422" y="4476902"/>
            <a:ext cx="5523114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869837" y="4476902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Deliberate conviction sizing — the skill (85.7% hit on ≥10% names; +0.73)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38922" y="5023104"/>
            <a:ext cx="3328499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41338" y="5023104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“Catching a falling knife”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767422" y="5023104"/>
            <a:ext cx="5523114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869837" y="5023104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Hard-floor valuation gates; entry below the value of the rectifiable core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8922" y="5569305"/>
            <a:ext cx="3328499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41338" y="5569305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Single-name dependence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767422" y="5569305"/>
            <a:ext cx="5523114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869837" y="5569305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One ≥5× MOIC win every ~2 years; competitive even excluding the largest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38922" y="6261811"/>
            <a:ext cx="8851613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The IC is not paying for safety. It is paying for proven willingness to take compensated discomfort — +6 percentage points per year, net of every fee, for 20 years.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4 OF 6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The 20-year track record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1   </a:t>
            </a:r>
            <a:r>
              <a:rPr sz="880" b="0">
                <a:solidFill>
                  <a:srgbClr val="556A83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2   </a:t>
            </a:r>
            <a:r>
              <a:rPr sz="880" b="0">
                <a:solidFill>
                  <a:srgbClr val="556A83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3   </a:t>
            </a:r>
            <a:r>
              <a:rPr sz="880" b="0">
                <a:solidFill>
                  <a:srgbClr val="556A83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4   </a:t>
            </a:r>
            <a:r>
              <a:rPr sz="1000" b="1">
                <a:solidFill>
                  <a:srgbClr val="FFFFFF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5   </a:t>
            </a:r>
            <a:r>
              <a:rPr sz="880" b="0">
                <a:solidFill>
                  <a:srgbClr val="556A83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6   </a:t>
            </a:r>
            <a:r>
              <a:rPr sz="880" b="0">
                <a:solidFill>
                  <a:srgbClr val="556A83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28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Track Record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5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4.1 Proof: outperformance with downside protection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29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512076" y="1901952"/>
          <a:ext cx="5193921" cy="4096512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925460" y="1999488"/>
            <a:ext cx="3365076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80" b="1" i="0">
                <a:solidFill>
                  <a:srgbClr val="314359"/>
                </a:solidFill>
                <a:latin typeface="Times New Roman"/>
              </a:rPr>
              <a:t>What downside protection means</a:t>
            </a:r>
          </a:p>
          <a:p>
            <a:pPr algn="l">
              <a:lnSpc>
                <a:spcPct val="115000"/>
              </a:lnSpc>
              <a:spcAft>
                <a:spcPts val="140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In the market’s down months Athanase fell ~1.5% on average versus the market’s ~3.8% — losing less than half as much when it matters.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80" b="1" i="0">
                <a:solidFill>
                  <a:srgbClr val="314359"/>
                </a:solidFill>
                <a:latin typeface="Times New Roman"/>
              </a:rPr>
              <a:t>Positive when the market wasn’t</a:t>
            </a:r>
          </a:p>
          <a:p>
            <a:pPr algn="l">
              <a:lnSpc>
                <a:spcPct val="115000"/>
              </a:lnSpc>
              <a:spcAft>
                <a:spcPts val="140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Across the six worst years for global equities, Athanase outperformed in five — and stayed positive in two: +9% in 2015 and +0.3% in 2022, while the market fell −6% and −20%.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80" b="1" i="0">
                <a:solidFill>
                  <a:srgbClr val="314359"/>
                </a:solidFill>
                <a:latin typeface="Times New Roman"/>
              </a:rPr>
              <a:t>Why it compounds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Losing less in drawdowns leaves more capital working in the recovery — the engine behind 18× growth of capital vs 3.2× for the market since 2006.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Track Record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7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4.2 AIP Fund II — transactions (2015–present)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Each position shown against its benchmark; invested capital weighted MOIC of 2.2x.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30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53" y="2292096"/>
            <a:ext cx="2414076" cy="20677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7176" y="2292096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Company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962730" y="2292096"/>
            <a:ext cx="1463076" cy="20677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021253" y="229209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Holding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5806" y="2292096"/>
            <a:ext cx="1243615" cy="20677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84329" y="229209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IRR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421" y="2292096"/>
            <a:ext cx="1243615" cy="20677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727944" y="229209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MOIC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913036" y="2292096"/>
            <a:ext cx="1463076" cy="20677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71560" y="229209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vs Index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53" y="2498871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7176" y="2498871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Bufab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962730" y="2498871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021253" y="2498871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2015-2025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425806" y="2498871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484329" y="2498871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35%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421" y="2498871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727944" y="2498871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2.0x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913036" y="2498871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971560" y="2498871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+27%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48653" y="2705646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07176" y="2705646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DistIt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962730" y="2705646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021253" y="270564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2015-2025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425806" y="2705646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484329" y="270564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7%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669421" y="2705646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727944" y="270564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1.2x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913036" y="2705646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971560" y="270564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-1%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48653" y="2912422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07176" y="2912422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Ngex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962730" y="2912422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021253" y="2912422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2016-2025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425806" y="2912422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484329" y="2912422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69%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669421" y="2912422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727944" y="2912422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6.2x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913036" y="2912422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971560" y="2912422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+59%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48653" y="3119197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07176" y="3119197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Alcadon</a:t>
            </a:r>
          </a:p>
        </p:txBody>
      </p:sp>
      <p:sp>
        <p:nvSpPr>
          <p:cNvPr id="52" name="Rectangle 51"/>
          <p:cNvSpPr/>
          <p:nvPr/>
        </p:nvSpPr>
        <p:spPr>
          <a:xfrm>
            <a:off x="2962730" y="3119197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3021253" y="3119197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2016-2025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425806" y="3119197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484329" y="3119197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74%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669421" y="3119197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727944" y="3119197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1.7x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913036" y="3119197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971560" y="3119197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+65%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48653" y="3325973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07176" y="3325973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Tempest</a:t>
            </a:r>
          </a:p>
        </p:txBody>
      </p:sp>
      <p:sp>
        <p:nvSpPr>
          <p:cNvPr id="62" name="Rectangle 61"/>
          <p:cNvSpPr/>
          <p:nvPr/>
        </p:nvSpPr>
        <p:spPr>
          <a:xfrm>
            <a:off x="2962730" y="3325973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021253" y="3325973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2018-2025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425806" y="3325973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4484329" y="3325973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12%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669421" y="3325973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5727944" y="3325973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1.2x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913036" y="3325973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971560" y="3325973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+3%</a:t>
            </a:r>
          </a:p>
        </p:txBody>
      </p:sp>
      <p:sp>
        <p:nvSpPr>
          <p:cNvPr id="70" name="Rectangle 69"/>
          <p:cNvSpPr/>
          <p:nvPr/>
        </p:nvSpPr>
        <p:spPr>
          <a:xfrm>
            <a:off x="548653" y="3532748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607176" y="3532748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Zalaris</a:t>
            </a:r>
          </a:p>
        </p:txBody>
      </p:sp>
      <p:sp>
        <p:nvSpPr>
          <p:cNvPr id="72" name="Rectangle 71"/>
          <p:cNvSpPr/>
          <p:nvPr/>
        </p:nvSpPr>
        <p:spPr>
          <a:xfrm>
            <a:off x="2962730" y="3532748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3021253" y="353274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2018-2025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25806" y="3532748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484329" y="353274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26%</a:t>
            </a:r>
          </a:p>
        </p:txBody>
      </p:sp>
      <p:sp>
        <p:nvSpPr>
          <p:cNvPr id="76" name="Rectangle 75"/>
          <p:cNvSpPr/>
          <p:nvPr/>
        </p:nvSpPr>
        <p:spPr>
          <a:xfrm>
            <a:off x="5669421" y="3532748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5727944" y="353274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1.5x</a:t>
            </a:r>
          </a:p>
        </p:txBody>
      </p:sp>
      <p:sp>
        <p:nvSpPr>
          <p:cNvPr id="78" name="Rectangle 77"/>
          <p:cNvSpPr/>
          <p:nvPr/>
        </p:nvSpPr>
        <p:spPr>
          <a:xfrm>
            <a:off x="6913036" y="3532748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6971560" y="353274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+16%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548653" y="3739524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607176" y="3739524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Zutec</a:t>
            </a:r>
          </a:p>
        </p:txBody>
      </p:sp>
      <p:sp>
        <p:nvSpPr>
          <p:cNvPr id="82" name="Rectangle 81"/>
          <p:cNvSpPr/>
          <p:nvPr/>
        </p:nvSpPr>
        <p:spPr>
          <a:xfrm>
            <a:off x="2962730" y="3739524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3021253" y="3739524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2018-2025</a:t>
            </a:r>
          </a:p>
        </p:txBody>
      </p:sp>
      <p:sp>
        <p:nvSpPr>
          <p:cNvPr id="84" name="Rectangle 83"/>
          <p:cNvSpPr/>
          <p:nvPr/>
        </p:nvSpPr>
        <p:spPr>
          <a:xfrm>
            <a:off x="4425806" y="3739524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4484329" y="3739524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38%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5669421" y="3739524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5727944" y="3739524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2.8x</a:t>
            </a:r>
          </a:p>
        </p:txBody>
      </p:sp>
      <p:sp>
        <p:nvSpPr>
          <p:cNvPr id="88" name="Rectangle 87"/>
          <p:cNvSpPr/>
          <p:nvPr/>
        </p:nvSpPr>
        <p:spPr>
          <a:xfrm>
            <a:off x="6913036" y="3739524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6971560" y="3739524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+29%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548653" y="3946299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07176" y="3946299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Roko</a:t>
            </a:r>
          </a:p>
        </p:txBody>
      </p:sp>
      <p:sp>
        <p:nvSpPr>
          <p:cNvPr id="92" name="Rectangle 91"/>
          <p:cNvSpPr/>
          <p:nvPr/>
        </p:nvSpPr>
        <p:spPr>
          <a:xfrm>
            <a:off x="2962730" y="3946299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3021253" y="3946299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2019-2025</a:t>
            </a:r>
          </a:p>
        </p:txBody>
      </p:sp>
      <p:sp>
        <p:nvSpPr>
          <p:cNvPr id="94" name="Rectangle 93"/>
          <p:cNvSpPr/>
          <p:nvPr/>
        </p:nvSpPr>
        <p:spPr>
          <a:xfrm>
            <a:off x="4425806" y="3946299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4484329" y="3946299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28%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5669421" y="3946299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5727944" y="3946299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5.1x</a:t>
            </a:r>
          </a:p>
        </p:txBody>
      </p:sp>
      <p:sp>
        <p:nvSpPr>
          <p:cNvPr id="98" name="Rectangle 97"/>
          <p:cNvSpPr/>
          <p:nvPr/>
        </p:nvSpPr>
        <p:spPr>
          <a:xfrm>
            <a:off x="6913036" y="3946299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6971560" y="3946299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+18%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548653" y="4153075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607176" y="4153075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Catella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2962730" y="4153075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3021253" y="4153075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2020-2025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4425806" y="4153075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4484329" y="4153075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12%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5669421" y="4153075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5727944" y="4153075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1.2x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6913036" y="4153075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6971560" y="4153075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+2%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548653" y="4359850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607176" y="4359850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AI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2962730" y="4359850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3021253" y="4359850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2020-2025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4425806" y="4359850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4484329" y="4359850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n.m.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5669421" y="4359850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5727944" y="4359850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5.4x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6913036" y="4359850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6971560" y="4359850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n.m.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548653" y="4566626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607176" y="4566626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Renold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2962730" y="4566626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3021253" y="456662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2024-2025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4425806" y="4566626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4484329" y="456662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220%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5669421" y="4566626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5727944" y="456662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1.6x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6913036" y="4566626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6971560" y="456662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+211%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548653" y="4773401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607176" y="4773401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Actic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2962730" y="4773401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3021253" y="4773401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2017-2023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4425806" y="4773401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4484329" y="4773401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-27%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5669421" y="4773401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5727944" y="4773401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0.4x</a:t>
            </a:r>
          </a:p>
        </p:txBody>
      </p:sp>
      <p:sp>
        <p:nvSpPr>
          <p:cNvPr id="138" name="Rectangle 137"/>
          <p:cNvSpPr/>
          <p:nvPr/>
        </p:nvSpPr>
        <p:spPr>
          <a:xfrm>
            <a:off x="6913036" y="4773401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6971560" y="4773401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-33%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548653" y="4980177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607176" y="4980177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Haldex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2962730" y="4980177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3021253" y="4980177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2019-2022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4425806" y="4980177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4484329" y="4980177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36%</a:t>
            </a:r>
          </a:p>
        </p:txBody>
      </p:sp>
      <p:sp>
        <p:nvSpPr>
          <p:cNvPr id="146" name="Rectangle 145"/>
          <p:cNvSpPr/>
          <p:nvPr/>
        </p:nvSpPr>
        <p:spPr>
          <a:xfrm>
            <a:off x="5669421" y="4980177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TextBox 146"/>
          <p:cNvSpPr txBox="1"/>
          <p:nvPr/>
        </p:nvSpPr>
        <p:spPr>
          <a:xfrm>
            <a:off x="5727944" y="4980177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1.6x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6913036" y="4980177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6971560" y="4980177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+33%</a:t>
            </a:r>
          </a:p>
        </p:txBody>
      </p:sp>
      <p:sp>
        <p:nvSpPr>
          <p:cNvPr id="150" name="Rectangle 149"/>
          <p:cNvSpPr/>
          <p:nvPr/>
        </p:nvSpPr>
        <p:spPr>
          <a:xfrm>
            <a:off x="548653" y="5186952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TextBox 150"/>
          <p:cNvSpPr txBox="1"/>
          <p:nvPr/>
        </p:nvSpPr>
        <p:spPr>
          <a:xfrm>
            <a:off x="607176" y="5186952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Robit</a:t>
            </a:r>
          </a:p>
        </p:txBody>
      </p:sp>
      <p:sp>
        <p:nvSpPr>
          <p:cNvPr id="152" name="Rectangle 151"/>
          <p:cNvSpPr/>
          <p:nvPr/>
        </p:nvSpPr>
        <p:spPr>
          <a:xfrm>
            <a:off x="2962730" y="5186952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TextBox 152"/>
          <p:cNvSpPr txBox="1"/>
          <p:nvPr/>
        </p:nvSpPr>
        <p:spPr>
          <a:xfrm>
            <a:off x="3021253" y="5186952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2015-2020</a:t>
            </a:r>
          </a:p>
        </p:txBody>
      </p:sp>
      <p:sp>
        <p:nvSpPr>
          <p:cNvPr id="154" name="Rectangle 153"/>
          <p:cNvSpPr/>
          <p:nvPr/>
        </p:nvSpPr>
        <p:spPr>
          <a:xfrm>
            <a:off x="4425806" y="5186952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TextBox 154"/>
          <p:cNvSpPr txBox="1"/>
          <p:nvPr/>
        </p:nvSpPr>
        <p:spPr>
          <a:xfrm>
            <a:off x="4484329" y="5186952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14%</a:t>
            </a:r>
          </a:p>
        </p:txBody>
      </p:sp>
      <p:sp>
        <p:nvSpPr>
          <p:cNvPr id="156" name="Rectangle 155"/>
          <p:cNvSpPr/>
          <p:nvPr/>
        </p:nvSpPr>
        <p:spPr>
          <a:xfrm>
            <a:off x="5669421" y="5186952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TextBox 156"/>
          <p:cNvSpPr txBox="1"/>
          <p:nvPr/>
        </p:nvSpPr>
        <p:spPr>
          <a:xfrm>
            <a:off x="5727944" y="5186952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1.4x</a:t>
            </a:r>
          </a:p>
        </p:txBody>
      </p:sp>
      <p:sp>
        <p:nvSpPr>
          <p:cNvPr id="158" name="Rectangle 157"/>
          <p:cNvSpPr/>
          <p:nvPr/>
        </p:nvSpPr>
        <p:spPr>
          <a:xfrm>
            <a:off x="6913036" y="5186952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6971560" y="5186952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+8%</a:t>
            </a:r>
          </a:p>
        </p:txBody>
      </p:sp>
      <p:sp>
        <p:nvSpPr>
          <p:cNvPr id="160" name="Rectangle 159"/>
          <p:cNvSpPr/>
          <p:nvPr/>
        </p:nvSpPr>
        <p:spPr>
          <a:xfrm>
            <a:off x="548653" y="5393728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TextBox 160"/>
          <p:cNvSpPr txBox="1"/>
          <p:nvPr/>
        </p:nvSpPr>
        <p:spPr>
          <a:xfrm>
            <a:off x="607176" y="5393728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Kitron</a:t>
            </a:r>
          </a:p>
        </p:txBody>
      </p:sp>
      <p:sp>
        <p:nvSpPr>
          <p:cNvPr id="162" name="Rectangle 161"/>
          <p:cNvSpPr/>
          <p:nvPr/>
        </p:nvSpPr>
        <p:spPr>
          <a:xfrm>
            <a:off x="2962730" y="5393728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TextBox 162"/>
          <p:cNvSpPr txBox="1"/>
          <p:nvPr/>
        </p:nvSpPr>
        <p:spPr>
          <a:xfrm>
            <a:off x="3021253" y="539372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2016-2018</a:t>
            </a:r>
          </a:p>
        </p:txBody>
      </p:sp>
      <p:sp>
        <p:nvSpPr>
          <p:cNvPr id="164" name="Rectangle 163"/>
          <p:cNvSpPr/>
          <p:nvPr/>
        </p:nvSpPr>
        <p:spPr>
          <a:xfrm>
            <a:off x="4425806" y="5393728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TextBox 164"/>
          <p:cNvSpPr txBox="1"/>
          <p:nvPr/>
        </p:nvSpPr>
        <p:spPr>
          <a:xfrm>
            <a:off x="4484329" y="539372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40%</a:t>
            </a:r>
          </a:p>
        </p:txBody>
      </p:sp>
      <p:sp>
        <p:nvSpPr>
          <p:cNvPr id="166" name="Rectangle 165"/>
          <p:cNvSpPr/>
          <p:nvPr/>
        </p:nvSpPr>
        <p:spPr>
          <a:xfrm>
            <a:off x="5669421" y="5393728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TextBox 166"/>
          <p:cNvSpPr txBox="1"/>
          <p:nvPr/>
        </p:nvSpPr>
        <p:spPr>
          <a:xfrm>
            <a:off x="5727944" y="539372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1.5x</a:t>
            </a:r>
          </a:p>
        </p:txBody>
      </p:sp>
      <p:sp>
        <p:nvSpPr>
          <p:cNvPr id="168" name="Rectangle 167"/>
          <p:cNvSpPr/>
          <p:nvPr/>
        </p:nvSpPr>
        <p:spPr>
          <a:xfrm>
            <a:off x="6913036" y="5393728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TextBox 168"/>
          <p:cNvSpPr txBox="1"/>
          <p:nvPr/>
        </p:nvSpPr>
        <p:spPr>
          <a:xfrm>
            <a:off x="6971560" y="539372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+16%</a:t>
            </a:r>
          </a:p>
        </p:txBody>
      </p:sp>
      <p:sp>
        <p:nvSpPr>
          <p:cNvPr id="170" name="Rectangle 169"/>
          <p:cNvSpPr/>
          <p:nvPr/>
        </p:nvSpPr>
        <p:spPr>
          <a:xfrm>
            <a:off x="548653" y="5600503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TextBox 170"/>
          <p:cNvSpPr txBox="1"/>
          <p:nvPr/>
        </p:nvSpPr>
        <p:spPr>
          <a:xfrm>
            <a:off x="607176" y="5600503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Sandvik</a:t>
            </a:r>
          </a:p>
        </p:txBody>
      </p:sp>
      <p:sp>
        <p:nvSpPr>
          <p:cNvPr id="172" name="Rectangle 171"/>
          <p:cNvSpPr/>
          <p:nvPr/>
        </p:nvSpPr>
        <p:spPr>
          <a:xfrm>
            <a:off x="2962730" y="5600503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TextBox 172"/>
          <p:cNvSpPr txBox="1"/>
          <p:nvPr/>
        </p:nvSpPr>
        <p:spPr>
          <a:xfrm>
            <a:off x="3021253" y="5600503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2015-2017</a:t>
            </a:r>
          </a:p>
        </p:txBody>
      </p:sp>
      <p:sp>
        <p:nvSpPr>
          <p:cNvPr id="174" name="Rectangle 173"/>
          <p:cNvSpPr/>
          <p:nvPr/>
        </p:nvSpPr>
        <p:spPr>
          <a:xfrm>
            <a:off x="4425806" y="5600503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TextBox 174"/>
          <p:cNvSpPr txBox="1"/>
          <p:nvPr/>
        </p:nvSpPr>
        <p:spPr>
          <a:xfrm>
            <a:off x="4484329" y="5600503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49%</a:t>
            </a:r>
          </a:p>
        </p:txBody>
      </p:sp>
      <p:sp>
        <p:nvSpPr>
          <p:cNvPr id="176" name="Rectangle 175"/>
          <p:cNvSpPr/>
          <p:nvPr/>
        </p:nvSpPr>
        <p:spPr>
          <a:xfrm>
            <a:off x="5669421" y="5600503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TextBox 176"/>
          <p:cNvSpPr txBox="1"/>
          <p:nvPr/>
        </p:nvSpPr>
        <p:spPr>
          <a:xfrm>
            <a:off x="5727944" y="5600503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1.6x</a:t>
            </a:r>
          </a:p>
        </p:txBody>
      </p:sp>
      <p:sp>
        <p:nvSpPr>
          <p:cNvPr id="178" name="Rectangle 177"/>
          <p:cNvSpPr/>
          <p:nvPr/>
        </p:nvSpPr>
        <p:spPr>
          <a:xfrm>
            <a:off x="6913036" y="5600503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TextBox 178"/>
          <p:cNvSpPr txBox="1"/>
          <p:nvPr/>
        </p:nvSpPr>
        <p:spPr>
          <a:xfrm>
            <a:off x="6971560" y="5600503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+43%</a:t>
            </a:r>
          </a:p>
        </p:txBody>
      </p:sp>
      <p:sp>
        <p:nvSpPr>
          <p:cNvPr id="180" name="Rectangle 179"/>
          <p:cNvSpPr/>
          <p:nvPr/>
        </p:nvSpPr>
        <p:spPr>
          <a:xfrm>
            <a:off x="548653" y="5807278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TextBox 180"/>
          <p:cNvSpPr txBox="1"/>
          <p:nvPr/>
        </p:nvSpPr>
        <p:spPr>
          <a:xfrm>
            <a:off x="607176" y="5807278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Transcom</a:t>
            </a:r>
          </a:p>
        </p:txBody>
      </p:sp>
      <p:sp>
        <p:nvSpPr>
          <p:cNvPr id="182" name="Rectangle 181"/>
          <p:cNvSpPr/>
          <p:nvPr/>
        </p:nvSpPr>
        <p:spPr>
          <a:xfrm>
            <a:off x="2962730" y="5807278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TextBox 182"/>
          <p:cNvSpPr txBox="1"/>
          <p:nvPr/>
        </p:nvSpPr>
        <p:spPr>
          <a:xfrm>
            <a:off x="3021253" y="580727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2015-2016</a:t>
            </a:r>
          </a:p>
        </p:txBody>
      </p:sp>
      <p:sp>
        <p:nvSpPr>
          <p:cNvPr id="184" name="Rectangle 183"/>
          <p:cNvSpPr/>
          <p:nvPr/>
        </p:nvSpPr>
        <p:spPr>
          <a:xfrm>
            <a:off x="4425806" y="5807278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TextBox 184"/>
          <p:cNvSpPr txBox="1"/>
          <p:nvPr/>
        </p:nvSpPr>
        <p:spPr>
          <a:xfrm>
            <a:off x="4484329" y="580727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80%</a:t>
            </a:r>
          </a:p>
        </p:txBody>
      </p:sp>
      <p:sp>
        <p:nvSpPr>
          <p:cNvPr id="186" name="Rectangle 185"/>
          <p:cNvSpPr/>
          <p:nvPr/>
        </p:nvSpPr>
        <p:spPr>
          <a:xfrm>
            <a:off x="5669421" y="5807278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TextBox 186"/>
          <p:cNvSpPr txBox="1"/>
          <p:nvPr/>
        </p:nvSpPr>
        <p:spPr>
          <a:xfrm>
            <a:off x="5727944" y="580727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1.7x</a:t>
            </a:r>
          </a:p>
        </p:txBody>
      </p:sp>
      <p:sp>
        <p:nvSpPr>
          <p:cNvPr id="188" name="Rectangle 187"/>
          <p:cNvSpPr/>
          <p:nvPr/>
        </p:nvSpPr>
        <p:spPr>
          <a:xfrm>
            <a:off x="6913036" y="5807278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TextBox 188"/>
          <p:cNvSpPr txBox="1"/>
          <p:nvPr/>
        </p:nvSpPr>
        <p:spPr>
          <a:xfrm>
            <a:off x="6971560" y="580727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+80%</a:t>
            </a:r>
          </a:p>
        </p:txBody>
      </p:sp>
      <p:sp>
        <p:nvSpPr>
          <p:cNvPr id="190" name="Rectangle 189"/>
          <p:cNvSpPr/>
          <p:nvPr/>
        </p:nvSpPr>
        <p:spPr>
          <a:xfrm>
            <a:off x="548653" y="6111590"/>
            <a:ext cx="7827459" cy="33162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TextBox 190"/>
          <p:cNvSpPr txBox="1"/>
          <p:nvPr/>
        </p:nvSpPr>
        <p:spPr>
          <a:xfrm>
            <a:off x="658384" y="6111590"/>
            <a:ext cx="7607998" cy="33162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0" i="0">
                <a:solidFill>
                  <a:srgbClr val="FFFFFF"/>
                </a:solidFill>
                <a:latin typeface="Arial"/>
              </a:rPr>
              <a:t>17 deals   ·   weighted MOIC 2.2x   ·   ex best/worst IRR 41% vs index ~9%   ·   36 of 39 deals profitable since 2006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548653" y="6521241"/>
            <a:ext cx="8632151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IRR/MOIC net of the position; “n.m.” where short holding periods make annualised figures not meaningful. Capital in SEK.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Track Record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8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4.3 Prior period — transactions (2006–2014)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same strategy, the prior fund — repeatable across two decades and multiple cycles.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31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1975153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7446" y="2292096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Company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414076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472599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IRR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474806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33329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MOIC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8922" y="2570072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7446" y="257007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Bilia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414076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472599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11%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474806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33329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2.9x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8922" y="2848049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7446" y="2848049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Concentric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414076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472599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81%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474806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533329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3.9x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38922" y="3126025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97446" y="3126025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eWork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414076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472599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30%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474806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533329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4.4x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8922" y="3404002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97446" y="340400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Haldex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414076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472599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94%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474806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533329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5.5x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38922" y="3681978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97446" y="3681978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Lindab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414076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472599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32%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474806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533329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1.6x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38922" y="3959955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97446" y="3959955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Note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414076" y="3959955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472599" y="395995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32%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474806" y="3959955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533329" y="395995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5.1x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38922" y="4237931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97446" y="4237931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Transcom</a:t>
            </a:r>
          </a:p>
        </p:txBody>
      </p:sp>
      <p:sp>
        <p:nvSpPr>
          <p:cNvPr id="54" name="Rectangle 53"/>
          <p:cNvSpPr/>
          <p:nvPr/>
        </p:nvSpPr>
        <p:spPr>
          <a:xfrm>
            <a:off x="2414076" y="4237931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2472599" y="423793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13%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474806" y="4237931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3533329" y="423793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1.3x</a:t>
            </a:r>
          </a:p>
        </p:txBody>
      </p:sp>
      <p:sp>
        <p:nvSpPr>
          <p:cNvPr id="58" name="Rectangle 57"/>
          <p:cNvSpPr/>
          <p:nvPr/>
        </p:nvSpPr>
        <p:spPr>
          <a:xfrm>
            <a:off x="438922" y="4515908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97446" y="4515908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Global</a:t>
            </a:r>
          </a:p>
        </p:txBody>
      </p:sp>
      <p:sp>
        <p:nvSpPr>
          <p:cNvPr id="60" name="Rectangle 59"/>
          <p:cNvSpPr/>
          <p:nvPr/>
        </p:nvSpPr>
        <p:spPr>
          <a:xfrm>
            <a:off x="2414076" y="4515908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2472599" y="451590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16%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474806" y="4515908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533329" y="451590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1.5x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38922" y="4793884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497446" y="4793884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Ferronordic Machines</a:t>
            </a:r>
          </a:p>
        </p:txBody>
      </p:sp>
      <p:sp>
        <p:nvSpPr>
          <p:cNvPr id="66" name="Rectangle 65"/>
          <p:cNvSpPr/>
          <p:nvPr/>
        </p:nvSpPr>
        <p:spPr>
          <a:xfrm>
            <a:off x="2414076" y="4793884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2472599" y="4793884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43%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474806" y="4793884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533329" y="4793884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2.0x</a:t>
            </a:r>
          </a:p>
        </p:txBody>
      </p:sp>
      <p:sp>
        <p:nvSpPr>
          <p:cNvPr id="70" name="Rectangle 69"/>
          <p:cNvSpPr/>
          <p:nvPr/>
        </p:nvSpPr>
        <p:spPr>
          <a:xfrm>
            <a:off x="438922" y="5071861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497446" y="5071861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Klarna</a:t>
            </a:r>
          </a:p>
        </p:txBody>
      </p:sp>
      <p:sp>
        <p:nvSpPr>
          <p:cNvPr id="72" name="Rectangle 71"/>
          <p:cNvSpPr/>
          <p:nvPr/>
        </p:nvSpPr>
        <p:spPr>
          <a:xfrm>
            <a:off x="2414076" y="5071861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2472599" y="507186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108%</a:t>
            </a:r>
          </a:p>
        </p:txBody>
      </p:sp>
      <p:sp>
        <p:nvSpPr>
          <p:cNvPr id="74" name="Rectangle 73"/>
          <p:cNvSpPr/>
          <p:nvPr/>
        </p:nvSpPr>
        <p:spPr>
          <a:xfrm>
            <a:off x="3474806" y="5071861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3533329" y="507186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28.2x</a:t>
            </a:r>
          </a:p>
        </p:txBody>
      </p:sp>
      <p:sp>
        <p:nvSpPr>
          <p:cNvPr id="76" name="Rectangle 75"/>
          <p:cNvSpPr/>
          <p:nvPr/>
        </p:nvSpPr>
        <p:spPr>
          <a:xfrm>
            <a:off x="438922" y="5349837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497446" y="5349837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Acne</a:t>
            </a:r>
          </a:p>
        </p:txBody>
      </p:sp>
      <p:sp>
        <p:nvSpPr>
          <p:cNvPr id="78" name="Rectangle 77"/>
          <p:cNvSpPr/>
          <p:nvPr/>
        </p:nvSpPr>
        <p:spPr>
          <a:xfrm>
            <a:off x="2414076" y="5349837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2472599" y="5349837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29%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3474806" y="5349837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3533329" y="5349837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5.5x</a:t>
            </a:r>
          </a:p>
        </p:txBody>
      </p:sp>
      <p:sp>
        <p:nvSpPr>
          <p:cNvPr id="82" name="Rectangle 81"/>
          <p:cNvSpPr/>
          <p:nvPr/>
        </p:nvSpPr>
        <p:spPr>
          <a:xfrm>
            <a:off x="5084191" y="2292096"/>
            <a:ext cx="1975153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5142714" y="2292096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Company</a:t>
            </a:r>
          </a:p>
        </p:txBody>
      </p:sp>
      <p:sp>
        <p:nvSpPr>
          <p:cNvPr id="84" name="Rectangle 83"/>
          <p:cNvSpPr/>
          <p:nvPr/>
        </p:nvSpPr>
        <p:spPr>
          <a:xfrm>
            <a:off x="7059344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7117867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IRR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120075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178598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MOIC</a:t>
            </a:r>
          </a:p>
        </p:txBody>
      </p:sp>
      <p:sp>
        <p:nvSpPr>
          <p:cNvPr id="88" name="Rectangle 87"/>
          <p:cNvSpPr/>
          <p:nvPr/>
        </p:nvSpPr>
        <p:spPr>
          <a:xfrm>
            <a:off x="5084191" y="2570072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5142714" y="257007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Usports</a:t>
            </a:r>
          </a:p>
        </p:txBody>
      </p:sp>
      <p:sp>
        <p:nvSpPr>
          <p:cNvPr id="90" name="Rectangle 89"/>
          <p:cNvSpPr/>
          <p:nvPr/>
        </p:nvSpPr>
        <p:spPr>
          <a:xfrm>
            <a:off x="7059344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7117867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-51%</a:t>
            </a:r>
          </a:p>
        </p:txBody>
      </p:sp>
      <p:sp>
        <p:nvSpPr>
          <p:cNvPr id="92" name="Rectangle 91"/>
          <p:cNvSpPr/>
          <p:nvPr/>
        </p:nvSpPr>
        <p:spPr>
          <a:xfrm>
            <a:off x="8120075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8178598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0.3x</a:t>
            </a:r>
          </a:p>
        </p:txBody>
      </p:sp>
      <p:sp>
        <p:nvSpPr>
          <p:cNvPr id="94" name="Rectangle 93"/>
          <p:cNvSpPr/>
          <p:nvPr/>
        </p:nvSpPr>
        <p:spPr>
          <a:xfrm>
            <a:off x="5084191" y="2848049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5142714" y="2848049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Catena</a:t>
            </a:r>
          </a:p>
        </p:txBody>
      </p:sp>
      <p:sp>
        <p:nvSpPr>
          <p:cNvPr id="96" name="Rectangle 95"/>
          <p:cNvSpPr/>
          <p:nvPr/>
        </p:nvSpPr>
        <p:spPr>
          <a:xfrm>
            <a:off x="7059344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7117867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n.m.</a:t>
            </a:r>
          </a:p>
        </p:txBody>
      </p:sp>
      <p:sp>
        <p:nvSpPr>
          <p:cNvPr id="98" name="Rectangle 97"/>
          <p:cNvSpPr/>
          <p:nvPr/>
        </p:nvSpPr>
        <p:spPr>
          <a:xfrm>
            <a:off x="8120075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8178598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3.1x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5084191" y="3126025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5142714" y="3126025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Tigerholm Products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7059344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7117867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111%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8120075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8178598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1.4x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5084191" y="3404002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5142714" y="340400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Avanza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7059344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7117867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34%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8120075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8178598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8.4x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5084191" y="3681978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5142714" y="3681978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Fabege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7059344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7117867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25%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8120075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8178598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2.3x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5084191" y="3959955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5142714" y="3959955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Johnson Pump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7059344" y="3959955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7117867" y="395995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52%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8120075" y="3959955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8178598" y="395995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3.0x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5084191" y="4237931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5142714" y="4237931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Klövern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7059344" y="4237931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7117867" y="423793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18%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8120075" y="4237931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8178598" y="423793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2.1x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5084191" y="4515908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5142714" y="4515908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Nobia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7059344" y="4515908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7117867" y="451590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8%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8120075" y="4515908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8178598" y="451590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1.4x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5084191" y="4793884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5142714" y="4793884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SkiStar</a:t>
            </a:r>
          </a:p>
        </p:txBody>
      </p:sp>
      <p:sp>
        <p:nvSpPr>
          <p:cNvPr id="138" name="Rectangle 137"/>
          <p:cNvSpPr/>
          <p:nvPr/>
        </p:nvSpPr>
        <p:spPr>
          <a:xfrm>
            <a:off x="7059344" y="4793884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7117867" y="4793884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20%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8120075" y="4793884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8178598" y="4793884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5.4x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5084191" y="5071861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5142714" y="5071861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Brokk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7059344" y="5071861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7117867" y="507186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74%</a:t>
            </a:r>
          </a:p>
        </p:txBody>
      </p:sp>
      <p:sp>
        <p:nvSpPr>
          <p:cNvPr id="146" name="Rectangle 145"/>
          <p:cNvSpPr/>
          <p:nvPr/>
        </p:nvSpPr>
        <p:spPr>
          <a:xfrm>
            <a:off x="8120075" y="5071861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TextBox 146"/>
          <p:cNvSpPr txBox="1"/>
          <p:nvPr/>
        </p:nvSpPr>
        <p:spPr>
          <a:xfrm>
            <a:off x="8178598" y="507186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5.2x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5084191" y="5349837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5142714" y="5349837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HQ</a:t>
            </a:r>
          </a:p>
        </p:txBody>
      </p:sp>
      <p:sp>
        <p:nvSpPr>
          <p:cNvPr id="150" name="Rectangle 149"/>
          <p:cNvSpPr/>
          <p:nvPr/>
        </p:nvSpPr>
        <p:spPr>
          <a:xfrm>
            <a:off x="7059344" y="5349837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TextBox 150"/>
          <p:cNvSpPr txBox="1"/>
          <p:nvPr/>
        </p:nvSpPr>
        <p:spPr>
          <a:xfrm>
            <a:off x="7117867" y="5349837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-5%</a:t>
            </a:r>
          </a:p>
        </p:txBody>
      </p:sp>
      <p:sp>
        <p:nvSpPr>
          <p:cNvPr id="152" name="Rectangle 151"/>
          <p:cNvSpPr/>
          <p:nvPr/>
        </p:nvSpPr>
        <p:spPr>
          <a:xfrm>
            <a:off x="8120075" y="5349837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TextBox 152"/>
          <p:cNvSpPr txBox="1"/>
          <p:nvPr/>
        </p:nvSpPr>
        <p:spPr>
          <a:xfrm>
            <a:off x="8178598" y="5349837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0.6x</a:t>
            </a:r>
          </a:p>
        </p:txBody>
      </p:sp>
      <p:sp>
        <p:nvSpPr>
          <p:cNvPr id="154" name="Rectangle 153"/>
          <p:cNvSpPr/>
          <p:nvPr/>
        </p:nvSpPr>
        <p:spPr>
          <a:xfrm>
            <a:off x="438922" y="5754624"/>
            <a:ext cx="8083498" cy="33162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TextBox 154"/>
          <p:cNvSpPr txBox="1"/>
          <p:nvPr/>
        </p:nvSpPr>
        <p:spPr>
          <a:xfrm>
            <a:off x="548653" y="5754624"/>
            <a:ext cx="7827459" cy="33162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0" i="0">
                <a:solidFill>
                  <a:srgbClr val="FFFFFF"/>
                </a:solidFill>
                <a:latin typeface="Arial"/>
              </a:rPr>
              <a:t>22 deals   ·   weighted MOIC 2.7x   ·   average IRR 68%   ·   index outperformance +25 pts (invested-weighted)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438922" y="6778752"/>
            <a:ext cx="8632151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Selected larger deals of the investment team. Losses shown in italic. Capital in SEK; ~$400M invested over the period.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Independent Review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4.4 Independently validated: 20 years, net of every fee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 prospective LP’s investment committee reconciled the security-level (StatPro) data against the LP-level NET return series.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32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53" y="2292096"/>
            <a:ext cx="2158037" cy="175564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53" y="2545689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2720" b="0" i="0" spc="-102">
                <a:solidFill>
                  <a:srgbClr val="314359"/>
                </a:solidFill>
                <a:latin typeface="Times New Roman"/>
              </a:rPr>
              <a:t>+1,743%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cumulative NET return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over 19.5 years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838368" y="2292096"/>
            <a:ext cx="2158037" cy="175564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838368" y="2545689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2720" b="0" i="0" spc="-102">
                <a:solidFill>
                  <a:srgbClr val="314359"/>
                </a:solidFill>
                <a:latin typeface="Times New Roman"/>
              </a:rPr>
              <a:t>+16.1%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annualised NET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(net of all fees)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128083" y="2292096"/>
            <a:ext cx="2158037" cy="175564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128083" y="2545689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2720" b="0" i="0" spc="-102">
                <a:solidFill>
                  <a:srgbClr val="314359"/>
                </a:solidFill>
                <a:latin typeface="Times New Roman"/>
              </a:rPr>
              <a:t>+10 pts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annualised alpha,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net, vs the market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417798" y="2292096"/>
            <a:ext cx="2158037" cy="175564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17798" y="2545689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2720" b="0" i="0" spc="-102">
                <a:solidFill>
                  <a:srgbClr val="314359"/>
                </a:solidFill>
                <a:latin typeface="Times New Roman"/>
              </a:rPr>
              <a:t>5.8×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the relevant equity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benchmark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53" y="4291582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63580" indent="-163580">
              <a:lnSpc>
                <a:spcPct val="112000"/>
              </a:lnSpc>
              <a:spcAft>
                <a:spcPts val="10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</a:t>
            </a:r>
            <a:r>
              <a:rPr sz="1120" b="1">
                <a:solidFill>
                  <a:srgbClr val="314359"/>
                </a:solidFill>
                <a:latin typeface="Arial"/>
              </a:rPr>
              <a:t>Two full cycles, survived.</a:t>
            </a:r>
            <a:r>
              <a:rPr sz="1120">
                <a:solidFill>
                  <a:srgbClr val="0E1620"/>
                </a:solidFill>
                <a:latin typeface="Arial"/>
              </a:rPr>
              <a:t>  Drawdowns of −52.8% (2008, recovered by 2010) and −45.9% (2017–2020, recovered by Sep 2020) — navigated live with the same philosophy, not back-tested.</a:t>
            </a:r>
          </a:p>
          <a:p>
            <a:pPr marL="163580" indent="-163580">
              <a:lnSpc>
                <a:spcPct val="112000"/>
              </a:lnSpc>
              <a:spcAft>
                <a:spcPts val="10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</a:t>
            </a:r>
            <a:r>
              <a:rPr sz="1120" b="1">
                <a:solidFill>
                  <a:srgbClr val="314359"/>
                </a:solidFill>
                <a:latin typeface="Arial"/>
              </a:rPr>
              <a:t>Top-tier downside-adjusted return.</a:t>
            </a:r>
            <a:r>
              <a:rPr sz="1120">
                <a:solidFill>
                  <a:srgbClr val="0E1620"/>
                </a:solidFill>
                <a:latin typeface="Arial"/>
              </a:rPr>
              <a:t>  20-year Sortino 1.54; AIPFII Sortino 2.40, with upside volatility 3.9× the downside.</a:t>
            </a:r>
          </a:p>
          <a:p>
            <a:pPr marL="163580" indent="-163580">
              <a:lnSpc>
                <a:spcPct val="112000"/>
              </a:lnSpc>
              <a:spcAft>
                <a:spcPts val="10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</a:t>
            </a:r>
            <a:r>
              <a:rPr sz="1120" b="1">
                <a:solidFill>
                  <a:srgbClr val="314359"/>
                </a:solidFill>
                <a:latin typeface="Arial"/>
              </a:rPr>
              <a:t>Realised cash, not marks.</a:t>
            </a:r>
            <a:r>
              <a:rPr sz="1120">
                <a:solidFill>
                  <a:srgbClr val="0E1620"/>
                </a:solidFill>
                <a:latin typeface="Arial"/>
              </a:rPr>
              <a:t>  The largest contributors are realised LP cash — removing the mark-to-model objection.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53" y="6778752"/>
            <a:ext cx="8632151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Source: independent institutional due-diligence review, May 2026, on StatPro security-level data and LP-level NET monthly returns (2006–2026).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Independent Review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4.5 Repeatable and conviction-sized — not lucky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review tested the “you can’t rely on the big winners” objection directly against 39 deals over 20 years.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REPEATABLE</a:t>
            </a:r>
          </a:p>
          <a:p>
            <a:pPr algn="l">
              <a:lnSpc>
                <a:spcPct val="113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92% deal-level hit rate (36 of 39 profitable); losses ~8% of cumulative invested capital</a:t>
            </a:r>
          </a:p>
          <a:p>
            <a:pPr algn="l">
              <a:lnSpc>
                <a:spcPct val="113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10 of 39 deals returned ≥5× MOIC — one such win every ~2 years</a:t>
            </a:r>
          </a:p>
          <a:p>
            <a:pPr algn="l">
              <a:lnSpc>
                <a:spcPct val="113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Two decade-definers, not one: Klarna 28× (2007) and Athanase Tech 5.4× (2021)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CONVICTION-SIZED (THE SKILL SIGNAL)</a:t>
            </a:r>
          </a:p>
          <a:p>
            <a:pPr algn="l">
              <a:lnSpc>
                <a:spcPct val="113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The 7 positions ever sized ≥10% of NAV hit at 85.7% and contributed +209 pts — ~77% of the positive book</a:t>
            </a:r>
          </a:p>
          <a:p>
            <a:pPr algn="l">
              <a:lnSpc>
                <a:spcPct val="113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+0.73 rank correlation between position size and outcome within winners — they size their best ideas biggest</a:t>
            </a:r>
          </a:p>
          <a:p>
            <a:pPr algn="l">
              <a:lnSpc>
                <a:spcPct val="113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Win/loss asymmetry: average winner 2.74× the average loser; +333 pts of winners vs −61 pts of losers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53" y="6193536"/>
            <a:ext cx="8632151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“The team has done this twice in 20 years, not once — the ‘every 10–20 years’ objection is empirically unsupportable.”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Allocation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4.6 Why a non-linear path won’t get you fired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Career risk is managed by mandate design — not by hoping the line goes straight.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SIZE AND STRUCTURE IT RIGHT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Size at 1–3% of total assets in a special-situations sleeve — no single mark can dominate the portfolio or force action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Pre-agree a ~50% mark-to-market drawdown tolerance with the IC at commitment; align reporting to the multi-year holding cycle, not monthly marks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Define reallocation triggers in advance — manager turnover, style drift, weaker sizing discipline — never the share price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JUDGE THE RIGHT THING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Underwrite whether business risk is falling — board seat secured, cash-flow control — not whether the news flow looks calm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The big winners are realised LP cash, not marks: the value is bankable, not modelled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Two ~50% drawdowns have already been recovered with the same philosophy — the path has been bumpy before and still paid +6 pts/yr net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53" y="6096000"/>
            <a:ext cx="8668728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94961" y="6096000"/>
            <a:ext cx="8376113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0" i="1">
                <a:solidFill>
                  <a:srgbClr val="FFFFFF"/>
                </a:solidFill>
                <a:latin typeface="Arial"/>
              </a:rPr>
              <a:t>A pre-underwritten, correctly-sized, fundamentally-monitored allocation turns a bad quarter into “as expected” — not a surprise that invites blame.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5 OF 6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What it means for your portfolio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1   </a:t>
            </a:r>
            <a:r>
              <a:rPr sz="880" b="0">
                <a:solidFill>
                  <a:srgbClr val="556A83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2   </a:t>
            </a:r>
            <a:r>
              <a:rPr sz="880" b="0">
                <a:solidFill>
                  <a:srgbClr val="556A83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3   </a:t>
            </a:r>
            <a:r>
              <a:rPr sz="880" b="0">
                <a:solidFill>
                  <a:srgbClr val="556A83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4   </a:t>
            </a:r>
            <a:r>
              <a:rPr sz="880" b="0">
                <a:solidFill>
                  <a:srgbClr val="556A83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5   </a:t>
            </a:r>
            <a:r>
              <a:rPr sz="1000" b="1">
                <a:solidFill>
                  <a:srgbClr val="FFFFFF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6   </a:t>
            </a:r>
            <a:r>
              <a:rPr sz="880" b="0">
                <a:solidFill>
                  <a:srgbClr val="556A83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35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Portfolio Impact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6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5.1 What it does to an allocator’s portfolio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Illustrative: redirecting a sleeve into Athanase rather than a long-only global fund or another activist.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36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438922" y="2340864"/>
          <a:ext cx="4901306" cy="4096512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Rectangle 10"/>
          <p:cNvSpPr/>
          <p:nvPr/>
        </p:nvSpPr>
        <p:spPr>
          <a:xfrm>
            <a:off x="3526014" y="2896819"/>
            <a:ext cx="12192" cy="2926080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794476" y="2643225"/>
            <a:ext cx="146307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Down-market year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84537" y="4392177"/>
            <a:ext cx="1170461" cy="2535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Athanase: holds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84537" y="5248689"/>
            <a:ext cx="1170461" cy="2535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556A83"/>
                </a:solidFill>
                <a:latin typeface="Arial"/>
              </a:rPr>
              <a:t>Long-only: −19%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91575" y="2828544"/>
            <a:ext cx="9509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523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91575" y="4584192"/>
            <a:ext cx="9509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271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91575" y="5169408"/>
            <a:ext cx="9509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208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888883" y="2340864"/>
            <a:ext cx="3365076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Table 9.  Annual uplift to TOTAL-portfolio return (bps), by sleeve size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888883" y="2896819"/>
            <a:ext cx="1097307" cy="44866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62037" y="2896819"/>
            <a:ext cx="98026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Sleeve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986190" y="2896819"/>
            <a:ext cx="1133884" cy="44866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059344" y="2896819"/>
            <a:ext cx="1016838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vs Long-only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120075" y="2896819"/>
            <a:ext cx="1426499" cy="44866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3228" y="2896819"/>
            <a:ext cx="1309453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vs Other activist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888883" y="3345484"/>
            <a:ext cx="1097307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962037" y="3345484"/>
            <a:ext cx="98026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3%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986190" y="3345484"/>
            <a:ext cx="1133884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059344" y="3345484"/>
            <a:ext cx="1016838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+31 bps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120075" y="3345484"/>
            <a:ext cx="1426499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193228" y="3345484"/>
            <a:ext cx="1309453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+23 bps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888883" y="3794150"/>
            <a:ext cx="1097307" cy="44866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962037" y="3794150"/>
            <a:ext cx="98026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5%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986190" y="3794150"/>
            <a:ext cx="1133884" cy="44866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059344" y="3794150"/>
            <a:ext cx="1016838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+52 bps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120075" y="3794150"/>
            <a:ext cx="1426499" cy="44866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193228" y="3794150"/>
            <a:ext cx="1309453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+38 bps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888883" y="4242816"/>
            <a:ext cx="1097307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962037" y="4242816"/>
            <a:ext cx="98026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8%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986190" y="4242816"/>
            <a:ext cx="1133884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059344" y="4242816"/>
            <a:ext cx="1016838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+83 bps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120075" y="4242816"/>
            <a:ext cx="1426499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193228" y="4242816"/>
            <a:ext cx="1309453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+60 bps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888883" y="4847539"/>
            <a:ext cx="336507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HOW THE PATH IS EARNED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888883" y="5140147"/>
            <a:ext cx="3365076" cy="2145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70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The smooth line is not won by chasing rallies. On average monthly returns (p.17), Athanase roughly matches the market up (1.2% vs 1.3%) but protects sharply down (+0.2% vs −1.7%).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Losing less in the down months — not winning more up — is what compounds the lines apart: a steadier path, not just a higher one.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38922" y="6973824"/>
            <a:ext cx="6510690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Illustrative only; not a projection. Athanase 18% (headline net IRR); other activist 10.5%; long-only 7.6% (MSCI IMI). Uplift = sleeve × return spread; growth = annual compounding. Past performance ≠ future results.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Risk-Adjusted Outcomes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10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5.2 Lower downside risk compounds into better outcomes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Athanase carries higher total volatility than the market — but its downside volatility is lower, which is what protects compounding.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37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2889576" cy="12484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5230" y="2428646"/>
            <a:ext cx="25969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ANNUALISED RETURN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30" y="2740761"/>
            <a:ext cx="2596960" cy="7802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880">
                <a:solidFill>
                  <a:srgbClr val="556A83"/>
                </a:solidFill>
                <a:latin typeface="Arial"/>
              </a:rPr>
              <a:t>MSCI  </a:t>
            </a:r>
            <a:r>
              <a:rPr sz="1520" b="1">
                <a:solidFill>
                  <a:srgbClr val="314359"/>
                </a:solidFill>
                <a:latin typeface="Times New Roman"/>
              </a:rPr>
              <a:t>6.1%</a:t>
            </a:r>
          </a:p>
          <a:p>
            <a:r>
              <a:rPr sz="880">
                <a:solidFill>
                  <a:srgbClr val="556A83"/>
                </a:solidFill>
                <a:latin typeface="Arial"/>
              </a:rPr>
              <a:t>AIP   </a:t>
            </a:r>
            <a:r>
              <a:rPr sz="1520" b="1">
                <a:solidFill>
                  <a:srgbClr val="152130"/>
                </a:solidFill>
                <a:latin typeface="Times New Roman"/>
              </a:rPr>
              <a:t>16.1%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16283" y="2292096"/>
            <a:ext cx="2889576" cy="12484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62591" y="2428646"/>
            <a:ext cx="25969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TOTAL VOLATILITY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62591" y="2740761"/>
            <a:ext cx="2596960" cy="7802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880">
                <a:solidFill>
                  <a:srgbClr val="556A83"/>
                </a:solidFill>
                <a:latin typeface="Arial"/>
              </a:rPr>
              <a:t>MSCI  </a:t>
            </a:r>
            <a:r>
              <a:rPr sz="1520" b="1">
                <a:solidFill>
                  <a:srgbClr val="314359"/>
                </a:solidFill>
                <a:latin typeface="Times New Roman"/>
              </a:rPr>
              <a:t>16.3%</a:t>
            </a:r>
          </a:p>
          <a:p>
            <a:r>
              <a:rPr sz="880">
                <a:solidFill>
                  <a:srgbClr val="556A83"/>
                </a:solidFill>
                <a:latin typeface="Arial"/>
              </a:rPr>
              <a:t>AIP   </a:t>
            </a:r>
            <a:r>
              <a:rPr sz="1520" b="1">
                <a:solidFill>
                  <a:srgbClr val="152130"/>
                </a:solidFill>
                <a:latin typeface="Times New Roman"/>
              </a:rPr>
              <a:t>27.0%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93644" y="2292096"/>
            <a:ext cx="2889576" cy="12484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39952" y="2428646"/>
            <a:ext cx="25969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DOWNSIDE VOLATILITY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39952" y="2740761"/>
            <a:ext cx="2596960" cy="7802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880">
                <a:solidFill>
                  <a:srgbClr val="556A83"/>
                </a:solidFill>
                <a:latin typeface="Arial"/>
              </a:rPr>
              <a:t>MSCI  </a:t>
            </a:r>
            <a:r>
              <a:rPr sz="1520" b="1">
                <a:solidFill>
                  <a:srgbClr val="314359"/>
                </a:solidFill>
                <a:latin typeface="Times New Roman"/>
              </a:rPr>
              <a:t>11.5%</a:t>
            </a:r>
          </a:p>
          <a:p>
            <a:r>
              <a:rPr sz="880">
                <a:solidFill>
                  <a:srgbClr val="556A83"/>
                </a:solidFill>
                <a:latin typeface="Arial"/>
              </a:rPr>
              <a:t>AIP   </a:t>
            </a:r>
            <a:r>
              <a:rPr sz="1520" b="1">
                <a:solidFill>
                  <a:srgbClr val="152130"/>
                </a:solidFill>
                <a:latin typeface="Times New Roman"/>
              </a:rPr>
              <a:t>10.9%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81360" y="3579571"/>
            <a:ext cx="2889576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1" i="0">
                <a:solidFill>
                  <a:srgbClr val="152130"/>
                </a:solidFill>
                <a:latin typeface="Arial"/>
              </a:rPr>
              <a:t>↑ Athanase downside volatility is LOWER than the market’s.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922" y="3901440"/>
            <a:ext cx="877845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EXPECTED VALUE OF 100 INVESTED, BY HOLDING PERIOD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8922" y="4194048"/>
            <a:ext cx="2560384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26707" y="4194048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23" name="Rectangle 22"/>
          <p:cNvSpPr/>
          <p:nvPr/>
        </p:nvSpPr>
        <p:spPr>
          <a:xfrm>
            <a:off x="2999307" y="4194048"/>
            <a:ext cx="1578841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087091" y="419404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3 years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8148" y="4194048"/>
            <a:ext cx="1578841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665933" y="419404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5 years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156990" y="4194048"/>
            <a:ext cx="1578841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44775" y="419404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7 years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735832" y="4194048"/>
            <a:ext cx="1578841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823617" y="419404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10 years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38922" y="4535424"/>
            <a:ext cx="2560384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26707" y="4535424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Median outcome — MSCI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999307" y="4535424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072460" y="453542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119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78148" y="4535424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651302" y="453542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135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156990" y="4535424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230144" y="453542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152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735832" y="4535424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808986" y="453542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181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38922" y="4876800"/>
            <a:ext cx="2560384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26707" y="4876800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152130"/>
                </a:solidFill>
                <a:latin typeface="Arial"/>
              </a:rPr>
              <a:t>Median outcome — Athanase</a:t>
            </a:r>
          </a:p>
        </p:txBody>
      </p:sp>
      <p:sp>
        <p:nvSpPr>
          <p:cNvPr id="43" name="Rectangle 42"/>
          <p:cNvSpPr/>
          <p:nvPr/>
        </p:nvSpPr>
        <p:spPr>
          <a:xfrm>
            <a:off x="2999307" y="4876800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072460" y="4876800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157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578148" y="4876800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651302" y="4876800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211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156990" y="4876800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230144" y="4876800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284</a:t>
            </a:r>
          </a:p>
        </p:txBody>
      </p:sp>
      <p:sp>
        <p:nvSpPr>
          <p:cNvPr id="49" name="Rectangle 48"/>
          <p:cNvSpPr/>
          <p:nvPr/>
        </p:nvSpPr>
        <p:spPr>
          <a:xfrm>
            <a:off x="7735832" y="4876800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808986" y="4876800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445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38922" y="5218176"/>
            <a:ext cx="2560384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26707" y="5218176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Adverse case* — MSCI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999307" y="5218176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3072460" y="5218176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98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578148" y="5218176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651302" y="5218176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105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156990" y="5218176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230144" y="5218176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113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735832" y="5218176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7808986" y="5218176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128</a:t>
            </a:r>
          </a:p>
        </p:txBody>
      </p:sp>
      <p:sp>
        <p:nvSpPr>
          <p:cNvPr id="61" name="Rectangle 60"/>
          <p:cNvSpPr/>
          <p:nvPr/>
        </p:nvSpPr>
        <p:spPr>
          <a:xfrm>
            <a:off x="438922" y="5559552"/>
            <a:ext cx="2560384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526707" y="5559552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152130"/>
                </a:solidFill>
                <a:latin typeface="Arial"/>
              </a:rPr>
              <a:t>Adverse case* — Athanase</a:t>
            </a:r>
          </a:p>
        </p:txBody>
      </p:sp>
      <p:sp>
        <p:nvSpPr>
          <p:cNvPr id="63" name="Rectangle 62"/>
          <p:cNvSpPr/>
          <p:nvPr/>
        </p:nvSpPr>
        <p:spPr>
          <a:xfrm>
            <a:off x="2999307" y="5559552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3072460" y="5559552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133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578148" y="5559552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651302" y="5559552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170</a:t>
            </a:r>
          </a:p>
        </p:txBody>
      </p:sp>
      <p:sp>
        <p:nvSpPr>
          <p:cNvPr id="67" name="Rectangle 66"/>
          <p:cNvSpPr/>
          <p:nvPr/>
        </p:nvSpPr>
        <p:spPr>
          <a:xfrm>
            <a:off x="6156990" y="5559552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6230144" y="5559552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221</a:t>
            </a:r>
          </a:p>
        </p:txBody>
      </p:sp>
      <p:sp>
        <p:nvSpPr>
          <p:cNvPr id="69" name="Rectangle 68"/>
          <p:cNvSpPr/>
          <p:nvPr/>
        </p:nvSpPr>
        <p:spPr>
          <a:xfrm>
            <a:off x="7735832" y="5559552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7808986" y="5559552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330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38922" y="5900928"/>
            <a:ext cx="2560384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526707" y="5900928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Chance of a loss — MSCI</a:t>
            </a:r>
          </a:p>
        </p:txBody>
      </p:sp>
      <p:sp>
        <p:nvSpPr>
          <p:cNvPr id="73" name="Rectangle 72"/>
          <p:cNvSpPr/>
          <p:nvPr/>
        </p:nvSpPr>
        <p:spPr>
          <a:xfrm>
            <a:off x="2999307" y="5900928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3072460" y="590092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18%</a:t>
            </a:r>
          </a:p>
        </p:txBody>
      </p:sp>
      <p:sp>
        <p:nvSpPr>
          <p:cNvPr id="75" name="Rectangle 74"/>
          <p:cNvSpPr/>
          <p:nvPr/>
        </p:nvSpPr>
        <p:spPr>
          <a:xfrm>
            <a:off x="4578148" y="5900928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4651302" y="590092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12%</a:t>
            </a:r>
          </a:p>
        </p:txBody>
      </p:sp>
      <p:sp>
        <p:nvSpPr>
          <p:cNvPr id="77" name="Rectangle 76"/>
          <p:cNvSpPr/>
          <p:nvPr/>
        </p:nvSpPr>
        <p:spPr>
          <a:xfrm>
            <a:off x="6156990" y="5900928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6230144" y="590092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8%</a:t>
            </a:r>
          </a:p>
        </p:txBody>
      </p:sp>
      <p:sp>
        <p:nvSpPr>
          <p:cNvPr id="79" name="Rectangle 78"/>
          <p:cNvSpPr/>
          <p:nvPr/>
        </p:nvSpPr>
        <p:spPr>
          <a:xfrm>
            <a:off x="7735832" y="5900928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7808986" y="590092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5%</a:t>
            </a:r>
          </a:p>
        </p:txBody>
      </p:sp>
      <p:sp>
        <p:nvSpPr>
          <p:cNvPr id="81" name="Rectangle 80"/>
          <p:cNvSpPr/>
          <p:nvPr/>
        </p:nvSpPr>
        <p:spPr>
          <a:xfrm>
            <a:off x="438922" y="6242304"/>
            <a:ext cx="2560384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526707" y="6242304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152130"/>
                </a:solidFill>
                <a:latin typeface="Arial"/>
              </a:rPr>
              <a:t>Chance of a loss — Athanase</a:t>
            </a:r>
          </a:p>
        </p:txBody>
      </p:sp>
      <p:sp>
        <p:nvSpPr>
          <p:cNvPr id="83" name="Rectangle 82"/>
          <p:cNvSpPr/>
          <p:nvPr/>
        </p:nvSpPr>
        <p:spPr>
          <a:xfrm>
            <a:off x="2999307" y="6242304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3072460" y="624230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1%</a:t>
            </a:r>
          </a:p>
        </p:txBody>
      </p:sp>
      <p:sp>
        <p:nvSpPr>
          <p:cNvPr id="85" name="Rectangle 84"/>
          <p:cNvSpPr/>
          <p:nvPr/>
        </p:nvSpPr>
        <p:spPr>
          <a:xfrm>
            <a:off x="4578148" y="6242304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4651302" y="624230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0%</a:t>
            </a:r>
          </a:p>
        </p:txBody>
      </p:sp>
      <p:sp>
        <p:nvSpPr>
          <p:cNvPr id="87" name="Rectangle 86"/>
          <p:cNvSpPr/>
          <p:nvPr/>
        </p:nvSpPr>
        <p:spPr>
          <a:xfrm>
            <a:off x="6156990" y="6242304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6230144" y="624230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0%</a:t>
            </a:r>
          </a:p>
        </p:txBody>
      </p:sp>
      <p:sp>
        <p:nvSpPr>
          <p:cNvPr id="89" name="Rectangle 88"/>
          <p:cNvSpPr/>
          <p:nvPr/>
        </p:nvSpPr>
        <p:spPr>
          <a:xfrm>
            <a:off x="7735832" y="6242304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7808986" y="624230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0%</a:t>
            </a:r>
          </a:p>
        </p:txBody>
      </p:sp>
      <p:sp>
        <p:nvSpPr>
          <p:cNvPr id="91" name="Rectangle 90"/>
          <p:cNvSpPr/>
          <p:nvPr/>
        </p:nvSpPr>
        <p:spPr>
          <a:xfrm>
            <a:off x="438922" y="6661708"/>
            <a:ext cx="8873559" cy="37063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570599" y="6661708"/>
            <a:ext cx="8632151" cy="3706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1">
                <a:solidFill>
                  <a:srgbClr val="FFFFFF"/>
                </a:solidFill>
                <a:latin typeface="Arial"/>
              </a:rPr>
              <a:t>Even in the adverse case, Athanase’s lower downside volatility leaves an investor ahead at every horizon — and the gap widens with time.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438922" y="7110374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Source: monthly net returns, 235 months (2006–2025). *Adverse case = one downside-deviation outcome (≈1-in-6), narrowing with horizon as dd/√T. Illustrative; past performance is not indicative of future results.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Risk-Adjusted Outcomes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7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5.3 A complement to global equities, not a duplicate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What a global-equity holder asks of a new manager: do you keep up in rallies, lose less in selloffs, and add something the index can’t?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38</a:t>
            </a:r>
          </a:p>
        </p:txBody>
      </p:sp>
      <p:pic>
        <p:nvPicPr>
          <p:cNvPr id="10" name="Picture 9" descr="mc_captu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194560"/>
            <a:ext cx="3627489" cy="299930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4791575" y="2243328"/>
            <a:ext cx="4535537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952514" y="2360371"/>
            <a:ext cx="421366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CAPTURE ASYMMETRY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52514" y="2594457"/>
            <a:ext cx="4213660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60" b="1" i="0">
                <a:solidFill>
                  <a:srgbClr val="314359"/>
                </a:solidFill>
                <a:latin typeface="Times New Roman"/>
              </a:rPr>
              <a:t>93% up  /  43% down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52514" y="2965094"/>
            <a:ext cx="421366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Keeps pace with rallies but takes less than half of selloffs — the essence of the edge.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791575" y="3530803"/>
            <a:ext cx="4535537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952514" y="3647846"/>
            <a:ext cx="421366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DIVERSIFICATION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52514" y="3881932"/>
            <a:ext cx="4213660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60" b="1" i="0">
                <a:solidFill>
                  <a:srgbClr val="314359"/>
                </a:solidFill>
                <a:latin typeface="Times New Roman"/>
              </a:rPr>
              <a:t>0.44 correlation  ·  0.73 beta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52514" y="4252569"/>
            <a:ext cx="421366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Low correlation to your existing equity book — a genuine diversifier, not levered beta.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791575" y="4818278"/>
            <a:ext cx="4535537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52514" y="4935321"/>
            <a:ext cx="421366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RELIABILITY OVER TIME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52514" y="5169408"/>
            <a:ext cx="4213660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60" b="1" i="0">
                <a:solidFill>
                  <a:srgbClr val="314359"/>
                </a:solidFill>
                <a:latin typeface="Times New Roman"/>
              </a:rPr>
              <a:t>Beat MSCI in 90% of 5-yr and 100% of 7-yr windows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952514" y="5540044"/>
            <a:ext cx="421366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Over every rolling 7-year holding period in 20 years, Athanase out-returned the index.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Athanase captures 93% of the market’s upside but only 43% of its downside — at 0.44 correlation, it improves the whole portfolio, not just one line of it.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8922" y="6983577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Source: monthly net returns, 235 months (2006–2025). Capture = compounded Athanase return in the market’s up/down months ÷ the market’s. Past performance is not indicative of future results.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Risk-Adjusted Outcomes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8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5.4 What a blend does to the whole portfolio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Adding Athanase to a global-equity book moves the portfolio up and to the left — more return for less downside risk, thanks to low correlation.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39</a:t>
            </a:r>
          </a:p>
        </p:txBody>
      </p:sp>
      <p:pic>
        <p:nvPicPr>
          <p:cNvPr id="10" name="Picture 9" descr="mc_fronti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194560"/>
            <a:ext cx="6002145" cy="299930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510690" y="2262835"/>
            <a:ext cx="2816422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71629" y="2379878"/>
            <a:ext cx="2494545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ALL GLOBAL EQUITIES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1629" y="2633472"/>
            <a:ext cx="2494545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1280" b="1">
                <a:solidFill>
                  <a:srgbClr val="314359"/>
                </a:solidFill>
                <a:latin typeface="Times New Roman"/>
              </a:rPr>
              <a:t>6.1% return</a:t>
            </a:r>
            <a:r>
              <a:rPr sz="960">
                <a:solidFill>
                  <a:srgbClr val="314359"/>
                </a:solidFill>
                <a:latin typeface="Arial"/>
              </a:rPr>
              <a:t>   ·   11.5% downside risk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71629" y="3062630"/>
            <a:ext cx="249454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100% MSCI World IMI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10690" y="3569817"/>
            <a:ext cx="2816422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71629" y="3686860"/>
            <a:ext cx="2494545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ADD A PRUDENT 8% SLEEVE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71629" y="3940454"/>
            <a:ext cx="2494545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1280" b="1">
                <a:solidFill>
                  <a:srgbClr val="314359"/>
                </a:solidFill>
                <a:latin typeface="Times New Roman"/>
              </a:rPr>
              <a:t>7.3% return</a:t>
            </a:r>
            <a:r>
              <a:rPr sz="960">
                <a:solidFill>
                  <a:srgbClr val="314359"/>
                </a:solidFill>
                <a:latin typeface="Arial"/>
              </a:rPr>
              <a:t>   ·   11.1% downside risk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71629" y="4369612"/>
            <a:ext cx="249454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92% MSCI  /  8% Athanase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10690" y="4896307"/>
            <a:ext cx="281642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HOW TO READ IT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10690" y="5169408"/>
            <a:ext cx="2816422" cy="1853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Every blend on the curve beats holding equities alone, and the benefit keeps building until past half the portfolio (downside risk bottoms near 60%). That is a directional case to size up — within prudent limits — not a target: a 59% position would breach concentration, liquidity and the 3–8% sizing discipline. Even an 8% sleeve already moves the portfolio the right way.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The blend is not a trade-off — every allocation improves the portfolio, so the case is to size up within prudent 3–8% limits, not to chase the mathematical optimum.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8922" y="6983577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Source: monthly net returns, 235 months (2006–2025), monthly rebalanced blends. The minimum-risk point is in-sample and shown for shape, not as advice. Illustrative; past performance is not indicative of future results.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6 OF 6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Versus private equity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1   </a:t>
            </a:r>
            <a:r>
              <a:rPr sz="880" b="0">
                <a:solidFill>
                  <a:srgbClr val="556A83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2   </a:t>
            </a:r>
            <a:r>
              <a:rPr sz="880" b="0">
                <a:solidFill>
                  <a:srgbClr val="556A83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3   </a:t>
            </a:r>
            <a:r>
              <a:rPr sz="880" b="0">
                <a:solidFill>
                  <a:srgbClr val="556A83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4   </a:t>
            </a:r>
            <a:r>
              <a:rPr sz="880" b="0">
                <a:solidFill>
                  <a:srgbClr val="556A83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5   </a:t>
            </a:r>
            <a:r>
              <a:rPr sz="880" b="0">
                <a:solidFill>
                  <a:srgbClr val="556A83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6   </a:t>
            </a:r>
            <a:r>
              <a:rPr sz="1000" b="1">
                <a:solidFill>
                  <a:srgbClr val="FFFFFF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40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Private Equity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11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6.1 What allocators actually earn from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Stripping out headline-IRR marketing, cash-matched (PME) data shows PE earns a real ~3–6 pt premium over public markets — but lands below Athanase.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41</a:t>
            </a:r>
          </a:p>
        </p:txBody>
      </p:sp>
      <p:pic>
        <p:nvPicPr>
          <p:cNvPr id="10" name="Picture 9" descr="d_pe_realis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243328"/>
            <a:ext cx="5791184" cy="2816422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547266" y="2292096"/>
            <a:ext cx="2779845" cy="113141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93574" y="2389632"/>
            <a:ext cx="248723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HEADLINE ≠ REALISED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93574" y="2643225"/>
            <a:ext cx="2487230" cy="7607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Top-quartile IRR is shown as ~18–22%, struck on drawn capital. Cash-matched to public markets, the real figure is far lower.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47266" y="3560064"/>
            <a:ext cx="2779845" cy="113141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93574" y="3657600"/>
            <a:ext cx="248723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REAL PREMIUM IS GENUINE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93574" y="3911193"/>
            <a:ext cx="2487230" cy="7607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PME studies agree: ~1.2× wealth multiple, a real 3–5 pt premium (Cambridge; Kaplan-Harris-Jenkinson / Burgiss; Cliffwater; BVCA).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47266" y="4828032"/>
            <a:ext cx="2779845" cy="113141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93574" y="4925568"/>
            <a:ext cx="248723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BUT BELOW ATHANASE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93574" y="5179161"/>
            <a:ext cx="2487230" cy="7607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Allocators realise ~11–14% from PE. Athanase has delivered ~16% — net, real, and fully invested from day one.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PE’s premium over public markets is real — but Athanase’s ~16% sits above even what the best allocators realise, with daily liquidity.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8922" y="6944563"/>
            <a:ext cx="9217382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Sources: Cliffwater (US state pensions, 2000–22) PE 11.4% vs PME 5.8%; BVCA / Capital Dynamics (UK &amp; Europe, 2001–23) 14.1% vs 7.7%; corroborated by Cambridge Associates mPME 1.15–1.25× and Kaplan-Harris-Jenkinson KS-PME 1.20–1.27×. Athanase real, net, 2006–2025. See references.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Private Equity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9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6.2 Switching a private-equity sleeve into Athanase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On true risk, PE and Athanase carry similar volatility — but Athanase’s is mostly upside, and it returns more, with daily liquidity.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42</a:t>
            </a:r>
          </a:p>
        </p:txBody>
      </p:sp>
      <p:pic>
        <p:nvPicPr>
          <p:cNvPr id="10" name="Picture 9" descr="d_pe_scat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243328"/>
            <a:ext cx="4004070" cy="281642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12076" y="6096000"/>
            <a:ext cx="4535537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De-smoothed, PE’s ~10% reported vol is really ~28% (PIMCO; AQR beta 1.5–1.6) — about Athanase’s 27%, but levered downside, not upside.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157345" y="2223819"/>
            <a:ext cx="4169768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303652" y="2311602"/>
            <a:ext cx="1463076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RETURN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56997" y="2301848"/>
            <a:ext cx="248723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~16% vs ~11–14% realised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652" y="2574949"/>
            <a:ext cx="387715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Above what even the best allocators realise from PE (Cliffwater; BVCA).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157345" y="3043122"/>
            <a:ext cx="4169768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03652" y="3130904"/>
            <a:ext cx="1463076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LIQUIDITY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56997" y="3121150"/>
            <a:ext cx="248723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Daily vs 10-yr lock-up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03652" y="3394251"/>
            <a:ext cx="387715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Listed positions you can exit; no blind-pool capital calls.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157345" y="3862424"/>
            <a:ext cx="4169768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303652" y="3950206"/>
            <a:ext cx="1463076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FEES &amp; CAPITAL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56997" y="3940453"/>
            <a:ext cx="248723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Lower drag, fully invested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03652" y="4213554"/>
            <a:ext cx="387715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No fees on undeployed dry powder waiting in a queue.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157345" y="4681726"/>
            <a:ext cx="4169768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303652" y="4769509"/>
            <a:ext cx="1463076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TRANSPARENCY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56997" y="4759755"/>
            <a:ext cx="248723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Daily marks, real control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03652" y="5032856"/>
            <a:ext cx="387715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A public scoreboard plus board control of cash flow, capex and pay.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157345" y="5501029"/>
            <a:ext cx="4169768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303652" y="5588811"/>
            <a:ext cx="1463076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RISK, HONESTLY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56997" y="5579058"/>
            <a:ext cx="248723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Similar vol, opposite shape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303652" y="5852158"/>
            <a:ext cx="387715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PE’s true ~28% vol is levered downside; Athanase’s 27% is mostly upside (downside only ~11%).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Once PE’s smoothing is removed, the two carry similar volatility — but Athanase returns more, its risk is upside not downside, and it stays liquid and transparent.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38922" y="6944563"/>
            <a:ext cx="9217382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Athanase: net monthly returns, 235 months (2006–2025), real (total vol 27%). PE realised ~11–14% vs headline IRR ~18–22%; reported ~10% vol de-smoothed to ~25–30% (PIMCO; AQR beta 1.5–1.6). See references.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Private Equity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10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6.3 The volatility gap is settled in the literature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Cash-flow models, secondary-market prices and econometric unsmoothing all converge: PE’s true risk is roughly 2–3× its reported figure.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43</a:t>
            </a:r>
          </a:p>
        </p:txBody>
      </p:sp>
      <p:pic>
        <p:nvPicPr>
          <p:cNvPr id="10" name="Picture 9" descr="d_pe_evide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9" y="2243328"/>
            <a:ext cx="4834738" cy="288957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218075" y="2292096"/>
            <a:ext cx="3109037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64383" y="2389632"/>
            <a:ext cx="2816422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CASH-FLOW NPV MODEL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64383" y="2613964"/>
            <a:ext cx="2816422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Buyout vol 25% (vs 11% index), beta &gt; 1 — Ang, Chen, Goetzmann &amp; Phalippou (2018), J. Finance.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8075" y="3286963"/>
            <a:ext cx="3109037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64383" y="3384499"/>
            <a:ext cx="2816422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SECONDARY-MARKET PRICES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64383" y="3608832"/>
            <a:ext cx="2816422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Traded-stake beta &gt; 2.0 vs &lt; 0.5 on NAV — Boyer, Nadauld, Vorkink &amp; Weisbach (2018).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18075" y="4281830"/>
            <a:ext cx="3109037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64383" y="4379366"/>
            <a:ext cx="2816422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ECONOMETRIC UNSMOOTHING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64383" y="4603699"/>
            <a:ext cx="2816422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Illiquidity creates spurious smoothness — Getmansky, Lo &amp; Makarov (2004), JFE (cited 1,300+).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18075" y="5276697"/>
            <a:ext cx="3109037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64383" y="5374233"/>
            <a:ext cx="2816422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CATERING / “LAUNDERING”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64383" y="5598566"/>
            <a:ext cx="2816422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GPs smooth because LPs value the “phony happiness” — Jackson, Ling &amp; Naranjo (2022); Couts et al. (2020).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Independent methods, the same answer: PE is a highly-levered equity portfolio whose reported smoothness is an artefact.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8922" y="6944563"/>
            <a:ext cx="9217382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560" b="0" i="0">
                <a:solidFill>
                  <a:srgbClr val="556A83"/>
                </a:solidFill>
                <a:latin typeface="Arial"/>
              </a:rPr>
              <a:t>Sources: Ang, Chen, Goetzmann &amp; Phalippou (2018); Boyer, Nadauld, Vorkink &amp; Weisbach (2018); Getmansky, Lo &amp; Makarov (2004); Couts, Gonçalves &amp; Rossi (2020); Jackson, Ling &amp; Naranjo (2022); PIMCO (2022); AQR. Bars show vol-equivalent risk; beta rows scaled for comparison. See references.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Private Equity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11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6.4 Same headline volatility — far lower real risk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Volatility is not symmetric. PE’s true risk is levered downside; Athanase’s is mostly upside, so its real loss risk is a fraction of PE’s.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44</a:t>
            </a:r>
          </a:p>
        </p:txBody>
      </p:sp>
      <p:pic>
        <p:nvPicPr>
          <p:cNvPr id="10" name="Picture 9" descr="d_pe_realris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243328"/>
            <a:ext cx="4014211" cy="2816422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5157345" y="2292096"/>
            <a:ext cx="4169768" cy="17068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340229" y="2438400"/>
            <a:ext cx="38039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CHANCE OF A 30%+ LOSS OVER THREE YEARS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40229" y="2789529"/>
            <a:ext cx="3803999" cy="1072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2560" b="1">
                <a:solidFill>
                  <a:srgbClr val="556A83"/>
                </a:solidFill>
                <a:latin typeface="Times New Roman"/>
              </a:rPr>
              <a:t>~16%</a:t>
            </a:r>
            <a:r>
              <a:rPr sz="1040">
                <a:solidFill>
                  <a:srgbClr val="556A83"/>
                </a:solidFill>
                <a:latin typeface="Arial"/>
              </a:rPr>
              <a:t>   private equity</a:t>
            </a:r>
          </a:p>
          <a:p>
            <a:r>
              <a:rPr sz="2560" b="1">
                <a:solidFill>
                  <a:srgbClr val="152130"/>
                </a:solidFill>
                <a:latin typeface="Times New Roman"/>
              </a:rPr>
              <a:t>~2%</a:t>
            </a:r>
            <a:r>
              <a:rPr sz="1040">
                <a:solidFill>
                  <a:srgbClr val="556A83"/>
                </a:solidFill>
                <a:latin typeface="Arial"/>
              </a:rPr>
              <a:t>   Athanase (actual 3-yr windows)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157345" y="4213555"/>
            <a:ext cx="4169768" cy="93634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40229" y="4330598"/>
            <a:ext cx="3803999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VOLATILITY ≠ RISK OF LOSS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40229" y="4584192"/>
            <a:ext cx="3803999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PE’s ~28% true vol is dominated by downside (levered, left-skewed). Athanase’s 27% is mostly upside — downside deviation only ~11%.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157345" y="5266944"/>
            <a:ext cx="4169768" cy="93634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40229" y="5383987"/>
            <a:ext cx="3803999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RISK THAT MATTERS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40229" y="5637580"/>
            <a:ext cx="3803999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On large permanent loss — what allocators actually fear — Athanase’s real risk is roughly one-eighth of private equity’s.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Matched on true volatility, Athanase carries far less of the risk that actually hurts: its downside is a fraction of private equity’s.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8922" y="6944563"/>
            <a:ext cx="9217382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Athanase downside vol 11% vs total 27% (real); 30%+ loss in 2% of actual rolling 3-yr windows. PE de-smoothed total vol ~28%, ~15–16% chance of a 30% drawdown over 3 years (PIMCO, 2022). See references.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Private Equity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12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6.5 PE’s “diversification” is an artefact — Athanase’s is real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De-smoothed, PE is ~0.9 correlated to public equities: the same risk factors, just reported late. Athanase is genuinely uncorrelated.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45</a:t>
            </a:r>
          </a:p>
        </p:txBody>
      </p:sp>
      <p:pic>
        <p:nvPicPr>
          <p:cNvPr id="10" name="Picture 9" descr="d_pe_cor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243328"/>
            <a:ext cx="4160624" cy="2816422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5267075" y="2292096"/>
            <a:ext cx="4060037" cy="11119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28014" y="2409139"/>
            <a:ext cx="373816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SMOOTHING ILLUSION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28014" y="2662732"/>
            <a:ext cx="3738160" cy="7022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Quarterly appraisals lag the market, so reported correlation looks low (0.75, beta 0.41). De-smoothed it is 0.89 / beta 0.87 (Two Sigma, 2024).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267075" y="3540555"/>
            <a:ext cx="4060037" cy="11119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28014" y="3657598"/>
            <a:ext cx="373816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SAME RISK FACTORS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28014" y="3911192"/>
            <a:ext cx="3738160" cy="7022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PE is long-only levered equity driven by GDP, rates and earnings; over 10–20 yrs its correlation to small/mid-caps is ~0.89–0.92.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267075" y="4789015"/>
            <a:ext cx="4060037" cy="11119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28014" y="4906058"/>
            <a:ext cx="373816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CRISIS MIRAGE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28014" y="5159652"/>
            <a:ext cx="3738160" cy="7022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In severe drawdowns true correlation converges toward 1.0 — PE takes the same hit, it just reports the markdown later.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PE adds leveraged beta dressed as diversification. Athanase, at 0.44 correlation, is the genuine diversifier in a public-equity portfolio.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8922" y="6944563"/>
            <a:ext cx="9217382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Athanase correlation 0.44 / beta 0.73 to MSCI World IMI (real). PE reported 0.75 / beta 0.41 de-smoothed to 0.89 / beta 0.87 (Two Sigma / Venn, 2024); long-horizon PE–small/mid-cap correlation ~0.89–0.92. See references.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Private Equity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6.6 When the tide goes out: the drawdown trap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PE’s smooth marks feel safe in calm markets — but in a shock they trigger the exact sequence that gets a CIO fired. Engaged ownership is the fiduciary safe harbour.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076" y="2292096"/>
            <a:ext cx="431607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THE TRAP — HELD AT FAKE NAVs IN A CRASH</a:t>
            </a:r>
          </a:p>
        </p:txBody>
      </p:sp>
      <p:sp>
        <p:nvSpPr>
          <p:cNvPr id="10" name="Rectangle 9"/>
          <p:cNvSpPr/>
          <p:nvPr/>
        </p:nvSpPr>
        <p:spPr>
          <a:xfrm>
            <a:off x="512076" y="2701747"/>
            <a:ext cx="4316075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3753" y="2828544"/>
            <a:ext cx="4060037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Times New Roman"/>
              </a:rPr>
              <a:t>1 · The denominator effect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3753" y="3150412"/>
            <a:ext cx="4060037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Public equities fall 25%; PE is marked flat. The PE weight jumps from 15% to 22%+ — an instant breach of board concentration limits.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12076" y="3891686"/>
            <a:ext cx="4316075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3753" y="4018483"/>
            <a:ext cx="4060037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Times New Roman"/>
              </a:rPr>
              <a:t>2 · The liquidity death spiral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3753" y="4340352"/>
            <a:ext cx="4060037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Distributions stop but capital calls keep coming. To meet them, the allocator is forced to sell liquid equities at the bottom.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12076" y="5081625"/>
            <a:ext cx="4316075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3753" y="5208422"/>
            <a:ext cx="4060037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Times New Roman"/>
              </a:rPr>
              <a:t>3 · The secondary-market humiliation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3753" y="5530291"/>
            <a:ext cx="4060037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To cure the breach, PE stakes are sold at 15–25% haircuts — publicly crystallising losses and proving the “low volatility” was a fiction.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84191" y="2292096"/>
            <a:ext cx="42794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THE SAFE HARBOUR — ENGAGED OWNERSHIP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84191" y="2701747"/>
            <a:ext cx="4279499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215868" y="2828544"/>
            <a:ext cx="40234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152130"/>
                </a:solidFill>
                <a:latin typeface="Times New Roman"/>
              </a:rPr>
              <a:t>Honest pricing keeps weights balanced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15868" y="3150412"/>
            <a:ext cx="4023460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Daily marks mean the sleeve falls with the market — so the denominator effect never fires and no threshold is breached.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84191" y="3891686"/>
            <a:ext cx="4279499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215868" y="4018483"/>
            <a:ext cx="40234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152130"/>
                </a:solidFill>
                <a:latin typeface="Times New Roman"/>
              </a:rPr>
              <a:t>Zero capital-call liability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5868" y="4340352"/>
            <a:ext cx="4023460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No blind pools, no surprise calls. The allocator is never forced to become a distressed seller of other assets.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84191" y="5081625"/>
            <a:ext cx="4279499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215868" y="5208422"/>
            <a:ext cx="40234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152130"/>
                </a:solidFill>
                <a:latin typeface="Times New Roman"/>
              </a:rPr>
              <a:t>Alpha from turnarounds, not leverage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215868" y="5530291"/>
            <a:ext cx="4023460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Returns come from board-led operational change in high-ROIIC mid-caps — not the leverage and multiple-expansion that break in a downturn.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When the tide goes out, artificially-priced illiquid assets are indefensible to a board. Engaged ownership delivers PE-like alpha while protecting portfolio balance, liquidity — and the allocator’s seat.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922" y="6983577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Mechanism described follows from PE’s appraisal-based marking and capital-call structure (see references). Illustrative; for professional investors, not investment advice.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Ownership Model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6.7 Responsible ownership, by construction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53" y="1901952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86949" indent="-186949">
              <a:lnSpc>
                <a:spcPct val="112000"/>
              </a:lnSpc>
              <a:spcAft>
                <a:spcPts val="1400"/>
              </a:spcAft>
            </a:pPr>
            <a:r>
              <a:rPr sz="1280" b="1">
                <a:solidFill>
                  <a:srgbClr val="314359"/>
                </a:solidFill>
                <a:latin typeface="Arial"/>
              </a:rPr>
              <a:t>›  </a:t>
            </a:r>
            <a:r>
              <a:rPr sz="1280" b="1">
                <a:solidFill>
                  <a:srgbClr val="314359"/>
                </a:solidFill>
                <a:latin typeface="Arial"/>
              </a:rPr>
              <a:t>Governance is the lever.</a:t>
            </a:r>
            <a:r>
              <a:rPr sz="1280">
                <a:solidFill>
                  <a:srgbClr val="0E1620"/>
                </a:solidFill>
                <a:latin typeface="Arial"/>
              </a:rPr>
              <a:t>  Value is created through board representation and active promotion of strong corporate governance across all holdings.</a:t>
            </a:r>
          </a:p>
          <a:p>
            <a:pPr marL="186949" indent="-186949">
              <a:lnSpc>
                <a:spcPct val="112000"/>
              </a:lnSpc>
              <a:spcAft>
                <a:spcPts val="1400"/>
              </a:spcAft>
            </a:pPr>
            <a:r>
              <a:rPr sz="1280" b="1">
                <a:solidFill>
                  <a:srgbClr val="314359"/>
                </a:solidFill>
                <a:latin typeface="Arial"/>
              </a:rPr>
              <a:t>›  </a:t>
            </a:r>
            <a:r>
              <a:rPr sz="1280" b="1">
                <a:solidFill>
                  <a:srgbClr val="314359"/>
                </a:solidFill>
                <a:latin typeface="Arial"/>
              </a:rPr>
              <a:t>Five improvement dimensions.</a:t>
            </a:r>
            <a:r>
              <a:rPr sz="1280">
                <a:solidFill>
                  <a:srgbClr val="0E1620"/>
                </a:solidFill>
                <a:latin typeface="Arial"/>
              </a:rPr>
              <a:t>  Operational, financial, structural, environmental and social improvements — each tied to enterprise value.</a:t>
            </a:r>
          </a:p>
          <a:p>
            <a:pPr marL="186949" indent="-186949">
              <a:lnSpc>
                <a:spcPct val="112000"/>
              </a:lnSpc>
              <a:spcAft>
                <a:spcPts val="1400"/>
              </a:spcAft>
            </a:pPr>
            <a:r>
              <a:rPr sz="1280" b="1">
                <a:solidFill>
                  <a:srgbClr val="314359"/>
                </a:solidFill>
                <a:latin typeface="Arial"/>
              </a:rPr>
              <a:t>›  </a:t>
            </a:r>
            <a:r>
              <a:rPr sz="1280" b="1">
                <a:solidFill>
                  <a:srgbClr val="314359"/>
                </a:solidFill>
                <a:latin typeface="Arial"/>
              </a:rPr>
              <a:t>PRI signatory since 2019,</a:t>
            </a:r>
            <a:r>
              <a:rPr sz="1280">
                <a:solidFill>
                  <a:srgbClr val="0E1620"/>
                </a:solidFill>
                <a:latin typeface="Arial"/>
              </a:rPr>
              <a:t>  adhering to the Six Principles for Responsible Investment.</a:t>
            </a:r>
          </a:p>
          <a:p>
            <a:pPr marL="186949" indent="-186949">
              <a:lnSpc>
                <a:spcPct val="112000"/>
              </a:lnSpc>
              <a:spcAft>
                <a:spcPts val="1400"/>
              </a:spcAft>
            </a:pPr>
            <a:r>
              <a:rPr sz="1280" b="1">
                <a:solidFill>
                  <a:srgbClr val="314359"/>
                </a:solidFill>
                <a:latin typeface="Arial"/>
              </a:rPr>
              <a:t>›  </a:t>
            </a:r>
            <a:r>
              <a:rPr sz="1280" b="1">
                <a:solidFill>
                  <a:srgbClr val="314359"/>
                </a:solidFill>
                <a:latin typeface="Arial"/>
              </a:rPr>
              <a:t>Credible oversight.</a:t>
            </a:r>
            <a:r>
              <a:rPr sz="1280">
                <a:solidFill>
                  <a:srgbClr val="0E1620"/>
                </a:solidFill>
                <a:latin typeface="Arial"/>
              </a:rPr>
              <a:t>  SEB custodian · MUFG administrator · KPMG auditor · Swedish FI-registered AIFM.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768098" cy="38039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63347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8922" y="2877312"/>
            <a:ext cx="8046921" cy="15605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2080" b="0" i="0" spc="-78">
                <a:solidFill>
                  <a:srgbClr val="FFFFFF"/>
                </a:solidFill>
                <a:latin typeface="Times New Roman"/>
              </a:rPr>
              <a:t>The asset class rewards patient, governance-minded capital.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40" b="0" i="1">
                <a:solidFill>
                  <a:srgbClr val="E2E5E9"/>
                </a:solidFill>
                <a:latin typeface="Times New Roman"/>
              </a:rPr>
              <a:t>Among engaged owners, Athanase brings the team, the discipline and the 20-year proof to deliver it.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22" y="5266944"/>
            <a:ext cx="4389229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Stefan Charette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960" b="0" i="0">
                <a:solidFill>
                  <a:srgbClr val="E2E5E9"/>
                </a:solidFill>
                <a:latin typeface="Arial"/>
              </a:rPr>
              <a:t>Athanase Industrial Partner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charette@athanase.se   ·   +46 73 994 7079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5266944"/>
            <a:ext cx="2779845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Offices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Birger Jarlsgatan 6, 114 34 Stockholm, Sweden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Landmark Square, West Bay Road, Grand Cayman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References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76460" y="263347"/>
            <a:ext cx="24506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1 of 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89733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02259"/>
            <a:ext cx="8851613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080" b="0" i="0" spc="-78">
                <a:solidFill>
                  <a:srgbClr val="314359"/>
                </a:solidFill>
                <a:latin typeface="Times New Roman"/>
              </a:rPr>
              <a:t>References &amp; Methodology — Peer-reviewed literature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22" y="1706880"/>
            <a:ext cx="438922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ENGAGED OWNERSHIP / ACTIVISM (PART I)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22" y="2067763"/>
            <a:ext cx="4389229" cy="4876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720" i="0">
                <a:solidFill>
                  <a:srgbClr val="0E1620"/>
                </a:solidFill>
                <a:latin typeface="Arial"/>
              </a:rPr>
              <a:t>Bebchuk, L. A., Brav, A., &amp; Jiang, W. (2015). The long-term effects of hedge fund activism. </a:t>
            </a:r>
            <a:r>
              <a:rPr sz="720" i="1">
                <a:solidFill>
                  <a:srgbClr val="0E1620"/>
                </a:solidFill>
                <a:latin typeface="Arial"/>
              </a:rPr>
              <a:t>Columbia Law Review, 115</a:t>
            </a:r>
            <a:r>
              <a:rPr sz="720" i="0">
                <a:solidFill>
                  <a:srgbClr val="0E1620"/>
                </a:solidFill>
                <a:latin typeface="Arial"/>
              </a:rPr>
              <a:t>(5), 1085–1156.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720" i="0">
                <a:solidFill>
                  <a:srgbClr val="0E1620"/>
                </a:solidFill>
                <a:latin typeface="Arial"/>
              </a:rPr>
              <a:t>Brav, A., Jiang, W., Partnoy, F., &amp; Thomas, R. (2008). Hedge fund activism, corporate governance, and firm performance. </a:t>
            </a:r>
            <a:r>
              <a:rPr sz="720" i="1">
                <a:solidFill>
                  <a:srgbClr val="0E1620"/>
                </a:solidFill>
                <a:latin typeface="Arial"/>
              </a:rPr>
              <a:t>The Journal of Finance, 63</a:t>
            </a:r>
            <a:r>
              <a:rPr sz="720" i="0">
                <a:solidFill>
                  <a:srgbClr val="0E1620"/>
                </a:solidFill>
                <a:latin typeface="Arial"/>
              </a:rPr>
              <a:t>(4), 1729–1775. https://doi.org/10.1111/j.1540-6261.2008.01373.x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720" i="0">
                <a:solidFill>
                  <a:srgbClr val="0E1620"/>
                </a:solidFill>
                <a:latin typeface="Arial"/>
              </a:rPr>
              <a:t>Brav, A., Jiang, W., &amp; Kim, H. (2015). The real effects of hedge fund activism: Productivity, asset allocation, and labor outcomes. </a:t>
            </a:r>
            <a:r>
              <a:rPr sz="720" i="1">
                <a:solidFill>
                  <a:srgbClr val="0E1620"/>
                </a:solidFill>
                <a:latin typeface="Arial"/>
              </a:rPr>
              <a:t>The Review of Financial Studies, 28</a:t>
            </a:r>
            <a:r>
              <a:rPr sz="720" i="0">
                <a:solidFill>
                  <a:srgbClr val="0E1620"/>
                </a:solidFill>
                <a:latin typeface="Arial"/>
              </a:rPr>
              <a:t>(10), 2723–2769. https://doi.org/10.1093/rfs/hhv037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720" i="0">
                <a:solidFill>
                  <a:srgbClr val="0E1620"/>
                </a:solidFill>
                <a:latin typeface="Arial"/>
              </a:rPr>
              <a:t>Klein, A., &amp; Zur, E. (2009). Entrepreneurial shareholder activism: Hedge funds and other private investors. </a:t>
            </a:r>
            <a:r>
              <a:rPr sz="720" i="1">
                <a:solidFill>
                  <a:srgbClr val="0E1620"/>
                </a:solidFill>
                <a:latin typeface="Arial"/>
              </a:rPr>
              <a:t>The Journal of Finance, 64</a:t>
            </a:r>
            <a:r>
              <a:rPr sz="720" i="0">
                <a:solidFill>
                  <a:srgbClr val="0E1620"/>
                </a:solidFill>
                <a:latin typeface="Arial"/>
              </a:rPr>
              <a:t>(1), 187–229. https://doi.org/10.1111/j.1540-6261.2008.01432.x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84191" y="1706880"/>
            <a:ext cx="42794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PRIVATE EQUITY RISK &amp; RETURN (PART II)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84191" y="2067763"/>
            <a:ext cx="4279499" cy="4876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Ang, A., Chen, B., Goetzmann, W. N., &amp; Phalippou, L. (2018). Estimating private equity returns from limited partner cash flows.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Finance, 73</a:t>
            </a:r>
            <a:r>
              <a:rPr sz="680" i="0">
                <a:solidFill>
                  <a:srgbClr val="0E1620"/>
                </a:solidFill>
                <a:latin typeface="Arial"/>
              </a:rPr>
              <a:t>(4), 1751–1783. https://doi.org/10.1111/jofi.12688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Boyer, B. H., Nadauld, T. D., Vorkink, K. P., &amp; Weisbach, M. S. (2018). Private equity indices based on secondary market transactions. </a:t>
            </a:r>
            <a:r>
              <a:rPr sz="680" i="1">
                <a:solidFill>
                  <a:srgbClr val="0E1620"/>
                </a:solidFill>
                <a:latin typeface="Arial"/>
              </a:rPr>
              <a:t>SSRN Electronic Journal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https://doi.org/10.2139/ssrn.3272357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Buchner, A., Kaserer, C., &amp; Wagner, N. F. (2010). Private equity funds: Valuation, systematic risk and illiquidity. </a:t>
            </a:r>
            <a:r>
              <a:rPr sz="680" i="1">
                <a:solidFill>
                  <a:srgbClr val="0E1620"/>
                </a:solidFill>
                <a:latin typeface="Arial"/>
              </a:rPr>
              <a:t>SSRN Electronic Journal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https://doi.org/10.2139/ssrn.1102471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Couts, S., Gonçalves, A. S., &amp; Rossi, A. (2020). Unsmoothing returns of illiquid funds. </a:t>
            </a:r>
            <a:r>
              <a:rPr sz="680" i="1">
                <a:solidFill>
                  <a:srgbClr val="0E1620"/>
                </a:solidFill>
                <a:latin typeface="Arial"/>
              </a:rPr>
              <a:t>SSRN Electronic Journal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https://doi.org/10.2139/ssrn.3544854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Getmansky, M., Lo, A. W., &amp; Makarov, I. (2004). An econometric model of serial correlation and illiquidity in hedge fund returns. </a:t>
            </a:r>
            <a:r>
              <a:rPr sz="680" i="1">
                <a:solidFill>
                  <a:srgbClr val="0E1620"/>
                </a:solidFill>
                <a:latin typeface="Arial"/>
              </a:rPr>
              <a:t>Journal of Financial Economics, 74</a:t>
            </a:r>
            <a:r>
              <a:rPr sz="680" i="0">
                <a:solidFill>
                  <a:srgbClr val="0E1620"/>
                </a:solidFill>
                <a:latin typeface="Arial"/>
              </a:rPr>
              <a:t>(3), 529–609. https://doi.org/10.1016/j.jfineco.2004.04.001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Harris, R. S., Jenkinson, T., &amp; Kaplan, S. N. (2014). Private equity performance: What do we know?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Finance, 69</a:t>
            </a:r>
            <a:r>
              <a:rPr sz="680" i="0">
                <a:solidFill>
                  <a:srgbClr val="0E1620"/>
                </a:solidFill>
                <a:latin typeface="Arial"/>
              </a:rPr>
              <a:t>(5), 1851–1882. https://doi.org/10.1111/jofi.12154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Hayley, S., &amp; Sefiloglu, O. (2022). Biases in private equity returns. </a:t>
            </a:r>
            <a:r>
              <a:rPr sz="680" i="1">
                <a:solidFill>
                  <a:srgbClr val="0E1620"/>
                </a:solidFill>
                <a:latin typeface="Arial"/>
              </a:rPr>
              <a:t>SSRN Electronic Journal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https://doi.org/10.2139/ssrn.4245715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Jackson, B., Ling, D. C., &amp; Naranjo, A. (2022). Catering and return manipulation in private equity. </a:t>
            </a:r>
            <a:r>
              <a:rPr sz="680" i="1">
                <a:solidFill>
                  <a:srgbClr val="0E1620"/>
                </a:solidFill>
                <a:latin typeface="Arial"/>
              </a:rPr>
              <a:t>SSRN Electronic Journal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https://doi.org/10.2139/ssrn.4244467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Meyer, T. (2020). Hidden in plain sight — the impact of undrawn commitments.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Alternative Investments, 23</a:t>
            </a:r>
            <a:r>
              <a:rPr sz="680" i="0">
                <a:solidFill>
                  <a:srgbClr val="0E1620"/>
                </a:solidFill>
                <a:latin typeface="Arial"/>
              </a:rPr>
              <a:t>(2), 94–110. https://doi.org/10.3905/jai.2020.1.101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Phalippou, L. (2020). An inconvenient fact: Private equity returns and the billionaire factory.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Investing, 30</a:t>
            </a:r>
            <a:r>
              <a:rPr sz="680" i="0">
                <a:solidFill>
                  <a:srgbClr val="0E1620"/>
                </a:solidFill>
                <a:latin typeface="Arial"/>
              </a:rPr>
              <a:t>(1), 11–39. https://doi.org/10.3905/joi.2020.1.153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References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76460" y="263347"/>
            <a:ext cx="24506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2 of 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89733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02259"/>
            <a:ext cx="8851613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080" b="0" i="0" spc="-78">
                <a:solidFill>
                  <a:srgbClr val="314359"/>
                </a:solidFill>
                <a:latin typeface="Times New Roman"/>
              </a:rPr>
              <a:t>References &amp; Methodology — Datasets, practitioner research &amp; methodology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22" y="1706880"/>
            <a:ext cx="438922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INDUSTRY DATASETS &amp; PRACTITIONER RESEARCH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22" y="2067763"/>
            <a:ext cx="4389229" cy="4876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Asness, C. S. (2023). The volatility-laundering hidden in private-asset marks. </a:t>
            </a:r>
            <a:r>
              <a:rPr sz="680" i="1">
                <a:solidFill>
                  <a:srgbClr val="0E1620"/>
                </a:solidFill>
                <a:latin typeface="Arial"/>
              </a:rPr>
              <a:t>AQR Capital Management — Cliff’s Perspectives.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British Private Equity &amp; Venture Capital Association &amp; Capital Dynamics. (2024). </a:t>
            </a:r>
            <a:r>
              <a:rPr sz="680" i="1">
                <a:solidFill>
                  <a:srgbClr val="0E1620"/>
                </a:solidFill>
                <a:latin typeface="Arial"/>
              </a:rPr>
              <a:t>BVCA Private Equity Performance Measurement Survey (PME+).</a:t>
            </a:r>
            <a:r>
              <a:rPr sz="680" i="0">
                <a:solidFill>
                  <a:srgbClr val="0E1620"/>
                </a:solidFill>
                <a:latin typeface="Arial"/>
              </a:rPr>
              <a:t> London: BVCA.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Cambridge Associates. (2024). </a:t>
            </a:r>
            <a:r>
              <a:rPr sz="680" i="1">
                <a:solidFill>
                  <a:srgbClr val="0E1620"/>
                </a:solidFill>
                <a:latin typeface="Arial"/>
              </a:rPr>
              <a:t>US Private Equity Index and Selected Benchmark Statistics (Q2 2024).</a:t>
            </a:r>
            <a:r>
              <a:rPr sz="680" i="0">
                <a:solidFill>
                  <a:srgbClr val="0E1620"/>
                </a:solidFill>
                <a:latin typeface="Arial"/>
              </a:rPr>
              <a:t> Boston: Cambridge Associates LLC.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Cliffwater LLC. (2023). </a:t>
            </a:r>
            <a:r>
              <a:rPr sz="680" i="1">
                <a:solidFill>
                  <a:srgbClr val="0E1620"/>
                </a:solidFill>
                <a:latin typeface="Arial"/>
              </a:rPr>
              <a:t>Long-term private equity performance in US state pension plans (2000–2022).</a:t>
            </a:r>
            <a:r>
              <a:rPr sz="680" i="0">
                <a:solidFill>
                  <a:srgbClr val="0E1620"/>
                </a:solidFill>
                <a:latin typeface="Arial"/>
              </a:rPr>
              <a:t> Marina del Rey: Cliffwater LLC.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Financial Reporting Council. (2020). </a:t>
            </a:r>
            <a:r>
              <a:rPr sz="680" i="1">
                <a:solidFill>
                  <a:srgbClr val="0E1620"/>
                </a:solidFill>
                <a:latin typeface="Arial"/>
              </a:rPr>
              <a:t>The UK Stewardship Code 2020.</a:t>
            </a:r>
            <a:r>
              <a:rPr sz="680" i="0">
                <a:solidFill>
                  <a:srgbClr val="0E1620"/>
                </a:solidFill>
                <a:latin typeface="Arial"/>
              </a:rPr>
              <a:t> London: FRC.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Morningstar. (2023). </a:t>
            </a:r>
            <a:r>
              <a:rPr sz="680" i="1">
                <a:solidFill>
                  <a:srgbClr val="0E1620"/>
                </a:solidFill>
                <a:latin typeface="Arial"/>
              </a:rPr>
              <a:t>Volatility laundering: How private equity funds understate the risk of their investments.</a:t>
            </a:r>
            <a:r>
              <a:rPr sz="680" i="0">
                <a:solidFill>
                  <a:srgbClr val="0E1620"/>
                </a:solidFill>
                <a:latin typeface="Arial"/>
              </a:rPr>
              <a:t> Chicago: Morningstar, Inc.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PIMCO. (2022). </a:t>
            </a:r>
            <a:r>
              <a:rPr sz="680" i="1">
                <a:solidFill>
                  <a:srgbClr val="0E1620"/>
                </a:solidFill>
                <a:latin typeface="Arial"/>
              </a:rPr>
              <a:t>The discreet charm of private assets: De-smoothing and the true volatility of private equity.</a:t>
            </a:r>
            <a:r>
              <a:rPr sz="680" i="0">
                <a:solidFill>
                  <a:srgbClr val="0E1620"/>
                </a:solidFill>
                <a:latin typeface="Arial"/>
              </a:rPr>
              <a:t> Newport Beach: PIMCO.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Principles for Responsible Investment. (2021). </a:t>
            </a:r>
            <a:r>
              <a:rPr sz="680" i="1">
                <a:solidFill>
                  <a:srgbClr val="0E1620"/>
                </a:solidFill>
                <a:latin typeface="Arial"/>
              </a:rPr>
              <a:t>What are the Principles for Responsible Investment?</a:t>
            </a:r>
            <a:r>
              <a:rPr sz="680" i="0">
                <a:solidFill>
                  <a:srgbClr val="0E1620"/>
                </a:solidFill>
                <a:latin typeface="Arial"/>
              </a:rPr>
              <a:t> London: UN PRI.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Two Sigma Investments. (2024). </a:t>
            </a:r>
            <a:r>
              <a:rPr sz="680" i="1">
                <a:solidFill>
                  <a:srgbClr val="0E1620"/>
                </a:solidFill>
                <a:latin typeface="Arial"/>
              </a:rPr>
              <a:t>The alternative truth of private equity (Venn by Two Sigma).</a:t>
            </a:r>
            <a:r>
              <a:rPr sz="680" i="0">
                <a:solidFill>
                  <a:srgbClr val="0E1620"/>
                </a:solidFill>
                <a:latin typeface="Arial"/>
              </a:rPr>
              <a:t> New York: Two Sigma.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84191" y="1706880"/>
            <a:ext cx="42794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DATA &amp; METHODOLOGY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84191" y="2067763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All Athanase figures are computed from the fund’s audited net monthly return series across two vehicles (Öresund/Creades Jan 2006–Jun 2014; AIPFII from 23 Feb 2015):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Annualised return — cumulative net return compounded, then annualised over actual invested time (19.51 yrs, excluding the 2014–15 setup gap): 16.1%.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Total volatility — st. dev. of monthly returns × √12 (27.0%).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Downside volatility — deviation of negative months below a 0% MAR × √12 (10.9%).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Correlation / beta — versus MSCI World IMI over the common period (0.44 / 0.73).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Large-loss frequency — share of rolling 36-month windows below −30% (≈2%).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Up/down capture — compounded Athanase return in the market’s up/down months ÷ the market’s.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Efficient frontier — monthly-rebalanced MSCI/Athanase blends; minimum-risk point is in-sample.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80" b="0" i="1">
                <a:solidFill>
                  <a:srgbClr val="556A83"/>
                </a:solidFill>
                <a:latin typeface="Arial"/>
              </a:rPr>
              <a:t>Private-equity figures are taken from the cited research. De-smoothed / true-economic / committed-capital values reflect that literature rather than reported (appraisal-based) data; bridge and illustrative magnitudes reconcile cited endpoints and are labelled as such. For professional investors; not investment advice. Past performance is not indicative of future results.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152130"/>
      </a:dk1>
      <a:lt1>
        <a:srgbClr val="FFFFFF"/>
      </a:lt1>
      <a:dk2>
        <a:srgbClr val="0E1620"/>
      </a:dk2>
      <a:lt2>
        <a:srgbClr val="F6F7F9"/>
      </a:lt2>
      <a:accent1>
        <a:srgbClr val="152130"/>
      </a:accent1>
      <a:accent2>
        <a:srgbClr val="314359"/>
      </a:accent2>
      <a:accent3>
        <a:srgbClr val="556A83"/>
      </a:accent3>
      <a:accent4>
        <a:srgbClr val="0E1620"/>
      </a:accent4>
      <a:accent5>
        <a:srgbClr val="E2E5E9"/>
      </a:accent5>
      <a:accent6>
        <a:srgbClr val="F6F7F9"/>
      </a:accent6>
      <a:hlink>
        <a:srgbClr val="314359"/>
      </a:hlink>
      <a:folHlink>
        <a:srgbClr val="556A83"/>
      </a:folHlink>
    </a:clrScheme>
    <a:fontScheme name="Office">
      <a:majorFont>
        <a:latin typeface="Times New Roman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