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720">
                    <a:solidFill>
                      <a:srgbClr val="314359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4.  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marker>
            <c:symbol val="none"/>
          </c:marker>
          <c:dLbls>
            <c:numFmt formatCode="0" sourceLinked="0"/>
            <c:txPr>
              <a:bodyPr/>
              <a:lstStyle/>
              <a:p>
                <a:pPr>
                  <a:defRPr sz="640">
                    <a:solidFill>
                      <a:srgbClr val="314359"/>
                    </a:solidFill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556A83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8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5.  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20">
                  <a:solidFill>
                    <a:srgbClr val="0E16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80"/>
          </a:pPr>
        </a:p>
      </c:txPr>
    </c:legend>
    <c:dispBlanksAs val="gap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20" b="0" i="1" spc="-72">
                <a:solidFill>
                  <a:srgbClr val="E2E5E9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553" y="6437376"/>
            <a:ext cx="585230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706880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Why allocate to engaged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097024"/>
            <a:ext cx="4279499" cy="5169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   </a:t>
            </a:r>
            <a:r>
              <a:rPr sz="919">
                <a:solidFill>
                  <a:srgbClr val="314359"/>
                </a:solidFill>
                <a:latin typeface="Arial"/>
              </a:rPr>
              <a:t>Why now — the easy decade for beta is over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   </a:t>
            </a:r>
            <a:r>
              <a:rPr sz="919">
                <a:solidFill>
                  <a:srgbClr val="314359"/>
                </a:solidFill>
                <a:latin typeface="Arial"/>
              </a:rPr>
              <a:t>Passive has become a concentrated bet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3   </a:t>
            </a:r>
            <a:r>
              <a:rPr sz="919">
                <a:solidFill>
                  <a:srgbClr val="314359"/>
                </a:solidFill>
                <a:latin typeface="Arial"/>
              </a:rPr>
              <a:t>Passive flows cut both ways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4   </a:t>
            </a:r>
            <a:r>
              <a:rPr sz="919">
                <a:solidFill>
                  <a:srgbClr val="314359"/>
                </a:solidFill>
                <a:latin typeface="Arial"/>
              </a:rPr>
              <a:t>“Cheap” index exposure is not cheap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5   </a:t>
            </a:r>
            <a:r>
              <a:rPr sz="919">
                <a:solidFill>
                  <a:srgbClr val="314359"/>
                </a:solidFill>
                <a:latin typeface="Arial"/>
              </a:rPr>
              <a:t>A catalyst-driven source of return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6   </a:t>
            </a:r>
            <a:r>
              <a:rPr sz="919">
                <a:solidFill>
                  <a:srgbClr val="314359"/>
                </a:solidFill>
                <a:latin typeface="Arial"/>
              </a:rPr>
              <a:t>Aligned with horizon and fiduciary duty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7   </a:t>
            </a:r>
            <a:r>
              <a:rPr sz="919">
                <a:solidFill>
                  <a:srgbClr val="314359"/>
                </a:solidFill>
                <a:latin typeface="Arial"/>
              </a:rPr>
              <a:t>Diversification and the total-portfolio view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8   </a:t>
            </a:r>
            <a:r>
              <a:rPr sz="919">
                <a:solidFill>
                  <a:srgbClr val="314359"/>
                </a:solidFill>
                <a:latin typeface="Arial"/>
              </a:rPr>
              <a:t>Where the allocation fits: three legitimate homes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9   </a:t>
            </a:r>
            <a:r>
              <a:rPr sz="919">
                <a:solidFill>
                  <a:srgbClr val="314359"/>
                </a:solidFill>
                <a:latin typeface="Arial"/>
              </a:rPr>
              <a:t>Governance and the ESG synergy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10   </a:t>
            </a:r>
            <a:r>
              <a:rPr sz="919">
                <a:solidFill>
                  <a:srgbClr val="314359"/>
                </a:solidFill>
                <a:latin typeface="Arial"/>
              </a:rPr>
              <a:t>Why mid-market is the sweet spot</a:t>
            </a:r>
            <a:r>
              <a:rPr sz="760" i="1">
                <a:solidFill>
                  <a:srgbClr val="556A83"/>
                </a:solidFill>
                <a:latin typeface="Arial"/>
              </a:rPr>
              <a:t>   (Table 1)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11   </a:t>
            </a:r>
            <a:r>
              <a:rPr sz="919">
                <a:solidFill>
                  <a:srgbClr val="314359"/>
                </a:solidFill>
                <a:latin typeface="Arial"/>
              </a:rPr>
              <a:t>Why mid-cap management listens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12   </a:t>
            </a:r>
            <a:r>
              <a:rPr sz="919">
                <a:solidFill>
                  <a:srgbClr val="314359"/>
                </a:solidFill>
                <a:latin typeface="Arial"/>
              </a:rPr>
              <a:t>What separates a great engaged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706880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choose Athanase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2097024"/>
            <a:ext cx="4279499" cy="5169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1   Team &amp; operations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1.1   </a:t>
            </a:r>
            <a:r>
              <a:rPr sz="64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1.2   </a:t>
            </a:r>
            <a:r>
              <a:rPr sz="640">
                <a:solidFill>
                  <a:srgbClr val="314359"/>
                </a:solidFill>
                <a:latin typeface="Arial"/>
              </a:rPr>
              <a:t>An integrated team, 20 years together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1.3   </a:t>
            </a:r>
            <a:r>
              <a:rPr sz="640">
                <a:solidFill>
                  <a:srgbClr val="314359"/>
                </a:solidFill>
                <a:latin typeface="Arial"/>
              </a:rPr>
              <a:t>The people behind the track record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1.4   </a:t>
            </a:r>
            <a:r>
              <a:rPr sz="640">
                <a:solidFill>
                  <a:srgbClr val="314359"/>
                </a:solidFill>
                <a:latin typeface="Arial"/>
              </a:rPr>
              <a:t>A risk system that engineers out permanent loss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1.5   </a:t>
            </a:r>
            <a:r>
              <a:rPr sz="640">
                <a:solidFill>
                  <a:srgbClr val="314359"/>
                </a:solidFill>
                <a:latin typeface="Arial"/>
              </a:rPr>
              <a:t>The ownership playbook, honed over 38 investments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2   The opportunity &amp; our edge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2.1   </a:t>
            </a:r>
            <a:r>
              <a:rPr sz="640">
                <a:solidFill>
                  <a:srgbClr val="314359"/>
                </a:solidFill>
                <a:latin typeface="Arial"/>
              </a:rPr>
              <a:t>The inefficiency Athanase harvests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2.2   </a:t>
            </a:r>
            <a:r>
              <a:rPr sz="640">
                <a:solidFill>
                  <a:srgbClr val="314359"/>
                </a:solidFill>
                <a:latin typeface="Arial"/>
              </a:rPr>
              <a:t>We don’t buy broken companies — we buy hidden cores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2.3   </a:t>
            </a:r>
            <a:r>
              <a:rPr sz="640">
                <a:solidFill>
                  <a:srgbClr val="314359"/>
                </a:solidFill>
                <a:latin typeface="Arial"/>
              </a:rPr>
              <a:t>Quality-core constructivism — how we differ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2.4   </a:t>
            </a:r>
            <a:r>
              <a:rPr sz="640">
                <a:solidFill>
                  <a:srgbClr val="314359"/>
                </a:solidFill>
                <a:latin typeface="Arial"/>
              </a:rPr>
              <a:t>We don’t need to be right more than ~50%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4)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2.5   </a:t>
            </a:r>
            <a:r>
              <a:rPr sz="640">
                <a:solidFill>
                  <a:srgbClr val="314359"/>
                </a:solidFill>
                <a:latin typeface="Arial"/>
              </a:rPr>
              <a:t>The same playbook as mid-market PE — without its costs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5)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2.6   </a:t>
            </a:r>
            <a:r>
              <a:rPr sz="640">
                <a:solidFill>
                  <a:srgbClr val="314359"/>
                </a:solidFill>
                <a:latin typeface="Arial"/>
              </a:rPr>
              <a:t>Why the specialist, not the household name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6)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3   How we invest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3.1   </a:t>
            </a:r>
            <a:r>
              <a:rPr sz="640">
                <a:solidFill>
                  <a:srgbClr val="314359"/>
                </a:solidFill>
                <a:latin typeface="Arial"/>
              </a:rPr>
              <a:t>How decisions are made: three tollgates, clear owners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3.2   </a:t>
            </a:r>
            <a:r>
              <a:rPr sz="640">
                <a:solidFill>
                  <a:srgbClr val="314359"/>
                </a:solidFill>
                <a:latin typeface="Arial"/>
              </a:rPr>
              <a:t>Sourcing &amp; screening: from ~7,200 names to a shortlist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3.3   </a:t>
            </a:r>
            <a:r>
              <a:rPr sz="640">
                <a:solidFill>
                  <a:srgbClr val="314359"/>
                </a:solidFill>
                <a:latin typeface="Arial"/>
              </a:rPr>
              <a:t>Research &amp; due diligence: four analytical steps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3.4   </a:t>
            </a:r>
            <a:r>
              <a:rPr sz="640">
                <a:solidFill>
                  <a:srgbClr val="314359"/>
                </a:solidFill>
                <a:latin typeface="Arial"/>
              </a:rPr>
              <a:t>Decision, execution and board engagement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4   Risk, honestly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4.1   </a:t>
            </a:r>
            <a:r>
              <a:rPr sz="640">
                <a:solidFill>
                  <a:srgbClr val="314359"/>
                </a:solidFill>
                <a:latin typeface="Arial"/>
              </a:rPr>
              <a:t>A risk system built to avoid permanent loss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4.2   </a:t>
            </a:r>
            <a:r>
              <a:rPr sz="640">
                <a:solidFill>
                  <a:srgbClr val="314359"/>
                </a:solidFill>
                <a:latin typeface="Arial"/>
              </a:rPr>
              <a:t>The visible risks are the engine — not the cost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4.3   </a:t>
            </a:r>
            <a:r>
              <a:rPr sz="640">
                <a:solidFill>
                  <a:srgbClr val="314359"/>
                </a:solidFill>
                <a:latin typeface="Arial"/>
              </a:rPr>
              <a:t>A non-linear path — honestly priced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4)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4.4   </a:t>
            </a:r>
            <a:r>
              <a:rPr sz="640">
                <a:solidFill>
                  <a:srgbClr val="314359"/>
                </a:solidFill>
                <a:latin typeface="Arial"/>
              </a:rPr>
              <a:t>Risk reframing for the investment committee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7)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4.5   </a:t>
            </a:r>
            <a:r>
              <a:rPr sz="640">
                <a:solidFill>
                  <a:srgbClr val="314359"/>
                </a:solidFill>
                <a:latin typeface="Arial"/>
              </a:rPr>
              <a:t>Why an allocation here is not career-ending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5   The 20-year track record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5.1   </a:t>
            </a:r>
            <a:r>
              <a:rPr sz="640">
                <a:solidFill>
                  <a:srgbClr val="314359"/>
                </a:solidFill>
                <a:latin typeface="Arial"/>
              </a:rPr>
              <a:t>Proof: outperformance with downside protection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5)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5.2   </a:t>
            </a:r>
            <a:r>
              <a:rPr sz="640">
                <a:solidFill>
                  <a:srgbClr val="314359"/>
                </a:solidFill>
                <a:latin typeface="Arial"/>
              </a:rPr>
              <a:t>AIP Fund II — transactions (2015–present)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8)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5.3   </a:t>
            </a:r>
            <a:r>
              <a:rPr sz="640">
                <a:solidFill>
                  <a:srgbClr val="314359"/>
                </a:solidFill>
                <a:latin typeface="Arial"/>
              </a:rPr>
              <a:t>Prior period — transactions (2006–2014)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9)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5.4   </a:t>
            </a:r>
            <a:r>
              <a:rPr sz="640">
                <a:solidFill>
                  <a:srgbClr val="314359"/>
                </a:solidFill>
                <a:latin typeface="Arial"/>
              </a:rPr>
              <a:t>Earlier deals — part of the team (1996–2006)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10)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5.5   </a:t>
            </a:r>
            <a:r>
              <a:rPr sz="640">
                <a:solidFill>
                  <a:srgbClr val="314359"/>
                </a:solidFill>
                <a:latin typeface="Arial"/>
              </a:rPr>
              <a:t>Independently validated: 20 years, net of every fee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5.6   </a:t>
            </a:r>
            <a:r>
              <a:rPr sz="640">
                <a:solidFill>
                  <a:srgbClr val="314359"/>
                </a:solidFill>
                <a:latin typeface="Arial"/>
              </a:rPr>
              <a:t>Repeatable and conviction-sized — not lucky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5.7   </a:t>
            </a:r>
            <a:r>
              <a:rPr sz="640">
                <a:solidFill>
                  <a:srgbClr val="314359"/>
                </a:solidFill>
                <a:latin typeface="Arial"/>
              </a:rPr>
              <a:t>Why a non-linear path won’t get you fired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6   What it means for your portfolio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6.1   </a:t>
            </a:r>
            <a:r>
              <a:rPr sz="640">
                <a:solidFill>
                  <a:srgbClr val="314359"/>
                </a:solidFill>
                <a:latin typeface="Arial"/>
              </a:rPr>
              <a:t>What it does to an allocator’s portfolio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6)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6.2   </a:t>
            </a:r>
            <a:r>
              <a:rPr sz="640">
                <a:solidFill>
                  <a:srgbClr val="314359"/>
                </a:solidFill>
                <a:latin typeface="Arial"/>
              </a:rPr>
              <a:t>Lower downside risk compounds into better outcomes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6.3   </a:t>
            </a:r>
            <a:r>
              <a:rPr sz="640">
                <a:solidFill>
                  <a:srgbClr val="314359"/>
                </a:solidFill>
                <a:latin typeface="Arial"/>
              </a:rPr>
              <a:t>A complement to global equities, not a duplicate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7)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6.4   </a:t>
            </a:r>
            <a:r>
              <a:rPr sz="640">
                <a:solidFill>
                  <a:srgbClr val="314359"/>
                </a:solidFill>
                <a:latin typeface="Arial"/>
              </a:rPr>
              <a:t>What a blend does to the whole portfolio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8)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7   Versus private equity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7.1   </a:t>
            </a:r>
            <a:r>
              <a:rPr sz="640">
                <a:solidFill>
                  <a:srgbClr val="314359"/>
                </a:solidFill>
                <a:latin typeface="Arial"/>
              </a:rPr>
              <a:t>What allocators actually earn from private equity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7.2   </a:t>
            </a:r>
            <a:r>
              <a:rPr sz="640">
                <a:solidFill>
                  <a:srgbClr val="314359"/>
                </a:solidFill>
                <a:latin typeface="Arial"/>
              </a:rPr>
              <a:t>Switching a private-equity sleeve into Athanase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9)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7.3   </a:t>
            </a:r>
            <a:r>
              <a:rPr sz="640">
                <a:solidFill>
                  <a:srgbClr val="314359"/>
                </a:solidFill>
                <a:latin typeface="Arial"/>
              </a:rPr>
              <a:t>The volatility gap is settled in the literature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10)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7.4   </a:t>
            </a:r>
            <a:r>
              <a:rPr sz="640">
                <a:solidFill>
                  <a:srgbClr val="314359"/>
                </a:solidFill>
                <a:latin typeface="Arial"/>
              </a:rPr>
              <a:t>Same headline volatility — far lower real risk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7.5   </a:t>
            </a:r>
            <a:r>
              <a:rPr sz="640">
                <a:solidFill>
                  <a:srgbClr val="314359"/>
                </a:solidFill>
                <a:latin typeface="Arial"/>
              </a:rPr>
              <a:t>PE’s “diversification” is an artefact — Athanase’s is real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7.6   </a:t>
            </a:r>
            <a:r>
              <a:rPr sz="640">
                <a:solidFill>
                  <a:srgbClr val="314359"/>
                </a:solidFill>
                <a:latin typeface="Arial"/>
              </a:rPr>
              <a:t>When the tide goes out: the drawdown trap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7.7   </a:t>
            </a:r>
            <a:r>
              <a:rPr sz="640">
                <a:solidFill>
                  <a:srgbClr val="314359"/>
                </a:solidFill>
                <a:latin typeface="Arial"/>
              </a:rPr>
              <a:t>Responsible ownership, by construction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  ·  THE ASSET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1 Why now — the easy decade for beta is over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Equities are expensive on almost every measure, and the disinflation and zero-rate tailwind that lifted all assets has reversed.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EXPENSIVE ON MOST MEASURES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Shiller CAPE near ~36× — close to the dot-com extreme, and roughly double the long-run ~17×.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Forward P/E ~22× against a ~16× long-run average; the equity risk premium is compressed to multi-decade lows.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Most of the 2010s’ return came from re-rating — paying more per dollar of earnings — not earnings growth. That lever is largely spent.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MACRO TAILWIND HAS REVERSED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The zero-rate, disinflationary backdrop that lifted every asset for a decade has reversed.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Deglobalisation, fiscal deficits and demographics point to structurally higher inflation and rates — higher for longer.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 higher cost of capital compresses valuations and punishes long-duration, unprofitable growth — the opposite of the last cycle.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When beta is priced for perfection and the macro tailwind has reversed, index returns are set to be lower and riskier — the moment idiosyncratic, valuation-disciplined returns matter most.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Illustrative, recent data (2024–25); sources: R. Shiller (Yale) CAPE; S&amp;P Dow Jones Indices; consensus forward earnings. Valuations move — the regime, not the decimal, is the point.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2 Passive has become a concentrated bet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cap-weighted index puts the most money into the stocks that have already risen the most — concentration and factor risk dressed as diversification.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53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of the S&amp;P 500 in its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10 largest stocks*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47960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47960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960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in the “Magnificent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Seven” alone*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47267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47267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267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~50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since US equity was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this concentrated*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3969715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Cap-weighting buys high by design.</a:t>
            </a:r>
            <a:r>
              <a:rPr sz="1120">
                <a:solidFill>
                  <a:srgbClr val="0E1620"/>
                </a:solidFill>
                <a:latin typeface="Arial"/>
              </a:rPr>
              <a:t>  The more a stock rises, the more of it you must own — the opposite of buy-low discipline.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A concentrated factor bet.</a:t>
            </a:r>
            <a:r>
              <a:rPr sz="1120">
                <a:solidFill>
                  <a:srgbClr val="0E1620"/>
                </a:solidFill>
                <a:latin typeface="Arial"/>
              </a:rPr>
              <a:t>  The “diversified” index is now a leveraged position in large-cap growth, momentum and a single theme (AI) — not diversification.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Breadth is fragile.</a:t>
            </a:r>
            <a:r>
              <a:rPr sz="1120">
                <a:solidFill>
                  <a:srgbClr val="0E1620"/>
                </a:solidFill>
                <a:latin typeface="Arial"/>
              </a:rPr>
              <a:t>  A stumble in a handful of mega-caps now moves the entire index; the rest of the market has been left behind.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*Illustrative, recent data (2024–25); source: S&amp;P Dow Jones Indices. Index concentration and factor tilts change over time.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3 Passive flows cut both ways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Index buying has grown from a niche to the majority of US equity fund assets — and the same price-insensitive mechanics can force selling on the way down.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pic>
        <p:nvPicPr>
          <p:cNvPr id="9" name="Picture 8" descr="mc_pass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22" y="2340864"/>
            <a:ext cx="4498960" cy="264644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57345" y="2292096"/>
            <a:ext cx="4096614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WHY IT CUTS BOTH WAYS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Markets are inelastic — a $1 flow can move aggregate value by ~$5; flows increasingly set the level (Gabaix &amp; Koijen, 2021).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ETFs raise the volatility of the stocks they hold (Ben-David et al., 2018); index inclusion inflates prices and comovement (Wurgler, 2011).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reported passive share understates the true price-insensitive base (Chinco &amp; Sammon, 2024).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multiplier runs in reverse: if flows slow, the most-owned mega-caps face mechanical selling — with few price-sensitive buyers left to absorb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concentration that flattered index returns on the way up is a forced-seller overhang on the way down — a risk you do not carry when returns come from company-specific change, not from flows.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8778459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Passive share approximate; sources: ICI, Morningstar (index funds + ETFs as a share of US equity fund assets). Research citations in references.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4 “Cheap” index exposure is not cheap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headline expense ratio is the smallest part of the cost — and you pay full price to own concentration and rich valuations.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COSTS YOU DON’T SEE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Bid-ask spreads and market impact on every trade — and on every index rebalance.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Index reconstitution forces buying additions high and selling deletions low, in size, on known dates.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Premium/discount to NAV, securities-lending give-up and tax drag all sit on top of the headline fee.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COST THAT MATTERS MOST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 3–9 bp fee looks cheap — but it buys the most expensive companies at peak weights, with no valuation discipline.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No one is improving the underlying businesses; you simply own crowded beta at full price.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“Cheap” fees on an expensive, concentrated portfolio are a false economy — the price you pay is the risk you take.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default “safe and cheap” choice now embeds maximum valuation and concentration risk — precisely why a valuation-disciplined, idiosyncratic return engine earns its place.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6291229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Large S&amp;P 500 ETF expense ratios are ~3–9 bps; total cost of ownership is higher once spreads, market impact, rebalancing and tax are included.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5 A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~7% announcement return.</a:t>
            </a:r>
            <a:r>
              <a:rPr sz="1240">
                <a:solidFill>
                  <a:srgbClr val="0E1620"/>
                </a:solidFill>
                <a:latin typeface="Arial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~10.2% around the 13D,</a:t>
            </a:r>
            <a:r>
              <a:rPr sz="1240">
                <a:solidFill>
                  <a:srgbClr val="0E1620"/>
                </a:solidFill>
                <a:latin typeface="Arial"/>
              </a:rPr>
              <a:t>  plus a further ~11.4% over the next year for engaged-owner targets (Klein &amp; Zur, 2009).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No long-term give-back.</a:t>
            </a:r>
            <a:r>
              <a:rPr sz="1240">
                <a:solidFill>
                  <a:srgbClr val="0E1620"/>
                </a:solidFill>
                <a:latin typeface="Arial"/>
              </a:rPr>
              <a:t>  ~2,000 interventions show no negative drift and no “pump-and-dump” (Bebchuk, Brav &amp; Jiang,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Real, not financial, value.</a:t>
            </a:r>
            <a:r>
              <a:rPr sz="1240">
                <a:solidFill>
                  <a:srgbClr val="0E1620"/>
                </a:solidFill>
                <a:latin typeface="Arial"/>
              </a:rPr>
              <a:t>  Production efficiency improves in the three years after intervention (Brav, Jiang &amp; Kim,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Idiosyncratic alpha.</a:t>
            </a:r>
            <a:r>
              <a:rPr sz="1240">
                <a:solidFill>
                  <a:srgbClr val="0E1620"/>
                </a:solidFill>
                <a:latin typeface="Arial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6 Aligned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Patient capital wins.</a:t>
            </a:r>
            <a:r>
              <a:rPr sz="1320">
                <a:solidFill>
                  <a:srgbClr val="0E1620"/>
                </a:solidFill>
                <a:latin typeface="Arial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Stewardship is the duty.</a:t>
            </a:r>
            <a:r>
              <a:rPr sz="1320">
                <a:solidFill>
                  <a:srgbClr val="0E1620"/>
                </a:solidFill>
                <a:latin typeface="Arial"/>
              </a:rPr>
              <a:t>  Engaged ownership expresses fiduciary obligation (UK Stewardship Code; UN PRI) rather than conflicting with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Mission alignment.</a:t>
            </a:r>
            <a:r>
              <a:rPr sz="1320">
                <a:solidFill>
                  <a:srgbClr val="0E1620"/>
                </a:solidFill>
                <a:latin typeface="Arial"/>
              </a:rPr>
              <a:t>  Demanding accountability and good governance reflects institutional values and is defensible to beneficiaries.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Engagement as risk management.</a:t>
            </a:r>
            <a:r>
              <a:rPr sz="1320">
                <a:solidFill>
                  <a:srgbClr val="0E1620"/>
                </a:solidFill>
                <a:latin typeface="Arial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7 Diversification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distinct return engine.</a:t>
            </a:r>
            <a:r>
              <a:rPr sz="1320">
                <a:solidFill>
                  <a:srgbClr val="0E1620"/>
                </a:solidFill>
                <a:latin typeface="Arial"/>
              </a:rPr>
              <a:t>  Alpha driven by proxy contests, spin-offs and capital-return programmes — largely independent of rates, growth and inflation.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Diversifies the equity book.</a:t>
            </a:r>
            <a:r>
              <a:rPr sz="1320">
                <a:solidFill>
                  <a:srgbClr val="0E1620"/>
                </a:solidFill>
                <a:latin typeface="Arial"/>
              </a:rPr>
              <a:t>  Small- and mid-cap value and special situations, typically underweight in institutional portfolios.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Counter-cyclical dry powder.</a:t>
            </a:r>
            <a:r>
              <a:rPr sz="1320">
                <a:solidFill>
                  <a:srgbClr val="0E1620"/>
                </a:solidFill>
                <a:latin typeface="Arial"/>
              </a:rPr>
              <a:t>  Dislocations create the next targets; patient capital deploys into weakness rather than selling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PE-style upside, public-market terms.</a:t>
            </a:r>
            <a:r>
              <a:rPr sz="1320">
                <a:solidFill>
                  <a:srgbClr val="0E1620"/>
                </a:solidFill>
                <a:latin typeface="Arial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8 Where the allocation fits: three legitimate homes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ownership does not need a bucket of its own. It can be funded from public equity, event-driven hedge funds or private equity — each defensible, depending on what it replaces.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Public equity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concentrated, active equity sleeve — long-only public companies with daily pricing and full transparency.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Adds idiosyncratic, governance-driven alpha to a beta-dominated equity book, while keeping liquidity, transparency and low fees inside an existing equity mandate.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Higher active risk than an index sleeve — it is meant to differ from the benchmark.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Event-driven hedge funds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catalyst strategy — returns come from proxy contests, board change, spin-offs, M&amp;A and capital-return programmes, not market direction.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return driver is event-specific and largely independent of rates and growth; it diversifies an absolute-return book and matches how the alpha is actually generated.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More concentrated and longer-horizon than a typical multi-strategy fund; positions are owned outright, not hedged.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Private equity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PE-style value creation — board influence, operational improvement and multi-year holds — executed in public markets.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same engaged-ownership return engine as private equity, but with public-market liquidity, daily transparency, lower fees and no J-curve or lock-up.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Marked to market daily — honest volatility instead of smoothed quarterly appraisals (see Part II).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291072"/>
            <a:ext cx="873456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291072"/>
            <a:ext cx="848584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same strategy, three valid homes — fund it wherever engaged ownership is the better risk-adjusted alternative to what it replaces.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9 Governance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Applied governance.</a:t>
            </a:r>
            <a:r>
              <a:rPr sz="1320">
                <a:solidFill>
                  <a:srgbClr val="0E1620"/>
                </a:solidFill>
                <a:latin typeface="Arial"/>
              </a:rPr>
              <a:t>  Board independence, pay-for-performance and capital discipline are the “G” of ESG put into practice.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Constructive engagement.</a:t>
            </a:r>
            <a:r>
              <a:rPr sz="1320">
                <a:solidFill>
                  <a:srgbClr val="0E1620"/>
                </a:solidFill>
                <a:latin typeface="Arial"/>
              </a:rPr>
              <a:t>  Return and stewardship objectives expressed through one allocation, disciplined by a value thesis.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positive externality.</a:t>
            </a:r>
            <a:r>
              <a:rPr sz="1320">
                <a:solidFill>
                  <a:srgbClr val="0E1620"/>
                </a:solidFill>
                <a:latin typeface="Arial"/>
              </a:rPr>
              <a:t>  Governance precedents improve the quality of the beta the whole portfolio owns.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Defensible to stakeholders.</a:t>
            </a:r>
            <a:r>
              <a:rPr sz="1320">
                <a:solidFill>
                  <a:srgbClr val="0E1620"/>
                </a:solidFill>
                <a:latin typeface="Arial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10 Why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8142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11 Why mid-cap management listens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structural reason engaged ownership works here: capable operators with predictable blind spots, and the room to act on good advice.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BLIND SPOT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Mid-cap CEOs are usually promoted from sales or operations — strong in their domain, first-time chief executives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have not run capital allocation, M&amp;A, financing or board strategy before — predictable, correctable gaps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know it — so credible, experienced owners are welcomed, not resisted, unlike at entrenched large-caps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WHAT IT MEANS FOR AN ENGAGED OWNER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 board seat is genuinely productive — advice is acted on, not filtered through layers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Change is collaborative, not a proxy fight — faster, cheaper, less headline risk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owner supplies exactly the missing experience: capital discipline, focus and a wider strategic lens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93536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0599" y="6193536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Capable management with a known blind spot, in a company small enough to change: the conditions under which engaged ownership compounds.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12 What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repeatable process</a:t>
            </a:r>
            <a:r>
              <a:rPr sz="1240">
                <a:solidFill>
                  <a:srgbClr val="0E1620"/>
                </a:solidFill>
                <a:latin typeface="Arial"/>
              </a:rPr>
              <a:t>  for sourcing and underwriting correctable, undervalued companies.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Genuine operating capability,</a:t>
            </a:r>
            <a:r>
              <a:rPr sz="1240">
                <a:solidFill>
                  <a:srgbClr val="0E1620"/>
                </a:solidFill>
                <a:latin typeface="Arial"/>
              </a:rPr>
              <a:t>  not just financial engineering — the experience to control the outcome from the boardroom.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track record of outcomes,</a:t>
            </a:r>
            <a:r>
              <a:rPr sz="1240">
                <a:solidFill>
                  <a:srgbClr val="0E1620"/>
                </a:solidFill>
                <a:latin typeface="Arial"/>
              </a:rPr>
              <a:t>  board seats won and value delivered across multiple market cycles.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Aligned economics</a:t>
            </a:r>
            <a:r>
              <a:rPr sz="1240">
                <a:solidFill>
                  <a:srgbClr val="0E1620"/>
                </a:solidFill>
                <a:latin typeface="Arial"/>
              </a:rPr>
              <a:t>  and a stable, long-tenured team that invests its own capital.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Disciplined entry and risk control</a:t>
            </a:r>
            <a:r>
              <a:rPr sz="1240">
                <a:solidFill>
                  <a:srgbClr val="0E1620"/>
                </a:solidFill>
                <a:latin typeface="Arial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6291072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 ·  AMONG ENGAGED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1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Team &amp;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   </a:t>
            </a:r>
            <a:r>
              <a:rPr sz="1000" b="1">
                <a:solidFill>
                  <a:srgbClr val="FFFFFF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1.1 Athanase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38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16.3%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6.2%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1.2 An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38 companies managed,</a:t>
            </a:r>
            <a:r>
              <a:rPr sz="1160">
                <a:solidFill>
                  <a:srgbClr val="0E1620"/>
                </a:solidFill>
                <a:latin typeface="Arial"/>
              </a:rPr>
              <a:t>  with a proven ability to tell a “strong core” from a “prestige trap”.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30+ public board seats</a:t>
            </a:r>
            <a:r>
              <a:rPr sz="1160">
                <a:solidFill>
                  <a:srgbClr val="0E162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dual lens: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1.3 The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CEO/CIO of Custos, Investment AB Öresund and Creades; CEO of Brokk; investment banker at Lehman Brothers and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1.4 A risk system that engineers out permanent loss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Risk is controlled before the investment is made — through valuation, diversification and influence — not managed after the fact.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BUILT ON THREE PILLARS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701747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76" y="2701747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015" y="2838297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Predictability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015" y="3150412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Only durable, market-leading cores in slow-moving industries — businesses whose future demand we can underwrite.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76" y="395020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2076" y="395020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3015" y="4086758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015" y="4398873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hard valuation floor: value the rectifiable core, assign zero to “growth-trap” divisions — a 30–40% margin of safety vs a PE bidder.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76" y="519866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76" y="519866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015" y="5335219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Influence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015" y="5647334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board seat as the “kill switch” — the ability to stop one bad decision lowers risk below any passive or active manager.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921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AUTOMATIC GUARDRAILS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921" y="2701747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Core &amp; satellite: a 30-stock equal-weighted index compounds all unallocated capital; 8–12 concentrated ideas sit on top.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93921" y="3599078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Entry gauntlet: every idea must clear a ≥12% expected IRR and ≤20% probability of a 30% drawdown before funding.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93921" y="4496409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Eleven standardised risk tags cap any single macro/business factor at ~20% of the concentrated book.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921" y="5393740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Hard triggers at −10% / −20% / −30% force thesis review and exit — removing emotion and PM bias.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system is designed to make permanent capital loss structurally unlikely — not merely to react to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1.5 The ownership playbook, honed over 38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38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2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opportunity &amp;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2.1 The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2.2 We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SUM-OF-THE-PARTS (ILLUSTRATIVE, INDEXED)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We remove the drag and refocus capital on the core — positive selection on a concealed asset, not negative selection on a lemon.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2.3 Quality-core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2.4 We don’t need to be right more than 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Because we buy at a discount, not at a 40% control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84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806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537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Private Equity (take-private)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960" y="2292096"/>
            <a:ext cx="2816422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690" y="2292096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Athanase (engaged owner)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53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84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Entry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806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537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$140  (market + 40% premium)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960" y="2896819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690" y="2896819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$100  (exhaustion price)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53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84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Holding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806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537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5 years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960" y="3501542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690" y="3501542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3 years (rerating cycle)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53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84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Value growth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806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537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+148% total growth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960" y="4106265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690" y="4106265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+73% total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53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84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Operational success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806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537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~85–100% of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960" y="4710988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690" y="4710988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~45–55% of thesis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53" y="5510784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2.5 The same playbook as mid-market PE — without its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value creation in mid-cap businesses, but in a public wrapper that removes private equity’s structural drags.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3511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 private equity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engaged owner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643225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643225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643225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643225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Market + ~40% control premium — pays up front for the right to fix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643225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643225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discount to the core’s value at “shareholder exhaustion” — gets that right for free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26745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26745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26745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26745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10-year lock-up, blind pool; capital trapped until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26745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26745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Listed, daily-priced positions — LPs keep liquidity and can exit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3891686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389168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Fees &amp; capital efficiency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3891686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389168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2&amp;20 on committed capital; fee drag while undeployed dry powder waits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3891686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389168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Lower fees; capital is deployed, not sitting in a capital-call queue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51591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51591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The J-curve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51591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51591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Opaque, model-marked write-downs before any mark-up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51591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51591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Live and visible — a tradable entry point, not a hidden cost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140147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14014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Transparency &amp; control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140147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14014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Annual mark-to-model; thesis underwritten once at close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140147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14014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Daily public scoreboard; board control secures cash flow, capex and pay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2346" y="5764377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0130" y="576437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Scalability for PE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21461" y="5764377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09245" y="576437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Rational to skip: 10× more capital per buyout, richer fees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421" y="5764377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57206" y="576437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Exactly why the niche stays open — little competition for these assets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2346" y="6564172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Private-equity-style operational turnarounds, imported into public markets — keeping the liquidity, transparency and lower fees PE gives up.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2.6 Why the specialist, not the household name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Recommending Athanase over a brand name is a choice for structural alpha over institutional inertia.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463076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4761" y="2292096"/>
            <a:ext cx="1272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1865422" y="2292096"/>
            <a:ext cx="3694268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7838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household name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691" y="2292096"/>
            <a:ext cx="3694268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2106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Athanase — the specialist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4761" y="2701747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Scale &amp; influence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65422" y="2701747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67838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$10bn+ AUM forces them into large- and mega-caps, where one owner rarely shifts the agenda and growth is incremental.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59691" y="2701747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2106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Mid-market (€50m–€3bn), where a single board seat changes the outcome — the high-return, low-competition lane the giants left behind.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579571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4761" y="3579571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Return source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65422" y="3579571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67838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Large buyouts are leveraged beta — ~0.89 correlated to small/mid equities once de-smoothed; driven by GDP, rates and multiples.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59691" y="3579571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2106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Idiosyncratic, event-driven alpha at 0.44 correlation — a genuine diversifier, not a duplicate of your equity book.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457395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761" y="4457395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&amp; structure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65422" y="4457395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967838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~40% control premium up front, a 10-year blind-pool lock-up, and fees on undeployed dry powder.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59691" y="4457395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2106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Entry at “shareholder exhaustion” — the turnaround effectively for free — with daily liquidity and zero capital-call liability.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5335219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4761" y="5335219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What you’re buying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65422" y="5335219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967838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brand — but brand recognition does not compound capital.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59691" y="5335219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2106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Asymmetric capture (93% up / 43% down) and a validated 16.3% net, +7% worst-entry record — institutional process, not a logo.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6330086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53" y="6330086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recognition does not compound capital — asymmetric capture does. The edge is the very lane the household names had to abandon as they scaled.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2346" y="7003084"/>
            <a:ext cx="9217382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De-smoothed large-buyout correlation to small/mid-cap equities ~0.89 (Two Sigma / Venn, 2024; Couts, Gonçalves &amp; Rossi, 2020; Boyer et al., 2018). Athanase correlation 0.44 (real). See references.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3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How we invest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   </a:t>
            </a:r>
            <a:r>
              <a:rPr sz="1000" b="1">
                <a:solidFill>
                  <a:srgbClr val="FFFFFF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3.1 How decisions are made: three tollgates, clear owners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idea passes through the same three gates — each with an explicit bar and a named decision-maker. The process is documented, governed and repeatable.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1 · Valuation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SOURCING &amp; SCREENING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it cheap enough even if we change nothing?”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The core business alone justifies the price — a 30–40% margin of safety versus a private-equity bidder.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2 · The plan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RESEARCH &amp; DUE DILIGENCE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the improvement plan real — and can we deliver 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Upside quantified across the six value levers and validated with management and industry experts, with a credible path to a board seat.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Deal lead + Head of Research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3 · Go / No-Go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INVESTMENT COMMITTEE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“Right risk, right size, right fit?”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Within risk and portfolio limits, conviction-sized, with no better use of the capital available.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Committee — CIO + PMs; risk independent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047232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047232"/>
            <a:ext cx="8485844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Repeatable by design — the same gates the team has run since 2006, a written investment case, minuted decisions, and every holding re-underwritten each quarter. About 1 in 1,000 screened names is bought.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553" y="6827520"/>
            <a:ext cx="877845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A “no” at any gate ends the process — most ideas are rejected at Tollgate 1 or 2, long before capital is at risk.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3.2 Sourcing &amp; screening: from ~7,200 names to a shortlist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Five sourcing channels feed a funnel that narrows the whole European listed market to a handful of candidates — before a single krona is committed.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FIVE SOURCING CHANNELS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Network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Own research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Interviews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Company visits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External experts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15318" y="334548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7,200   </a:t>
            </a:r>
            <a:r>
              <a:rPr sz="880">
                <a:solidFill>
                  <a:srgbClr val="0E1620"/>
                </a:solidFill>
                <a:latin typeface="Arial"/>
              </a:rPr>
              <a:t>listed companies in selected European markets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54241" y="3950208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2,800   </a:t>
            </a:r>
            <a:r>
              <a:rPr sz="880">
                <a:solidFill>
                  <a:srgbClr val="0E1620"/>
                </a:solidFill>
                <a:latin typeface="Arial"/>
              </a:rPr>
              <a:t>with a market cap between €50m and €3bn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93164" y="4554931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2,500   </a:t>
            </a:r>
            <a:r>
              <a:rPr sz="880">
                <a:solidFill>
                  <a:srgbClr val="0E1620"/>
                </a:solidFill>
                <a:latin typeface="Arial"/>
              </a:rPr>
              <a:t>in our selected sectors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32087" y="515965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Shortlist   </a:t>
            </a:r>
            <a:r>
              <a:rPr sz="880">
                <a:solidFill>
                  <a:srgbClr val="0E1620"/>
                </a:solidFill>
                <a:latin typeface="Arial"/>
              </a:rPr>
              <a:t>suitable shareholder base for constructive ownership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5822899"/>
            <a:ext cx="8873559" cy="5657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5230" y="5822899"/>
            <a:ext cx="8558998" cy="565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First tollgate — is the valuation attractive even if we change nothing? We only proceed when the core alone justifies the price.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Research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3.3 Research &amp; due diligence: four analytical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30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Idea generation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Internal research, our industry network and external advisors — plus meetings with company management, board members or former employees, and dialogue with other investors.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Financial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In-depth analysis of public financials; comparison with industry standards and similar businesses; interviews with senior and subsidiary management and with competitors; and an estimate of the optimal capital structure and M&amp;A headroom.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Operational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Interviews with management and selected board members; discussions across our network of industry leaders; visits to competitors, customers and suppliers; and interviews with former employees and board members.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Validation of the operating 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Value the potential operational and structural improvements; pressure-test the plan with management and industry experts and secure their commitment; and select potential board members (and, if needed, a new management team).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Second tollgate — value the improvement programme across six levers: organic growth, M&amp;A, cost, structural, operational and financial.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Execute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3.4 Decision, execution and board engagement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31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team meeting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Discuss the analysis, the recommended size of the investment, and the risk and portfolio impact.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6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committee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Review the recommendation, the stake size and the risk and portfolio impact, and challenge the team — the third tollgate and the final Go / No-Go decision.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7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Trade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Work with our prime brokers to build the stake in the most cost- and time-efficient way, tracking any new information that could change the case.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8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Inform company, board &amp; stakeholders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Brief the Chairman and CEO, present the case to co-investors, secure at least one board seat for the Athanase team, and align subsidiary managers behind the plan.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Roughly one investment a year clears all three tollgates. The board seat is the engine of both value creation and risk control.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4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Risk, honestly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   </a:t>
            </a:r>
            <a:r>
              <a:rPr sz="1000" b="1">
                <a:solidFill>
                  <a:srgbClr val="FFFFFF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4.1 A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4292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Automatic risk metrics (10/20/30% triggers) remove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4.2 The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“corporate raider” to “industrial constructivist”: reputational friction and the public J-curve source the alpha and protect it from arbitrage.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Friction is the catalyst.</a:t>
            </a:r>
            <a:r>
              <a:rPr sz="1160">
                <a:solidFill>
                  <a:srgbClr val="0E1620"/>
                </a:solidFill>
                <a:latin typeface="Arial"/>
              </a:rPr>
              <a:t>  Quiet engagement does not reprice a stock; public engagement forces the market to re-rate — and a 20-year reputation pulls sophisticated capital in behind us (the coattail effect).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discomfort is the moat.</a:t>
            </a:r>
            <a:r>
              <a:rPr sz="1160">
                <a:solidFill>
                  <a:srgbClr val="0E1620"/>
                </a:solidFill>
                <a:latin typeface="Arial"/>
              </a:rPr>
              <a:t>  Few managers have the industrial background and stamina to wage a multi-year campaign — so headline-shy capital leaves a persistent pricing inefficiency for those who will.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board seat de-risks the asset.</a:t>
            </a:r>
            <a:r>
              <a:rPr sz="1160">
                <a:solidFill>
                  <a:srgbClr val="0E1620"/>
                </a:solidFill>
                <a:latin typeface="Arial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J-curve is tradable, not painful.</a:t>
            </a:r>
            <a:r>
              <a:rPr sz="1160">
                <a:solidFill>
                  <a:srgbClr val="0E1620"/>
                </a:solidFill>
                <a:latin typeface="Arial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Public scoreboard, daily.</a:t>
            </a:r>
            <a:r>
              <a:rPr sz="1160">
                <a:solidFill>
                  <a:srgbClr val="0E1620"/>
                </a:solidFill>
                <a:latin typeface="Arial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4.3 A non-linear path — honestly 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Public engaged ownership marks to market every day. The destination is the multiple; the route is rarely a straight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535537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Value moves over the holding period.</a:t>
            </a:r>
            <a:r>
              <a:rPr sz="1080">
                <a:solidFill>
                  <a:srgbClr val="0E1620"/>
                </a:solidFill>
                <a:latin typeface="Arial"/>
              </a:rPr>
              <a:t>  A 5× outcome is realised over years — the interim mark moves with the market, the cycle and the campaign. It is a journey, not a coupon.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PE looks smooth because it is appraised, not traded.</a:t>
            </a:r>
            <a:r>
              <a:rPr sz="1080">
                <a:solidFill>
                  <a:srgbClr val="0E1620"/>
                </a:solidFill>
                <a:latin typeface="Arial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Same economics, honest optics.</a:t>
            </a:r>
            <a:r>
              <a:rPr sz="1080">
                <a:solidFill>
                  <a:srgbClr val="0E1620"/>
                </a:solidFill>
                <a:latin typeface="Arial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157345" y="2243328"/>
          <a:ext cx="4316075" cy="38039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57345" y="6144768"/>
            <a:ext cx="431607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4.4 Risk reframing for the investment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the committee sees on the surface — versus what it is actually underwriting.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3328499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the IC sees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67422" y="2292096"/>
            <a:ext cx="5523114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9837" y="2292096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it is actually underwriting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2838297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38" y="2838297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Reputational / headline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7422" y="2838297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69837" y="2838297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catalyst that forces repricing — and a moat that keeps competitors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3384499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38" y="3384499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Public J-curve &amp; mark-to-market drawdown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422" y="3384499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69837" y="3384499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A live, tradable entry into an asset already de-risked by board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930700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930700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~50% peak-to-trough swings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7422" y="3930700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69837" y="3930700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Optical volatility; two such drawdowns fully recovered (2010, 2020) · Sortino 2.40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22" y="4476902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338" y="4476902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Concentration in 8–12 names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67422" y="4476902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69837" y="4476902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Deliberate conviction sizing — the skill (85.7% hit on ≥10% names; +0.73)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023104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338" y="5023104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“Catching a falling knife”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67422" y="5023104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69837" y="5023104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Hard-floor valuation gates; entry below the value of the rectifiable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569305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5569305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Single-name dependence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67422" y="5569305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69837" y="5569305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One ≥5× MOIC win every ~2 years; competitive even excluding the largest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22" y="6261811"/>
            <a:ext cx="8851613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IC is not paying for safety. It is paying for proven willingness to take compensated discomfort — +6 percentage points per year, net of every fee, for 20 years.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4.5 Why an allocation here is not career-ending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three institutional anxieties — mark-to-market volatility, headline risk and concentration — each disarmed by the mechanics of the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37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Mark-to-market volatility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ISOLATED BY MANDATE DESIGN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Sized for immunity</a:t>
            </a:r>
            <a:r>
              <a:rPr sz="760">
                <a:solidFill>
                  <a:srgbClr val="0E1620"/>
                </a:solidFill>
                <a:latin typeface="Arial"/>
              </a:rPr>
              <a:t> — a 1–3% special-situations sleeve, so no single mark can dominate the fund or trigger board-level panic.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Pre-underwritten</a:t>
            </a:r>
            <a:r>
              <a:rPr sz="760">
                <a:solidFill>
                  <a:srgbClr val="0E1620"/>
                </a:solidFill>
                <a:latin typeface="Arial"/>
              </a:rPr>
              <a:t> — a ~50% drawdown tolerance agreed with the IC up front; reallocation triggers on manager turnover or style drift — never the share price.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capital-call trap</a:t>
            </a:r>
            <a:r>
              <a:rPr sz="760">
                <a:solidFill>
                  <a:srgbClr val="0E1620"/>
                </a:solidFill>
                <a:latin typeface="Arial"/>
              </a:rPr>
              <a:t> — unlike PE’s smoothed marks and the denominator effect, there is zero capital-call liability — you are never forced to sell liquid assets at the bottom.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Headline risk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REFRAMED AS FIDUCIARY STEWARDSHIP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Constructive, not confrontational</a:t>
            </a:r>
            <a:r>
              <a:rPr sz="760">
                <a:solidFill>
                  <a:srgbClr val="0E1620"/>
                </a:solidFill>
                <a:latin typeface="Arial"/>
              </a:rPr>
              <a:t> — quality-core constructivism — profitable market leaders that welcome capital discipline, not proxy fights.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Applied governance</a:t>
            </a:r>
            <a:r>
              <a:rPr sz="760">
                <a:solidFill>
                  <a:srgbClr val="0E1620"/>
                </a:solidFill>
                <a:latin typeface="Arial"/>
              </a:rPr>
              <a:t> — board independence, pay-for-performance and capital discipline are the “G” in ESG — turning hidden governance risk into a return engine.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Defensible</a:t>
            </a:r>
            <a:r>
              <a:rPr sz="760">
                <a:solidFill>
                  <a:srgbClr val="0E1620"/>
                </a:solidFill>
                <a:latin typeface="Arial"/>
              </a:rPr>
              <a:t> — aligned with UN PRI fiduciary duty and easy to explain to stakeholders.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Concentration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FLOORED BY HARDENED GUARDRAILS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60">
                <a:solidFill>
                  <a:srgbClr val="0E1620"/>
                </a:solidFill>
                <a:latin typeface="Arial"/>
              </a:rPr>
              <a:t> — every idea clears a tollgate where the core alone justifies the price: a structural 30–40% margin of safety.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Mechanized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automatic −10% / −20% / −30% force a thesis review and exit — removing PM emotion before a position spirals.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core-and-satellite buffer</a:t>
            </a:r>
            <a:r>
              <a:rPr sz="760">
                <a:solidFill>
                  <a:srgbClr val="0E1620"/>
                </a:solidFill>
                <a:latin typeface="Arial"/>
              </a:rPr>
              <a:t> — 8–12 conviction ideas sit on a 30-stock equal-weighted core that absorbs idiosyncratic shocks.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125260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9861" y="6125260"/>
            <a:ext cx="841269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Career risk is engineered out — sized so no mark dominates, governed so headlines read as stewardship, floored so concentration cannot blow up: a bad quarter is underwritten, not a surprise.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5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20-year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38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5.1 Proof: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39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What downside protection means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In the market’s down months Athanase fell ~1.5% on average versus the market’s ~3.8% — losing less than half as much when it matters.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Positive when the market wasn’t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Across the six worst years for global equities, Athanase outperformed in five — and stayed positive in two: +9% in 2015 and +0.3% in 2022, while the market fell −6% and −20%.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Why it compounds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Losing less in drawdowns leaves more capital working in the recovery — the engine behind 18× growth of capital vs 3.2× for the market since 2006.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5.2 AIP Fund II — transactions (2015–present)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Each position shown against its benchmark; invested capital weighted MOIC of 2.2x.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414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76" y="229209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2730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1253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806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4329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421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27944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3036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1560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53" y="2498871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76" y="249887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730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21253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806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4329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27944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13036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1560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53" y="2705646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7176" y="270564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62730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21253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25806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4329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421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7944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13036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71560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-1%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53" y="2912422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7176" y="291242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62730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1253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25806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4329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421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27944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6.2x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13036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1560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+59%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53" y="3119197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7176" y="311919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62730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1253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25806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4329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421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7944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13036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71560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+65%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53" y="3325973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76" y="332597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Tempest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62730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21253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25806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84329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421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27944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13036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71560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53" y="3532748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7176" y="353274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62730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21253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25806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4329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421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27944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13036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71560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53" y="3739524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7176" y="3739524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62730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21253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5806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484329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421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27944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2.8x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13036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71560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8653" y="3946299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7176" y="3946299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962730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21253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425806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484329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421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27944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13036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971560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+18%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8653" y="4153075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7176" y="4153075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962730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021253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25806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484329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421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27944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13036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71560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8653" y="4359850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7176" y="4359850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962730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21253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25806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84329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421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727944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13036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71560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8653" y="4566626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7176" y="456662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Renold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962730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021253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2024-2025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425806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484329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220%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421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27944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913036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971560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+211%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48653" y="4773401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76" y="477340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62730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021253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2017-2023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25806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84329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-27%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69421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727944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0.4x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913036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71560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-33%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48653" y="4980177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07176" y="498017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962730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021253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425806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484329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69421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727944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913036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971560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+33%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53" y="5186952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7176" y="518695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Robit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962730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021253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425806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484329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69421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27944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913036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971560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8653" y="539372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7176" y="539372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Kitron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962730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021253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425806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484329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40%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669421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727944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13036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971560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53" y="5600503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07176" y="560050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Sandvik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962730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021253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425806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484329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49%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669421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727944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913036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971560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+43%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48653" y="580727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07176" y="580727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962730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21253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2015-2016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425806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484329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80%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669421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727944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913036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971560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+80%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8653" y="6111590"/>
            <a:ext cx="7827459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8384" y="6111590"/>
            <a:ext cx="7607998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17 deals   ·   weighted MOIC 2.2x   ·   ex best/worst IRR 41% vs index ~9%   ·   35 of 38 deals profitable since 2006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8653" y="6521241"/>
            <a:ext cx="8632151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5.3 Prior period — transactions (2006–2014)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strategy, the prior fund — repeatable across two decades and multiple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2.9x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Concentric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4.4x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94%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Lindab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46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1407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7259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80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3332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7446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407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7259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80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3332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1.3x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22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7446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Global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1407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7259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7480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332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22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7446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Ferronordic Machines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1407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47259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80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3332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8922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7446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Klarna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407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7259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108%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7480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3332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28.2x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22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7446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1407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7259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29%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7480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3332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Usports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-51%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0.3x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3.1x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Tigerholm Products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Avanza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34%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8.4x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Fabege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25%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2.3x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84191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42714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Johnson Pump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59344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117867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52%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20075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78598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3.0x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84191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142714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Klövern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59344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17867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120075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178598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2.1x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84191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42714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Nobia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059344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117867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120075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178598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084191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142714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SkiStar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059344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17867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120075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78598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084191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142714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HQ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59344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117867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120075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78598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438922" y="5754624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48653" y="5754624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21 deals  ·  weighted MOIC 2.6x  ·  capital-weighted IRR 38.4% (+25 pts vs index)  ·  average IRR 67.7% (+53.5 pts)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38922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of the investment team. Losses shown in italic. Capital in SEK; ~$400M invested over the period.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5.4 Earlier deals — part of the team (1996–2006)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38-deal record is the full team since 2006. Earlier, members of the team led these larger deals from 1996 — the same engaged-ownership playbook, through earlier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 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Skanska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Svedala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ASG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SCA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Perbio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119%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4.2x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Perstorp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Acando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Pergo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-22%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Brokk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5.2x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38922" y="4096505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48653" y="4096505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10 deals  ·  weighted MOIC 2.0x  ·  capital-weighted IRR 22% (+9.9 pts vs index)  ·  average IRR 31.7% (+19.6 pts)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8922" y="4545171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led by members of the current team from 1996, before the full team formed in 2006. Losses shown in lighter type. Capital in SEK; SEK 7.2bn invested → SEK 14.3bn returned.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5.5 Independently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43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19.3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5.6 Repeatable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review tested the “you can’t rely on the big winners” objection directly against 38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92% deal-level hit rate (35 of 38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 of 38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decade-definers, not one: Klarna 28× (2007) and Athanase Tech 5.4× (2021)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5.7 Why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~50% drawdowns have already been recovered with the same philosophy — the path has been bumpy before and still paid +6 pts/yr 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53" y="6096000"/>
            <a:ext cx="8668728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61" y="6096000"/>
            <a:ext cx="8376113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0" i="1">
                <a:solidFill>
                  <a:srgbClr val="FFFFFF"/>
                </a:solidFill>
                <a:latin typeface="Arial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6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What it means for your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   </a:t>
            </a:r>
            <a:r>
              <a:rPr sz="1000" b="1">
                <a:solidFill>
                  <a:srgbClr val="FFFFFF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46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6.1 What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47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11.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(p.17),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6.2 Lower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6.2%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452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4%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6.3 A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49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6.4 What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50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trade-off: every allocation raises return and lowers downside risk — so to a committee this is a mathematical risk-reduction tool, not a risky bet, sized within prudent 3–8% limits.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7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Versus private equity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   </a:t>
            </a:r>
            <a:r>
              <a:rPr sz="1000" b="1">
                <a:solidFill>
                  <a:srgbClr val="FFFFFF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51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7.1 What allocators actually earn from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Stripping out headline-IRR marketing, cash-matched (PME) data shows PE earns a real ~3–6 pt premium over public markets — but lands below Athanase.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52</a:t>
            </a:r>
          </a:p>
        </p:txBody>
      </p:sp>
      <p:pic>
        <p:nvPicPr>
          <p:cNvPr id="10" name="Picture 9" descr="d_pe_reali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579118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47266" y="2292096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93574" y="2389632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HEADLINE ≠ REALISED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3574" y="2643225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Top-quartile IRR is shown as ~18–22%, struck on drawn capital. Cash-matched to public markets, the real figure is far lower.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47266" y="3560064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574" y="3657600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REAL PREMIUM IS GENUINE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574" y="3911193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PME studies agree: ~1.2× wealth multiple, a real 3–5 pt premium (Cambridge; Kaplan-Harris-Jenkinson / Burgiss; Cliffwater; BVCA).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47266" y="4828032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3574" y="4925568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BUT BELOW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574" y="5179161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Allocators realise ~11–14% from PE. Athanase has delivered ~16% — net, real, and fully invested from day one.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PE’s premium over public markets is real — but Athanase’s ~16% sits above even what the best allocators realise, with daily liquidity.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Sources: Cliffwater (US state pensions, 2000–22) PE 11.4% vs PME 5.8%; BVCA / Capital Dynamics (UK &amp; Europe, 2001–23) 14.1% vs 7.7%; corroborated by Cambridge Associates mPME 1.15–1.25× and Kaplan-Harris-Jenkinson KS-PME 1.20–1.27×. Athanase real, net, 2006–2025. See references.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7.2 Switching a private-equity sleeve into Athanase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On true risk, PE and Athanase carry similar volatility — but Athanase’s is mostly upside, and it returns more, with daily liquidity.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53</a:t>
            </a:r>
          </a:p>
        </p:txBody>
      </p:sp>
      <p:pic>
        <p:nvPicPr>
          <p:cNvPr id="10" name="Picture 9" descr="d_pe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04070" cy="28164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2076" y="6096000"/>
            <a:ext cx="4535537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De-smoothed, PE’s ~10% reported vol is really ~28% (PIMCO; AQR beta 1.5–1.6) — about Athanase’s 27%, but levered downside, not upside.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57345" y="222381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652" y="2311602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RETURN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997" y="230184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~16% vs ~11–14% realised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652" y="2574949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Above what even the best allocators realise from PE (Cliffwater; BVCA).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57345" y="3043122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652" y="3130904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997" y="3121150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vs 10-yr lock-up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652" y="3394251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Listed positions you can exit; no blind-pool capital calls.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3862424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652" y="3950206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FEES &amp; CAPITAL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56997" y="3940453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Lower drag, fully invested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652" y="4213554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No fees on undeployed dry powder waiting in a queue.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57345" y="4681726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652" y="4769509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TRANSPARENCY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997" y="4759755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marks, real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652" y="5032856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public scoreboard plus board control of cash flow, capex and pay.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57345" y="550102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652" y="5588811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RISK, HONESTLY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56997" y="557905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Similar vol, opposite shape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652" y="5852158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PE’s true ~28% vol is levered downside; Athanase’s 27% is mostly upside (downside only ~11%).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Once PE’s smoothing is removed, the two carry similar volatility — but Athanase returns more, its risk is upside not downside, and it stays liquid and transparent.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Athanase: net monthly returns, 235 months (2006–2025), real (total vol 27%). PE realised ~11–14% vs headline IRR ~18–22%; reported ~10% vol de-smoothed to ~25–30% (PIMCO; AQR beta 1.5–1.6). See references.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7.3 The volatility gap is settled in the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Cash-flow models, secondary-market prices and econometric unsmoothing all converge: PE’s true risk is roughly 2–3× its reported figure.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54</a:t>
            </a:r>
          </a:p>
        </p:txBody>
      </p:sp>
      <p:pic>
        <p:nvPicPr>
          <p:cNvPr id="10" name="Picture 9" descr="d_pe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9" y="2243328"/>
            <a:ext cx="4834738" cy="288957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18075" y="2292096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383" y="2389632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CASH-FLOW NPV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383" y="2613964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Buyout vol 25% (vs 11% index), beta &gt; 1 — Ang, Chen, Goetzmann &amp; Phalippou (2018), J. Finance.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3286963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383" y="3384499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SECONDARY-MARKET PRICES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383" y="3608832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Traded-stake beta &gt; 2.0 vs &lt; 0.5 on NAV — Boyer, Nadauld, Vorkink &amp; Weisbach (2018).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8075" y="4281830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4379366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ECONOMETRIC UNSMOOTHING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383" y="4603699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Illiquidity creates spurious smoothness — Getmansky, Lo &amp; Makarov (2004), JFE (cited 1,300+).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5276697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383" y="5374233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CATERING / “LAUNDERING”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383" y="5598566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GPs smooth because LPs value the “phony happiness” — Jackson, Ling &amp; Naranjo (2022); Couts et al. (2020).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Independent methods, the same answer: PE is a highly-levered equity portfolio whose reported smoothness is an artefact.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60" b="0" i="0">
                <a:solidFill>
                  <a:srgbClr val="556A83"/>
                </a:solidFill>
                <a:latin typeface="Arial"/>
              </a:rPr>
              <a:t>Sources: Ang, Chen, Goetzmann &amp; Phalippou (2018); Boyer, Nadauld, Vorkink &amp; Weisbach (2018); Getmansky, Lo &amp; Makarov (2004); Couts, Gonçalves &amp; Rossi (2020); Jackson, Ling &amp; Naranjo (2022); PIMCO (2022); AQR. Bars show vol-equivalent risk; beta rows scaled for comparison. See references.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7.4 Same headline volatility — far lower real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Volatility is not symmetric. PE’s true risk is levered downside; Athanase’s is mostly upside, so its real loss risk is a fraction of PE’s.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55</a:t>
            </a:r>
          </a:p>
        </p:txBody>
      </p:sp>
      <p:pic>
        <p:nvPicPr>
          <p:cNvPr id="10" name="Picture 9" descr="d_pe_real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14211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157345" y="2292096"/>
            <a:ext cx="4169768" cy="1706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0229" y="2438400"/>
            <a:ext cx="3803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CHANCE OF A 30%+ LOSS OVER THREE YEARS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0229" y="2789529"/>
            <a:ext cx="3803999" cy="1072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560" b="1">
                <a:solidFill>
                  <a:srgbClr val="556A83"/>
                </a:solidFill>
                <a:latin typeface="Times New Roman"/>
              </a:rPr>
              <a:t>~16%</a:t>
            </a:r>
            <a:r>
              <a:rPr sz="1040">
                <a:solidFill>
                  <a:srgbClr val="556A83"/>
                </a:solidFill>
                <a:latin typeface="Arial"/>
              </a:rPr>
              <a:t>   private equity</a:t>
            </a:r>
          </a:p>
          <a:p>
            <a:r>
              <a:rPr sz="2560" b="1">
                <a:solidFill>
                  <a:srgbClr val="152130"/>
                </a:solidFill>
                <a:latin typeface="Times New Roman"/>
              </a:rPr>
              <a:t>~2%</a:t>
            </a:r>
            <a:r>
              <a:rPr sz="1040">
                <a:solidFill>
                  <a:srgbClr val="556A83"/>
                </a:solidFill>
                <a:latin typeface="Arial"/>
              </a:rPr>
              <a:t>   Athanase (actual 3-yr windows)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7345" y="4213555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0229" y="4330598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VOLATILITY ≠ RISK OF 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0229" y="4584192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PE’s ~28% true vol is dominated by downside (levered, left-skewed). Athanase’s 27% is mostly upside — downside deviation only ~11%.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57345" y="5266944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229" y="5383987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RISK THAT MATTERS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0229" y="5637580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 large permanent loss — what allocators actually fear — Athanase’s real risk is roughly one-eighth of private equity’s.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Matched on true volatility, Athanase carries far less of the risk that actually hurts: its downside is a fraction of private equity’s.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downside vol 11% vs total 27% (real); 30%+ loss in 2% of actual rolling 3-yr windows. PE de-smoothed total vol ~28%, ~15–16% chance of a 30% drawdown over 3 years (PIMCO, 2022). See references.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7.5 PE’s “diversification” is an artefact — Athanase’s is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De-smoothed, PE is ~0.9 correlated to public equities: the same risk factors, just reported late. Athanase is genuinely uncorrelated.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56</a:t>
            </a:r>
          </a:p>
        </p:txBody>
      </p:sp>
      <p:pic>
        <p:nvPicPr>
          <p:cNvPr id="10" name="Picture 9" descr="d_pe_co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16062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267075" y="2292096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28014" y="2409139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SMOOTHING ILLUSION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28014" y="266273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Quarterly appraisals lag the market, so reported correlation looks low (0.75, beta 0.41). De-smoothed it is 0.89 / beta 0.87 (Two Sigma, 2024).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67075" y="354055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28014" y="365759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SAME RISK FACTORS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28014" y="391119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 is long-only levered equity driven by GDP, rates and earnings; over 10–20 yrs its correlation to small/mid-caps is ~0.89–0.92.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67075" y="478901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28014" y="490605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CRISIS MIRAGE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8014" y="515965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severe drawdowns true correlation converges toward 1.0 — PE takes the same hit, it just reports the markdown later.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 adds leveraged beta dressed as diversification. Athanase, at 0.44 correlation, is the genuine diversifier in a public-equity portfolio.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correlation 0.44 / beta 0.73 to MSCI World IMI (real). PE reported 0.75 / beta 0.41 de-smoothed to 0.89 / beta 0.87 (Two Sigma / Venn, 2024); long-horizon PE–small/mid-cap correlation ~0.89–0.92. See references.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7.6 When the tide goes out: the drawdown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PE’s smooth marks feel safe in calm markets — but in a shock they trigger the exact sequence that gets a CIO fired. Engaged ownership is the fiduciary safe harbour.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3160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TRAP — HELD AT FAKE NAVs IN A CRASH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76" y="2701747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53" y="2828544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1 · The denominator effect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53" y="315041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Public equities fall 25%; PE is marked flat. The PE weight jumps from 15% to 22%+ — an instant breach of board concentration limits.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76" y="3891686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53" y="4018483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2 · The liquidity death spiral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53" y="434035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Distributions stop but capital calls keep coming. To meet them, the allocator is forced to sell liquid equities at the bottom.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76" y="5081625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53" y="5208422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3 · The secondary-market humiliation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53" y="5530291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 cure the breach, PE stakes are sold at 15–25% haircuts — publicly crystallising losses and proving the “low volatility” was a fiction.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191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SAFE HARBOUR — ENGAGED OWNERSHIP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4191" y="2701747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5868" y="2828544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Honest pricing keeps weights balanced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5868" y="315041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Daily marks mean the sleeve falls with the market — so the denominator effect never fires and no threshold is breached.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4191" y="3891686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5868" y="4018483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Zero capital-call liability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5868" y="434035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No blind pools, no surprise calls. The allocator is never forced to become a distressed seller of other assets.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4191" y="5081625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5868" y="5208422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Alpha from turnarounds, not leverage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5868" y="5530291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Returns come from board-led operational change in high-ROIIC mid-caps — not the leverage and multiple-expansion that break in a downturn.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When the tide goes out, artificially-priced illiquid assets are indefensible to a board. Engaged ownership delivers PE-like alpha while protecting portfolio balance, liquidity — and the allocator’s seat.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Mechanism described follows from PE’s appraisal-based marking and capital-call structure (see references). Illustrative; for professional investors, not investment advice.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7.7 Responsible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Governance is the lever.</a:t>
            </a:r>
            <a:r>
              <a:rPr sz="1280">
                <a:solidFill>
                  <a:srgbClr val="0E1620"/>
                </a:solidFill>
                <a:latin typeface="Arial"/>
              </a:rPr>
              <a:t>  Value is created through board representation and active promotion of strong corporate governance across all holdings.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Five improvement dimensions.</a:t>
            </a:r>
            <a:r>
              <a:rPr sz="1280">
                <a:solidFill>
                  <a:srgbClr val="0E1620"/>
                </a:solidFill>
                <a:latin typeface="Arial"/>
              </a:rPr>
              <a:t>  Operational, financial, structural, environmental and social improvements — each tied to enterprise value.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PRI signatory since 2019,</a:t>
            </a:r>
            <a:r>
              <a:rPr sz="1280">
                <a:solidFill>
                  <a:srgbClr val="0E1620"/>
                </a:solidFill>
                <a:latin typeface="Arial"/>
              </a:rPr>
              <a:t>  adhering to the Six Principles for Responsible Investment.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Credible oversight.</a:t>
            </a:r>
            <a:r>
              <a:rPr sz="1280">
                <a:solidFill>
                  <a:srgbClr val="0E1620"/>
                </a:solidFill>
                <a:latin typeface="Arial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objections we hear — and the arsenal to answer them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common declines are rarely about the returns. Each concern has a concrete, quantified rebuttal.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59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2560384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238481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objection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62730" y="2292096"/>
            <a:ext cx="6071767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5145" y="2292096"/>
            <a:ext cx="589619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arsenal — how we answer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46" y="268224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392" y="268224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“It falls between our buckets.”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tracking-error fear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62730" y="268224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94407" y="268224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0.44 correlation, 43% down-capture</a:t>
            </a:r>
            <a:r>
              <a:rPr sz="760">
                <a:solidFill>
                  <a:srgbClr val="0E1620"/>
                </a:solidFill>
                <a:latin typeface="Arial"/>
              </a:rPr>
              <a:t> — the divergence is portfolio armour, not a risk — it stops you riding the index to the bottom.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Alpha from corporate events</a:t>
            </a:r>
            <a:r>
              <a:rPr sz="760">
                <a:solidFill>
                  <a:srgbClr val="0E1620"/>
                </a:solidFill>
                <a:latin typeface="Arial"/>
              </a:rPr>
              <a:t> — stripping growth traps, reallocating to ROIIC — measurable, not macro.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When the market tanks</a:t>
            </a:r>
            <a:r>
              <a:rPr sz="760">
                <a:solidFill>
                  <a:srgbClr val="0E1620"/>
                </a:solidFill>
                <a:latin typeface="Arial"/>
              </a:rPr>
              <a:t> — that deliberate divergence defends your short-term numbers.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46" y="365760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" y="365760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“Key-person risk at a boutique.”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political cover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62730" y="365760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94407" y="365760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Segregation of duties</a:t>
            </a:r>
            <a:r>
              <a:rPr sz="760">
                <a:solidFill>
                  <a:srgbClr val="0E1620"/>
                </a:solidFill>
                <a:latin typeface="Arial"/>
              </a:rPr>
              <a:t> — operations, risk and finance sit fully independent of the investment team.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60">
                <a:solidFill>
                  <a:srgbClr val="0E1620"/>
                </a:solidFill>
                <a:latin typeface="Arial"/>
              </a:rPr>
              <a:t> — custody, administration and audit verify every move — a heavyweight institutional fortress.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The same investment team since 2006</a:t>
            </a:r>
            <a:r>
              <a:rPr sz="760">
                <a:solidFill>
                  <a:srgbClr val="0E1620"/>
                </a:solidFill>
                <a:latin typeface="Arial"/>
              </a:rPr>
              <a:t> — a 20-year playbook — institutional memory that engineers out permanent loss, not key-person risk.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463296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392" y="463296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“Capacity — only one deal a year.”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effort vs. sleeve size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62730" y="463296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94407" y="463296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3–8% sleeve is not a rounding error</a:t>
            </a:r>
            <a:r>
              <a:rPr sz="760">
                <a:solidFill>
                  <a:srgbClr val="0E1620"/>
                </a:solidFill>
                <a:latin typeface="Arial"/>
              </a:rPr>
              <a:t> — it shifts the whole equity book’s frontier up-and-to-the-left — real basis points.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fees on undeployed dry powder</a:t>
            </a:r>
            <a:r>
              <a:rPr sz="760">
                <a:solidFill>
                  <a:srgbClr val="0E1620"/>
                </a:solidFill>
                <a:latin typeface="Arial"/>
              </a:rPr>
              <a:t> — deploy once, capital works immediately.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blind-pool capital calls</a:t>
            </a:r>
            <a:r>
              <a:rPr sz="760">
                <a:solidFill>
                  <a:srgbClr val="0E1620"/>
                </a:solidFill>
                <a:latin typeface="Arial"/>
              </a:rPr>
              <a:t> — none of the administration that comes with them.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2346" y="560832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9392" y="560832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“Duration ties up our risk budget.”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comp-cycle mismatch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62730" y="560832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94407" y="560832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Down months ~1.5% vs the market’s ~3.8%</a:t>
            </a:r>
            <a:r>
              <a:rPr sz="760">
                <a:solidFill>
                  <a:srgbClr val="0E1620"/>
                </a:solidFill>
                <a:latin typeface="Arial"/>
              </a:rPr>
              <a:t> — immediate downside preservation, this year.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−10% / −20% / −30% hard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cap drawdowns before they spiral and remove PM bias.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Worst-ever entry still +7% net</a:t>
            </a:r>
            <a:r>
              <a:rPr sz="760">
                <a:solidFill>
                  <a:srgbClr val="0E1620"/>
                </a:solidFill>
                <a:latin typeface="Arial"/>
              </a:rPr>
              <a:t> — a statistical safety blanket over the holding period.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2346" y="6710476"/>
            <a:ext cx="899792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314359"/>
                </a:solidFill>
                <a:latin typeface="Arial"/>
              </a:rPr>
              <a:t>We meet each objection where it sits — and answer it with structure, not optimism. The allocation is engineered to be defensible, not just to perform.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case for your investment committee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argument in four moves — structure, engine, downside and proof.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The mandate &amp; structure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PE-style operational value creation</a:t>
            </a:r>
            <a:r>
              <a:rPr sz="720">
                <a:solidFill>
                  <a:srgbClr val="0E1620"/>
                </a:solidFill>
                <a:latin typeface="Arial"/>
              </a:rPr>
              <a:t> — executed entirely in the public markets.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transparency and liquidity, lower fees</a:t>
            </a:r>
            <a:r>
              <a:rPr sz="720">
                <a:solidFill>
                  <a:srgbClr val="0E1620"/>
                </a:solidFill>
                <a:latin typeface="Arial"/>
              </a:rPr>
              <a:t> — and no 10-year blind-pool lock-up.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Applied corporate governance</a:t>
            </a:r>
            <a:r>
              <a:rPr sz="720">
                <a:solidFill>
                  <a:srgbClr val="0E1620"/>
                </a:solidFill>
                <a:latin typeface="Arial"/>
              </a:rPr>
              <a:t> — board independence, capital discipline and pay-for-performance — fulfilling UN PRI fiduciary duty.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The engine — quality-core constructivism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Market-leading European mid-caps</a:t>
            </a:r>
            <a:r>
              <a:rPr sz="720">
                <a:solidFill>
                  <a:srgbClr val="0E1620"/>
                </a:solidFill>
                <a:latin typeface="Arial"/>
              </a:rPr>
              <a:t> — with highly profitable, durable cores — not broken turnarounds.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We enter at “shareholder exhaustion”</a:t>
            </a:r>
            <a:r>
              <a:rPr sz="720">
                <a:solidFill>
                  <a:srgbClr val="0E1620"/>
                </a:solidFill>
                <a:latin typeface="Arial"/>
              </a:rPr>
              <a:t> — the buyer of last resort after management diluted the core chasing prestige projects.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Secure the board seat</a:t>
            </a:r>
            <a:r>
              <a:rPr sz="720">
                <a:solidFill>
                  <a:srgbClr val="0E1620"/>
                </a:solidFill>
                <a:latin typeface="Arial"/>
              </a:rPr>
              <a:t> — strip the growth-trap adjacencies and reallocate capital to the core to maximise ROIIC.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The moat — engineered downside protection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20">
                <a:solidFill>
                  <a:srgbClr val="0E1620"/>
                </a:solidFill>
                <a:latin typeface="Arial"/>
              </a:rPr>
              <a:t> — the core alone justifies the price; zero value to weak divisions — a 30–40% margin of safety vs a PE bidder.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The board seat is the kill switch</a:t>
            </a:r>
            <a:r>
              <a:rPr sz="720">
                <a:solidFill>
                  <a:srgbClr val="0E1620"/>
                </a:solidFill>
                <a:latin typeface="Arial"/>
              </a:rPr>
              <a:t> — authority to freeze bad capital deployment the moment the macro shifts.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Mechanized discipline</a:t>
            </a:r>
            <a:r>
              <a:rPr sz="720">
                <a:solidFill>
                  <a:srgbClr val="0E1620"/>
                </a:solidFill>
                <a:latin typeface="Arial"/>
              </a:rPr>
              <a:t> — automatic −10% / −20% / −30% triggers force a thesis review and exit.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The proof — two decades of compounding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16.3% net p.a.; capital grown 18×</a:t>
            </a:r>
            <a:r>
              <a:rPr sz="720">
                <a:solidFill>
                  <a:srgbClr val="0E1620"/>
                </a:solidFill>
                <a:latin typeface="Arial"/>
              </a:rPr>
              <a:t> — across multiple market cycles.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92% deal-level hit rate (38 deals)</a:t>
            </a:r>
            <a:r>
              <a:rPr sz="720">
                <a:solidFill>
                  <a:srgbClr val="0E1620"/>
                </a:solidFill>
                <a:latin typeface="Arial"/>
              </a:rPr>
              <a:t> — a 5× MOIC roughly every two years.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93% up-capture vs 43% down-capture</a:t>
            </a:r>
            <a:r>
              <a:rPr sz="720">
                <a:solidFill>
                  <a:srgbClr val="0E1620"/>
                </a:solidFill>
                <a:latin typeface="Arial"/>
              </a:rPr>
              <a:t> — losing less than half preserves the compounding base.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protects the committee — not just the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Beyond the returns, four things an investment committee can point to — a due-diligence shield, a capital floor, peer-reviewed cover and a liquidity escape hatch.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61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Independent validation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Independently validated</a:t>
            </a:r>
            <a:r>
              <a:rPr sz="720">
                <a:solidFill>
                  <a:srgbClr val="0E1620"/>
                </a:solidFill>
                <a:latin typeface="Arial"/>
              </a:rPr>
              <a:t> — the 20-year net record was reconciled from security-level StatPro data to actual LP-level returns — not a back-test or internal spreadsheet.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20">
                <a:solidFill>
                  <a:srgbClr val="0E1620"/>
                </a:solidFill>
                <a:latin typeface="Arial"/>
              </a:rPr>
              <a:t> — custody, administration and audit by top-tier institutions verify every NAV and fee.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An air-tight paper trail</a:t>
            </a:r>
            <a:r>
              <a:rPr sz="720">
                <a:solidFill>
                  <a:srgbClr val="0E1620"/>
                </a:solidFill>
                <a:latin typeface="Arial"/>
              </a:rPr>
              <a:t> — no auditor or regulator can level an accusation of lax oversight.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No investor has lost capital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19% average net return</a:t>
            </a:r>
            <a:r>
              <a:rPr sz="720">
                <a:solidFill>
                  <a:srgbClr val="0E1620"/>
                </a:solidFill>
                <a:latin typeface="Arial"/>
              </a:rPr>
              <a:t> — regardless of the month an investor entered the fund.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+7% in the worst entry month</a:t>
            </a:r>
            <a:r>
              <a:rPr sz="720">
                <a:solidFill>
                  <a:srgbClr val="0E1620"/>
                </a:solidFill>
                <a:latin typeface="Arial"/>
              </a:rPr>
              <a:t> — the single unluckiest entry over 20 years was still positive, net.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Zero holding-period losses</a:t>
            </a:r>
            <a:r>
              <a:rPr sz="720">
                <a:solidFill>
                  <a:srgbClr val="0E1620"/>
                </a:solidFill>
                <a:latin typeface="Arial"/>
              </a:rPr>
              <a:t> — historically, no investor has lost money over a holding period.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Backed by peer-reviewed science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Settled in the literature</a:t>
            </a:r>
            <a:r>
              <a:rPr sz="720">
                <a:solidFill>
                  <a:srgbClr val="0E1620"/>
                </a:solidFill>
                <a:latin typeface="Arial"/>
              </a:rPr>
              <a:t> — 13D alpha and PE’s volatility laundering / de-smoothing are backed by the Journal of Finance and Review of Financial Studies.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0.44 correlation, by the science</a:t>
            </a:r>
            <a:r>
              <a:rPr sz="720">
                <a:solidFill>
                  <a:srgbClr val="0E1620"/>
                </a:solidFill>
                <a:latin typeface="Arial"/>
              </a:rPr>
              <a:t> — the low correlation and risk/return profile are established, not asserted.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Cover in a bad quarter</a:t>
            </a:r>
            <a:r>
              <a:rPr sz="720">
                <a:solidFill>
                  <a:srgbClr val="0E1620"/>
                </a:solidFill>
                <a:latin typeface="Arial"/>
              </a:rPr>
              <a:t> — point to the evidence, not to hope — a fundamentally sound economic engine.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A liquidity escape hatch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pricing and liquidity</a:t>
            </a:r>
            <a:r>
              <a:rPr sz="720">
                <a:solidFill>
                  <a:srgbClr val="0E1620"/>
                </a:solidFill>
                <a:latin typeface="Arial"/>
              </a:rPr>
              <a:t> — the strategy lives entirely in listed public equities.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No lock-up or capital-call queue</a:t>
            </a:r>
            <a:r>
              <a:rPr sz="720">
                <a:solidFill>
                  <a:srgbClr val="0E1620"/>
                </a:solidFill>
                <a:latin typeface="Arial"/>
              </a:rPr>
              <a:t> — none of PE’s 10-year blind-pool traps or blind extensions.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Total optionality</a:t>
            </a:r>
            <a:r>
              <a:rPr sz="720">
                <a:solidFill>
                  <a:srgbClr val="0E1620"/>
                </a:solidFill>
                <a:latin typeface="Arial"/>
              </a:rPr>
              <a:t> — if style drifts or the landscape changes, the committee can vote to pivot out seamlessly.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63347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877312"/>
            <a:ext cx="8046921" cy="1560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80" b="0" i="0" spc="-78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40" b="0" i="1">
                <a:solidFill>
                  <a:srgbClr val="E2E5E9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5266944"/>
            <a:ext cx="4389229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0" i="0">
                <a:solidFill>
                  <a:srgbClr val="E2E5E9"/>
                </a:solidFill>
                <a:latin typeface="Arial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5266944"/>
            <a:ext cx="277984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1 of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ENGAGED OWNERSHIP / ACTIVISM (PART 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Bebchuk, L. A., Brav, A., &amp; Jiang, W. (2015). The long-term effects of hedge fund activism. </a:t>
            </a:r>
            <a:r>
              <a:rPr sz="720" i="1">
                <a:solidFill>
                  <a:srgbClr val="0E1620"/>
                </a:solidFill>
                <a:latin typeface="Arial"/>
              </a:rPr>
              <a:t>Columbia Law Review, 115</a:t>
            </a:r>
            <a:r>
              <a:rPr sz="720" i="0">
                <a:solidFill>
                  <a:srgbClr val="0E1620"/>
                </a:solidFill>
                <a:latin typeface="Arial"/>
              </a:rPr>
              <a:t>(5), 1085–1156.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Brav, A., Jiang, W., Partnoy, F., &amp; Thomas, R. (2008). Hedge fund activism, corporate governance, and firm performance. </a:t>
            </a:r>
            <a:r>
              <a:rPr sz="720" i="1">
                <a:solidFill>
                  <a:srgbClr val="0E1620"/>
                </a:solidFill>
                <a:latin typeface="Arial"/>
              </a:rPr>
              <a:t>The Journal of Finance, 63</a:t>
            </a:r>
            <a:r>
              <a:rPr sz="720" i="0">
                <a:solidFill>
                  <a:srgbClr val="0E1620"/>
                </a:solidFill>
                <a:latin typeface="Arial"/>
              </a:rPr>
              <a:t>(4), 1729–1775. https://doi.org/10.1111/j.1540-6261.2008.01373.x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Brav, A., Jiang, W., &amp; Kim, H. (2015). The real effects of hedge fund activism: Productivity, asset allocation, and labor outcomes. </a:t>
            </a:r>
            <a:r>
              <a:rPr sz="720" i="1">
                <a:solidFill>
                  <a:srgbClr val="0E1620"/>
                </a:solidFill>
                <a:latin typeface="Arial"/>
              </a:rPr>
              <a:t>The Review of Financial Studies, 28</a:t>
            </a:r>
            <a:r>
              <a:rPr sz="720" i="0">
                <a:solidFill>
                  <a:srgbClr val="0E1620"/>
                </a:solidFill>
                <a:latin typeface="Arial"/>
              </a:rPr>
              <a:t>(10), 2723–2769. https://doi.org/10.1093/rfs/hhv037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Klein, A., &amp; Zur, E. (2009). Entrepreneurial shareholder activism: Hedge funds and other private investors. </a:t>
            </a:r>
            <a:r>
              <a:rPr sz="720" i="1">
                <a:solidFill>
                  <a:srgbClr val="0E1620"/>
                </a:solidFill>
                <a:latin typeface="Arial"/>
              </a:rPr>
              <a:t>The Journal of Finance, 64</a:t>
            </a:r>
            <a:r>
              <a:rPr sz="720" i="0">
                <a:solidFill>
                  <a:srgbClr val="0E1620"/>
                </a:solidFill>
                <a:latin typeface="Arial"/>
              </a:rPr>
              <a:t>(1), 187–229. https://doi.org/10.1111/j.1540-6261.2008.01432.x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22" y="417454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PASSIVE INVESTING &amp; MARKET STRUCTURE (PART I)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22" y="45061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Ben-David, I., Franzoni, F., &amp; Moussawi, R. (2018). Do ETFs increase volatility? </a:t>
            </a:r>
            <a:r>
              <a:rPr sz="72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720" i="0">
                <a:solidFill>
                  <a:srgbClr val="0E1620"/>
                </a:solidFill>
                <a:latin typeface="Arial"/>
              </a:rPr>
              <a:t>(6), 2471–2535. https://doi.org/10.1111/jofi.12727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Bond, P., &amp; García, D. (2022). The equilibrium consequences of indexing. </a:t>
            </a:r>
            <a:r>
              <a:rPr sz="720" i="1">
                <a:solidFill>
                  <a:srgbClr val="0E1620"/>
                </a:solidFill>
                <a:latin typeface="Arial"/>
              </a:rPr>
              <a:t>The Review of Financial Studies, 35</a:t>
            </a:r>
            <a:r>
              <a:rPr sz="720" i="0">
                <a:solidFill>
                  <a:srgbClr val="0E1620"/>
                </a:solidFill>
                <a:latin typeface="Arial"/>
              </a:rPr>
              <a:t>(7), 3175–3230.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Chinco, A., &amp; Sammon, M. (2024). The passive-ownership share is double what you think. </a:t>
            </a:r>
            <a:r>
              <a:rPr sz="72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720" i="0">
                <a:solidFill>
                  <a:srgbClr val="0E1620"/>
                </a:solidFill>
                <a:latin typeface="Arial"/>
              </a:rPr>
              <a:t>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Gabaix, X., &amp; Koijen, R. S. J. (2021). In search of the origins of financial fluctuations: The inelastic markets hypothesis. </a:t>
            </a:r>
            <a:r>
              <a:rPr sz="720" i="1">
                <a:solidFill>
                  <a:srgbClr val="0E1620"/>
                </a:solidFill>
                <a:latin typeface="Arial"/>
              </a:rPr>
              <a:t>NBER Working Paper No. 28967</a:t>
            </a:r>
            <a:r>
              <a:rPr sz="720" i="0">
                <a:solidFill>
                  <a:srgbClr val="0E1620"/>
                </a:solidFill>
                <a:latin typeface="Arial"/>
              </a:rPr>
              <a:t>. https://doi.org/10.3386/w28967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Wurgler, J. (2011). On the economic consequences of index-linked investing. </a:t>
            </a:r>
            <a:r>
              <a:rPr sz="720" i="1">
                <a:solidFill>
                  <a:srgbClr val="0E1620"/>
                </a:solidFill>
                <a:latin typeface="Arial"/>
              </a:rPr>
              <a:t>NBER Working Paper No. 16376</a:t>
            </a:r>
            <a:r>
              <a:rPr sz="720" i="0">
                <a:solidFill>
                  <a:srgbClr val="0E1620"/>
                </a:solidFill>
                <a:latin typeface="Arial"/>
              </a:rPr>
              <a:t>. https://doi.org/10.3386/w16376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(PART II)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Ang, A., Chen, B., Goetzmann, W. N., &amp; Phalippou, L. (2018). Estimating private equity returns from limited partner cash flows.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1751–1783. https://doi.org/10.1111/jofi.12688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Boyer, B. H., Nadauld, T. D., Vorkink, K. P., &amp; Weisbach, M. S. (2018). Private equity indices based on secondary market transactions.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https://doi.org/10.2139/ssrn.3272357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Buchner, A., Kaserer, C., &amp; Wagner, N. F. (2010). Private equity funds: Valuation, systematic risk and illiquidity.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https://doi.org/10.2139/ssrn.1102471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Couts, S., Gonçalves, A. S., &amp; Rossi, A. (2020). Unsmoothing returns of illiquid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https://doi.org/10.2139/ssrn.3544854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Getmansky, M., Lo, A. W., &amp; Makarov, I. (2004). An econometric model of serial correlation and illiquidity in hedge fund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74</a:t>
            </a:r>
            <a:r>
              <a:rPr sz="680" i="0">
                <a:solidFill>
                  <a:srgbClr val="0E1620"/>
                </a:solidFill>
                <a:latin typeface="Arial"/>
              </a:rPr>
              <a:t>(3), 529–609. https://doi.org/10.1016/j.jfineco.2004.04.001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Harris, R. S., Jenkinson, T., &amp; Kaplan, S. N. (2014). Private equity performance: What do we know?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69</a:t>
            </a:r>
            <a:r>
              <a:rPr sz="680" i="0">
                <a:solidFill>
                  <a:srgbClr val="0E1620"/>
                </a:solidFill>
                <a:latin typeface="Arial"/>
              </a:rPr>
              <a:t>(5), 1851–1882. https://doi.org/10.1111/jofi.12154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Hayley, S., &amp; Sefiloglu, O. (2022). Biases in private equity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https://doi.org/10.2139/ssrn.4245715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Jackson, B., Ling, D. C., &amp; Naranjo, A. (2022). Catering and return manipulation in private equity.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https://doi.org/10.2139/ssrn.4244467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Meyer, T. (2020). Hidden in plain sight — the impact of undrawn commitments.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Alternative Investments, 23</a:t>
            </a:r>
            <a:r>
              <a:rPr sz="680" i="0">
                <a:solidFill>
                  <a:srgbClr val="0E1620"/>
                </a:solidFill>
                <a:latin typeface="Arial"/>
              </a:rPr>
              <a:t>(2), 94–110. https://doi.org/10.3905/jai.2020.1.101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Phalippou, L. (2020). An inconvenient fact: Private equity returns and the billionaire factory.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Investing, 30</a:t>
            </a:r>
            <a:r>
              <a:rPr sz="680" i="0">
                <a:solidFill>
                  <a:srgbClr val="0E1620"/>
                </a:solidFill>
                <a:latin typeface="Arial"/>
              </a:rPr>
              <a:t>(1), 11–39. https://doi.org/10.3905/joi.2020.1.153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 of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Datasets, practitioner research &amp;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INDUSTRY DATASETS &amp; PRACTITIONER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Asness, C. S. (2023). The volatility-laundering hidden in private-asset marks. </a:t>
            </a:r>
            <a:r>
              <a:rPr sz="680" i="1">
                <a:solidFill>
                  <a:srgbClr val="0E1620"/>
                </a:solidFill>
                <a:latin typeface="Arial"/>
              </a:rPr>
              <a:t>AQR Capital Management — Cliff’s Perspectives.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British Private Equity &amp; Venture Capital Association &amp; Capital Dynamics.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BVCA Private Equity Performance Measurement Survey (PME+).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BVCA.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Cambridge Associates.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US Private Equity Index and Selected Benchmark Statistics (Q2 2024).</a:t>
            </a:r>
            <a:r>
              <a:rPr sz="680" i="0">
                <a:solidFill>
                  <a:srgbClr val="0E1620"/>
                </a:solidFill>
                <a:latin typeface="Arial"/>
              </a:rPr>
              <a:t> Boston: Cambridge Associates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Cliffwater LLC.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Long-term private equity performance in US state pension plans (2000–2022).</a:t>
            </a:r>
            <a:r>
              <a:rPr sz="680" i="0">
                <a:solidFill>
                  <a:srgbClr val="0E1620"/>
                </a:solidFill>
                <a:latin typeface="Arial"/>
              </a:rPr>
              <a:t> Marina del Rey: Cliffwater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Financial Reporting Council. (2020). </a:t>
            </a:r>
            <a:r>
              <a:rPr sz="680" i="1">
                <a:solidFill>
                  <a:srgbClr val="0E1620"/>
                </a:solidFill>
                <a:latin typeface="Arial"/>
              </a:rPr>
              <a:t>The UK Stewardship Code 2020.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FRC.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Morningstar.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Volatility laundering: How private equity funds understate the risk of their investments.</a:t>
            </a:r>
            <a:r>
              <a:rPr sz="680" i="0">
                <a:solidFill>
                  <a:srgbClr val="0E1620"/>
                </a:solidFill>
                <a:latin typeface="Arial"/>
              </a:rPr>
              <a:t> Chicago: Morningstar,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PIMCO. (2022). </a:t>
            </a:r>
            <a:r>
              <a:rPr sz="680" i="1">
                <a:solidFill>
                  <a:srgbClr val="0E1620"/>
                </a:solidFill>
                <a:latin typeface="Arial"/>
              </a:rPr>
              <a:t>The discreet charm of private assets: De-smoothing and the true volatility of private equity.</a:t>
            </a:r>
            <a:r>
              <a:rPr sz="680" i="0">
                <a:solidFill>
                  <a:srgbClr val="0E1620"/>
                </a:solidFill>
                <a:latin typeface="Arial"/>
              </a:rPr>
              <a:t> Newport Beach: PIMCO.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Principles for Responsible Investment. (2021). </a:t>
            </a:r>
            <a:r>
              <a:rPr sz="680" i="1">
                <a:solidFill>
                  <a:srgbClr val="0E1620"/>
                </a:solidFill>
                <a:latin typeface="Arial"/>
              </a:rPr>
              <a:t>What are the Principles for Responsible Investment?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UN PRI.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Two Sigma Investments.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The alternative truth of private equity (Venn by Two Sigma).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Two Sigma.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DATA &amp; 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All Athanase figures are computed from the fund’s audited net monthly return series across two vehicles (Öresund/Creades Jan 2006–Jun 2014; AIPFII from 23 Feb 2015):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Annualised return — cumulative net return compounded, then annualised over actual invested time (19.32 yrs, excluding the 2014–15 setup gap): 16.3%.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Total volatility — st. dev. of monthly returns × √12 (27.0%).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Downside volatility — deviation of negative months below a 0% MAR × √12 (10.9%).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Correlation / beta — versus MSCI World IMI over the common period (0.44 / 0.73).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Large-loss frequency — share of rolling 36-month windows below −30% (≈2%).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Up/down capture — compounded Athanase return in the market’s up/down months ÷ the market’s.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Efficient frontier — monthly-rebalanced MSCI/Athanase blends; minimum-risk point is in-sample.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Private-equity figures are taken from the cited research. De-smoothed / true-economic / committed-capital values reflect that literature rather than reported (appraisal-based) data — including the de-smoothed large-buyout correlation to small/mid-cap equities of ~0.89 (Two Sigma / Venn, 2024; Couts, Gonçalves &amp; Rossi, 2020; Boyer, Nadauld, Vorkink &amp; Weisbach, 2018). Bridge and illustrative magnitudes reconcile cited endpoints and are labelled as such. For professional investors; not investment advice. Past performance is not indicative of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