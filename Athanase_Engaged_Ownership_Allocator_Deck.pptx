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4.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5.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6.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4   </a:t>
            </a:r>
            <a:r>
              <a:rPr sz="919">
                <a:solidFill>
                  <a:srgbClr val="314359"/>
                </a:solidFill>
                <a:latin typeface="Arial"/>
              </a:rPr>
              <a:t>Where the allocation fits: three legitimate homes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5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6   </a:t>
            </a:r>
            <a:r>
              <a:rPr sz="919">
                <a:solidFill>
                  <a:srgbClr val="314359"/>
                </a:solidFill>
                <a:latin typeface="Arial"/>
              </a:rPr>
              <a:t>Why mid-market is the sweet spot</a:t>
            </a:r>
            <a:r>
              <a:rPr sz="76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7   </a:t>
            </a:r>
            <a:r>
              <a:rPr sz="919">
                <a:solidFill>
                  <a:srgbClr val="314359"/>
                </a:solidFill>
                <a:latin typeface="Arial"/>
              </a:rPr>
              <a:t>Why mid-cap management listens</a:t>
            </a:r>
          </a:p>
          <a:p>
            <a:pPr>
              <a:lnSpc>
                <a:spcPct val="102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8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706880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097024"/>
            <a:ext cx="4279499" cy="5169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1   Team &amp; operations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1.1   </a:t>
            </a:r>
            <a:r>
              <a:rPr sz="6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1.2   </a:t>
            </a:r>
            <a:r>
              <a:rPr sz="6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1.3   </a:t>
            </a:r>
            <a:r>
              <a:rPr sz="640">
                <a:solidFill>
                  <a:srgbClr val="314359"/>
                </a:solidFill>
                <a:latin typeface="Arial"/>
              </a:rPr>
              <a:t>The people behind the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1.4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that engineers out permanent loss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1.5   </a:t>
            </a:r>
            <a:r>
              <a:rPr sz="640">
                <a:solidFill>
                  <a:srgbClr val="314359"/>
                </a:solidFill>
                <a:latin typeface="Arial"/>
              </a:rPr>
              <a:t>The ownership playbook, honed over 40 investments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2   The opportunity &amp; our edge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2.1   </a:t>
            </a:r>
            <a:r>
              <a:rPr sz="6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2.2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2.3   </a:t>
            </a:r>
            <a:r>
              <a:rPr sz="6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2.4   </a:t>
            </a:r>
            <a:r>
              <a:rPr sz="6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2.5   </a:t>
            </a:r>
            <a:r>
              <a:rPr sz="6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2.6   </a:t>
            </a:r>
            <a:r>
              <a:rPr sz="640">
                <a:solidFill>
                  <a:srgbClr val="314359"/>
                </a:solidFill>
                <a:latin typeface="Arial"/>
              </a:rPr>
              <a:t>Why the specialist, not the household name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3   How we invest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3.1   </a:t>
            </a:r>
            <a:r>
              <a:rPr sz="640">
                <a:solidFill>
                  <a:srgbClr val="314359"/>
                </a:solidFill>
                <a:latin typeface="Arial"/>
              </a:rPr>
              <a:t>How decisions are made: three tollgates, clear owners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3.2   </a:t>
            </a:r>
            <a:r>
              <a:rPr sz="640">
                <a:solidFill>
                  <a:srgbClr val="314359"/>
                </a:solidFill>
                <a:latin typeface="Arial"/>
              </a:rPr>
              <a:t>Sourcing &amp; screening: from ~7,200 names to a shortlist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3.3   </a:t>
            </a:r>
            <a:r>
              <a:rPr sz="640">
                <a:solidFill>
                  <a:srgbClr val="314359"/>
                </a:solidFill>
                <a:latin typeface="Arial"/>
              </a:rPr>
              <a:t>Research &amp; due diligence: four analytical steps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3.4   </a:t>
            </a:r>
            <a:r>
              <a:rPr sz="640">
                <a:solidFill>
                  <a:srgbClr val="314359"/>
                </a:solidFill>
                <a:latin typeface="Arial"/>
              </a:rPr>
              <a:t>Decision, execution and board engagement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4   Risk, honestly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4.1   </a:t>
            </a:r>
            <a:r>
              <a:rPr sz="6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4.2   </a:t>
            </a:r>
            <a:r>
              <a:rPr sz="6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4.3   </a:t>
            </a:r>
            <a:r>
              <a:rPr sz="6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4.4   </a:t>
            </a:r>
            <a:r>
              <a:rPr sz="6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4.5   </a:t>
            </a:r>
            <a:r>
              <a:rPr sz="640">
                <a:solidFill>
                  <a:srgbClr val="314359"/>
                </a:solidFill>
                <a:latin typeface="Arial"/>
              </a:rPr>
              <a:t>Why an allocation here is not career-ending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5   The 20-year track record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5.1   </a:t>
            </a:r>
            <a:r>
              <a:rPr sz="6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5.2   </a:t>
            </a:r>
            <a:r>
              <a:rPr sz="6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5.3   </a:t>
            </a:r>
            <a:r>
              <a:rPr sz="6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5.4   </a:t>
            </a:r>
            <a:r>
              <a:rPr sz="6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5.5   </a:t>
            </a:r>
            <a:r>
              <a:rPr sz="6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5.6   </a:t>
            </a:r>
            <a:r>
              <a:rPr sz="6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6   What it means for your portfolio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6.1   </a:t>
            </a:r>
            <a:r>
              <a:rPr sz="6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6.2   </a:t>
            </a:r>
            <a:r>
              <a:rPr sz="6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6.3   </a:t>
            </a:r>
            <a:r>
              <a:rPr sz="6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6.4   </a:t>
            </a:r>
            <a:r>
              <a:rPr sz="6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0000"/>
              </a:lnSpc>
              <a:spcBef>
                <a:spcPts val="150"/>
              </a:spcBef>
              <a:spcAft>
                <a:spcPts val="100"/>
              </a:spcAft>
            </a:pPr>
            <a:r>
              <a:rPr sz="680" b="1">
                <a:solidFill>
                  <a:srgbClr val="314359"/>
                </a:solidFill>
                <a:latin typeface="Times New Roman"/>
              </a:rPr>
              <a:t>7   Versus private equity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7.1   </a:t>
            </a:r>
            <a:r>
              <a:rPr sz="6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480" i="1">
                <a:solidFill>
                  <a:srgbClr val="556A83"/>
                </a:solidFill>
                <a:latin typeface="Arial"/>
              </a:rPr>
              <a:t>   (Table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7.2   </a:t>
            </a:r>
            <a:r>
              <a:rPr sz="6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7.3   </a:t>
            </a:r>
            <a:r>
              <a:rPr sz="6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7.4   </a:t>
            </a:r>
            <a:r>
              <a:rPr sz="6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7.5   </a:t>
            </a:r>
            <a:r>
              <a:rPr sz="6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480" i="1">
                <a:solidFill>
                  <a:srgbClr val="556A83"/>
                </a:solidFill>
                <a:latin typeface="Arial"/>
              </a:rPr>
              <a:t>   (Figure 12)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7.6   </a:t>
            </a:r>
            <a:r>
              <a:rPr sz="6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0000"/>
              </a:lnSpc>
              <a:spcAft>
                <a:spcPts val="60"/>
              </a:spcAft>
            </a:pPr>
            <a:r>
              <a:rPr sz="640" b="0">
                <a:solidFill>
                  <a:srgbClr val="314359"/>
                </a:solidFill>
                <a:latin typeface="Arial"/>
              </a:rPr>
              <a:t>      7.7   </a:t>
            </a:r>
            <a:r>
              <a:rPr sz="6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4 Where the allocation fits: three legitimate homes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ownership does not need a bucket of its own. It can be funded from public equity, event-driven hedge funds or private equity — each defensible, depending on what it replaces.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Public equity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concentrated, active equity sleeve — long-only public companies with daily pricing and full transparency.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Adds idiosyncratic, governance-driven alpha to a beta-dominated equity book, while keeping liquidity, transparency and low fees inside an existing equity mandate.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Higher active risk than an index sleeve — it is meant to differ from the benchmark.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Event-driven hedge funds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 catalyst strategy — returns come from proxy contests, board change, spin-offs, M&amp;A and capital-return programmes, not market direction.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return driver is event-specific and largely independent of rates and growth; it diversifies an absolute-return book and matches how the alpha is actually generated.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More concentrated and longer-horizon than a typical multi-strategy fund; positions are owned outright, not hedged.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Times New Roman"/>
              </a:rPr>
              <a:t>Private equity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4137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31406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LENS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PE-style value creation — board influence, operational improvement and multi-year holds — executed in public markets.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WHY FUND IT HERE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The same engaged-ownership return engine as private equity, but with public-market liquidity, daily transparency, lower fees and no J-curve or lock-up.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TRADE-OFF</a:t>
            </a:r>
          </a:p>
          <a:p>
            <a:pPr algn="l">
              <a:lnSpc>
                <a:spcPct val="113000"/>
              </a:lnSpc>
              <a:spcAft>
                <a:spcPts val="80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Marked to market daily — honest volatility instead of smoothed quarterly appraisals (see Part II).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291072"/>
            <a:ext cx="873456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291072"/>
            <a:ext cx="8485844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The same strategy, three valid homes — fund it wherever engaged ownership is the better risk-adjusted alternative to what it replaces.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6 Why mid-market is the sweet spot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Big enough to run well, small enough to change — and to grow. The engaged-ownership opportunity is richest in the middle.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828845" cy="3901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682538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231191" y="2292096"/>
            <a:ext cx="2377499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18976" y="2292096"/>
            <a:ext cx="2231191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Small-cap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08691" y="2292096"/>
            <a:ext cx="2560384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6475" y="2292096"/>
            <a:ext cx="2414076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69075" y="2292096"/>
            <a:ext cx="2121461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56859" y="2292096"/>
            <a:ext cx="1975153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Large-cap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02346" y="2682240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90130" y="268224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Organisational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31191" y="2682240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18976" y="268224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Often too thin to support a capable team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608691" y="2682240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96475" y="268224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Enough structure for a real management team and processes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69075" y="2682240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56859" y="268224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Deep, but layered and slow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46" y="3443020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0130" y="3443020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Growth runway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31191" y="3443020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18976" y="3443020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Long, but fragile and under-resourced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608691" y="3443020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96475" y="3443020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Still long — small enough to compound for years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69075" y="3443020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256859" y="3443020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Largely played out; growth is incremental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203801"/>
            <a:ext cx="1828845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203801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Speed of change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31191" y="4203801"/>
            <a:ext cx="2377499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318976" y="4203801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Fast, but limited resources to execute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08691" y="4203801"/>
            <a:ext cx="2560384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696475" y="4203801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Operational change lands within ~1.5 years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69075" y="4203801"/>
            <a:ext cx="2121461" cy="7607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256859" y="4203801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Years to turn; entrenched complexity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02346" y="4964582"/>
            <a:ext cx="1828845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90130" y="4964582"/>
            <a:ext cx="1682538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Owner influence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231191" y="4964582"/>
            <a:ext cx="2377499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18976" y="4964582"/>
            <a:ext cx="2231191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High, but little to work with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608691" y="4964582"/>
            <a:ext cx="2560384" cy="760780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696475" y="4964582"/>
            <a:ext cx="2414076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board seat genuinely moves the outcome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69075" y="4964582"/>
            <a:ext cx="2121461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256859" y="4964582"/>
            <a:ext cx="1975153" cy="7607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Diluted; one owner rarely shifts the agenda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2346" y="588142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Mid-market companies are run well enough to be worth owning, yet small enough that an engaged owner can still change — and grow — them.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Opportunity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7 Why mid-cap management listens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structural reason engaged ownership works here: capable operators with predictable blind spots, and the room to act on good advice.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BLIND SPOT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Mid-cap CEOs are usually promoted from sales or operations — strong in their domain, first-time chief executives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have not run capital allocation, M&amp;A, financing or board strategy before — predictable, correctable gaps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They know it — so credible, experienced owners are welcomed, not resisted, unlike at entrenched large-caps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WHAT IT MEANS FOR AN ENGAGED OWNER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 board seat is genuinely productive — advice is acted on, not filtered through layers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Change is collaborative, not a proxy fight — faster, cheaper, less headline risk</a:t>
            </a:r>
          </a:p>
          <a:p>
            <a:pPr algn="l">
              <a:lnSpc>
                <a:spcPct val="115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owner supplies exactly the missing experience: capital discipline, focus and a wider strategic lens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6193536"/>
            <a:ext cx="8873559" cy="58521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70599" y="6193536"/>
            <a:ext cx="8632151" cy="58521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FFFFFF"/>
                </a:solidFill>
                <a:latin typeface="Arial"/>
              </a:rPr>
              <a:t>Capable management with a known blind spot, in a company small enough to change: the conditions under which engaged ownership compounds.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8 What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1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Team &amp; operations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1   </a:t>
            </a:r>
            <a:r>
              <a:rPr sz="1000" b="1">
                <a:solidFill>
                  <a:srgbClr val="FFFFFF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19%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avg annualised NET,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any entry month*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worst-ever entry,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still positive*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growth of capital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2006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~19% average annualised return*</a:t>
            </a:r>
            <a:r>
              <a:rPr sz="1200">
                <a:solidFill>
                  <a:srgbClr val="0E1620"/>
                </a:solidFill>
                <a:latin typeface="Arial"/>
              </a:rPr>
              <a:t>  whatever month you invested and held to today — entry timing has barely mattered.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~7% in the single worst entry month</a:t>
            </a:r>
            <a:r>
              <a:rPr sz="1200">
                <a:solidFill>
                  <a:srgbClr val="0E1620"/>
                </a:solidFill>
                <a:latin typeface="Arial"/>
              </a:rPr>
              <a:t>  even the unluckiest possible entry still compounded at a mid-single-digit net return — no investor lost over the holding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16.1% time-weighted NET since 2006</a:t>
            </a:r>
            <a:r>
              <a:rPr sz="1200">
                <a:solidFill>
                  <a:srgbClr val="0E1620"/>
                </a:solidFill>
                <a:latin typeface="Arial"/>
              </a:rPr>
              <a:t>  vs MSCI IMI 6.1% — net of all fees.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*Average of the annualised NET return earned investing in each individual month and holding to the end (107 entry months, AIPFII). Time-weighted figure annualised over actual invested time. Past performance is not indicative of future results.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1.3 The people behind the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An integrated investment team — and an independent operations, finance and control function that safeguards investor capital.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2126284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22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Stefan Charette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5230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CIO &amp; PARTNER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5230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Ex-CEO/CIO of Brokk; Lehman Brothers, Salomon Smith Barney.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31191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31191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99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Kenth Eriksson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99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 &amp; PARTNER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77499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Ex-CEO of Tradimus; Senior VP, Electrolux; tech owner-operator.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023460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023460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69768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Sven Thorén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169768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PM &amp; PARTNER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69768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Ex-PM at Adrigo, Catella, Pan Capital and Nordea.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15729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815729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62037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Anders Elsell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62037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SENIOR PM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62037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1996; ex-CEO/CIO of HQ Fonder; Carnegie.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607998" y="2438400"/>
            <a:ext cx="1704484" cy="146304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607998" y="2438400"/>
            <a:ext cx="43892" cy="146304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54305" y="2565196"/>
            <a:ext cx="147039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Daniel Nyhrén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305" y="2848051"/>
            <a:ext cx="147039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PARTNER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54305" y="3101644"/>
            <a:ext cx="1455761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On the team since 2006; ex-CFO of Global Batterier.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38922" y="4096512"/>
            <a:ext cx="65838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OPERATIONS, FINANCE &amp; CONTROL — INDEPENDENT OF THE INVESTMENT TEAM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38922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38922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523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Malin Norrman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3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CFO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3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Ex-COO/CFO of Captor Fund Mgmt; risk manager at Carnegie and AB Industrivärden.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699376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699376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45683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Grant Loon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845683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HEAD OF FUND OPERATIONS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845683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Ex-COO of Madrague Capital and Port Capital; Soros, Commerzbank, Morgan Stanley.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959829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959829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106137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Eva Andersson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106137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FUND OPERATIONS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106137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MBA, Business School London; sales-executive background.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220283" y="4408626"/>
            <a:ext cx="2165353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220283" y="4408626"/>
            <a:ext cx="43892" cy="141427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366590" y="4535422"/>
            <a:ext cx="1931261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Zetong Liu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66590" y="4818277"/>
            <a:ext cx="1931261" cy="23408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TECHNOLOGY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366590" y="5071870"/>
            <a:ext cx="1916630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0E1620"/>
                </a:solidFill>
                <a:latin typeface="Arial"/>
              </a:rPr>
              <a:t>MSc applied &amp; computational mathematics, KTH; projects for the Swiss Finance Institute / EPFL.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38922" y="6164275"/>
            <a:ext cx="8873559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85230" y="6164275"/>
            <a:ext cx="8558998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Segregation of duties protects investors: operations, valuation and risk sit apart from investment decisions — with SEB (custody), MUFG (administration) and KPMG (audit) independently verifying every NAV and fee.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1.4 A risk system that engineers out permanent loss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Risk is controlled before the investment is made — through valuation, diversification and influence — not managed after the fact.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BUILT ON THREE PILLARS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701747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12076" y="2701747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3015" y="2838297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Predictability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015" y="3150412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Only durable, market-leading cores in slow-moving industries — businesses whose future demand we can underwrite.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76" y="395020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2076" y="395020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3015" y="4086758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Price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3015" y="4398873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hard valuation floor: value the rectifiable core, assign zero to “growth-trap” divisions — a 30–40% margin of safety vs a PE bidder.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76" y="5198668"/>
            <a:ext cx="4133191" cy="11509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2076" y="5198668"/>
            <a:ext cx="51207" cy="115092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3015" y="5335219"/>
            <a:ext cx="387715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Influence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3015" y="5647334"/>
            <a:ext cx="3877152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board seat as the “kill switch” — the ability to stop one bad decision lowers risk below any passive or active manager.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93921" y="2292096"/>
            <a:ext cx="409661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AUTOMATIC GUARDRAILS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93921" y="2701747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Core &amp; satellite: a 30-stock equal-weighted index compounds all unallocated capital; 8–12 concentrated ideas sit on top.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93921" y="3599078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Entry gauntlet: every idea must clear a ≥12% expected IRR and ≤20% probability of a 30% drawdown before funding.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93921" y="4496409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Eleven standardised risk tags cap any single macro/business factor at ~20% of the concentrated book.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93921" y="5393740"/>
            <a:ext cx="4133191" cy="877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Hard triggers at −10% / −20% / −30% force thesis review and exit — removing emotion and PM bias.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The system is designed to make permanent capital loss structurally unlikely — not merely to react to it.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1.5 The ownership playbook, honed over 40 investments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repeatable sequence that turns a board seat into operational value — refocusing a good core, then growing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Rectangle 8"/>
          <p:cNvSpPr/>
          <p:nvPr/>
        </p:nvSpPr>
        <p:spPr>
          <a:xfrm>
            <a:off x="438922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9861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307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Secure the board seat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807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Often a precondition to invest — the nomination committee proposes an AIP director.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577222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74668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Align the thesis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99168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Collaborate with management and stakeholders to agree where the value is and what must change.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93644" y="2292096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54583" y="2487168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52029" y="2526182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Refocus to drive earnings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76529" y="3091891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Cut overhead and admin, optimise the footprint, exit loss-making “growth-trap” ventures.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9861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307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Reallocate to winners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807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Redeploy freed-up capital into the profitable core and its strongest adjacencies; lift R&amp;D where it pays.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416283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77222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074668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Grow by acquisition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99168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Add complementary products, geographies or scale through value-accretive bolt-ons.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93644" y="4125772"/>
            <a:ext cx="2904207" cy="167761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6554583" y="4320844"/>
            <a:ext cx="365769" cy="487680"/>
          </a:xfrm>
          <a:prstGeom prst="ellipse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440" b="1">
                <a:solidFill>
                  <a:srgbClr val="FFFFFF"/>
                </a:solidFill>
                <a:latin typeface="Times New Roman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52029" y="4359859"/>
            <a:ext cx="2099514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Exit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76529" y="4925568"/>
            <a:ext cx="2575014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Realise via M&amp;A or in the equity market once the core is refocused and compounding.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8922" y="6339840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314359"/>
                </a:solidFill>
                <a:latin typeface="Arial"/>
              </a:rPr>
              <a:t>The same playbook across 40 companies — value created by fixing capital allocation, not by financial engineering or leverage.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2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opportunity &amp; our edge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2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2.6 Why the specialist, not the household name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Recommending Athanase over a brand name is a choice for structural alpha over institutional inertia.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463076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4761" y="2292096"/>
            <a:ext cx="127287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1865422" y="2292096"/>
            <a:ext cx="3694268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967838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household name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9691" y="2292096"/>
            <a:ext cx="3694268" cy="409651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2106" y="2292096"/>
            <a:ext cx="3504068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Athanase — the specialist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61" y="2701747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Scale &amp; influence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65422" y="2701747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967838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$10bn+ AUM forces them into large- and mega-caps, where one owner rarely shifts the agenda and growth is incremental.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559691" y="2701747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662106" y="2701747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Mid-market (€50m–€3bn), where a single board seat changes the outcome — the high-return, low-competition lane the giants left behind.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579571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4761" y="3579571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Return source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65422" y="3579571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967838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Large buyouts are leveraged beta — ~0.89 correlated to small/mid equities once de-smoothed; driven by GDP, rates and multiples.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559691" y="3579571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662106" y="3579571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Idiosyncratic, event-driven alpha at 0.44 correlation — a genuine diversifier, not a duplicate of your equity book.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457395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4761" y="4457395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&amp; structure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65422" y="4457395"/>
            <a:ext cx="3694268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967838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~40% control premium up front, a 10-year blind-pool lock-up, and fees on undeployed dry powder.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559691" y="4457395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2106" y="4457395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Entry at “shareholder exhaustion” — the turnaround effectively for free — with daily liquidity and zero capital-call liability.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5335219"/>
            <a:ext cx="1463076" cy="8778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4761" y="5335219"/>
            <a:ext cx="1272876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What you’re buying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65422" y="5335219"/>
            <a:ext cx="3694268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967838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0" i="0">
                <a:solidFill>
                  <a:srgbClr val="556A83"/>
                </a:solidFill>
                <a:latin typeface="Arial"/>
              </a:rPr>
              <a:t>A brand — but brand recognition does not compound capital.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559691" y="5335219"/>
            <a:ext cx="3694268" cy="877824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662106" y="5335219"/>
            <a:ext cx="3504068" cy="8778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Asymmetric capture (93% up / 43% down) and a validated 16.1% net, +7% worst-entry record — institutional process, not a logo.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6330086"/>
            <a:ext cx="8851613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53" y="6330086"/>
            <a:ext cx="8558998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Brand recognition does not compound capital — asymmetric capture does. The edge is the very lane the household names had to abandon as they scaled.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2346" y="7003084"/>
            <a:ext cx="9217382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De-smoothed large-buyout correlation to small/mid-cap equities ~0.89 (Two Sigma / Venn, 2024; Couts, Gonçalves &amp; Rossi, 2020; Boyer et al., 2018). Athanase correlation 0.44 (real). See references.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3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How we invest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3   </a:t>
            </a:r>
            <a:r>
              <a:rPr sz="1000" b="1">
                <a:solidFill>
                  <a:srgbClr val="FFFFFF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Decisions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3.1 How decisions are made: three tollgates, clear owners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Every idea passes through the same three gates — each with an explicit bar and a named decision-maker. The process is documented, governed and repeatable.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1 · Valuation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SOURCING &amp; SCREENING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it cheap enough even if we change nothing?”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The core business alone justifies the price — a 30–40% margin of safety versus a private-equity bidder.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team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2 · The plan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AFTER RESEARCH &amp; DUE DILIGENCE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“Is the improvement plan real — and can we deliver 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Upside quantified across the six value levers and validated with management and industry experts, with a credible path to a board seat.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Deal lead + Head of Research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Tollgate 3 · Go / No-Go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10164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16326"/>
            <a:ext cx="2560384" cy="28480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80" b="1" i="0">
                <a:solidFill>
                  <a:srgbClr val="556A83"/>
                </a:solidFill>
                <a:latin typeface="Arial"/>
              </a:rPr>
              <a:t>INVESTMENT COMMITTEE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THE QUESTION</a:t>
            </a:r>
          </a:p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880" b="0" i="1">
                <a:solidFill>
                  <a:srgbClr val="314359"/>
                </a:solidFill>
                <a:latin typeface="Times New Roman"/>
              </a:rPr>
              <a:t>“Right risk, right size, right fit?”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PASS ONLY IF</a:t>
            </a:r>
          </a:p>
          <a:p>
            <a:pPr algn="l">
              <a:lnSpc>
                <a:spcPct val="112000"/>
              </a:lnSpc>
              <a:spcAft>
                <a:spcPts val="7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Within risk and portfolio limits, conviction-sized, with no better use of the capital available.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DECIDED BY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Investment Committee — CIO + PMs; risk independent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047232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5230" y="6047232"/>
            <a:ext cx="8485844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Repeatable by design — the same gates the team has run since 2006, a written investment case, minuted decisions, and every holding re-underwritten each quarter. About 1 in 1,000 screened names is bought.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3553" y="6827520"/>
            <a:ext cx="877845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A “no” at any gate ends the process — most ideas are rejected at Tollgate 1 or 2, long before capital is at risk.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Source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3.2 Sourcing &amp; screening: from ~7,200 names to a shortlist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Five sourcing channels feed a funnel that narrows the whole European listed market to a handful of candidates — before a single krona is committed.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5852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FIVE SOURCING CHANNELS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76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Network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15318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Own research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8560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Interviews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21802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Company visits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25044" y="2643225"/>
            <a:ext cx="1726430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FFFFFF"/>
                </a:solidFill>
                <a:latin typeface="Arial"/>
              </a:rPr>
              <a:t>External experts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315318" y="334548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15318" y="3345484"/>
            <a:ext cx="5267075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7,200   </a:t>
            </a:r>
            <a:r>
              <a:rPr sz="880">
                <a:solidFill>
                  <a:srgbClr val="0E1620"/>
                </a:solidFill>
                <a:latin typeface="Arial"/>
              </a:rPr>
              <a:t>listed companies in selected European markets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54241" y="3950208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54241" y="3950208"/>
            <a:ext cx="4389229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2,800   </a:t>
            </a:r>
            <a:r>
              <a:rPr sz="880">
                <a:solidFill>
                  <a:srgbClr val="0E1620"/>
                </a:solidFill>
                <a:latin typeface="Arial"/>
              </a:rPr>
              <a:t>with a market cap between €50m and €3bn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93164" y="4554931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193164" y="4554931"/>
            <a:ext cx="3511383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≈ 2,500   </a:t>
            </a:r>
            <a:r>
              <a:rPr sz="880">
                <a:solidFill>
                  <a:srgbClr val="0E1620"/>
                </a:solidFill>
                <a:latin typeface="Arial"/>
              </a:rPr>
              <a:t>in our selected sectors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32087" y="5159654"/>
            <a:ext cx="51207" cy="507187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32087" y="5159654"/>
            <a:ext cx="2633537" cy="50718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40" b="1">
                <a:solidFill>
                  <a:srgbClr val="314359"/>
                </a:solidFill>
                <a:latin typeface="Times New Roman"/>
              </a:rPr>
              <a:t>Shortlist   </a:t>
            </a:r>
            <a:r>
              <a:rPr sz="880">
                <a:solidFill>
                  <a:srgbClr val="0E1620"/>
                </a:solidFill>
                <a:latin typeface="Arial"/>
              </a:rPr>
              <a:t>suitable shareholder base for constructive ownership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38922" y="5822899"/>
            <a:ext cx="8873559" cy="565708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5230" y="5822899"/>
            <a:ext cx="8558998" cy="5657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First tollgate — is the valuation attractive even if we change nothing? We only proceed when the core alone justifies the price.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Research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3.3 Research &amp; due diligence: four analytical steps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1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Idea generation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Internal research, our industry network and external advisors — plus meetings with company management, board members or former employees, and dialogue with other investors.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2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Financial analysis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In-depth analysis of public financials; comparison with industry standards and similar businesses; interviews with senior and subsidiary management and with competitors; and an estimate of the optimal capital structure and M&amp;A headroom.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3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Operational analysis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Interviews with management and selected board members; discussions across our network of industry leaders; visits to competitors, customers and suppliers; and interviews with former employees and board members.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4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Validation of the operating 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Value the potential operational and structural improvements; pressure-test the plan with management and industry experts and secure their commitment; and select potential board members (and, if needed, a new management team).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Second tollgate — value the improvement programme across six levers: organic growth, M&amp;A, cost, structural, operational and financial.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How we invest · Execute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3.4 Decision, execution and board engagement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sp>
        <p:nvSpPr>
          <p:cNvPr id="8" name="Rectangle 7"/>
          <p:cNvSpPr/>
          <p:nvPr/>
        </p:nvSpPr>
        <p:spPr>
          <a:xfrm>
            <a:off x="438922" y="1921459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5969" y="1921459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5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team meeting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60384" y="1921459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Discuss the analysis, the recommended size of the investment, and the risk and portfolio impact.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22" y="3111398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55969" y="3111398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6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Investment committee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60384" y="3111398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Review the recommendation, the stake size and the risk and portfolio impact, and challenge the team — the third tollgate and the final Go / No-Go decision.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4301337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5969" y="4301337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7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Trade execution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84" y="4301337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Work with our prime brokers to build the stake in the most cost- and time-efficient way, tracking any new information that could change the case.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22" y="5491276"/>
            <a:ext cx="1975153" cy="109240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5969" y="5491276"/>
            <a:ext cx="1755691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720" b="1" i="0">
                <a:solidFill>
                  <a:srgbClr val="E2E5E9"/>
                </a:solidFill>
                <a:latin typeface="Arial"/>
              </a:rPr>
              <a:t>STEP 8</a:t>
            </a:r>
          </a:p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Inform company, board &amp; stakeholders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60384" y="5491276"/>
            <a:ext cx="6752098" cy="1092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Brief the Chairman and CEO, present the case to co-investors, secure at least one board seat for the Athanase team, and align subsidiary managers behind the plan.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6964070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Roughly one investment a year clears all three tollgates. The board seat is the engine of both value creation and risk control.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4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Risk, honestly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4   </a:t>
            </a:r>
            <a:r>
              <a:rPr sz="1000" b="1">
                <a:solidFill>
                  <a:srgbClr val="FFFFFF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4.1 A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4.2 The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4.3 A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4.4 Risk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4.5 Why an allocation here is not career-ending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three institutional anxieties — mark-to-market volatility, headline risk and concentration — each disarmed by the mechanics of the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355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Mark-to-market volatility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ISOLATED BY MANDATE DESIGN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Sized for immunity</a:t>
            </a:r>
            <a:r>
              <a:rPr sz="760">
                <a:solidFill>
                  <a:srgbClr val="0E1620"/>
                </a:solidFill>
                <a:latin typeface="Arial"/>
              </a:rPr>
              <a:t> — a 1–3% special-situations sleeve, so no single mark can dominate the fund or trigger board-level panic.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Pre-underwritten</a:t>
            </a:r>
            <a:r>
              <a:rPr sz="760">
                <a:solidFill>
                  <a:srgbClr val="0E1620"/>
                </a:solidFill>
                <a:latin typeface="Arial"/>
              </a:rPr>
              <a:t> — a ~50% drawdown tolerance agreed with the IC up front; reallocation triggers on manager turnover or style drift — never the share price.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No capital-call trap</a:t>
            </a:r>
            <a:r>
              <a:rPr sz="760">
                <a:solidFill>
                  <a:srgbClr val="0E1620"/>
                </a:solidFill>
                <a:latin typeface="Arial"/>
              </a:rPr>
              <a:t> — unlike PE’s smoothed marks and the denominator effect, there is zero capital-call liability — you are never forced to sell liquid assets at the bottom.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408968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Headline risk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08968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0645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REFRAMED AS FIDUCIARY STEWARDSHIP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Constructive, not confrontational</a:t>
            </a:r>
            <a:r>
              <a:rPr sz="760">
                <a:solidFill>
                  <a:srgbClr val="0E1620"/>
                </a:solidFill>
                <a:latin typeface="Arial"/>
              </a:rPr>
              <a:t> — quality-core constructivism — profitable market leaders that welcome capital discipline, not proxy fights.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Applied governance</a:t>
            </a:r>
            <a:r>
              <a:rPr sz="760">
                <a:solidFill>
                  <a:srgbClr val="0E1620"/>
                </a:solidFill>
                <a:latin typeface="Arial"/>
              </a:rPr>
              <a:t> — board independence, pay-for-performance and capital discipline are the “G” in ESG — turning hidden governance risk into a return engine.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Defensible</a:t>
            </a:r>
            <a:r>
              <a:rPr sz="760">
                <a:solidFill>
                  <a:srgbClr val="0E1620"/>
                </a:solidFill>
                <a:latin typeface="Arial"/>
              </a:rPr>
              <a:t> — aligned with UN PRI fiduciary duty and easy to explain to stakeholders.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2292096"/>
            <a:ext cx="2823737" cy="487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Times New Roman"/>
              </a:rPr>
              <a:t>Concentration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64383" y="2779776"/>
            <a:ext cx="2823737" cy="33162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6060" y="2906572"/>
            <a:ext cx="2560384" cy="30821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680" b="1" i="0">
                <a:solidFill>
                  <a:srgbClr val="314359"/>
                </a:solidFill>
                <a:latin typeface="Arial"/>
              </a:rPr>
              <a:t>FLOORED BY HARDENED GUARDRAILS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60">
                <a:solidFill>
                  <a:srgbClr val="0E1620"/>
                </a:solidFill>
                <a:latin typeface="Arial"/>
              </a:rPr>
              <a:t> — every idea clears a tollgate where the core alone justifies the price: a structural 30–40% margin of safety.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Mechanized triggers</a:t>
            </a:r>
            <a:r>
              <a:rPr sz="760">
                <a:solidFill>
                  <a:srgbClr val="0E1620"/>
                </a:solidFill>
                <a:latin typeface="Arial"/>
              </a:rPr>
              <a:t> — automatic −10% / −20% / −30% force a thesis review and exit — removing PM emotion before a position spirals.</a:t>
            </a:r>
          </a:p>
          <a:p>
            <a:pPr marL="120653" indent="-120653">
              <a:lnSpc>
                <a:spcPct val="110000"/>
              </a:lnSpc>
              <a:spcAft>
                <a:spcPts val="600"/>
              </a:spcAft>
            </a:pPr>
            <a:r>
              <a:rPr sz="760" b="1">
                <a:solidFill>
                  <a:srgbClr val="556A83"/>
                </a:solidFill>
                <a:latin typeface="Arial"/>
              </a:rPr>
              <a:t>›  </a:t>
            </a:r>
            <a:r>
              <a:rPr sz="760" b="1">
                <a:solidFill>
                  <a:srgbClr val="314359"/>
                </a:solidFill>
                <a:latin typeface="Arial"/>
              </a:rPr>
              <a:t>A core-and-satellite buffer</a:t>
            </a:r>
            <a:r>
              <a:rPr sz="760">
                <a:solidFill>
                  <a:srgbClr val="0E1620"/>
                </a:solidFill>
                <a:latin typeface="Arial"/>
              </a:rPr>
              <a:t> — 8–12 conviction ideas sit on a 30-stock equal-weighted core that absorbs idiosyncratic shocks.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553" y="6125260"/>
            <a:ext cx="8734567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9861" y="6125260"/>
            <a:ext cx="841269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0" i="1">
                <a:solidFill>
                  <a:srgbClr val="FFFFFF"/>
                </a:solidFill>
                <a:latin typeface="Arial"/>
              </a:rPr>
              <a:t>Career risk is engineered out — sized so no mark dominates, governed so headlines read as stewardship, floored so concentration cannot blow up: a bad quarter is underwritten, not a surprise.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5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The 20-year track record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5   </a:t>
            </a:r>
            <a:r>
              <a:rPr sz="1000" b="1">
                <a:solidFill>
                  <a:srgbClr val="FFFFFF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5.1 Proof: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What downside protection means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In the market’s down months Athanase fell ~1.5% on average versus the market’s ~3.8% — losing less than half as much when it matters.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Positive when the market wasn’t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Across the six worst years for global equities, Athanase outperformed in five — and stayed positive in two: +9% in 2015 and +0.3% in 2022, while the market fell −6% and −20%.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Why it compounds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Losing less in drawdowns leaves more capital working in the recovery — the engine behind 18× growth of capital vs 3.2× for the market since 2006.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5.2 AIP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5.3 Prior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5.4 Independently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against the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38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+1,743%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19.5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+16.1%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(net of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vs the market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5.8×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5.5 Repeatable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11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5.6 Why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6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What it means for your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6   </a:t>
            </a:r>
            <a:r>
              <a:rPr sz="1000" b="1">
                <a:solidFill>
                  <a:srgbClr val="FFFFFF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7   </a:t>
            </a:r>
            <a:r>
              <a:rPr sz="880" b="0">
                <a:solidFill>
                  <a:srgbClr val="556A83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41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6.1 What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42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10.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6.2 Lower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16.1%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135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157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445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133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330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6.3 A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44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6.4 What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45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trade-off: every allocation raises return and lowers downside risk — so to a committee this is a mathematical risk-reduction tool, not a risky bet, sized within prudent 3–8% limits.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38922" y="2389632"/>
            <a:ext cx="855899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· WHY ATHANASE   ·   7 OF 7</a:t>
            </a:r>
          </a:p>
        </p:txBody>
      </p:sp>
      <p:sp>
        <p:nvSpPr>
          <p:cNvPr id="5" name="Rectangle 4"/>
          <p:cNvSpPr/>
          <p:nvPr/>
        </p:nvSpPr>
        <p:spPr>
          <a:xfrm>
            <a:off x="453553" y="287731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3072384"/>
            <a:ext cx="8705305" cy="975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Versus private equity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22" y="4876800"/>
            <a:ext cx="8778459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1   </a:t>
            </a:r>
            <a:r>
              <a:rPr sz="880" b="0">
                <a:solidFill>
                  <a:srgbClr val="556A83"/>
                </a:solidFill>
                <a:latin typeface="Arial"/>
              </a:rPr>
              <a:t>Team &amp; operations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2   </a:t>
            </a:r>
            <a:r>
              <a:rPr sz="880" b="0">
                <a:solidFill>
                  <a:srgbClr val="556A83"/>
                </a:solidFill>
                <a:latin typeface="Arial"/>
              </a:rPr>
              <a:t>The opportunity &amp; our edge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3   </a:t>
            </a:r>
            <a:r>
              <a:rPr sz="880" b="0">
                <a:solidFill>
                  <a:srgbClr val="556A83"/>
                </a:solidFill>
                <a:latin typeface="Arial"/>
              </a:rPr>
              <a:t>How we invest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4   </a:t>
            </a:r>
            <a:r>
              <a:rPr sz="880" b="0">
                <a:solidFill>
                  <a:srgbClr val="556A83"/>
                </a:solidFill>
                <a:latin typeface="Arial"/>
              </a:rPr>
              <a:t>Risk, honestly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5   </a:t>
            </a:r>
            <a:r>
              <a:rPr sz="880" b="0">
                <a:solidFill>
                  <a:srgbClr val="556A83"/>
                </a:solidFill>
                <a:latin typeface="Arial"/>
              </a:rPr>
              <a:t>The 20-year track record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880" b="0">
                <a:solidFill>
                  <a:srgbClr val="556A83"/>
                </a:solidFill>
                <a:latin typeface="Arial"/>
              </a:rPr>
              <a:t>6   </a:t>
            </a:r>
            <a:r>
              <a:rPr sz="880" b="0">
                <a:solidFill>
                  <a:srgbClr val="556A83"/>
                </a:solidFill>
                <a:latin typeface="Arial"/>
              </a:rPr>
              <a:t>What it means for your portfolio</a:t>
            </a:r>
          </a:p>
          <a:p>
            <a:pPr>
              <a:lnSpc>
                <a:spcPct val="100000"/>
              </a:lnSpc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Arial"/>
              </a:rPr>
              <a:t>7   </a:t>
            </a:r>
            <a:r>
              <a:rPr sz="1000" b="1">
                <a:solidFill>
                  <a:srgbClr val="FFFFFF"/>
                </a:solidFill>
                <a:latin typeface="Arial"/>
              </a:rPr>
              <a:t>Versus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46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7.1 What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47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7.2 Switching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48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2381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11602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0184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574949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043122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13090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121150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394251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3862424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395020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3940453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213554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4681726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47695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4759755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032856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501029"/>
            <a:ext cx="4169768" cy="7607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558881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5579058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5852158"/>
            <a:ext cx="387715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7.3 The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49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7.4 Same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50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7.5 PE’s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51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7.6 When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7.7 Responsible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objections we hear — and the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common declines are rarely about the returns. Each underlying concern has a structural answer.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54</a:t>
            </a:r>
          </a:p>
        </p:txBody>
      </p:sp>
      <p:sp>
        <p:nvSpPr>
          <p:cNvPr id="9" name="Rectangle 8"/>
          <p:cNvSpPr/>
          <p:nvPr/>
        </p:nvSpPr>
        <p:spPr>
          <a:xfrm>
            <a:off x="402346" y="2292096"/>
            <a:ext cx="219461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4761" y="2292096"/>
            <a:ext cx="20044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objection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96960" y="2292096"/>
            <a:ext cx="2194614" cy="3901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699376" y="2292096"/>
            <a:ext cx="2004414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underlying concern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91575" y="2292096"/>
            <a:ext cx="4242922" cy="390144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93991" y="2292096"/>
            <a:ext cx="4052722" cy="3901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919" b="1" i="0">
                <a:solidFill>
                  <a:srgbClr val="FFFFFF"/>
                </a:solidFill>
                <a:latin typeface="Arial"/>
              </a:rPr>
              <a:t>The structural answer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46" y="2682240"/>
            <a:ext cx="2194614" cy="9363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61" y="2682240"/>
            <a:ext cx="2004414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0" i="1">
                <a:solidFill>
                  <a:srgbClr val="314359"/>
                </a:solidFill>
                <a:latin typeface="Times New Roman"/>
              </a:rPr>
              <a:t>“It falls between our buckets.”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96960" y="2682240"/>
            <a:ext cx="2194614" cy="9363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699376" y="2682240"/>
            <a:ext cx="2004414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Idiosyncratic alpha means tracking error against the benchmark.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2682240"/>
            <a:ext cx="4242922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93991" y="2682240"/>
            <a:ext cx="4052722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Fund it from whichever sleeve it best replaces — public equity, event-driven or private equity. Sized at 1–3%, the tracking error is pre-agreed and judged on fundamentals, not on benchmark-hugging.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02346" y="3618585"/>
            <a:ext cx="2194614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4761" y="3618585"/>
            <a:ext cx="2004414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0" i="1">
                <a:solidFill>
                  <a:srgbClr val="314359"/>
                </a:solidFill>
                <a:latin typeface="Times New Roman"/>
              </a:rPr>
              <a:t>“Key-person risk at a boutique.”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596960" y="3618585"/>
            <a:ext cx="2194614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99376" y="3618585"/>
            <a:ext cx="2004414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A niche firm offers less political cover than a household name.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91575" y="3618585"/>
            <a:ext cx="4242922" cy="93634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93991" y="3618585"/>
            <a:ext cx="4052722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 five-partner team 20 years together, an independent operations / risk / valuation layer, SEB · MUFG · KPMG oversight and an independently validated 20-year record — institutional process, not a flyer.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46" y="4554931"/>
            <a:ext cx="2194614" cy="9363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4761" y="4554931"/>
            <a:ext cx="2004414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0" i="1">
                <a:solidFill>
                  <a:srgbClr val="314359"/>
                </a:solidFill>
                <a:latin typeface="Times New Roman"/>
              </a:rPr>
              <a:t>“Capacity — only one deal a year.”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596960" y="4554931"/>
            <a:ext cx="2194614" cy="93634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99376" y="4554931"/>
            <a:ext cx="2004414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Is a 1–3% sleeve worth the internal effort to approve?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791575" y="4554931"/>
            <a:ext cx="4242922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893991" y="4554931"/>
            <a:ext cx="4052722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Selectivity is the edge, not a constraint; the book compounds spare capital in a 30-stock core, and capacity comfortably supports an institutional ticket within prudent sizing.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02346" y="5491276"/>
            <a:ext cx="2194614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4761" y="5491276"/>
            <a:ext cx="2004414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0" i="1">
                <a:solidFill>
                  <a:srgbClr val="314359"/>
                </a:solidFill>
                <a:latin typeface="Times New Roman"/>
              </a:rPr>
              <a:t>“Duration ties up our risk budget.”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596960" y="5491276"/>
            <a:ext cx="2194614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699376" y="5491276"/>
            <a:ext cx="2004414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0" i="0">
                <a:solidFill>
                  <a:srgbClr val="556A83"/>
                </a:solidFill>
                <a:latin typeface="Arial"/>
              </a:rPr>
              <a:t>The J-curve pain is early; the payoff lands on a later review cycle.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791575" y="5491276"/>
            <a:ext cx="4242922" cy="936345"/>
          </a:xfrm>
          <a:prstGeom prst="rect">
            <a:avLst/>
          </a:prstGeom>
          <a:solidFill>
            <a:srgbClr val="E2E5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93991" y="5491276"/>
            <a:ext cx="4052722" cy="9363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6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Daily liquidity and zero lock-up mean no trapped capital. Pre-agree the drawdown tolerance and judge business risk — board seat secured, earnings improving — so the path is owned, not a surprise.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2346" y="6554419"/>
            <a:ext cx="899792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314359"/>
                </a:solidFill>
                <a:latin typeface="Arial"/>
              </a:rPr>
              <a:t>We meet each objection where it sits — and answer it with structure, not optimism. The allocation is engineered to be defensible, not just to perform.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The case for your investment committee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argument in four moves — structure, engine, downside and proof.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55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The mandate &amp; structure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PE-style operational value creation</a:t>
            </a:r>
            <a:r>
              <a:rPr sz="720">
                <a:solidFill>
                  <a:srgbClr val="0E1620"/>
                </a:solidFill>
                <a:latin typeface="Arial"/>
              </a:rPr>
              <a:t> — executed entirely in the public markets.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transparency and liquidity, lower fees</a:t>
            </a:r>
            <a:r>
              <a:rPr sz="720">
                <a:solidFill>
                  <a:srgbClr val="0E1620"/>
                </a:solidFill>
                <a:latin typeface="Arial"/>
              </a:rPr>
              <a:t> — and no 10-year blind-pool lock-up.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Applied corporate governance</a:t>
            </a:r>
            <a:r>
              <a:rPr sz="720">
                <a:solidFill>
                  <a:srgbClr val="0E1620"/>
                </a:solidFill>
                <a:latin typeface="Arial"/>
              </a:rPr>
              <a:t> — board independence, capital discipline and pay-for-performance — fulfilling UN PRI fiduciary duty.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The engine — quality-core constructivism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Market-leading European mid-caps</a:t>
            </a:r>
            <a:r>
              <a:rPr sz="720">
                <a:solidFill>
                  <a:srgbClr val="0E1620"/>
                </a:solidFill>
                <a:latin typeface="Arial"/>
              </a:rPr>
              <a:t> — with highly profitable, durable cores — not broken turnarounds.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We enter at “shareholder exhaustion”</a:t>
            </a:r>
            <a:r>
              <a:rPr sz="720">
                <a:solidFill>
                  <a:srgbClr val="0E1620"/>
                </a:solidFill>
                <a:latin typeface="Arial"/>
              </a:rPr>
              <a:t> — the buyer of last resort after management diluted the core chasing prestige projects.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Secure the board seat</a:t>
            </a:r>
            <a:r>
              <a:rPr sz="720">
                <a:solidFill>
                  <a:srgbClr val="0E1620"/>
                </a:solidFill>
                <a:latin typeface="Arial"/>
              </a:rPr>
              <a:t> — strip the growth-trap adjacencies and reallocate capital to the core to maximise ROIIC.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The moat — engineered downside protection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 valuation floor</a:t>
            </a:r>
            <a:r>
              <a:rPr sz="720">
                <a:solidFill>
                  <a:srgbClr val="0E1620"/>
                </a:solidFill>
                <a:latin typeface="Arial"/>
              </a:rPr>
              <a:t> — the core alone justifies the price; zero value to weak divisions — a 30–40% margin of safety vs a PE bidder.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The board seat is the kill switch</a:t>
            </a:r>
            <a:r>
              <a:rPr sz="720">
                <a:solidFill>
                  <a:srgbClr val="0E1620"/>
                </a:solidFill>
                <a:latin typeface="Arial"/>
              </a:rPr>
              <a:t> — authority to freeze bad capital deployment the moment the macro shifts.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Mechanized discipline</a:t>
            </a:r>
            <a:r>
              <a:rPr sz="720">
                <a:solidFill>
                  <a:srgbClr val="0E1620"/>
                </a:solidFill>
                <a:latin typeface="Arial"/>
              </a:rPr>
              <a:t> — automatic −10% / −20% / −30% triggers force a thesis review and exit.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The proof — two decades of compounding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16.1% net p.a.; capital grown 18×</a:t>
            </a:r>
            <a:r>
              <a:rPr sz="720">
                <a:solidFill>
                  <a:srgbClr val="0E1620"/>
                </a:solidFill>
                <a:latin typeface="Arial"/>
              </a:rPr>
              <a:t> — across multiple market cycles.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92% deal-level hit rate (39 deals)</a:t>
            </a:r>
            <a:r>
              <a:rPr sz="720">
                <a:solidFill>
                  <a:srgbClr val="0E1620"/>
                </a:solidFill>
                <a:latin typeface="Arial"/>
              </a:rPr>
              <a:t> — a 5× MOIC roughly every two years.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93% up-capture vs 43% down-capture</a:t>
            </a:r>
            <a:r>
              <a:rPr sz="720">
                <a:solidFill>
                  <a:srgbClr val="0E1620"/>
                </a:solidFill>
                <a:latin typeface="Arial"/>
              </a:rPr>
              <a:t> — losing less than half preserves the compounding base.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What protects the committee — not just the capital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Beyond the returns, four things an investment committee can point to — a due-diligence shield, a capital floor, peer-reviewed cover and a liquidity escape hatch.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3553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0599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1 · Independent validation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3553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5230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Independently validated</a:t>
            </a:r>
            <a:r>
              <a:rPr sz="720">
                <a:solidFill>
                  <a:srgbClr val="0E1620"/>
                </a:solidFill>
                <a:latin typeface="Arial"/>
              </a:rPr>
              <a:t> — the 20-year net record was reconciled from security-level StatPro data to actual LP-level returns — not a back-test or internal spreadsheet.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SEB · MUFG · KPMG</a:t>
            </a:r>
            <a:r>
              <a:rPr sz="720">
                <a:solidFill>
                  <a:srgbClr val="0E1620"/>
                </a:solidFill>
                <a:latin typeface="Arial"/>
              </a:rPr>
              <a:t> — custody, administration and audit by top-tier institutions verify every NAV and fee.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An air-tight paper trail</a:t>
            </a:r>
            <a:r>
              <a:rPr sz="720">
                <a:solidFill>
                  <a:srgbClr val="0E1620"/>
                </a:solidFill>
                <a:latin typeface="Arial"/>
              </a:rPr>
              <a:t> — no auditor or regulator can level an accusation of lax oversight.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72045" y="2292096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9091" y="2292096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2 · No investor has lost capital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872045" y="2740761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3721" y="2857804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19% average net return</a:t>
            </a:r>
            <a:r>
              <a:rPr sz="720">
                <a:solidFill>
                  <a:srgbClr val="0E1620"/>
                </a:solidFill>
                <a:latin typeface="Arial"/>
              </a:rPr>
              <a:t> — regardless of the month an investor entered the fund.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+7% in the worst entry month</a:t>
            </a:r>
            <a:r>
              <a:rPr sz="720">
                <a:solidFill>
                  <a:srgbClr val="0E1620"/>
                </a:solidFill>
                <a:latin typeface="Arial"/>
              </a:rPr>
              <a:t> — the single unluckiest entry over 20 years was still positive, net.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Zero holding-period losses</a:t>
            </a:r>
            <a:r>
              <a:rPr sz="720">
                <a:solidFill>
                  <a:srgbClr val="0E1620"/>
                </a:solidFill>
                <a:latin typeface="Arial"/>
              </a:rPr>
              <a:t> — historically, no investor has lost money over a holding period.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3553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0599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3 · Backed by peer-reviewed science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3553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5230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Settled in the literature</a:t>
            </a:r>
            <a:r>
              <a:rPr sz="720">
                <a:solidFill>
                  <a:srgbClr val="0E1620"/>
                </a:solidFill>
                <a:latin typeface="Arial"/>
              </a:rPr>
              <a:t> — 13D alpha and PE’s volatility laundering / de-smoothing are backed by the Journal of Finance and Review of Financial Studies.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0.44 correlation, by the science</a:t>
            </a:r>
            <a:r>
              <a:rPr sz="720">
                <a:solidFill>
                  <a:srgbClr val="0E1620"/>
                </a:solidFill>
                <a:latin typeface="Arial"/>
              </a:rPr>
              <a:t> — the low correlation and risk/return profile are established, not asserted.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Cover in a bad quarter</a:t>
            </a:r>
            <a:r>
              <a:rPr sz="720">
                <a:solidFill>
                  <a:srgbClr val="0E1620"/>
                </a:solidFill>
                <a:latin typeface="Arial"/>
              </a:rPr>
              <a:t> — point to the evidence, not to hope — a fundamentally sound economic engine.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872045" y="4535424"/>
            <a:ext cx="4286814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89091" y="4535424"/>
            <a:ext cx="4067352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Times New Roman"/>
              </a:rPr>
              <a:t>4 · A liquidity escape hatch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72045" y="4984089"/>
            <a:ext cx="4286814" cy="169712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03721" y="5101132"/>
            <a:ext cx="4023460" cy="150205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Daily pricing and liquidity</a:t>
            </a:r>
            <a:r>
              <a:rPr sz="720">
                <a:solidFill>
                  <a:srgbClr val="0E1620"/>
                </a:solidFill>
                <a:latin typeface="Arial"/>
              </a:rPr>
              <a:t> — the strategy lives entirely in listed public equities.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No lock-up or capital-call queue</a:t>
            </a:r>
            <a:r>
              <a:rPr sz="720">
                <a:solidFill>
                  <a:srgbClr val="0E1620"/>
                </a:solidFill>
                <a:latin typeface="Arial"/>
              </a:rPr>
              <a:t> — none of PE’s 10-year blind-pool traps or blind extensions.</a:t>
            </a:r>
          </a:p>
          <a:p>
            <a:pPr marL="118875" indent="-118875">
              <a:lnSpc>
                <a:spcPct val="108000"/>
              </a:lnSpc>
              <a:spcAft>
                <a:spcPts val="400"/>
              </a:spcAft>
            </a:pPr>
            <a:r>
              <a:rPr sz="720" b="1">
                <a:solidFill>
                  <a:srgbClr val="556A83"/>
                </a:solidFill>
                <a:latin typeface="Arial"/>
              </a:rPr>
              <a:t>›  </a:t>
            </a:r>
            <a:r>
              <a:rPr sz="720" b="1">
                <a:solidFill>
                  <a:srgbClr val="314359"/>
                </a:solidFill>
                <a:latin typeface="Arial"/>
              </a:rPr>
              <a:t>Total optionality</a:t>
            </a:r>
            <a:r>
              <a:rPr sz="720">
                <a:solidFill>
                  <a:srgbClr val="0E1620"/>
                </a:solidFill>
                <a:latin typeface="Arial"/>
              </a:rPr>
              <a:t> — if style drifts or the landscape changes, the committee can vote to pivot out seamlessly.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across two vehicles (Öresund/Creades Jan 2006–Jun 2014; AIPFII from 23 Feb 2015):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cumulative net return compounded, then annualised over actual invested time (19.51 yrs, excluding the 2014–15 setup gap): 16.1%.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 — including the de-smoothed large-buyout correlation to small/mid-cap equities of ~0.89 (Two Sigma / Venn, 2024; Couts, Gonçalves &amp; Rossi, 2020; Boyer, Nadauld, Vorkink &amp; Weisbach, 2018).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