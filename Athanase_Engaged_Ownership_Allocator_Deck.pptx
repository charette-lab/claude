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 cadence is the risk control — not the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objection: a higher deal count diversifies risk. In engaged ownership that logic inverts — every additional campaign compounds frictional, operational and reputational exposure. Concentration under board control is the discipline, not the hazard.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292096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MATHEMATICS OF RUIN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604211"/>
            <a:ext cx="43526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0E1620"/>
                </a:solidFill>
                <a:latin typeface="Arial"/>
              </a:rPr>
              <a:t>Hold the loss rate fixed at 8%. The crisis count is not.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091891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3091891"/>
            <a:ext cx="58523" cy="109240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9861" y="3091891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92268" y="3091891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Low cadence → ≈ 1 situation to contain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Highly vetted; a single underperformer to manage and contain.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359859"/>
            <a:ext cx="4352652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4359859"/>
            <a:ext cx="5852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861" y="4359859"/>
            <a:ext cx="1133884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040" b="0" i="0" spc="-114">
                <a:solidFill>
                  <a:srgbClr val="314359"/>
                </a:solidFill>
                <a:latin typeface="Times New Roman"/>
              </a:rPr>
              <a:t>100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556A83"/>
                </a:solidFill>
                <a:latin typeface="Arial"/>
              </a:rPr>
              <a:t>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68" y="4359859"/>
            <a:ext cx="2853000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High cadence → ≈ 8 concurrent crises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public engagement a “failure” is a broken turnaround or board battle — eight running at once.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5491276"/>
            <a:ext cx="435265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1">
                <a:solidFill>
                  <a:srgbClr val="556A83"/>
                </a:solidFill>
                <a:latin typeface="Arial"/>
              </a:rPr>
              <a:t>Absolute exposure to tail events scales with the number of transactions — not with the percentage loss 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4191" y="2292096"/>
            <a:ext cx="4242922" cy="7412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Activity is not risk management.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Diversification lowers idiosyncratic risk in passive equity; in engaged ownership it dilutes the board control that actually de-risks the asset.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191" y="3033369"/>
            <a:ext cx="4242922" cy="1248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churn tax — measured, not asserted.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campaign carries a large fixed cost — ~$10.7m on average (Gantchev, 2013) — recovered only by holding through the operating turnaround, where the value is actually made: activist targets keep improving operationally for years after intervention (Bebchuk, Brav &amp; Jiang, 2015). A high-cadence book re-pays that cost every turn and exits before the change compounds; we hold until it does.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4191" y="4281829"/>
            <a:ext cx="4242922" cy="7217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Forced deployment lowers the bar.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high-velocity machine must keep buying — pushing managers to thinner margins of safety and weaker turnarounds to keep capital moving.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4191" y="5003596"/>
            <a:ext cx="4242922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Reputational surface area.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Every public campaign is an option on controversy. High velocity multiplies the headline surface; conviction holders win seats quietly.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4191" y="5676595"/>
            <a:ext cx="4242922" cy="195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Sources: Gantchev (2013), JFE; Bebchuk, Brav &amp; Jiang (2015), Columbia Law Review.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5891174"/>
            <a:ext cx="8873559" cy="92659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807" y="5891174"/>
            <a:ext cx="8522421" cy="926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Our record: 38 deals in 20 years — about one a year, held ~5 years across 8–12 names, at a 92% deal-level hit rate.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We pay these frictions once per hold and let earnings growth amortise them; a high-cadence book re-pays them every turn — taxing the compounding it claims to diversify.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Built for the committee: the harder objections, answered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volatility, headline and concentration (prior page), four structural objections decide a conservative allocation — each answered so the choice is defensible to a board, not just attractive in a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9461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20336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33537" y="2292096"/>
            <a:ext cx="25238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35953" y="2292096"/>
            <a:ext cx="236286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concern beneath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57345" y="2292096"/>
            <a:ext cx="4133191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9760" y="2292096"/>
            <a:ext cx="3972252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FFFFFF"/>
                </a:solidFill>
                <a:latin typeface="Arial"/>
              </a:rPr>
              <a:t>The structural cover we provide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2779776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922" y="2779776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0599" y="2887065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It doesn’t fit our public- or private-equity bucket.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537" y="2779776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65214" y="2887065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Public-sleeve tracking error invites scrutiny; PE-sleeve liquidity invites the auditors.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2779776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9021" y="2887065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Sits in the PE sleeve as a liquidity-positive complement — PE-style operational returns (~16% net) with daily marks and zero capital calls, so it cushions the denominator effect instead of feeding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774643"/>
            <a:ext cx="2194614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22" y="3774643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3881932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 boutique carries key-person risk for a small sleeve.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33537" y="3774643"/>
            <a:ext cx="2523807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65214" y="3881932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If a boutique stumbles, the choice is hard to defend without a household name behind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57345" y="3774643"/>
            <a:ext cx="4133191" cy="99486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89021" y="3881932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boutique team inside an institutional fortress: investment, risk and valuation segregated; custody SEB, administration MUFG, audit KPMG — an independently validated, tier-one paper trail.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4769510"/>
            <a:ext cx="2194614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8922" y="4769510"/>
            <a:ext cx="43892" cy="99486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0599" y="4876800"/>
            <a:ext cx="1975153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~One mid-cap deal a year can’t move our needle.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3537" y="4769510"/>
            <a:ext cx="2523807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65214" y="4876800"/>
            <a:ext cx="2304345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1">
                <a:solidFill>
                  <a:srgbClr val="556A83"/>
                </a:solidFill>
                <a:latin typeface="Arial"/>
              </a:rPr>
              <a:t>Hard to justify the team’s underwriting bandwidth on a 1–3% sleeve.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157345" y="4769510"/>
            <a:ext cx="4133191" cy="99486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89021" y="4876800"/>
            <a:ext cx="3913729" cy="799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first-right co-investment “free look”: scale nominal exposure into the highest-conviction, already board-de-risked targets — without diluting the core fund’s agility (full terms in the appendix).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5852160"/>
            <a:ext cx="8851613" cy="9558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807" y="5852160"/>
            <a:ext cx="4791575" cy="9558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And the statistical blanket: across 20 years of live cycles, even the single unluckiest entry month still compounded positively — net of all fees.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3114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~19%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23114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avg net, any
entry 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0152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+7%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30152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worst-ever
entry 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37190" y="5920435"/>
            <a:ext cx="1207038" cy="4876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60" b="0" i="0">
                <a:solidFill>
                  <a:srgbClr val="FFFFFF"/>
                </a:solidFill>
                <a:latin typeface="Times New Roman"/>
              </a:rPr>
              <a:t>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7190" y="6437376"/>
            <a:ext cx="1207038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0" i="0">
                <a:solidFill>
                  <a:srgbClr val="E2E5E9"/>
                </a:solidFill>
                <a:latin typeface="Arial"/>
              </a:rPr>
              <a:t>lost over the
hold period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AI commoditizes analytical alpha — not engaged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AI lets every firm run the same financial analysis instantly, the alpha in screenable, well-covered equities is competed away and the “easy” names are bid up. The durable edge shifts from discovering value to creating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AI COMMODITIZES — DISCOVERED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same analysis, instantly — every manager ingests the same filings and data and runs the same models; the analytical edge long-only alpha rests on erodes toward zero.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“easy” stuff gets bid up — screenable large- and mega-caps are arbitraged fastest, compressing margins of safety and deepening the index concentration you already carry.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Your current equity alpha is exposed — much of what active global-equity managers charge for is precisely this analytical edge.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IT CANNOT — CREATED ALPHA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Returns we create, not discover — ours come from board control, capital-allocation change and operational improvement, not a mispricing a model can replicate.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You can’t download a board seat — a multi-year, relationship- and execution-dependent turnaround is the opposite of a commoditizable screen.</a:t>
            </a:r>
          </a:p>
          <a:p>
            <a:pPr algn="l">
              <a:lnSpc>
                <a:spcPct val="114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inefficiency persists where analysis can’t reach — under-covered mid-caps that need governance and operating change, not a faster spreadsheet: our lane.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891174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Documented mechanism: LLMs already perform financial-statement analysis at analyst level (Kim, Muhn &amp; Nikolaev, 2024); return predictability decays once a strategy is replicable (McLean &amp; Pontiff, 2016) — AI accelerates both.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6164275"/>
            <a:ext cx="8895505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6164275"/>
            <a:ext cx="8632151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As analytical alpha commoditizes, created — engaged-ownership — alpha becomes scarcer and more valuable. The edge AI cannot copy is the one to add now.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When valuations crack, where will you be holding?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 record valuations and concentration the cycle will turn. The career risk isn’t a planned drawdown here — it’s being trapped in the most-expensive, least-liquid assets when it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GLOBAL EQUITIES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FULLY EXPOSED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You own the peak</a:t>
            </a:r>
            <a:r>
              <a:rPr sz="760">
                <a:solidFill>
                  <a:srgbClr val="0E1620"/>
                </a:solidFill>
                <a:latin typeface="Arial"/>
              </a:rPr>
              <a:t> — the most-expensive, most-concentrated names take the full drawdown — no protection.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Concentration cuts both ways</a:t>
            </a:r>
            <a:r>
              <a:rPr sz="760">
                <a:solidFill>
                  <a:srgbClr val="0E1620"/>
                </a:solidFill>
                <a:latin typeface="Arial"/>
              </a:rPr>
              <a:t> — the crowding that flattered returns on the way up amplifies the fall.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Nothing to do</a:t>
            </a:r>
            <a:r>
              <a:rPr sz="760">
                <a:solidFill>
                  <a:srgbClr val="0E1620"/>
                </a:solidFill>
                <a:latin typeface="Arial"/>
              </a:rPr>
              <a:t> — you are the market — there is no lever to pull.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TRAP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Marks catch down</a:t>
            </a:r>
            <a:r>
              <a:rPr sz="760">
                <a:solidFill>
                  <a:srgbClr val="0E1620"/>
                </a:solidFill>
                <a:latin typeface="Arial"/>
              </a:rPr>
              <a:t> — smoothed valuations lag, then fall; the denominator effect pushes PE past its limits.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Calls keep coming</a:t>
            </a:r>
            <a:r>
              <a:rPr sz="760">
                <a:solidFill>
                  <a:srgbClr val="0E1620"/>
                </a:solidFill>
                <a:latin typeface="Arial"/>
              </a:rPr>
              <a:t> — distributions stop while capital calls continue — forcing sales of good liquid assets at the bottom.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exit</a:t>
            </a:r>
            <a:r>
              <a:rPr sz="760">
                <a:solidFill>
                  <a:srgbClr val="0E1620"/>
                </a:solidFill>
                <a:latin typeface="Arial"/>
              </a:rPr>
              <a:t> — illiquidity hides the loss until it is too late to 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100"/>
              </a:spcAft>
            </a:pPr>
            <a:r>
              <a:rPr sz="1120" b="1" i="0">
                <a:solidFill>
                  <a:srgbClr val="FFFFFF"/>
                </a:solidFill>
                <a:latin typeface="Times New Roman"/>
              </a:rPr>
              <a:t>ATHANASE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FFFFFF"/>
                </a:solidFill>
                <a:latin typeface="Arial"/>
              </a:rPr>
              <a:t>THE HEDGE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896819"/>
            <a:ext cx="2823737" cy="31699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3043123"/>
            <a:ext cx="2560384" cy="28968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Risk is floored</a:t>
            </a:r>
            <a:r>
              <a:rPr sz="760">
                <a:solidFill>
                  <a:srgbClr val="0E1620"/>
                </a:solidFill>
                <a:latin typeface="Arial"/>
              </a:rPr>
              <a:t> — board control owns the cash flow, capex and pay — fundamental risk falls whatever the ticker does.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Liquid &amp; uncorrelated</a:t>
            </a:r>
            <a:r>
              <a:rPr sz="760">
                <a:solidFill>
                  <a:srgbClr val="0E1620"/>
                </a:solidFill>
                <a:latin typeface="Arial"/>
              </a:rPr>
              <a:t> — daily liquidity and a genuine 0.44-correlation diversifier that defends the book.</a:t>
            </a:r>
          </a:p>
          <a:p>
            <a:pPr marL="120653" indent="-120653">
              <a:lnSpc>
                <a:spcPct val="110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crack is the entry</a:t>
            </a:r>
            <a:r>
              <a:rPr sz="760">
                <a:solidFill>
                  <a:srgbClr val="0E1620"/>
                </a:solidFill>
                <a:latin typeface="Arial"/>
              </a:rPr>
              <a:t> — the dislocation becomes your co-invest free look — not your trap.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44768"/>
            <a:ext cx="8734567" cy="64373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44768"/>
            <a:ext cx="841269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the cycle turns, two of these put your board review at risk and one defends it — and the hedge can only be bought before the crack, not after.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Waiting is the riskier decision — and it never gets underwritten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Allocating carries a small, bounded, pre-agreed risk. Not allocating carries an open-ended one — concentration you already own, the compounding you forgo, and capacity you cannot get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ALLOCATING — BOUNDED &amp; REVERSIBLE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Sized for immunity — a 1–3% sleeve, so no single mark can move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Pre-underwritten — a ~50% drawdown tolerance signed by the IC: a bad quarter is planned, not a surprise.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Reversible — daily marks and liquidity, exit at will, zero capital-call lock.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Entry timing is a non-risk — the worst entry month in 20 years still compounded at +7% net.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RISK OF WAITING — OPEN-ENDED &amp; UN-MINUTED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Concentration you already own — your equity book is a crowded mega-cap factor bet at record valuations; a genuine 0.44-correlation diversifier is what cushions it when the index falls.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PE denominator trap — in a downturn your illiquid sleeve breaches limits and forces selling good assets at the bottom, with nothing liquid to absorb it.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Alpha decay — AI is commoditizing the analytical edge your active equity managers sell (prior page); engaged ownership is the edge it cannot copy.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Compounding foregone — at a delivered ~16% net, €100m deferred 12 months reaches the same horizon ~€61m smaller; that gap never returns.</a:t>
            </a:r>
          </a:p>
          <a:p>
            <a:pPr algn="l">
              <a:lnSpc>
                <a:spcPct val="113000"/>
              </a:lnSpc>
              <a:spcAft>
                <a:spcPts val="7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Capacity forfeited — only ~one deal a year, and co-investment is pro-rata to commitment: those in early set their share, latecomers take what is left.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5715609"/>
            <a:ext cx="8778459" cy="2145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Delay illustration: €100m at ~16% net — nine vs ten years of compounding to a common horizon; illustrative only, past returns not indicative.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5930188"/>
            <a:ext cx="8895505" cy="8778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" y="5930188"/>
            <a:ext cx="8632151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The bigger risk isn’t the upside you forgo — it’s where you’re holding when valuations crack (prior page): a crowded index, or PE you cannot exit.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80" b="0" i="1">
                <a:solidFill>
                  <a:srgbClr val="FFFFFF"/>
                </a:solidFill>
                <a:latin typeface="Arial"/>
              </a:rPr>
              <a:t>Two years on, the harder board question isn’t a planned 2% drawdown here — it’s why you sat in the most-expensive, most-correlated assets with no liquid hedge. Doing nothing is also a decision; it just never gets minuted.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Optional co-investment facility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co-investment “free look”: a post-engagement drawdown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decouple the co-investment’s timing from the engagement: the main fund bears the execution risk, and LP capital enters only after the turnaround is board-secured — when the public market discounts the price.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338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1 · MAIN FUND LEADS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Initiates the position, clears the tollgates and secures the board seat — the capital-allocation kill switch. Fundamental risk is structurally lowered.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94545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4745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87160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2 · FACILITY UNCALLED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84745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01791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Co-investment is committed but dormant through the engagement — no upfront execution risk, control premium or broken-deal cost for the LP.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0368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0568" y="2292096"/>
            <a:ext cx="2114145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32983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3 · VALUATION TRIGGER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0568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4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Activated only if the public market later dislocates and discounts the price — after the board seat and operating plan are confirmed.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86190" y="2701747"/>
            <a:ext cx="24872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556A83"/>
                </a:solidFill>
                <a:latin typeface="Arial"/>
              </a:rPr>
              <a:t>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6390" y="2292096"/>
            <a:ext cx="211414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8806" y="2292096"/>
            <a:ext cx="1938576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Times New Roman"/>
              </a:rPr>
              <a:t>STEP 4 · LP CAPITAL ENTERS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6390" y="2779776"/>
            <a:ext cx="2114145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93436" y="2887065"/>
            <a:ext cx="1894684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Capital draws instantly at the pre-agreed threshold, accumulating at the discounted multiple — below the main fund’s own basis.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4077003"/>
            <a:ext cx="4352652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THE CO-INVESTOR GETS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De-risked, at a discount.</a:t>
            </a:r>
            <a:r>
              <a:rPr sz="760">
                <a:solidFill>
                  <a:srgbClr val="0E1620"/>
                </a:solidFill>
                <a:latin typeface="Arial"/>
              </a:rPr>
              <a:t> — a governed, ROIIC-compounding core bought after the plan is secured — at a basis below the main fund’s.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Zero frictional drag.</a:t>
            </a:r>
            <a:r>
              <a:rPr sz="760">
                <a:solidFill>
                  <a:srgbClr val="0E1620"/>
                </a:solidFill>
                <a:latin typeface="Arial"/>
              </a:rPr>
              <a:t> — no broken-deal, advisory or syndication fees; ~20,000-company research is baseline, so 100% of drawn capital compounds in the equity.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scramble.</a:t>
            </a:r>
            <a:r>
              <a:rPr sz="760">
                <a:solidFill>
                  <a:srgbClr val="0E1620"/>
                </a:solidFill>
                <a:latin typeface="Arial"/>
              </a:rPr>
              <a:t> — pre-agreed terms bypass the 3–4-week syndication — capital hits the dislocation instantly at the optimal basis.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4191" y="4077003"/>
            <a:ext cx="4206345" cy="1804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ALIGNMENT &amp; EXIT GOVERNANCE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Pro-rata exit.</a:t>
            </a:r>
            <a:r>
              <a:rPr sz="760">
                <a:solidFill>
                  <a:srgbClr val="0E1620"/>
                </a:solidFill>
                <a:latin typeface="Arial"/>
              </a:rPr>
              <a:t> — bound to exit in lockstep with the main fund — no separate timing, full parity with the Investment Committee.</a:t>
            </a:r>
          </a:p>
          <a:p>
            <a:pPr marL="120653" indent="-120653">
              <a:lnSpc>
                <a:spcPct val="112000"/>
              </a:lnSpc>
              <a:spcAft>
                <a:spcPts val="7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Patient-capital enforcement.</a:t>
            </a:r>
            <a:r>
              <a:rPr sz="760">
                <a:solidFill>
                  <a:srgbClr val="0E1620"/>
                </a:solidFill>
                <a:latin typeface="Arial"/>
              </a:rPr>
              <a:t> — the same multi-year holding discipline — no reactionary selling into daily liquidity before the restructuring shows in cash flows and earnings.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5657088"/>
            <a:ext cx="8851613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The core fund carries zero capital calls; this optional facility is the single, deliberate exception — and only on a named, board-de-risked asset.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5910681"/>
            <a:ext cx="8851613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807" y="5910681"/>
            <a:ext cx="8485844" cy="8973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Decoupled in time, optical volatility becomes a pricing advantage — the ultimate institutional free look: turnaround execution risk, stripped of deal costs, priced at a market-driven discount.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term sheet: the drawdown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Dormant until the board seat is secured; drawn only on a 20–30% dislocation to accumulate a 10–20% block; zero fees until the promote; converts to a permanent capital vehicle at 2.5×.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6707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1 · ACTIVATION PREREQUISITES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1338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Board control secured</a:t>
            </a:r>
            <a:r>
              <a:rPr sz="680">
                <a:solidFill>
                  <a:srgbClr val="0E1620"/>
                </a:solidFill>
                <a:latin typeface="Arial"/>
              </a:rPr>
              <a:t> — the vehicle stays dormant until the main fund holds the board seat and the capital-allocation playbook.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blind-pool risk</a:t>
            </a:r>
            <a:r>
              <a:rPr sz="680">
                <a:solidFill>
                  <a:srgbClr val="0E1620"/>
                </a:solidFill>
                <a:latin typeface="Arial"/>
              </a:rPr>
              <a:t> — any drawdown notice names a vetted asset the team already runs from the inside.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8476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260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2 · DRAWDOWN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28476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891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Price is the sole trigger</a:t>
            </a:r>
            <a:r>
              <a:rPr sz="680">
                <a:solidFill>
                  <a:srgbClr val="0E1620"/>
                </a:solidFill>
                <a:latin typeface="Arial"/>
              </a:rPr>
              <a:t> — capital is called only if the market hands LPs a 20–30% discount; the main fund drives the operational change either way.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Offensive accumulation</a:t>
            </a:r>
            <a:r>
              <a:rPr sz="680">
                <a:solidFill>
                  <a:srgbClr val="0E1620"/>
                </a:solidFill>
                <a:latin typeface="Arial"/>
              </a:rPr>
              <a:t> — build a 10–20% block at exhaustion prices — arbitrage on market psychology, not a falling knife: the board seat already floors fundamental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18029" y="2292096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5813" y="2292096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3 · CALL EXECUTION &amp; EXPIRY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18029" y="2682240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0444" y="2770022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Notice period</a:t>
            </a:r>
            <a:r>
              <a:rPr sz="680">
                <a:solidFill>
                  <a:srgbClr val="0E1620"/>
                </a:solidFill>
                <a:latin typeface="Arial"/>
              </a:rPr>
              <a:t> — a standard 10–15 business-day capital call funds the block build.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Time is the sole opt-out</a:t>
            </a:r>
            <a:r>
              <a:rPr sz="680">
                <a:solidFill>
                  <a:srgbClr val="0E1620"/>
                </a:solidFill>
                <a:latin typeface="Arial"/>
              </a:rPr>
              <a:t> — an 18-month sunset from the board seat; if no discount appears the commitment expires uncalled — LPs pay next to nothing for the optionality and free the risk budget.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4 · FEES &amp; PROMOTE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1338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Zero management fees</a:t>
            </a:r>
            <a:r>
              <a:rPr sz="680">
                <a:solidFill>
                  <a:srgbClr val="0E1620"/>
                </a:solidFill>
                <a:latin typeface="Arial"/>
              </a:rPr>
              <a:t> — through dormancy and accumulation — only a capped pass-through of verified admin and legal costs.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2.5× super-promote</a:t>
            </a:r>
            <a:r>
              <a:rPr sz="680">
                <a:solidFill>
                  <a:srgbClr val="0E1620"/>
                </a:solidFill>
                <a:latin typeface="Arial"/>
              </a:rPr>
              <a:t> — the manager takes a 20% stake in the listed vehicle only at 2.5× drawn capital, tested continuously (not a single date) — the moment LPs lock a 2.0× net return.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28476" y="3969715"/>
            <a:ext cx="2872507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16260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5 · LIQUIDITY — THE PCV FLIP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8476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30891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Direct listing at NAV</a:t>
            </a:r>
            <a:r>
              <a:rPr sz="680">
                <a:solidFill>
                  <a:srgbClr val="0E1620"/>
                </a:solidFill>
                <a:latin typeface="Arial"/>
              </a:rPr>
              <a:t> — a pre-agreed direct listing — a route the team has executed in Sweden — converts the vehicle to a PCV at NAV, with no bookbuild discount.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NAV-tight &amp; evergreen</a:t>
            </a:r>
            <a:r>
              <a:rPr sz="680">
                <a:solidFill>
                  <a:srgbClr val="0E1620"/>
                </a:solidFill>
                <a:latin typeface="Arial"/>
              </a:rPr>
              <a:t> — a mandatory buyback whenever the price trades &gt;10% below NAV holds the discount tight; LPs get daily liquidity, the manager keeps infinite duration.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18029" y="3969715"/>
            <a:ext cx="2872507" cy="39014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05813" y="3969715"/>
            <a:ext cx="2726199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Arial"/>
              </a:rPr>
              <a:t>LP PROTECTIONS · PROPOSED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18029" y="4359859"/>
            <a:ext cx="2872507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0444" y="4447641"/>
            <a:ext cx="2682307" cy="994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No gaming the conversion</a:t>
            </a:r>
            <a:r>
              <a:rPr sz="680">
                <a:solidFill>
                  <a:srgbClr val="0E1620"/>
                </a:solidFill>
                <a:latin typeface="Arial"/>
              </a:rPr>
              <a:t> — NAV is mark-to-market from the listed holdings, valued on a 10-day VWAP — no independent appraisal, and a continuous test leaves no single window the manager can time.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680" b="1">
                <a:solidFill>
                  <a:srgbClr val="314359"/>
                </a:solidFill>
                <a:latin typeface="Arial"/>
              </a:rPr>
              <a:t>Catastrophe-only LP veto</a:t>
            </a:r>
            <a:r>
              <a:rPr sz="680">
                <a:solidFill>
                  <a:srgbClr val="0E1620"/>
                </a:solidFill>
                <a:latin typeface="Arial"/>
              </a:rPr>
              <a:t> — the LPAC veto covers fund-level events only — key-person or style drift — never the target’s price or operating metrics; NAV redemption if no listing by the longstop.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676595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807" y="5676595"/>
            <a:ext cx="8485844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Fees accrue to LPs first: nothing to the manager until 2.5× — at which point the LP’s 2.0× net is already locked.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6242304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600" b="0" i="1">
                <a:solidFill>
                  <a:srgbClr val="556A83"/>
                </a:solidFill>
                <a:latin typeface="Arial"/>
              </a:rPr>
              <a:t>Indicative terms for IC / LP discussion, subject to final fund documentation. The 2.0× is a contractual lock contingent on the 2.5× test — not a guarantee. Buybacks are funded from the vehicle’s distributable cash and capped per year. The “LP protections” cell is a proposal, not yet agreed.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Appendix · Co-investment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Co-investment capacity: a dividend for backing the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Capacity is allocated by flagship commitment, not handed out as a marketing tool — so the “free look” rewards the partners who back the core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7966452" cy="70225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292096"/>
            <a:ext cx="7966452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90%  ·  STRICT PRO-RATA — by flagship commitment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5375" y="2292096"/>
            <a:ext cx="885161" cy="7022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10%  ·  GP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22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Pro-rata by flagship commitment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 LP’s right of first refusal equals its share of main-fund commitments — 15% of the fund earns first call on 15% of the sidecar. The lucrative free look is a structural dividend for the investors who back the core.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62614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62614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Roll-up of declined capacity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Capacity a smaller LP declines is pooled and re-offered, pro-rata, to the remaining participants — automatically concentrating the sidecar among the largest, most agile institutional anchors.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306" y="3433267"/>
            <a:ext cx="365769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40" b="0" i="0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306" y="4037990"/>
            <a:ext cx="2804230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A 10% GP-discretionary carve-out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90% is allocated by strict formula to prevent LP infighting; the remaining 10% is reserved for LPs who can contribute directly to a deal — bringing specific industrial knowledge or operating expertise to the situation.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6164275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164275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Capacity rewards conviction: the free look deepens the relationships with the anchors who fund the flagship — a structural dividend, not a giveaway.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