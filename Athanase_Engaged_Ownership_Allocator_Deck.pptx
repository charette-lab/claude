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3.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4.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5.  Growth of a 100 sleeve over 10 years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139</c:v>
                </c:pt>
                <c:pt idx="3">
                  <c:v>164</c:v>
                </c:pt>
                <c:pt idx="4">
                  <c:v>194</c:v>
                </c:pt>
                <c:pt idx="5">
                  <c:v>229</c:v>
                </c:pt>
                <c:pt idx="6">
                  <c:v>270</c:v>
                </c:pt>
                <c:pt idx="7">
                  <c:v>319</c:v>
                </c:pt>
                <c:pt idx="8">
                  <c:v>376</c:v>
                </c:pt>
                <c:pt idx="9">
                  <c:v>444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122</c:v>
                </c:pt>
                <c:pt idx="3">
                  <c:v>135</c:v>
                </c:pt>
                <c:pt idx="4">
                  <c:v>149</c:v>
                </c:pt>
                <c:pt idx="5">
                  <c:v>165</c:v>
                </c:pt>
                <c:pt idx="6">
                  <c:v>182</c:v>
                </c:pt>
                <c:pt idx="7">
                  <c:v>201</c:v>
                </c:pt>
                <c:pt idx="8">
                  <c:v>222</c:v>
                </c:pt>
                <c:pt idx="9">
                  <c:v>246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116</c:v>
                </c:pt>
                <c:pt idx="3">
                  <c:v>125</c:v>
                </c:pt>
                <c:pt idx="4">
                  <c:v>134</c:v>
                </c:pt>
                <c:pt idx="5">
                  <c:v>144</c:v>
                </c:pt>
                <c:pt idx="6">
                  <c:v>155</c:v>
                </c:pt>
                <c:pt idx="7">
                  <c:v>167</c:v>
                </c:pt>
                <c:pt idx="8">
                  <c:v>180</c:v>
                </c:pt>
                <c:pt idx="9">
                  <c:v>193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   </a:t>
            </a:r>
            <a:r>
              <a:rPr sz="919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2.2   </a:t>
            </a:r>
            <a:r>
              <a:rPr sz="919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2.3   </a:t>
            </a:r>
            <a:r>
              <a:rPr sz="919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2.4   </a:t>
            </a:r>
            <a:r>
              <a:rPr sz="919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2.5   </a:t>
            </a:r>
            <a:r>
              <a:rPr sz="919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2.6   </a:t>
            </a:r>
            <a:r>
              <a:rPr sz="919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2.7   </a:t>
            </a:r>
            <a:r>
              <a:rPr sz="919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2.8   </a:t>
            </a:r>
            <a:r>
              <a:rPr sz="919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2.9   </a:t>
            </a:r>
            <a:r>
              <a:rPr sz="919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2.10   </a:t>
            </a:r>
            <a:r>
              <a:rPr sz="919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2.11   </a:t>
            </a:r>
            <a:r>
              <a:rPr sz="919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2.12   </a:t>
            </a:r>
            <a:r>
              <a:rPr sz="919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2.13   </a:t>
            </a:r>
            <a:r>
              <a:rPr sz="919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2.14   </a:t>
            </a:r>
            <a:r>
              <a:rPr sz="919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2.15   </a:t>
            </a:r>
            <a:r>
              <a:rPr sz="919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2.16   </a:t>
            </a:r>
            <a:r>
              <a:rPr sz="919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2.17   </a:t>
            </a:r>
            <a:r>
              <a:rPr sz="919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2.18   </a:t>
            </a:r>
            <a:r>
              <a:rPr sz="919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Average net return of 18.6%</a:t>
            </a:r>
            <a:r>
              <a:rPr sz="1200">
                <a:solidFill>
                  <a:srgbClr val="0E1620"/>
                </a:solidFill>
                <a:latin typeface="Arial"/>
              </a:rPr>
              <a:t>  (17.1% vs MSCI IMI 7.6% since inception), regardless of entry month.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+14.5% EBITA growth</a:t>
            </a:r>
            <a:r>
              <a:rPr sz="1200">
                <a:solidFill>
                  <a:srgbClr val="0E1620"/>
                </a:solidFill>
                <a:latin typeface="Arial"/>
              </a:rPr>
              <a:t>  in portfolio companies during the ownership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200">
                <a:solidFill>
                  <a:srgbClr val="0E1620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6.  Annual uplift to TOTAL-portfolio return (bps), by sleeve size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2.18 Responsible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