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36E"/>
                </a:solidFill>
              </a:rPr>
              <a:t>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4253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8A99A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83972"/>
            <a:ext cx="43891" cy="932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5449" y="607162"/>
            <a:ext cx="43891" cy="17007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2258" y="502920"/>
            <a:ext cx="43891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9067" y="626364"/>
            <a:ext cx="43891" cy="1508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5876" y="700431"/>
            <a:ext cx="43891" cy="76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5" y="46634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Athanase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650">
                <a:solidFill>
                  <a:srgbClr val="FFFFFF"/>
                </a:solidFill>
                <a:latin typeface="Arial"/>
              </a:rPr>
              <a:t>I N D U S T R I A L   P A R T N E 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Georgia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C9D3DD"/>
                </a:solidFill>
                <a:latin typeface="Georgia"/>
              </a:rPr>
              <a:t>Why allocators should consider it — and why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What this presentation covers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Georgia"/>
              </a:rPr>
              <a:t>Part I   </a:t>
            </a:r>
            <a:r>
              <a:rPr sz="2000" b="1">
                <a:solidFill>
                  <a:srgbClr val="1E334E"/>
                </a:solidFill>
                <a:latin typeface="Georgia"/>
              </a:rPr>
              <a:t>Why allocate to engaged ownership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Arial"/>
              </a:rPr>
              <a:t>The asset-class case: a catalyst-driven, diversifying source of equity return that fits a long-horizon, fiduciary mandate.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Georgia"/>
              </a:rPr>
              <a:t>Part II   </a:t>
            </a:r>
            <a:r>
              <a:rPr sz="2000" b="1">
                <a:solidFill>
                  <a:srgbClr val="1E334E"/>
                </a:solidFill>
                <a:latin typeface="Georgia"/>
              </a:rPr>
              <a:t>Why choose Athanase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Arial"/>
              </a:rPr>
              <a:t>Among engaged owners, the team, opportunity set, margin-for-error and 20-year track record that distinguish Athanase Industrial Partner.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65867"/>
            <a:ext cx="39502" cy="839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768" y="596738"/>
            <a:ext cx="39502" cy="1530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6896" y="502920"/>
            <a:ext cx="39502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6024" y="614020"/>
            <a:ext cx="39502" cy="135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5152" y="680680"/>
            <a:ext cx="39502" cy="69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5720" y="466344"/>
            <a:ext cx="26334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Arial"/>
              </a:rPr>
              <a:t>Athanase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585">
                <a:solidFill>
                  <a:srgbClr val="FFFFFF"/>
                </a:solidFill>
                <a:latin typeface="Arial"/>
              </a:rPr>
              <a:t>I N D U S T R I A L   P A R T N E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Georgia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The Proposition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A catalyst-driven source of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~7% announcement return.</a:t>
            </a:r>
            <a:r>
              <a:rPr sz="1550">
                <a:solidFill>
                  <a:srgbClr val="33384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~10.2% around the 13D,</a:t>
            </a:r>
            <a:r>
              <a:rPr sz="1550">
                <a:solidFill>
                  <a:srgbClr val="33384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No long-term give-back.</a:t>
            </a:r>
            <a:r>
              <a:rPr sz="1550">
                <a:solidFill>
                  <a:srgbClr val="33384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Real, not financial, value.</a:t>
            </a:r>
            <a:r>
              <a:rPr sz="1550">
                <a:solidFill>
                  <a:srgbClr val="33384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Idiosyncratic alpha.</a:t>
            </a:r>
            <a:r>
              <a:rPr sz="1550">
                <a:solidFill>
                  <a:srgbClr val="33384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Aligned with horizon and fiduciary duty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Patient capital wins.</a:t>
            </a:r>
            <a:r>
              <a:rPr sz="1650">
                <a:solidFill>
                  <a:srgbClr val="33384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Stewardship is the duty.</a:t>
            </a:r>
            <a:r>
              <a:rPr sz="1650">
                <a:solidFill>
                  <a:srgbClr val="33384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Mission alignment.</a:t>
            </a:r>
            <a:r>
              <a:rPr sz="1650">
                <a:solidFill>
                  <a:srgbClr val="33384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Engagement as risk management.</a:t>
            </a:r>
            <a:r>
              <a:rPr sz="1650">
                <a:solidFill>
                  <a:srgbClr val="33384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Portfolio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Diversification and the total-portfolio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A distinct return engine.</a:t>
            </a:r>
            <a:r>
              <a:rPr sz="1650">
                <a:solidFill>
                  <a:srgbClr val="33384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Diversifies the equity book.</a:t>
            </a:r>
            <a:r>
              <a:rPr sz="1650">
                <a:solidFill>
                  <a:srgbClr val="33384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Counter-cyclical dry powder.</a:t>
            </a:r>
            <a:r>
              <a:rPr sz="1650">
                <a:solidFill>
                  <a:srgbClr val="33384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PE-style upside, public-market terms.</a:t>
            </a:r>
            <a:r>
              <a:rPr sz="1650">
                <a:solidFill>
                  <a:srgbClr val="33384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Stewardship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Governance and the ESG synergy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Applied governance.</a:t>
            </a:r>
            <a:r>
              <a:rPr sz="1650">
                <a:solidFill>
                  <a:srgbClr val="33384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Constructive engagement.</a:t>
            </a:r>
            <a:r>
              <a:rPr sz="1650">
                <a:solidFill>
                  <a:srgbClr val="33384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A positive externality.</a:t>
            </a:r>
            <a:r>
              <a:rPr sz="1650">
                <a:solidFill>
                  <a:srgbClr val="33384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Arial"/>
              </a:rPr>
              <a:t>›  </a:t>
            </a:r>
            <a:r>
              <a:rPr sz="1650" b="1">
                <a:solidFill>
                  <a:srgbClr val="1E334E"/>
                </a:solidFill>
                <a:latin typeface="Arial"/>
              </a:rPr>
              <a:t>Defensible to stakeholders.</a:t>
            </a:r>
            <a:r>
              <a:rPr sz="1650">
                <a:solidFill>
                  <a:srgbClr val="33384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Selection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What separates a great engaged owner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A repeatable process</a:t>
            </a:r>
            <a:r>
              <a:rPr sz="1550">
                <a:solidFill>
                  <a:srgbClr val="333840"/>
                </a:solidFill>
                <a:latin typeface="Arial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Genuine operating capability,</a:t>
            </a:r>
            <a:r>
              <a:rPr sz="1550">
                <a:solidFill>
                  <a:srgbClr val="33384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A track record of outcomes,</a:t>
            </a:r>
            <a:r>
              <a:rPr sz="1550">
                <a:solidFill>
                  <a:srgbClr val="333840"/>
                </a:solidFill>
                <a:latin typeface="Arial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Aligned economics</a:t>
            </a:r>
            <a:r>
              <a:rPr sz="1550">
                <a:solidFill>
                  <a:srgbClr val="333840"/>
                </a:solidFill>
                <a:latin typeface="Arial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Disciplined entry and risk control</a:t>
            </a:r>
            <a:r>
              <a:rPr sz="1550">
                <a:solidFill>
                  <a:srgbClr val="33384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65867"/>
            <a:ext cx="39502" cy="839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768" y="596738"/>
            <a:ext cx="39502" cy="1530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6896" y="502920"/>
            <a:ext cx="39502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6024" y="614020"/>
            <a:ext cx="39502" cy="1357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5152" y="680680"/>
            <a:ext cx="39502" cy="69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5720" y="466344"/>
            <a:ext cx="263347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sz="1620" b="1">
                <a:solidFill>
                  <a:srgbClr val="FFFFFF"/>
                </a:solidFill>
                <a:latin typeface="Arial"/>
              </a:rPr>
              <a:t>Athanase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585">
                <a:solidFill>
                  <a:srgbClr val="FFFFFF"/>
                </a:solidFill>
                <a:latin typeface="Arial"/>
              </a:rPr>
              <a:t>I N D U S T R I A L   P A R T N E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Georgia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Athanase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Georgia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Arial"/>
              </a:rPr>
              <a:t>engaged owners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Georgia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Arial"/>
              </a:rPr>
              <a:t>since inception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Georgia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Arial"/>
              </a:rPr>
              <a:t>together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Georgia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Arial"/>
              </a:rPr>
              <a:t>net return*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Arial"/>
              </a:rPr>
              <a:t>›  </a:t>
            </a:r>
            <a:r>
              <a:rPr sz="1500" b="1">
                <a:solidFill>
                  <a:srgbClr val="1E334E"/>
                </a:solidFill>
                <a:latin typeface="Arial"/>
              </a:rPr>
              <a:t>Average net return of 18.6%</a:t>
            </a:r>
            <a:r>
              <a:rPr sz="1500">
                <a:solidFill>
                  <a:srgbClr val="333840"/>
                </a:solidFill>
                <a:latin typeface="Arial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Arial"/>
              </a:rPr>
              <a:t>›  </a:t>
            </a:r>
            <a:r>
              <a:rPr sz="1500" b="1">
                <a:solidFill>
                  <a:srgbClr val="1E334E"/>
                </a:solidFill>
                <a:latin typeface="Arial"/>
              </a:rPr>
              <a:t>+14.5% EBITA growth</a:t>
            </a:r>
            <a:r>
              <a:rPr sz="1500">
                <a:solidFill>
                  <a:srgbClr val="333840"/>
                </a:solidFill>
                <a:latin typeface="Arial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Arial"/>
              </a:rPr>
              <a:t>›  </a:t>
            </a:r>
            <a:r>
              <a:rPr sz="1500" b="1">
                <a:solidFill>
                  <a:srgbClr val="1E334E"/>
                </a:solidFill>
                <a:latin typeface="Arial"/>
              </a:rPr>
              <a:t>+0.2% in down markets</a:t>
            </a:r>
            <a:r>
              <a:rPr sz="1500">
                <a:solidFill>
                  <a:srgbClr val="33384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A4B0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An integrated team, 20 years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4A5D75"/>
                </a:solidFill>
                <a:latin typeface="Georgia"/>
              </a:rPr>
              <a:t>Heritage:  Öresund (1992)  →  Custos (1996)  →  Creades  →  Athanase Industrial Partner (2015)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Arial"/>
              </a:rPr>
              <a:t>›  </a:t>
            </a:r>
            <a:r>
              <a:rPr sz="1500" b="1">
                <a:solidFill>
                  <a:srgbClr val="1E334E"/>
                </a:solidFill>
                <a:latin typeface="Arial"/>
              </a:rPr>
              <a:t>40+ companies managed,</a:t>
            </a:r>
            <a:r>
              <a:rPr sz="1500">
                <a:solidFill>
                  <a:srgbClr val="333840"/>
                </a:solidFill>
                <a:latin typeface="Arial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Arial"/>
              </a:rPr>
              <a:t>›  </a:t>
            </a:r>
            <a:r>
              <a:rPr sz="1500" b="1">
                <a:solidFill>
                  <a:srgbClr val="1E334E"/>
                </a:solidFill>
                <a:latin typeface="Arial"/>
              </a:rPr>
              <a:t>30+ public board seats</a:t>
            </a:r>
            <a:r>
              <a:rPr sz="1500">
                <a:solidFill>
                  <a:srgbClr val="33384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Arial"/>
              </a:rPr>
              <a:t>›  </a:t>
            </a:r>
            <a:r>
              <a:rPr sz="1500" b="1">
                <a:solidFill>
                  <a:srgbClr val="1E334E"/>
                </a:solidFill>
                <a:latin typeface="Arial"/>
              </a:rPr>
              <a:t>A dual lens:</a:t>
            </a:r>
            <a:r>
              <a:rPr sz="1500">
                <a:solidFill>
                  <a:srgbClr val="33384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Arial"/>
              </a:rPr>
              <a:t>›  </a:t>
            </a:r>
            <a:r>
              <a:rPr sz="1500" b="1">
                <a:solidFill>
                  <a:srgbClr val="1E334E"/>
                </a:solidFill>
                <a:latin typeface="Arial"/>
              </a:rPr>
              <a:t>Skin in the game.</a:t>
            </a:r>
            <a:r>
              <a:rPr sz="1500">
                <a:solidFill>
                  <a:srgbClr val="33384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Arial"/>
              </a:rPr>
              <a:t>›  </a:t>
            </a:r>
            <a:r>
              <a:rPr sz="1500" b="1">
                <a:solidFill>
                  <a:srgbClr val="1E334E"/>
                </a:solidFill>
                <a:latin typeface="Arial"/>
              </a:rPr>
              <a:t>Institutional memory.</a:t>
            </a:r>
            <a:r>
              <a:rPr sz="1500">
                <a:solidFill>
                  <a:srgbClr val="33384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Market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The inefficiency Athanase harvests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Duration mismatch.</a:t>
            </a:r>
            <a:r>
              <a:rPr sz="1550">
                <a:solidFill>
                  <a:srgbClr val="33384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The prestige trap.</a:t>
            </a:r>
            <a:r>
              <a:rPr sz="1550">
                <a:solidFill>
                  <a:srgbClr val="33384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Shareholder exhaustion.</a:t>
            </a:r>
            <a:r>
              <a:rPr sz="1550">
                <a:solidFill>
                  <a:srgbClr val="33384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Arial"/>
              </a:rPr>
              <a:t>›  </a:t>
            </a:r>
            <a:r>
              <a:rPr sz="1550" b="1">
                <a:solidFill>
                  <a:srgbClr val="1E334E"/>
                </a:solidFill>
                <a:latin typeface="Arial"/>
              </a:rPr>
              <a:t>Low competition.</a:t>
            </a:r>
            <a:r>
              <a:rPr sz="1550">
                <a:solidFill>
                  <a:srgbClr val="33384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Investment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We don’t need to be right more than ~50%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Entry basis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Arial"/>
              </a:rPr>
              <a:t>$100  (exhaustion price)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Holding period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5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Arial"/>
              </a:rPr>
              <a:t>3 years (rerating cycle)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Value growth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+148% total growth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Arial"/>
              </a:rPr>
              <a:t>+73% total growth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~85–100% of thesis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Arial"/>
              </a:rPr>
              <a:t>~45–55% of thesis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Risk Management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A risk system built to avoid permanent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Track Record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Proof: outperformance with downside protection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12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Georgia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Georgia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Georgia"/>
              </a:rPr>
              <a:t>Down-market years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Arial"/>
              </a:rPr>
              <a:t>Outperformed in 2008 (+2.2%), 2011 (+7.9%), 2015 (+11.8%) and 2022 (+20.1%).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70515"/>
            <a:ext cx="32186" cy="6839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246" y="314188"/>
            <a:ext cx="32186" cy="12472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5572" y="237744"/>
            <a:ext cx="32186" cy="20116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98" y="328270"/>
            <a:ext cx="32186" cy="11064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8224" y="382585"/>
            <a:ext cx="32186" cy="56327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945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Arial"/>
              </a:rPr>
              <a:t>Ownership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Georgia"/>
              </a:rPr>
              <a:t>Responsible ownership, by construction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Arial"/>
              </a:rPr>
              <a:t>›  </a:t>
            </a:r>
            <a:r>
              <a:rPr sz="1600" b="1">
                <a:solidFill>
                  <a:srgbClr val="1E334E"/>
                </a:solidFill>
                <a:latin typeface="Arial"/>
              </a:rPr>
              <a:t>Governance is the lever.</a:t>
            </a:r>
            <a:r>
              <a:rPr sz="1600">
                <a:solidFill>
                  <a:srgbClr val="33384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Arial"/>
              </a:rPr>
              <a:t>›  </a:t>
            </a:r>
            <a:r>
              <a:rPr sz="1600" b="1">
                <a:solidFill>
                  <a:srgbClr val="1E334E"/>
                </a:solidFill>
                <a:latin typeface="Arial"/>
              </a:rPr>
              <a:t>Five improvement dimensions.</a:t>
            </a:r>
            <a:r>
              <a:rPr sz="1600">
                <a:solidFill>
                  <a:srgbClr val="33384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Arial"/>
              </a:rPr>
              <a:t>›  </a:t>
            </a:r>
            <a:r>
              <a:rPr sz="1600" b="1">
                <a:solidFill>
                  <a:srgbClr val="1E334E"/>
                </a:solidFill>
                <a:latin typeface="Arial"/>
              </a:rPr>
              <a:t>PRI signatory since 2019,</a:t>
            </a:r>
            <a:r>
              <a:rPr sz="1600">
                <a:solidFill>
                  <a:srgbClr val="333840"/>
                </a:solidFill>
                <a:latin typeface="Arial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Arial"/>
              </a:rPr>
              <a:t>›  </a:t>
            </a:r>
            <a:r>
              <a:rPr sz="1600" b="1">
                <a:solidFill>
                  <a:srgbClr val="1E334E"/>
                </a:solidFill>
                <a:latin typeface="Arial"/>
              </a:rPr>
              <a:t>Credible oversight.</a:t>
            </a:r>
            <a:r>
              <a:rPr sz="1600">
                <a:solidFill>
                  <a:srgbClr val="33384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83972"/>
            <a:ext cx="43891" cy="932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5449" y="607162"/>
            <a:ext cx="43891" cy="17007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2258" y="502920"/>
            <a:ext cx="43891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9067" y="626364"/>
            <a:ext cx="43891" cy="1508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5876" y="700431"/>
            <a:ext cx="43891" cy="76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5" y="46634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9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Athanase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650">
                <a:solidFill>
                  <a:srgbClr val="FFFFFF"/>
                </a:solidFill>
                <a:latin typeface="Arial"/>
              </a:rPr>
              <a:t>I N D U S T R I A L   P A R T N E 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Georgia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C9D3DD"/>
                </a:solidFill>
                <a:latin typeface="Georgia"/>
              </a:rPr>
              <a:t>Among engaged owners, Athanase brings the team, the discipline and the 20-year proof to deliver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C9D3DD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8A99AB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8A99AB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8A99AB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