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over 10 years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139</c:v>
                </c:pt>
                <c:pt idx="3">
                  <c:v>164</c:v>
                </c:pt>
                <c:pt idx="4">
                  <c:v>194</c:v>
                </c:pt>
                <c:pt idx="5">
                  <c:v>229</c:v>
                </c:pt>
                <c:pt idx="6">
                  <c:v>270</c:v>
                </c:pt>
                <c:pt idx="7">
                  <c:v>319</c:v>
                </c:pt>
                <c:pt idx="8">
                  <c:v>376</c:v>
                </c:pt>
                <c:pt idx="9">
                  <c:v>444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122</c:v>
                </c:pt>
                <c:pt idx="3">
                  <c:v>135</c:v>
                </c:pt>
                <c:pt idx="4">
                  <c:v>149</c:v>
                </c:pt>
                <c:pt idx="5">
                  <c:v>165</c:v>
                </c:pt>
                <c:pt idx="6">
                  <c:v>182</c:v>
                </c:pt>
                <c:pt idx="7">
                  <c:v>201</c:v>
                </c:pt>
                <c:pt idx="8">
                  <c:v>222</c:v>
                </c:pt>
                <c:pt idx="9">
                  <c:v>246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116</c:v>
                </c:pt>
                <c:pt idx="3">
                  <c:v>125</c:v>
                </c:pt>
                <c:pt idx="4">
                  <c:v>134</c:v>
                </c:pt>
                <c:pt idx="5">
                  <c:v>144</c:v>
                </c:pt>
                <c:pt idx="6">
                  <c:v>155</c:v>
                </c:pt>
                <c:pt idx="7">
                  <c:v>167</c:v>
                </c:pt>
                <c:pt idx="8">
                  <c:v>180</c:v>
                </c:pt>
                <c:pt idx="9">
                  <c:v>193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   </a:t>
            </a:r>
            <a:r>
              <a:rPr sz="919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2.2   </a:t>
            </a:r>
            <a:r>
              <a:rPr sz="919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2.3   </a:t>
            </a:r>
            <a:r>
              <a:rPr sz="919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2.4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2.5   </a:t>
            </a:r>
            <a:r>
              <a:rPr sz="919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2.6   </a:t>
            </a:r>
            <a:r>
              <a:rPr sz="919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2.7   </a:t>
            </a:r>
            <a:r>
              <a:rPr sz="919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2.8   </a:t>
            </a:r>
            <a:r>
              <a:rPr sz="919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2.9   </a:t>
            </a:r>
            <a:r>
              <a:rPr sz="919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2.10   </a:t>
            </a:r>
            <a:r>
              <a:rPr sz="919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2.11   </a:t>
            </a:r>
            <a:r>
              <a:rPr sz="919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2.12   </a:t>
            </a:r>
            <a:r>
              <a:rPr sz="919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2.13   </a:t>
            </a:r>
            <a:r>
              <a:rPr sz="919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2.14   </a:t>
            </a:r>
            <a:r>
              <a:rPr sz="919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2.15   </a:t>
            </a:r>
            <a:r>
              <a:rPr sz="919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2.16   </a:t>
            </a:r>
            <a:r>
              <a:rPr sz="919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2.17   </a:t>
            </a:r>
            <a:r>
              <a:rPr sz="919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76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4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2.18   </a:t>
            </a:r>
            <a:r>
              <a:rPr sz="919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6.  Annual uplift to TOTAL-portfolio return (bps), by sleeve size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88883" y="2974848"/>
            <a:ext cx="1097307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2037" y="2974848"/>
            <a:ext cx="9802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86190" y="2974848"/>
            <a:ext cx="1133884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59344" y="2974848"/>
            <a:ext cx="101683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0075" y="2974848"/>
            <a:ext cx="1426499" cy="487680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228" y="2974848"/>
            <a:ext cx="130945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88883" y="3462528"/>
            <a:ext cx="1097307" cy="4876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62037" y="3462528"/>
            <a:ext cx="9802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86190" y="3462528"/>
            <a:ext cx="1133884" cy="4876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59344" y="3462528"/>
            <a:ext cx="101683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0075" y="3462528"/>
            <a:ext cx="1426499" cy="4876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228" y="3462528"/>
            <a:ext cx="130945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88883" y="3950208"/>
            <a:ext cx="1097307" cy="48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62037" y="3950208"/>
            <a:ext cx="9802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86190" y="3950208"/>
            <a:ext cx="1133884" cy="48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59344" y="3950208"/>
            <a:ext cx="101683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20075" y="3950208"/>
            <a:ext cx="1426499" cy="487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3228" y="3950208"/>
            <a:ext cx="130945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88883" y="4437888"/>
            <a:ext cx="1097307" cy="4876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62037" y="4437888"/>
            <a:ext cx="980261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86190" y="4437888"/>
            <a:ext cx="1133884" cy="4876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9344" y="4437888"/>
            <a:ext cx="101683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20075" y="4437888"/>
            <a:ext cx="1426499" cy="4876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93228" y="4437888"/>
            <a:ext cx="1309453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88883" y="5120640"/>
            <a:ext cx="3365076" cy="1658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 i="0">
                <a:solidFill>
                  <a:srgbClr val="0E1620"/>
                </a:solidFill>
                <a:latin typeface="Arial"/>
              </a:rPr>
              <a:t>A 5% sleeve in Athanase rather than a long-only global fund adds roughly half a percent (≈52 bps) to total-portfolio return every year — and compounds: the sleeve itself reaches ~2.5× the long-only outcome over a decade, with the diversification and downside profile shown earlier.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22" y="6729984"/>
            <a:ext cx="790061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global 7.6% (MSCI IMI since inception). Uplift = sleeve size × return spread; growth = annual compounding. Past performance is not indicative of future results.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