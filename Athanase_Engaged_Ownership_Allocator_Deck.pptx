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8A99AB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50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50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5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non-linear path — honestly 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Value moves over the holding period.</a:t>
            </a:r>
            <a:r>
              <a:rPr sz="1350">
                <a:solidFill>
                  <a:srgbClr val="333840"/>
                </a:solidFill>
                <a:latin typeface="Calibri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PE looks smooth because it is appraised, not traded.</a:t>
            </a:r>
            <a:r>
              <a:rPr sz="1350">
                <a:solidFill>
                  <a:srgbClr val="333840"/>
                </a:solidFill>
                <a:latin typeface="Calibri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Same economics, honest optics.</a:t>
            </a:r>
            <a:r>
              <a:rPr sz="1350">
                <a:solidFill>
                  <a:srgbClr val="333840"/>
                </a:solidFill>
                <a:latin typeface="Calibri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Risk reframing for the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What the committee sees on the surface — versus what it is actually underwriting.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IC sees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 actually 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Reputational / 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The catalyst that forces repricing — and a moat that keeps competitors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Public J-curve &amp; mark-to-market drawdown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A live, tradable entry into an asset already de-risked by board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~50% peak-to-trough swings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Optical volatility; two such drawdowns fully recovered (2010, 2020) · Sortino 2.40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Concentration in 8–12 names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Deliberate conviction sizing — the skill (85.7% hit on ≥10% names; +0.73)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“Catching a falling knife”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Hard-floor valuation gates; entry below the value of the rectifiable core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Single-name dependence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One ≥5× MOIC win every ~2 years; competitive even excluding the largest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AIP Fund II — transactions (2015–present)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01752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527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38201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38201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647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0527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261518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61518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1423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84835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" y="284835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7647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527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975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08152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08152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647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0527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975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423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31470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8952" y="331470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0332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647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0527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5975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423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54787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" y="354787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7647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527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5975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378104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8952" y="378104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0332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7647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0527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5975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1423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5800" y="4014216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" y="401421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0332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7647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5975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1423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5800" y="4247388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424738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0332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7647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0527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5975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1423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" y="4480560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952" y="448056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0332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7647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0527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5975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1423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85800" y="471373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8952" y="471373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0332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7647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0527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5975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1423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5800" y="494690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58952" y="494690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0332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7647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0527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15975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1423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5800" y="518007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58952" y="518007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0332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7647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0527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975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1423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85800" y="541324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8952" y="541324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70332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7647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0527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975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1423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5800" y="564642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8952" y="564642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70332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7647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527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15975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1423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85800" y="587959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8952" y="587959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0332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77647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53212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0527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660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15975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1423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85800" y="611276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8952" y="611276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70332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7647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53212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0527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08660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5975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1423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85800" y="643737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643737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Prior period — transactions (2006–2014)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