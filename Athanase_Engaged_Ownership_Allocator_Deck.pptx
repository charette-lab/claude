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AI monoculture: machine-run portfolios crowd and decay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growing body of research models the mechanism: as managers adopt similar AI, they herd into the same trades — eroding market depth, crowding factors and accelerating alpha decay. Engaged ownership sits outside the monoculture.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59968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7556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48153"/>
            <a:ext cx="3994199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314359"/>
                </a:solidFill>
                <a:latin typeface="Arial"/>
              </a:rPr>
              <a:t>Algorithmic monoculture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38297"/>
            <a:ext cx="399419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 AI penetration makes managers share a common signal and herd into the same trades; correlated pressure erodes market depth, drives down fundamental values and amplifies systemic risk.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22" y="3735628"/>
            <a:ext cx="39941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Meng &amp; Chen,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0568" y="2292096"/>
            <a:ext cx="4359968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30568" y="2292096"/>
            <a:ext cx="51207" cy="17556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768" y="2448153"/>
            <a:ext cx="3994199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314359"/>
                </a:solidFill>
                <a:latin typeface="Arial"/>
              </a:rPr>
              <a:t>Strategy convergence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768" y="2838297"/>
            <a:ext cx="399419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Agents trained on overlapping data and rewarded on similar objectives synchronise; order books thin and AI-strategy returns decay rapidly.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768" y="3735628"/>
            <a:ext cx="39941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Tran, 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4203801"/>
            <a:ext cx="4359968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4203801"/>
            <a:ext cx="51207" cy="17556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22" y="4359859"/>
            <a:ext cx="3994199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314359"/>
                </a:solidFill>
                <a:latin typeface="Arial"/>
              </a:rPr>
              <a:t>Algorithmic coherence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22" y="4750003"/>
            <a:ext cx="399419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LLM-augmented investors adopt comparable trade logic, crowding the same risk-premia, distorting price discovery and amplifying volatility through reflexive loops.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22" y="5647334"/>
            <a:ext cx="39941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Gimmelberg, 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0568" y="4203801"/>
            <a:ext cx="4359968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30568" y="4203801"/>
            <a:ext cx="51207" cy="17556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768" y="4359859"/>
            <a:ext cx="3994199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314359"/>
                </a:solidFill>
                <a:latin typeface="Arial"/>
              </a:rPr>
              <a:t>Factor crowding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768" y="4750003"/>
            <a:ext cx="399419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LLM agents generate highly redundant factors — so managers select the same stocks on the same signals, cannibalising each other’s returns.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768" y="5647334"/>
            <a:ext cx="39941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Han et al., 2026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076492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5230" y="6076492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more the market runs on the same machines, the more it converges on one trade — and the faster that edge decays. Changing the company is the edge no shared model can copy.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+10 percentage points per year versus the index, net of every fee, for 20 years.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 (full terms in the appendix).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+10 pts/yr net versus the 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ground is already moving — two shocks to a traditional 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This is not a forecast. Right now, private markets are gating redemptions and AI is commoditizing the analytical edge active equity is sold 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PRIVATE MARKETS ARE GATING — NOW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Partners Group capped redemptions in its $8.6bn evergreen PE fund at 5% of NAV after requests hit 9.8% — KKR, Blackstone and Ares fell (Bloomberg / CNBC, Jun 2026).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spreading — redemption pressure has moved from private credit into private equity, with several managers restricting withdrawals.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trap closes: frozen distributions while capital calls continue force selling good assets at the bottom — and smoothed marks hid the damage until now.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AI IS COMMODITIZING EQUITY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Every manager now runs the same AI-driven analysis instantly; the screenable names are bid up and long-only alpha decays toward zero.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analytical edge is exactly what active equity fees pay for (Kim, Muhn &amp; Nikolaev, 2024; McLean &amp; Pontiff, 2016).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Passive is no refuge — record concentration in the same mega-caps is a crowded trade, not diversification.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legs of a traditional book — illiquid PE and crowded public equity — are under pressure at once. A liquid, low-correlation engaged-ownership sleeve is the antidote to both — and the cost is in waiting.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AI commoditizes analytical alpha — not engaged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AI lets every firm run the same financial analysis instantly, the alpha in screenable, well-covered equities is competed away and the “easy” names are bid up. The durable edge shifts from discovering value to creating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AI COMMODITIZES — DISCOVERED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same analysis, instantly — every manager ingests the same filings and data and runs the same models; the analytical edge long-only alpha rests on erodes toward zero.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“easy” stuff gets bid up — screenable large- and mega-caps are arbitraged fastest, compressing margins of safety and deepening the index concentration you already carry.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Your current equity alpha is exposed — much of what active global-equity managers charge for is precisely this analytical edge.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IT CANNOT — CREATED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Returns we create, not discover — ours come from board control, capital-allocation change and operational improvement, not a mispricing a model can replicate.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You can’t download a board seat — a multi-year, relationship- and execution-dependent turnaround is the opposite of a commoditizable screen.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inefficiency persists where analysis can’t reach — under-covered mid-caps that need governance and operating change, not a faster spreadsheet: our lane.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5891174"/>
            <a:ext cx="8778459" cy="214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Documented mechanism: LLMs already perform financial-statement analysis at analyst level (Kim, Muhn &amp; Nikolaev, 2024); return predictability decays once a strategy is replicable (McLean &amp; Pontiff, 2016) — AI accelerates both.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6164275"/>
            <a:ext cx="8895505" cy="64373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" y="6164275"/>
            <a:ext cx="8632151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As analytical alpha commoditizes, created — engaged-ownership — alpha becomes scarcer and more valuable. The edge AI cannot copy is the one to add now.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When valuations crack, where will you be holding?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 record valuations and concentration the cycle will turn. The career risk isn’t a planned drawdown here — it’s being trapped in the most-expensive, least-liquid assets when it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60472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GLOBAL EQUITIES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FULLY EXPOSED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You own the peak</a:t>
            </a:r>
            <a:r>
              <a:rPr sz="760">
                <a:solidFill>
                  <a:srgbClr val="0E1620"/>
                </a:solidFill>
                <a:latin typeface="Arial"/>
              </a:rPr>
              <a:t> — the most-expensive, most-concentrated names take the full drawdown — no protection.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Concentration cuts both ways</a:t>
            </a:r>
            <a:r>
              <a:rPr sz="760">
                <a:solidFill>
                  <a:srgbClr val="0E1620"/>
                </a:solidFill>
                <a:latin typeface="Arial"/>
              </a:rPr>
              <a:t> — the crowding that flattered returns on the way up amplifies the fall.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Nothing to do</a:t>
            </a:r>
            <a:r>
              <a:rPr sz="760">
                <a:solidFill>
                  <a:srgbClr val="0E1620"/>
                </a:solidFill>
                <a:latin typeface="Arial"/>
              </a:rPr>
              <a:t> — you are the market — there is no lever to pull.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60472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THE TRAP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Marks catch down</a:t>
            </a:r>
            <a:r>
              <a:rPr sz="760">
                <a:solidFill>
                  <a:srgbClr val="0E1620"/>
                </a:solidFill>
                <a:latin typeface="Arial"/>
              </a:rPr>
              <a:t> — smoothed valuations lag, then fall; the denominator effect pushes PE past its limits.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Calls keep coming</a:t>
            </a:r>
            <a:r>
              <a:rPr sz="760">
                <a:solidFill>
                  <a:srgbClr val="0E1620"/>
                </a:solidFill>
                <a:latin typeface="Arial"/>
              </a:rPr>
              <a:t> — distributions stop while capital calls continue — forcing sales of good liquid assets at the bottom.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exit</a:t>
            </a:r>
            <a:r>
              <a:rPr sz="760">
                <a:solidFill>
                  <a:srgbClr val="0E1620"/>
                </a:solidFill>
                <a:latin typeface="Arial"/>
              </a:rPr>
              <a:t> — illiquidity hides the loss until it is too late to 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ATHANASE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THE HEDGE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Risk is floored</a:t>
            </a:r>
            <a:r>
              <a:rPr sz="760">
                <a:solidFill>
                  <a:srgbClr val="0E1620"/>
                </a:solidFill>
                <a:latin typeface="Arial"/>
              </a:rPr>
              <a:t> — board control owns the cash flow, capex and pay — fundamental risk falls whatever the ticker does.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Liquid &amp; uncorrelated</a:t>
            </a:r>
            <a:r>
              <a:rPr sz="760">
                <a:solidFill>
                  <a:srgbClr val="0E1620"/>
                </a:solidFill>
                <a:latin typeface="Arial"/>
              </a:rPr>
              <a:t> — daily liquidity and a genuine 0.44-correlation diversifier that defends the book.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crack is the entry</a:t>
            </a:r>
            <a:r>
              <a:rPr sz="760">
                <a:solidFill>
                  <a:srgbClr val="0E1620"/>
                </a:solidFill>
                <a:latin typeface="Arial"/>
              </a:rPr>
              <a:t> — the dislocation becomes your co-invest free look — not your trap.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44768"/>
            <a:ext cx="8734567" cy="64373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44768"/>
            <a:ext cx="841269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cycle turns, two of these put your board review at risk and one defends it — and the hedge can only be bought before the crack, not after.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Waiting is the riskier decision — and it never gets underwritten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Allocating carries a small, bounded, pre-agreed risk. Not allocating carries an open-ended one — concentration you already own, the compounding you forgo, and capacity you cannot get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ALLOCATING — BOUNDED &amp; REVERSIBLE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Sized for immunity — a 1–3% sleeve, so no single mark can move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Pre-underwritten — a ~50% drawdown tolerance signed by the IC: a bad quarter is planned, not a surprise.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Reversible — daily marks and liquidity, exit at will, zero capital-call lock.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Entry timing is a non-risk — the worst entry month in 20 years still compounded at +7% 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WAITING — OPEN-ENDED &amp; UN-MINUTED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Concentration you already own — your equity book is a crowded mega-cap factor bet at record valuations; a genuine 0.44-correlation diversifier is what cushions it when the index falls.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PE denominator trap — in a downturn your illiquid sleeve breaches limits and forces selling good assets at the bottom, with nothing liquid to absorb it.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Alpha decay — AI is commoditizing the analytical edge your active equity managers sell (prior page); engaged ownership is the edge it cannot copy.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Compounding foregone — at a delivered ~16% net, €100m deferred 12 months reaches the same horizon ~€61m smaller; that gap never returns.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Capacity forfeited — only ~one deal a year, and co-investment is pro-rata to commitment: those in early set their share, latecomers take what is left.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5715609"/>
            <a:ext cx="8778459" cy="214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Delay illustration: €100m at ~16% net — nine vs ten years of compounding to a common horizon; illustrative only, past returns not indicative.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5930188"/>
            <a:ext cx="8895505" cy="8778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" y="5930188"/>
            <a:ext cx="8632151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The bigger risk isn’t the upside you forgo — it’s where you’re holding when valuations crack (prior page): a crowded index, or PE you cannot exit.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Two years on, the harder board question isn’t a planned 2% drawdown here — it’s why you sat in the most-expensive, most-correlated assets with no liquid hedge. Doing nothing is also a decision; it just never gets minuted.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Optional co-investment facility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5657088"/>
            <a:ext cx="8851613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The core fund carries zero capital calls; this optional facility is the single, deliberate exception — and only on a named, board-de-risked asset.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 is the sole trigger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if the market hands LPs a 20–30% discount; the main fund drives the operational change either way.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Time is the sole opt-out</a:t>
            </a:r>
            <a:r>
              <a:rPr sz="680">
                <a:solidFill>
                  <a:srgbClr val="0E1620"/>
                </a:solidFill>
                <a:latin typeface="Arial"/>
              </a:rPr>
              <a:t> — an 18-month sunset from the board seat; if no discount appears the commitment expires uncalled — LPs pay next to nothing for the optionality and free the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capital, tested continuously (not a single date)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Direct listing at NAV</a:t>
            </a:r>
            <a:r>
              <a:rPr sz="680">
                <a:solidFill>
                  <a:srgbClr val="0E1620"/>
                </a:solidFill>
                <a:latin typeface="Arial"/>
              </a:rPr>
              <a:t> — a pre-agreed direct listing — a route the team has executed in Sweden — converts the vehicle to a PCV at NAV, with no bookbuild discount.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NAV-tight &amp; evergreen</a:t>
            </a:r>
            <a:r>
              <a:rPr sz="680">
                <a:solidFill>
                  <a:srgbClr val="0E1620"/>
                </a:solidFill>
                <a:latin typeface="Arial"/>
              </a:rPr>
              <a:t> — a mandatory buyback whenever the price trades &gt;10% below NAV holds the discount tight; LPs get daily liquidity, the manager keeps infinite duration.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 gaming the conversion</a:t>
            </a:r>
            <a:r>
              <a:rPr sz="680">
                <a:solidFill>
                  <a:srgbClr val="0E1620"/>
                </a:solidFill>
                <a:latin typeface="Arial"/>
              </a:rPr>
              <a:t> — NAV is mark-to-market from the listed holdings, valued on a 10-day VWAP — no independent appraisal, and a continuous test leaves no single window the manager can time.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Catastrophe-only LP veto</a:t>
            </a:r>
            <a:r>
              <a:rPr sz="680">
                <a:solidFill>
                  <a:srgbClr val="0E1620"/>
                </a:solidFill>
                <a:latin typeface="Arial"/>
              </a:rPr>
              <a:t> — the LPAC veto covers fund-level events only — key-person or style drift — never the target’s price or operating metrics; NAV redemption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42304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documentation. The 2.0× is a contractual lock contingent on the 2.5× test — not a guarantee. Buybacks are funded from the vehicle’s distributable cash and capped per year. The “LP protections” cell is a proposal, not yet agreed.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capacity: a dividend for backing the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Capacity is allocated by flagship commitment, not handed out as a marketing tool — so the “free look” rewards the partners who back the core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7966452" cy="70225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292096"/>
            <a:ext cx="7966452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90%  ·  STRICT PRO-RATA — by flagship commitment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10%  ·  GP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Pro-rata by flagship commitment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 LP’s right of first refusal equals its share of main-fund commitments — 15% of the fund earns first call on 15% of the sidecar. The lucrative free look is a structural dividend for the investors who back the 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2614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Roll-up of declined capacity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Capacity a smaller LP declines is pooled and re-offered, pro-rata, to the remaining participants — automatically concentrating the sidecar among the largest, most agile institutional anchors.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306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A 10% GP-discretionary carve-out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90% is allocated by strict formula to prevent LP infighting; the remaining 10% is reserved for LPs who can contribute directly to a deal — bringing specific industrial knowledge or operating expertise to the situation.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6164275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164275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Capacity rewards conviction: the free look deepens the relationships with the anchors who fund the flagship — a structural dividend, not a giveaway.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4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4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4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4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4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4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4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4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4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4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4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4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4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4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4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4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4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4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1">
                <a:solidFill>
                  <a:srgbClr val="0E1620"/>
                </a:solidFill>
                <a:latin typeface="Arial"/>
              </a:rPr>
              <a:t>AI &amp; alpha decay (emerging working papers, 2025–26): </a:t>
            </a:r>
            <a:r>
              <a:rPr sz="640" i="0">
                <a:solidFill>
                  <a:srgbClr val="0E1620"/>
                </a:solidFill>
                <a:latin typeface="Arial"/>
              </a:rPr>
              <a:t>Gimmelberg (2025), MDPI; Han et al. (2026), arXiv; Meng &amp; Chen (2026), arXiv; Tran (2026), Atlantis Press.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