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5A636E"/>
                </a:solidFill>
              </a:rPr>
              <a:t>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4253B"/>
              </a:solidFill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8A99AB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5A636E"/>
                </a:solidFill>
              </a:rPr>
              <a:t>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4253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8A99AB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33384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11480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200" b="0" i="0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 i="1">
                <a:solidFill>
                  <a:srgbClr val="C9D3DD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this presentation covers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allocate to engaged ownership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The asset-class case: a catalyst-driven, diversifying source of equity return that fits a long-horizon, fiduciary mandate.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2000" b="1">
                <a:solidFill>
                  <a:srgbClr val="4A5D75"/>
                </a:solidFill>
                <a:latin typeface="Times New Roman"/>
              </a:rPr>
              <a:t>Part II   </a:t>
            </a:r>
            <a:r>
              <a:rPr sz="2000" b="1">
                <a:solidFill>
                  <a:srgbClr val="1E334E"/>
                </a:solidFill>
                <a:latin typeface="Times New Roman"/>
              </a:rPr>
              <a:t>Why choose Athanase</a:t>
            </a:r>
          </a:p>
          <a:p>
            <a:pPr>
              <a:lnSpc>
                <a:spcPct val="112000"/>
              </a:lnSpc>
              <a:spcAft>
                <a:spcPts val="2000"/>
              </a:spcAft>
            </a:pPr>
            <a:r>
              <a:rPr sz="1500">
                <a:solidFill>
                  <a:srgbClr val="333840"/>
                </a:solidFill>
                <a:latin typeface="Calibri"/>
              </a:rPr>
              <a:t>Among engaged owners, the team, opportunity set, margin-for-error and 20-year track record that distinguish Athanase Industrial Partner.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  ·  THE ASSET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~7% announcement return.</a:t>
            </a:r>
            <a:r>
              <a:rPr sz="1550">
                <a:solidFill>
                  <a:srgbClr val="333840"/>
                </a:solidFill>
                <a:latin typeface="Calibri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~10.2% around the 13D,</a:t>
            </a:r>
            <a:r>
              <a:rPr sz="1550">
                <a:solidFill>
                  <a:srgbClr val="333840"/>
                </a:solidFill>
                <a:latin typeface="Calibri"/>
              </a:rPr>
              <a:t>  plus a further ~11.4% over the next year for engaged-owner targets (Klein &amp; Zur, 2009).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No long-term give-back.</a:t>
            </a:r>
            <a:r>
              <a:rPr sz="1550">
                <a:solidFill>
                  <a:srgbClr val="333840"/>
                </a:solidFill>
                <a:latin typeface="Calibri"/>
              </a:rPr>
              <a:t>  ~2,000 interventions show no negative drift and no “pump-and-dump” (Bebchuk, Brav &amp; Jiang,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Real, not financial, value.</a:t>
            </a:r>
            <a:r>
              <a:rPr sz="1550">
                <a:solidFill>
                  <a:srgbClr val="333840"/>
                </a:solidFill>
                <a:latin typeface="Calibri"/>
              </a:rPr>
              <a:t>  Production efficiency improves in the three years after intervention (Brav, Jiang &amp; Kim, 2015).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Idiosyncratic alpha.</a:t>
            </a:r>
            <a:r>
              <a:rPr sz="1550">
                <a:solidFill>
                  <a:srgbClr val="333840"/>
                </a:solidFill>
                <a:latin typeface="Calibri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Patient capital wins.</a:t>
            </a:r>
            <a:r>
              <a:rPr sz="1650">
                <a:solidFill>
                  <a:srgbClr val="333840"/>
                </a:solidFill>
                <a:latin typeface="Calibri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Stewardship is the duty.</a:t>
            </a:r>
            <a:r>
              <a:rPr sz="1650">
                <a:solidFill>
                  <a:srgbClr val="333840"/>
                </a:solidFill>
                <a:latin typeface="Calibri"/>
              </a:rPr>
              <a:t>  Engaged ownership expresses fiduciary obligation (UK Stewardship Code; UN PRI) rather than conflicting with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Mission alignment.</a:t>
            </a:r>
            <a:r>
              <a:rPr sz="1650">
                <a:solidFill>
                  <a:srgbClr val="333840"/>
                </a:solidFill>
                <a:latin typeface="Calibri"/>
              </a:rPr>
              <a:t>  Demanding accountability and good governance reflects institutional values and is defensible to beneficiaries.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Engagement as risk management.</a:t>
            </a:r>
            <a:r>
              <a:rPr sz="1650">
                <a:solidFill>
                  <a:srgbClr val="333840"/>
                </a:solidFill>
                <a:latin typeface="Calibri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distinct return engine.</a:t>
            </a:r>
            <a:r>
              <a:rPr sz="1650">
                <a:solidFill>
                  <a:srgbClr val="333840"/>
                </a:solidFill>
                <a:latin typeface="Calibri"/>
              </a:rPr>
              <a:t>  Alpha driven by proxy contests, spin-offs and capital-return programmes — largely independent of rates, growth and inflation.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Diversifies the equity book.</a:t>
            </a:r>
            <a:r>
              <a:rPr sz="1650">
                <a:solidFill>
                  <a:srgbClr val="333840"/>
                </a:solidFill>
                <a:latin typeface="Calibri"/>
              </a:rPr>
              <a:t>  Small- and mid-cap value and special situations, typically underweight in institutional portfolios.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Counter-cyclical dry powder.</a:t>
            </a:r>
            <a:r>
              <a:rPr sz="1650">
                <a:solidFill>
                  <a:srgbClr val="333840"/>
                </a:solidFill>
                <a:latin typeface="Calibri"/>
              </a:rPr>
              <a:t>  Dislocations create the next targets; patient capital deploys into weakness rather than selling it.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PE-style upside, public-market terms.</a:t>
            </a:r>
            <a:r>
              <a:rPr sz="1650">
                <a:solidFill>
                  <a:srgbClr val="333840"/>
                </a:solidFill>
                <a:latin typeface="Calibri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Applied governance.</a:t>
            </a:r>
            <a:r>
              <a:rPr sz="1650">
                <a:solidFill>
                  <a:srgbClr val="333840"/>
                </a:solidFill>
                <a:latin typeface="Calibri"/>
              </a:rPr>
              <a:t>  Board independence, pay-for-performance and capital discipline are the “G” of ESG put into practice.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Constructive engagement.</a:t>
            </a:r>
            <a:r>
              <a:rPr sz="1650">
                <a:solidFill>
                  <a:srgbClr val="333840"/>
                </a:solidFill>
                <a:latin typeface="Calibri"/>
              </a:rPr>
              <a:t>  Return and stewardship objectives expressed through one allocation, disciplined by a value thesis.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A positive externality.</a:t>
            </a:r>
            <a:r>
              <a:rPr sz="1650">
                <a:solidFill>
                  <a:srgbClr val="333840"/>
                </a:solidFill>
                <a:latin typeface="Calibri"/>
              </a:rPr>
              <a:t>  Governance precedents improve the quality of the beta the whole portfolio owns.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50" b="1">
                <a:solidFill>
                  <a:srgbClr val="4A5D75"/>
                </a:solidFill>
                <a:latin typeface="Calibri"/>
              </a:rPr>
              <a:t>›  </a:t>
            </a:r>
            <a:r>
              <a:rPr sz="1650" b="1">
                <a:solidFill>
                  <a:srgbClr val="1E334E"/>
                </a:solidFill>
                <a:latin typeface="Calibri"/>
              </a:rPr>
              <a:t>Defensible to stakeholders.</a:t>
            </a:r>
            <a:r>
              <a:rPr sz="1650">
                <a:solidFill>
                  <a:srgbClr val="333840"/>
                </a:solidFill>
                <a:latin typeface="Calibri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repeatable process</a:t>
            </a:r>
            <a:r>
              <a:rPr sz="1550">
                <a:solidFill>
                  <a:srgbClr val="333840"/>
                </a:solidFill>
                <a:latin typeface="Calibri"/>
              </a:rPr>
              <a:t>  for sourcing and underwriting correctable, undervalued companies.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Genuine operating capability,</a:t>
            </a:r>
            <a:r>
              <a:rPr sz="1550">
                <a:solidFill>
                  <a:srgbClr val="333840"/>
                </a:solidFill>
                <a:latin typeface="Calibri"/>
              </a:rPr>
              <a:t>  not just financial engineering — the experience to control the outcome from the boardroom.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 track record of outcomes,</a:t>
            </a:r>
            <a:r>
              <a:rPr sz="1550">
                <a:solidFill>
                  <a:srgbClr val="333840"/>
                </a:solidFill>
                <a:latin typeface="Calibri"/>
              </a:rPr>
              <a:t>  board seats won and value delivered across multiple market cycles.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Aligned economics</a:t>
            </a:r>
            <a:r>
              <a:rPr sz="1550">
                <a:solidFill>
                  <a:srgbClr val="333840"/>
                </a:solidFill>
                <a:latin typeface="Calibri"/>
              </a:rPr>
              <a:t>  and a stable, long-tenured team that invests its own capital.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Disciplined entry and risk control</a:t>
            </a:r>
            <a:r>
              <a:rPr sz="1550">
                <a:solidFill>
                  <a:srgbClr val="333840"/>
                </a:solidFill>
                <a:latin typeface="Calibri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989060" cy="4279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788920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8A99AB"/>
                </a:solidFill>
                <a:latin typeface="Calibri"/>
              </a:rPr>
              <a:t>PART II  ·  AMONG ENGAGED OWNERS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000" b="0" i="1">
                <a:solidFill>
                  <a:srgbClr val="C9D3DD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9944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72016" y="1783080"/>
            <a:ext cx="2697480" cy="169164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72016" y="2039112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4000" b="0" i="0">
                <a:solidFill>
                  <a:srgbClr val="1E334E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490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Average net return of 18.6%</a:t>
            </a:r>
            <a:r>
              <a:rPr sz="1500">
                <a:solidFill>
                  <a:srgbClr val="333840"/>
                </a:solidFill>
                <a:latin typeface="Calibri"/>
              </a:rPr>
              <a:t>  (17.1% vs MSCI IMI 7.6% since inception), regardless of entry month.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+14.5% EBITA growth</a:t>
            </a:r>
            <a:r>
              <a:rPr sz="1500">
                <a:solidFill>
                  <a:srgbClr val="333840"/>
                </a:solidFill>
                <a:latin typeface="Calibri"/>
              </a:rPr>
              <a:t>  in portfolio companies during the ownership period.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+0.2% in down markets</a:t>
            </a:r>
            <a:r>
              <a:rPr sz="1500">
                <a:solidFill>
                  <a:srgbClr val="333840"/>
                </a:solidFill>
                <a:latin typeface="Calibri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9AA4B0"/>
                </a:solidFill>
                <a:latin typeface="Calibri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4A5D75"/>
                </a:solidFill>
                <a:latin typeface="Times New Roman"/>
              </a:rPr>
              <a:t>Heritage:  Öresund (1992)  →  Custos (1996)  →  Creades  →  Athanase Industrial Partner (2015)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40+ companies managed,</a:t>
            </a:r>
            <a:r>
              <a:rPr sz="1500">
                <a:solidFill>
                  <a:srgbClr val="333840"/>
                </a:solidFill>
                <a:latin typeface="Calibri"/>
              </a:rPr>
              <a:t>  with a proven ability to tell a “strong core” from a “prestige trap”.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30+ public board seats</a:t>
            </a:r>
            <a:r>
              <a:rPr sz="1500">
                <a:solidFill>
                  <a:srgbClr val="333840"/>
                </a:solidFill>
                <a:latin typeface="Calibri"/>
              </a:rPr>
              <a:t>  — real experience mandating pivots and protecting shareholder interests, not writing engagement letters.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A dual lens:</a:t>
            </a:r>
            <a:r>
              <a:rPr sz="1500">
                <a:solidFill>
                  <a:srgbClr val="333840"/>
                </a:solidFill>
                <a:latin typeface="Calibri"/>
              </a:rPr>
              <a:t>  a forensic investing lens to find the value and a C-suite operating lens that understands the “how” of execution.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Skin in the game.</a:t>
            </a:r>
            <a:r>
              <a:rPr sz="1500">
                <a:solidFill>
                  <a:srgbClr val="333840"/>
                </a:solidFill>
                <a:latin typeface="Calibri"/>
              </a:rPr>
              <a:t>  The team uses Athanase as its own investment vehicle and shares in the success economics.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500" b="1">
                <a:solidFill>
                  <a:srgbClr val="4A5D75"/>
                </a:solidFill>
                <a:latin typeface="Calibri"/>
              </a:rPr>
              <a:t>›  </a:t>
            </a:r>
            <a:r>
              <a:rPr sz="1500" b="1">
                <a:solidFill>
                  <a:srgbClr val="1E334E"/>
                </a:solidFill>
                <a:latin typeface="Calibri"/>
              </a:rPr>
              <a:t>Institutional memory.</a:t>
            </a:r>
            <a:r>
              <a:rPr sz="1500">
                <a:solidFill>
                  <a:srgbClr val="333840"/>
                </a:solidFill>
                <a:latin typeface="Calibri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Market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Corporate decay is structural — it continuously recreates low-risk, high-return entry points.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Duration mismatch.</a:t>
            </a:r>
            <a:r>
              <a:rPr sz="1550">
                <a:solidFill>
                  <a:srgbClr val="333840"/>
                </a:solidFill>
                <a:latin typeface="Calibri"/>
              </a:rPr>
              <a:t>  CEOs run 7–8 year defensive cycles while moats erode at hyper-speed; an 80%-correct strategy decays to ~50% efficient.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The prestige trap.</a:t>
            </a:r>
            <a:r>
              <a:rPr sz="1550">
                <a:solidFill>
                  <a:srgbClr val="333840"/>
                </a:solidFill>
                <a:latin typeface="Calibri"/>
              </a:rPr>
              <a:t>  Empire-building and the sunk-cost fallacy lead management to double down on unprofitable ventures.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Shareholder exhaustion.</a:t>
            </a:r>
            <a:r>
              <a:rPr sz="1550">
                <a:solidFill>
                  <a:srgbClr val="333840"/>
                </a:solidFill>
                <a:latin typeface="Calibri"/>
              </a:rPr>
              <a:t>  As patience runs out, price hits a long-term low and liquidity dries up — Athanase becomes the “buyer of last resort” at a discount.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4A5D75"/>
                </a:solidFill>
                <a:latin typeface="Calibri"/>
              </a:rPr>
              <a:t>›  </a:t>
            </a:r>
            <a:r>
              <a:rPr sz="1550" b="1">
                <a:solidFill>
                  <a:srgbClr val="1E334E"/>
                </a:solidFill>
                <a:latin typeface="Calibri"/>
              </a:rPr>
              <a:t>Low competition.</a:t>
            </a:r>
            <a:r>
              <a:rPr sz="1550">
                <a:solidFill>
                  <a:srgbClr val="333840"/>
                </a:solidFill>
                <a:latin typeface="Calibri"/>
              </a:rPr>
              <a:t>  Passive buys the most expensive names; active managers wait for proof; PE needs 10x the capital — leaving these bargains open.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classic objection to activism is adverse selection. Our model inverts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critique.</a:t>
            </a:r>
            <a:r>
              <a:rPr sz="1350">
                <a:solidFill>
                  <a:srgbClr val="333840"/>
                </a:solidFill>
                <a:latin typeface="Calibri"/>
              </a:rPr>
              <a:t>  Buy “cheap and troubled” and you select for lemons — businesses in structural decline that are worse than they look. The market discounted them for a reason.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Our precondition removes it.</a:t>
            </a:r>
            <a:r>
              <a:rPr sz="1350">
                <a:solidFill>
                  <a:srgbClr val="333840"/>
                </a:solidFill>
                <a:latin typeface="Calibri"/>
              </a:rPr>
              <a:t>  We invest only where the core is a market leader earning high returns on incremental capital — and only when it is attractive even if we change nothing. We do not underwrite turnarounds of structurally weak businesses.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real setup.</a:t>
            </a:r>
            <a:r>
              <a:rPr sz="1350">
                <a:solidFill>
                  <a:srgbClr val="333840"/>
                </a:solidFill>
                <a:latin typeface="Calibri"/>
              </a:rPr>
              <a:t>  Our targets are profitable leaders whose management pivoted into weak adjacencies — chasing growth as the core matured, or something new and “sexy.” The drag is a capital-allocation overlay on a good asset, not a bad asset.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The inversion.</a:t>
            </a:r>
            <a:r>
              <a:rPr sz="1350">
                <a:solidFill>
                  <a:srgbClr val="333840"/>
                </a:solidFill>
                <a:latin typeface="Calibri"/>
              </a:rPr>
              <a:t>  Blended results make the company look mediocre, so it is priced as mediocre. Forensic separation reveals a strong core subsidising a loss-making periphery — the appearance understates reality.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92040"/>
            <a:ext cx="3154680" cy="86868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92040"/>
            <a:ext cx="3154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Market-leading core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high ROIIC, very profitable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4892040"/>
            <a:ext cx="3154680" cy="868680"/>
          </a:xfrm>
          <a:prstGeom prst="rect">
            <a:avLst/>
          </a:prstGeom>
          <a:solidFill>
            <a:srgbClr val="A8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4892040"/>
            <a:ext cx="3154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−  weak “growth” adjacencies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bolted on by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4892040"/>
            <a:ext cx="3154680" cy="868680"/>
          </a:xfrm>
          <a:prstGeom prst="rect">
            <a:avLst/>
          </a:prstGeom>
          <a:solidFill>
            <a:srgbClr val="D8D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4892040"/>
            <a:ext cx="3154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1E334E"/>
                </a:solidFill>
                <a:latin typeface="Calibri"/>
              </a:rPr>
              <a:t>=  reported as mediocre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1E334E"/>
                </a:solidFill>
                <a:latin typeface="Calibri"/>
              </a:rPr>
              <a:t>priced cheap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Quality-core constructivism — how we differ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48840"/>
            <a:ext cx="21488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148840"/>
            <a:ext cx="1965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2148840"/>
            <a:ext cx="4434840" cy="38404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61488" y="2148840"/>
            <a:ext cx="4251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Large generalist activists (e.g. Elliott)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86600" y="2148840"/>
            <a:ext cx="4526280" cy="38404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96328" y="2148840"/>
            <a:ext cx="4343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Athanase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32888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32888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Entry precondition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532888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61488" y="2532888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Wide range of situations — breakups, credit, event-driven; business quality often secondary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86600" y="2532888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8" y="2532888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Only a market-leading, high-ROIIC core — “attractive even if we change nothing”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09544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209544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Source of return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209544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61488" y="3209544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Financial / transactional pressure: force a sale, return cash, exit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3209544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96328" y="3209544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Operational refocus of a genuinely good business, from a board seat, over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886200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3886200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What gets fixed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51760" y="3886200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61488" y="3886200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The price, the structure, the outcome of a contest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886200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96328" y="3886200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The capital-allocation overlay — the core already works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62856"/>
            <a:ext cx="2148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4562856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Margin of safety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51760" y="4562856"/>
            <a:ext cx="443484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61488" y="4562856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Winning the campaign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86600" y="4562856"/>
            <a:ext cx="4526280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96328" y="4562856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The core’s proven high-ROIIC economics — the hard floor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39512"/>
            <a:ext cx="2148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" y="5239512"/>
            <a:ext cx="1965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4A5D75"/>
                </a:solidFill>
                <a:latin typeface="Calibri"/>
              </a:rPr>
              <a:t>Cadence &amp; style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0" y="5239512"/>
            <a:ext cx="443484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61488" y="5239512"/>
            <a:ext cx="425196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0" i="0">
                <a:solidFill>
                  <a:srgbClr val="333840"/>
                </a:solidFill>
                <a:latin typeface="Calibri"/>
              </a:rPr>
              <a:t>Many simultaneous campaigns, leverage, often confrontational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86600" y="5239512"/>
            <a:ext cx="4526280" cy="676656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96328" y="5239512"/>
            <a:ext cx="43434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150" b="1" i="0">
                <a:solidFill>
                  <a:srgbClr val="1E334E"/>
                </a:solidFill>
                <a:latin typeface="Calibri"/>
              </a:rPr>
              <a:t>~one deal a year, constructive, board-led, mid-cap surgical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44184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Investment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We don’t need to be right more than ~50%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Because we buy at a discount, not at a 40% control premium.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148840"/>
            <a:ext cx="365760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148840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Private Equity (take-private)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148840"/>
            <a:ext cx="3520440" cy="566928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148840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Athanase (engaged owner)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Entry basis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715768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2715768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$140  (market + 40% premium)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15768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2715768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$100  (exhaustion price)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Holding period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43400" y="3282696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3282696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5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282696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282696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3 years (rerating cycle)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Value growth required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849624"/>
            <a:ext cx="3657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849624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+148% total growth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3849624"/>
            <a:ext cx="3520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49624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+73% total growth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Operational success needed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43400" y="4416552"/>
            <a:ext cx="365760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4416552"/>
            <a:ext cx="3383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~85–100% of thesis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4416552"/>
            <a:ext cx="3520440" cy="566928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60" y="4416552"/>
            <a:ext cx="32461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1E334E"/>
                </a:solidFill>
                <a:latin typeface="Calibri"/>
              </a:rPr>
              <a:t>~45–55% of thesis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 i="1">
                <a:solidFill>
                  <a:srgbClr val="4A5D75"/>
                </a:solidFill>
                <a:latin typeface="Calibri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035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Friction is the catalyst.</a:t>
            </a:r>
            <a:r>
              <a:rPr sz="1450">
                <a:solidFill>
                  <a:srgbClr val="333840"/>
                </a:solidFill>
                <a:latin typeface="Calibri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discomfort is the moat.</a:t>
            </a:r>
            <a:r>
              <a:rPr sz="1450">
                <a:solidFill>
                  <a:srgbClr val="333840"/>
                </a:solidFill>
                <a:latin typeface="Calibri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A board seat de-risks the asset.</a:t>
            </a:r>
            <a:r>
              <a:rPr sz="1450">
                <a:solidFill>
                  <a:srgbClr val="333840"/>
                </a:solidFill>
                <a:latin typeface="Calibri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The J-curve is tradable, not painful.</a:t>
            </a:r>
            <a:r>
              <a:rPr sz="1450">
                <a:solidFill>
                  <a:srgbClr val="333840"/>
                </a:solidFill>
                <a:latin typeface="Calibri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450" b="1">
                <a:solidFill>
                  <a:srgbClr val="4A5D75"/>
                </a:solidFill>
                <a:latin typeface="Calibri"/>
              </a:rPr>
              <a:t>›  </a:t>
            </a:r>
            <a:r>
              <a:rPr sz="1450" b="1">
                <a:solidFill>
                  <a:srgbClr val="1E334E"/>
                </a:solidFill>
                <a:latin typeface="Calibri"/>
              </a:rPr>
              <a:t>Public scoreboard, daily.</a:t>
            </a:r>
            <a:r>
              <a:rPr sz="1450">
                <a:solidFill>
                  <a:srgbClr val="333840"/>
                </a:solidFill>
                <a:latin typeface="Calibri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 non-linear path — honestly priced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66928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Value moves over the holding period.</a:t>
            </a:r>
            <a:r>
              <a:rPr sz="1350">
                <a:solidFill>
                  <a:srgbClr val="333840"/>
                </a:solidFill>
                <a:latin typeface="Calibri"/>
              </a:rPr>
              <a:t>  A 5× outcome is realised over years — the interim mark moves with the market, the cycle and the campaign. It is a journey, not a coupon.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PE looks smooth because it is appraised, not traded.</a:t>
            </a:r>
            <a:r>
              <a:rPr sz="1350">
                <a:solidFill>
                  <a:srgbClr val="333840"/>
                </a:solidFill>
                <a:latin typeface="Calibri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50" b="1">
                <a:solidFill>
                  <a:srgbClr val="4A5D75"/>
                </a:solidFill>
                <a:latin typeface="Calibri"/>
              </a:rPr>
              <a:t>›  </a:t>
            </a:r>
            <a:r>
              <a:rPr sz="1350" b="1">
                <a:solidFill>
                  <a:srgbClr val="1E334E"/>
                </a:solidFill>
                <a:latin typeface="Calibri"/>
              </a:rPr>
              <a:t>Same economics, honest optics.</a:t>
            </a:r>
            <a:r>
              <a:rPr sz="1350">
                <a:solidFill>
                  <a:srgbClr val="333840"/>
                </a:solidFill>
                <a:latin typeface="Calibri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46520" y="2103120"/>
          <a:ext cx="53949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46520" y="576072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9AA4B0"/>
                </a:solidFill>
                <a:latin typeface="Calibri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Risk reframing for the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What the committee sees on the surface — versus what it is actually underwriting.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41605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14884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the IC sees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2148840"/>
            <a:ext cx="6903720" cy="512064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37176" y="214884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is actually underwriting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60904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66090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Reputational / 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2660904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37176" y="266090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The catalyst that forces repricing — and a moat that keeps competitors 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72968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172968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Public J-curve &amp; mark-to-market drawdown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3172968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37176" y="3172968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A live, tradable entry into an asset already de-risked by board control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85032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3685032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~50% peak-to-trough swings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685032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7176" y="3685032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Optical volatility; two such drawdowns fully recovered (2010, 2020) · Sortino 2.40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197096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6656" y="4197096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Concentration in 8–12 names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4197096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4197096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Deliberate conviction sizing — the skill (85.7% hit on ≥10% names; +0.73)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709160"/>
            <a:ext cx="41605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4709160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“Catching a falling knife”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60" y="4709160"/>
            <a:ext cx="6903720" cy="512064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37176" y="4709160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Hard-floor valuation gates; entry below the value of the rectifiable core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21224"/>
            <a:ext cx="41605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6656" y="5221224"/>
            <a:ext cx="3941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5A636E"/>
                </a:solidFill>
                <a:latin typeface="Calibri"/>
              </a:rPr>
              <a:t>Single-name dependence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09160" y="5221224"/>
            <a:ext cx="690372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37176" y="5221224"/>
            <a:ext cx="66842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 i="0">
                <a:solidFill>
                  <a:srgbClr val="1E334E"/>
                </a:solidFill>
                <a:latin typeface="Calibri"/>
              </a:rPr>
              <a:t>One ≥5× MOIC win every ~2 years; competitive even excluding the largest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870448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783080"/>
          <a:ext cx="649224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1874520"/>
            <a:ext cx="4206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1" i="0">
                <a:solidFill>
                  <a:srgbClr val="1E334E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333840"/>
                </a:solidFill>
                <a:latin typeface="Calibri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AIP Fund II — transactions (2015–present)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Each position shown against its benchmark; invested capital weighted MOIC of 2.2x.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01752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14884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2148840"/>
            <a:ext cx="182880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214884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2148840"/>
            <a:ext cx="155448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05272" y="214884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2148840"/>
            <a:ext cx="155448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59752" y="214884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148840"/>
            <a:ext cx="1828800" cy="233172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214884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vs Index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382012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" y="238201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Bufab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238201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76472" y="238201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32120" y="238201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05272" y="238201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38201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9752" y="238201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238201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38201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+27%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2615184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261518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DistIt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03320" y="261518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261518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261518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05272" y="261518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7%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86600" y="261518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59752" y="261518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80" y="261518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14232" y="261518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-1%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848356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952" y="284835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Ngex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03320" y="284835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76472" y="284835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532120" y="284835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05272" y="284835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69%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86600" y="284835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59752" y="284835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6.2x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284835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14232" y="284835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+59%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5800" y="3081528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8952" y="308152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Alcadon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03320" y="308152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76472" y="308152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2016-2025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32120" y="308152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05272" y="308152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86600" y="308152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9752" y="308152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80" y="308152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14232" y="308152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+65%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5800" y="3314700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58952" y="331470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Tempest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03320" y="331470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76472" y="331470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32120" y="331470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05272" y="331470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86600" y="331470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59752" y="331470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41080" y="331470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14232" y="331470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+3%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5800" y="3547872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58952" y="354787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Zalaris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03320" y="354787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76472" y="354787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532120" y="354787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605272" y="354787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86600" y="354787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59752" y="354787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354787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14232" y="354787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85800" y="3781044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58952" y="378104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Zutec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703320" y="378104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776472" y="378104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2018-2025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532120" y="378104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05272" y="378104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38%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086600" y="378104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59752" y="378104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2.8x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41080" y="378104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14232" y="378104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+29%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5800" y="4014216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58952" y="401421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Roko</a:t>
            </a:r>
          </a:p>
        </p:txBody>
      </p:sp>
      <p:sp>
        <p:nvSpPr>
          <p:cNvPr id="91" name="Rectangle 90"/>
          <p:cNvSpPr/>
          <p:nvPr/>
        </p:nvSpPr>
        <p:spPr>
          <a:xfrm>
            <a:off x="3703320" y="4014216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776472" y="401421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2019-2025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532120" y="4014216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05272" y="401421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28%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086600" y="4014216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59752" y="401421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641080" y="4014216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14232" y="401421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+18%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85800" y="4247388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8952" y="424738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Catella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703320" y="4247388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776472" y="424738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532120" y="4247388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05272" y="424738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12%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086600" y="4247388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159752" y="424738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1.2x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641080" y="4247388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714232" y="424738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85800" y="4480560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952" y="448056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AI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703320" y="4480560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76472" y="448056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2020-2025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532120" y="4480560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05272" y="448056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86600" y="4480560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159752" y="448056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641080" y="4480560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14232" y="448056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85800" y="4713732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58952" y="471373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Renold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703320" y="471373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76472" y="471373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2024-2025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532120" y="471373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605272" y="471373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220%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086600" y="4713732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159752" y="471373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641080" y="4713732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714232" y="471373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+211%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85800" y="4946904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58952" y="494690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Actic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703320" y="494690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776472" y="494690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2017-2023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532120" y="494690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605272" y="494690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-27%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086600" y="4946904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159752" y="494690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0.4x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41080" y="4946904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14232" y="494690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A84A4A"/>
                </a:solidFill>
                <a:latin typeface="Calibri"/>
              </a:rPr>
              <a:t>-33%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85800" y="5180076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58952" y="5180076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703320" y="518007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3776472" y="518007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2019-2022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5532120" y="518007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5605272" y="518007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36%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086600" y="5180076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7159752" y="5180076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641080" y="5180076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714232" y="5180076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+33%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685800" y="5413248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8952" y="5413248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Robit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703320" y="541324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776472" y="541324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2015-2020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532120" y="541324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605272" y="541324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14%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086600" y="5413248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159752" y="5413248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641080" y="5413248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714232" y="5413248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+8%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685800" y="5646420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58952" y="5646420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Kitron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703320" y="564642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776472" y="564642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2016-2018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5532120" y="564642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5605272" y="564642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40%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7086600" y="5646420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159752" y="5646420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8641080" y="5646420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714232" y="5646420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+16%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85800" y="5879592"/>
            <a:ext cx="301752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58952" y="5879592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Sandvik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703320" y="587959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776472" y="587959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2015-2017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5532120" y="587959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5605272" y="587959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49%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7086600" y="5879592"/>
            <a:ext cx="155448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7159752" y="5879592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8641080" y="5879592"/>
            <a:ext cx="1828800" cy="233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714232" y="5879592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+43%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85800" y="6112764"/>
            <a:ext cx="301752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758952" y="6112764"/>
            <a:ext cx="290779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3703320" y="611276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776472" y="611276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2015-2016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5532120" y="611276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5605272" y="611276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80%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7086600" y="6112764"/>
            <a:ext cx="155448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159752" y="6112764"/>
            <a:ext cx="144475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1.7x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641080" y="6112764"/>
            <a:ext cx="1828800" cy="233172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8714232" y="6112764"/>
            <a:ext cx="1719072" cy="2331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333840"/>
                </a:solidFill>
                <a:latin typeface="Calibri"/>
              </a:rPr>
              <a:t>+80%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685800" y="6437376"/>
            <a:ext cx="978408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22960" y="6437376"/>
            <a:ext cx="95097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Track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Prior period — transactions (2006–2014)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same strategy, the prior fund — repeatable across two decades and multiple cycles.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9067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Bilia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9067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2.9x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Concentric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067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81%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3.9x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eWork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1752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9067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1655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4.4x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Haldex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1752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9067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94%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4340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1655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Lindab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1752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9067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4340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41655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1.6x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179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01752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9067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32%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4340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1655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5.1x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Transcom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1752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9067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13%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4340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1655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1.3x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Global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01752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09067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16%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4340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1655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1.5x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Ferronordic Machines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01752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09067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43%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34340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1655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2.0x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Klarna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1752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09067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108%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4340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1655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28.2x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4864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79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Acne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01752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09067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29%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4340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1655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5.5x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55080" y="2148840"/>
            <a:ext cx="2468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28232" y="214884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Company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82396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89711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IRR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9840" y="2148840"/>
            <a:ext cx="1325880" cy="260603"/>
          </a:xfrm>
          <a:prstGeom prst="rect">
            <a:avLst/>
          </a:prstGeom>
          <a:solidFill>
            <a:srgbClr val="4A5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222992" y="214884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MOIC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55080" y="240944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28232" y="240944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Usports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2396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89711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-51%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49840" y="240944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22992" y="240944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0.3x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355080" y="2670046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28232" y="2670046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Catena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82396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89711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n.m.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149840" y="2670046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222992" y="2670046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3.1x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355080" y="2930649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28232" y="2930649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Tigerholm Products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82396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9711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111%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49840" y="2930649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222992" y="2930649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355080" y="3191252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428232" y="3191252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Avanza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82396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89711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34%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49840" y="3191252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222992" y="3191252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8.4x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55080" y="3451855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428232" y="3451855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Fabege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82396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89711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25%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149840" y="3451855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222992" y="3451855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2.3x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355080" y="3712458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428232" y="3712458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Johnson Pump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82396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9711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52%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0149840" y="3712458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0222992" y="3712458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3.0x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6355080" y="3973061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28232" y="3973061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Klövern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882396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889711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18%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149840" y="3973061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222992" y="3973061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2.1x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355080" y="4233664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28232" y="4233664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Nobia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82396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89711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8%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149840" y="4233664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22992" y="4233664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1.4x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6355080" y="4494267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28232" y="4494267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SkiStar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82396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89711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20%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10149840" y="4494267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222992" y="4494267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5.4x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355080" y="4754870"/>
            <a:ext cx="2468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428232" y="4754870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Brokk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82396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89711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74%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149840" y="4754870"/>
            <a:ext cx="1325880" cy="2606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22992" y="4754870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333840"/>
                </a:solidFill>
                <a:latin typeface="Calibri"/>
              </a:rPr>
              <a:t>5.2x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355080" y="5015473"/>
            <a:ext cx="2468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428232" y="5015473"/>
            <a:ext cx="2359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1E334E"/>
                </a:solidFill>
                <a:latin typeface="Calibri"/>
              </a:rPr>
              <a:t>HQ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82396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889711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-5%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0149840" y="5015473"/>
            <a:ext cx="1325880" cy="260603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0222992" y="5015473"/>
            <a:ext cx="1216152" cy="2606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A84A4A"/>
                </a:solidFill>
                <a:latin typeface="Calibri"/>
              </a:rPr>
              <a:t>0.6x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48640" y="5394960"/>
            <a:ext cx="10104120" cy="310896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85800" y="5394960"/>
            <a:ext cx="9784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Calibri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4864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Selected larger deals of the investment team. Losses shown in red.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47872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9944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72016" y="2148840"/>
            <a:ext cx="2697480" cy="16459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2386584"/>
            <a:ext cx="26974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400" b="0" i="0">
                <a:solidFill>
                  <a:srgbClr val="1E334E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0" i="0">
                <a:solidFill>
                  <a:srgbClr val="5A636E"/>
                </a:solidFill>
                <a:latin typeface="Calibri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023359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Two full cycles, survived.</a:t>
            </a:r>
            <a:r>
              <a:rPr sz="1400">
                <a:solidFill>
                  <a:srgbClr val="333840"/>
                </a:solidFill>
                <a:latin typeface="Calibri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Top-tier downside-adjusted return.</a:t>
            </a:r>
            <a:r>
              <a:rPr sz="1400">
                <a:solidFill>
                  <a:srgbClr val="333840"/>
                </a:solidFill>
                <a:latin typeface="Calibri"/>
              </a:rPr>
              <a:t>  20-year Sortino 1.54; AIPFII Sortino 2.40, with upside volatility 3.9× the downside.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00" b="1">
                <a:solidFill>
                  <a:srgbClr val="4A5D75"/>
                </a:solidFill>
                <a:latin typeface="Calibri"/>
              </a:rPr>
              <a:t>›  </a:t>
            </a:r>
            <a:r>
              <a:rPr sz="1400" b="1">
                <a:solidFill>
                  <a:srgbClr val="1E334E"/>
                </a:solidFill>
                <a:latin typeface="Calibri"/>
              </a:rPr>
              <a:t>Realised cash, not marks.</a:t>
            </a:r>
            <a:r>
              <a:rPr sz="1400">
                <a:solidFill>
                  <a:srgbClr val="333840"/>
                </a:solidFill>
                <a:latin typeface="Calibri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0644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4A5D75"/>
                </a:solidFill>
                <a:latin typeface="Calibri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32588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1">
                <a:solidFill>
                  <a:srgbClr val="5A636E"/>
                </a:solidFill>
                <a:latin typeface="Calibri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48840"/>
            <a:ext cx="5349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300" b="1" i="0">
                <a:solidFill>
                  <a:srgbClr val="4A5D75"/>
                </a:solidFill>
                <a:latin typeface="Calibri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400" b="0" i="0">
                <a:solidFill>
                  <a:srgbClr val="333840"/>
                </a:solidFill>
                <a:latin typeface="Calibri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715000"/>
            <a:ext cx="10835640" cy="566928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715000"/>
            <a:ext cx="104698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1">
                <a:solidFill>
                  <a:srgbClr val="FFFFFF"/>
                </a:solidFill>
                <a:latin typeface="Calibri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"/>
            <a:ext cx="280009" cy="2377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96112" y="246888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4A5D75"/>
                </a:solidFill>
                <a:latin typeface="Calibri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96012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3000" b="0" i="0">
                <a:solidFill>
                  <a:srgbClr val="1E334E"/>
                </a:solidFill>
                <a:latin typeface="Times New Roman"/>
              </a:rPr>
              <a:t>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465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50" b="0" i="0">
                <a:solidFill>
                  <a:srgbClr val="9AA4B0"/>
                </a:solidFill>
                <a:latin typeface="Calibri"/>
              </a:rPr>
              <a:t>Strictly confidential         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Governance is the lever.</a:t>
            </a:r>
            <a:r>
              <a:rPr sz="1600">
                <a:solidFill>
                  <a:srgbClr val="333840"/>
                </a:solidFill>
                <a:latin typeface="Calibri"/>
              </a:rPr>
              <a:t>  Value is created through board representation and active promotion of strong corporate governance across all holdings.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Five improvement dimensions.</a:t>
            </a:r>
            <a:r>
              <a:rPr sz="1600">
                <a:solidFill>
                  <a:srgbClr val="333840"/>
                </a:solidFill>
                <a:latin typeface="Calibri"/>
              </a:rPr>
              <a:t>  Operational, financial, structural, environmental and social improvements — each tied to enterprise value.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PRI signatory since 2019,</a:t>
            </a:r>
            <a:r>
              <a:rPr sz="1600">
                <a:solidFill>
                  <a:srgbClr val="333840"/>
                </a:solidFill>
                <a:latin typeface="Calibri"/>
              </a:rPr>
              <a:t>  adhering to the Six Principles for Responsible Investment.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4A5D75"/>
                </a:solidFill>
                <a:latin typeface="Calibri"/>
              </a:rPr>
              <a:t>›  </a:t>
            </a:r>
            <a:r>
              <a:rPr sz="1600" b="1">
                <a:solidFill>
                  <a:srgbClr val="1E334E"/>
                </a:solidFill>
                <a:latin typeface="Calibri"/>
              </a:rPr>
              <a:t>Credible oversight.</a:t>
            </a:r>
            <a:r>
              <a:rPr sz="1600">
                <a:solidFill>
                  <a:srgbClr val="333840"/>
                </a:solidFill>
                <a:latin typeface="Calibri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210068" cy="47548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468880"/>
            <a:ext cx="457200" cy="27940"/>
          </a:xfrm>
          <a:prstGeom prst="rect">
            <a:avLst/>
          </a:prstGeom>
          <a:solidFill>
            <a:srgbClr val="8A99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600" b="0" i="0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 i="1">
                <a:solidFill>
                  <a:srgbClr val="C9D3DD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C9D3DD"/>
                </a:solidFill>
                <a:latin typeface="Calibri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8A99AB"/>
                </a:solidFill>
                <a:latin typeface="Calibri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937760"/>
            <a:ext cx="3474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 i="0">
                <a:solidFill>
                  <a:srgbClr val="8A99AB"/>
                </a:solidFill>
                <a:latin typeface="Calibri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