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50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50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5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Down-market years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Outperformed in 2008 (+2.2%), 2011 (+7.9%), 2015 (+11.8%) and 2022 (+20.1%).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