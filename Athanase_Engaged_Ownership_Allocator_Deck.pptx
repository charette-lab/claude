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2.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1.4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1.5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1.6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1.7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   </a:t>
            </a:r>
            <a:r>
              <a:rPr sz="8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   </a:t>
            </a:r>
            <a:r>
              <a:rPr sz="8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   </a:t>
            </a:r>
            <a:r>
              <a:rPr sz="8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2.4   </a:t>
            </a:r>
            <a:r>
              <a:rPr sz="840">
                <a:solidFill>
                  <a:srgbClr val="314359"/>
                </a:solidFill>
                <a:latin typeface="Arial"/>
              </a:rPr>
              <a:t>A disciplined, repeatable selection process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2.5   </a:t>
            </a:r>
            <a:r>
              <a:rPr sz="8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2.6   </a:t>
            </a:r>
            <a:r>
              <a:rPr sz="840">
                <a:solidFill>
                  <a:srgbClr val="314359"/>
                </a:solidFill>
                <a:latin typeface="Arial"/>
              </a:rPr>
              <a:t>The ownership playbook, honed over 40 investments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2.7   </a:t>
            </a:r>
            <a:r>
              <a:rPr sz="8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2.8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2.9   </a:t>
            </a:r>
            <a:r>
              <a:rPr sz="8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2.10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2.11   </a:t>
            </a:r>
            <a:r>
              <a:rPr sz="8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2.12   </a:t>
            </a:r>
            <a:r>
              <a:rPr sz="8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2.13   </a:t>
            </a:r>
            <a:r>
              <a:rPr sz="8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2.14   </a:t>
            </a:r>
            <a:r>
              <a:rPr sz="8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2.15   </a:t>
            </a:r>
            <a:r>
              <a:rPr sz="8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2.16   </a:t>
            </a:r>
            <a:r>
              <a:rPr sz="8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2.17   </a:t>
            </a:r>
            <a:r>
              <a:rPr sz="8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2.18   </a:t>
            </a:r>
            <a:r>
              <a:rPr sz="8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2.19   </a:t>
            </a:r>
            <a:r>
              <a:rPr sz="8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2.20   </a:t>
            </a:r>
            <a:r>
              <a:rPr sz="8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2.21   </a:t>
            </a:r>
            <a:r>
              <a:rPr sz="8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2.22   </a:t>
            </a:r>
            <a:r>
              <a:rPr sz="8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2.23   </a:t>
            </a:r>
            <a:r>
              <a:rPr sz="8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2.24   </a:t>
            </a:r>
            <a:r>
              <a:rPr sz="8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2.25   </a:t>
            </a:r>
            <a:r>
              <a:rPr sz="8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2.26   </a:t>
            </a:r>
            <a:r>
              <a:rPr sz="8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2.27   </a:t>
            </a:r>
            <a:r>
              <a:rPr sz="8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2.28   </a:t>
            </a:r>
            <a:r>
              <a:rPr sz="8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2.29   </a:t>
            </a:r>
            <a:r>
              <a:rPr sz="8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2.30   </a:t>
            </a:r>
            <a:r>
              <a:rPr sz="8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2.31   </a:t>
            </a:r>
            <a:r>
              <a:rPr sz="8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2.32   </a:t>
            </a:r>
            <a:r>
              <a:rPr sz="8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1.6 Why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Average net return of 18.6%</a:t>
            </a:r>
            <a:r>
              <a:rPr sz="1200">
                <a:solidFill>
                  <a:srgbClr val="0E1620"/>
                </a:solidFill>
                <a:latin typeface="Arial"/>
              </a:rPr>
              <a:t>  (17.1% vs MSCI IMI 7.6% since inception), regardless of entry month.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+14.5% EBITA growth</a:t>
            </a:r>
            <a:r>
              <a:rPr sz="1200">
                <a:solidFill>
                  <a:srgbClr val="0E1620"/>
                </a:solidFill>
                <a:latin typeface="Arial"/>
              </a:rPr>
              <a:t>  in portfolio companies during the ownership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+0.2% in down markets</a:t>
            </a:r>
            <a:r>
              <a:rPr sz="1200">
                <a:solidFill>
                  <a:srgbClr val="0E1620"/>
                </a:solidFill>
                <a:latin typeface="Arial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2.4 A disciplined, repeatable selection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a universe of strong businesses to a single high-conviction investment a year — through three hard gates.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1 · SOURCE &amp; SCREEN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2926153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701747"/>
            <a:ext cx="292615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~2,000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960" y="2818790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businesses with strong, durable moats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61" y="3404006"/>
            <a:ext cx="2560384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61" y="3404006"/>
            <a:ext cx="2560384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~1,200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960" y="3521049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within target geographies and size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45" y="4106265"/>
            <a:ext cx="2194614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45" y="4106265"/>
            <a:ext cx="2194614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~1,000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47960" y="4223308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listed companies in selected sectors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0730" y="4808524"/>
            <a:ext cx="182884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30" y="4808524"/>
            <a:ext cx="1828845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Shortlist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47960" y="4925568"/>
            <a:ext cx="146307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76" y="5569305"/>
            <a:ext cx="438922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1">
                <a:solidFill>
                  <a:srgbClr val="0E1620"/>
                </a:solidFill>
                <a:latin typeface="Arial"/>
              </a:rPr>
              <a:t>Sourced through the team’s network, own research, management interviews, site visits and external experts.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2 · THREE TOLLGATES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93921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93921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54860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1 — Valuation floor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4860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Is the company attractive even if we change nothing? We only proceed when the core alone justifies the price.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93921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93921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54860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2 — Value of the improvement plan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54860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Quantify the upside across six levers — organic &amp; M&amp;A growth, cost, structural, operational and financial — and pressure-test it with industry experts.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93921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193921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54860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Tollgate 3 — Go / No-Go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54860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Engage key stakeholders, select board members and the management team, then decide. We make roughly one investment a year.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Selectivity is the edge: of ~1,000 candidates, only one clears all three gates each year.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2.6 The ownership playbook, honed over 40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40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2.7 The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2.8 We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3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2.9 Quality-core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2.10 We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2.11 The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2.12 A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2.13 The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2.14 A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2.15 Risk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2.16 Proof: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~18x growth vs ~14x for MSCI IMI since 2006.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2.17 AIP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2.18 Prior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2.19 Independently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and the 236-month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+1,402%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19.7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+14.8%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(time-weighted,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+6.0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for 20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3.11×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2.20 Repeatable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2.21 Why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2.22 What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9.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2.23 Lower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328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2.24 A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 — every allocation improves the portfolio, so the case is to size up within prudent 3–8% limits, not to chase the mathematical optimum.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2.26 What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2.27 Switching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2.28 The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2.29 Same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2.30 PE’s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2.31 When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2.32 Responsible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(235 months, 2006–2025):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geometric compounding of monthly net returns (16.0%).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data;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