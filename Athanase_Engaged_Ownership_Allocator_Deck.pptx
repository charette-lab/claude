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64615E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64615E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6F8990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64615E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3C393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3C393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3C3937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6F8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6F8990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556A83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556A83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2.1   </a:t>
            </a:r>
            <a:r>
              <a:rPr sz="919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2.2   </a:t>
            </a:r>
            <a:r>
              <a:rPr sz="919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2.3   </a:t>
            </a:r>
            <a:r>
              <a:rPr sz="919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760" i="1">
                <a:solidFill>
                  <a:srgbClr val="64615E"/>
                </a:solidFill>
                <a:latin typeface="Arial"/>
              </a:rPr>
              <a:t>   (Figure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2.4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760" i="1">
                <a:solidFill>
                  <a:srgbClr val="64615E"/>
                </a:solidFill>
                <a:latin typeface="Arial"/>
              </a:rPr>
              <a:t>   (Figure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2.5   </a:t>
            </a:r>
            <a:r>
              <a:rPr sz="919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760" i="1">
                <a:solidFill>
                  <a:srgbClr val="64615E"/>
                </a:solidFill>
                <a:latin typeface="Arial"/>
              </a:rPr>
              <a:t>   (Table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2.6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760" i="1">
                <a:solidFill>
                  <a:srgbClr val="64615E"/>
                </a:solidFill>
                <a:latin typeface="Arial"/>
              </a:rPr>
              <a:t>   (Table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2.7   </a:t>
            </a:r>
            <a:r>
              <a:rPr sz="919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2.8   </a:t>
            </a:r>
            <a:r>
              <a:rPr sz="919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2.9   </a:t>
            </a:r>
            <a:r>
              <a:rPr sz="919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760" i="1">
                <a:solidFill>
                  <a:srgbClr val="64615E"/>
                </a:solidFill>
                <a:latin typeface="Arial"/>
              </a:rPr>
              <a:t>   (Figure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2.10   </a:t>
            </a:r>
            <a:r>
              <a:rPr sz="919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760" i="1">
                <a:solidFill>
                  <a:srgbClr val="64615E"/>
                </a:solidFill>
                <a:latin typeface="Arial"/>
              </a:rPr>
              <a:t>   (Table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2.11   </a:t>
            </a:r>
            <a:r>
              <a:rPr sz="919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760" i="1">
                <a:solidFill>
                  <a:srgbClr val="64615E"/>
                </a:solidFill>
                <a:latin typeface="Arial"/>
              </a:rPr>
              <a:t>   (Figure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2.12   </a:t>
            </a:r>
            <a:r>
              <a:rPr sz="919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760" i="1">
                <a:solidFill>
                  <a:srgbClr val="64615E"/>
                </a:solidFill>
                <a:latin typeface="Arial"/>
              </a:rPr>
              <a:t>   (Table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2.13   </a:t>
            </a:r>
            <a:r>
              <a:rPr sz="919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760" i="1">
                <a:solidFill>
                  <a:srgbClr val="64615E"/>
                </a:solidFill>
                <a:latin typeface="Arial"/>
              </a:rPr>
              <a:t>   (Table 5)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2.14   </a:t>
            </a:r>
            <a:r>
              <a:rPr sz="919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2.15   </a:t>
            </a:r>
            <a:r>
              <a:rPr sz="919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2.16   </a:t>
            </a:r>
            <a:r>
              <a:rPr sz="919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556A83"/>
                </a:solidFill>
                <a:latin typeface="Arial"/>
              </a:rPr>
              <a:t>2.17   </a:t>
            </a:r>
            <a:r>
              <a:rPr sz="919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38" y="2974848"/>
            <a:ext cx="826638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6F8990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38" y="3316224"/>
            <a:ext cx="8266382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200" b="0" i="1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556A83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3C3937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556A83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3C3937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556A83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3C3937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556A83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3C3937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556A83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3C3937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556A83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3C3937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556A83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3C3937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556A83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3C3937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556A83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3C3937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556A83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3C3937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556A83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3C3937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556A83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3C3937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556A83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3C3937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556A83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3C3937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556A83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3C3937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556A83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3C3937"/>
                </a:solidFill>
                <a:latin typeface="Arial"/>
              </a:rPr>
              <a:t>  Governance precedents improve the quality of the beta the whole portfolio owns.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556A83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3C3937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556A83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3C3937"/>
                </a:solidFill>
                <a:latin typeface="Arial"/>
              </a:rPr>
              <a:t>  for sourcing and underwriting correctable, undervalued companies.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556A83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3C3937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556A83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3C3937"/>
                </a:solidFill>
                <a:latin typeface="Arial"/>
              </a:rPr>
              <a:t>  board seats won and value delivered across multiple market cycles.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556A83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3C3937"/>
                </a:solidFill>
                <a:latin typeface="Arial"/>
              </a:rPr>
              <a:t>  and a stable, long-tenured team that invests its own capital.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556A83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3C3937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556A83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38" y="2974848"/>
            <a:ext cx="826638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6F8990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38" y="3316224"/>
            <a:ext cx="8266382" cy="11704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200" b="0" i="1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556A83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3C3937"/>
                </a:solidFill>
                <a:latin typeface="Arial"/>
              </a:rPr>
              <a:t>  (17.1% vs MSCI IMI 7.6% since inception), regardless of entry month.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556A83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3C3937"/>
                </a:solidFill>
                <a:latin typeface="Arial"/>
              </a:rPr>
              <a:t>  in portfolio companies during the ownership period.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556A83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3C3937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9A958E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6F8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556A83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3C3937"/>
                </a:solidFill>
                <a:latin typeface="Arial"/>
              </a:rPr>
              <a:t>  with a proven ability to tell a “strong core” from a “prestige trap”.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556A83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3C3937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556A83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3C3937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556A83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3C3937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556A83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3C3937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6F8990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556A83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3C3937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556A83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3C3937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556A83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3C3937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556A83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3C3937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9A958E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6F8990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556A83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3C3937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556A83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3C3937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556A83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3C3937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556A83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3C3937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3C3937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3C3937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6F8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A8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A84A4A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6F8990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556A83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3C3937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556A83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3C3937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556A83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3C3937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556A83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3C3937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556A83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3C3937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6F8990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3C3937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3C3937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3C3937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3C3937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3C3937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3C3937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3C3937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3C3937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556A83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2.7 A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556A83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556A83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2.8 The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556A83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3C3937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556A83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3C3937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556A83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3C3937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556A83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3C3937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556A83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3C3937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6F8990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556A83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3C3937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556A83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3C3937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556A83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3C3937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9A958E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6F8990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64615E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6F8990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2.11 Proof: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3C3937"/>
                </a:solidFill>
                <a:latin typeface="Arial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3C3937"/>
                </a:solidFill>
                <a:latin typeface="Arial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3C3937"/>
                </a:solidFill>
                <a:latin typeface="Arial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6F8990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2.12 AIP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6F8990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2.13 Prior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3C3937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A84A4A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Selected larger deals of the investment team. Losses shown in red. Capital in SEK; ~$400M invested over the period.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2.14 Independently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64615E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64615E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64615E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64615E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64615E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64615E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64615E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64615E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556A83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3C3937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556A83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3C3937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556A83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3C3937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2.15 Repeatable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556A83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556A83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2.16 Why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64615E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556A83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556A83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3C3937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>
                <a:solidFill>
                  <a:srgbClr val="314359"/>
                </a:solidFill>
                <a:latin typeface="Times New Roman"/>
              </a:rPr>
              <a:t>2.17 Responsible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9A958E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556A83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3C3937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556A83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3C3937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556A83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3C3937"/>
                </a:solidFill>
                <a:latin typeface="Arial"/>
              </a:rPr>
              <a:t>  adhering to the Six Principles for Responsible Investment.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556A83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3C3937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6F8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6F8990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6F8990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