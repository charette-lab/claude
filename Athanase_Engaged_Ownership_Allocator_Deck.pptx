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3.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4.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5.  Growth of a 100 sleeve through a market cycle (indexed)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901952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389632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3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1.1   </a:t>
            </a:r>
            <a:r>
              <a:rPr sz="919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3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1.2   </a:t>
            </a:r>
            <a:r>
              <a:rPr sz="919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3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1.3   </a:t>
            </a:r>
            <a:r>
              <a:rPr sz="919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3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1.4   </a:t>
            </a:r>
            <a:r>
              <a:rPr sz="919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3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1.5   </a:t>
            </a:r>
            <a:r>
              <a:rPr sz="919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901952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2389632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   </a:t>
            </a:r>
            <a:r>
              <a:rPr sz="84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   </a:t>
            </a:r>
            <a:r>
              <a:rPr sz="840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2.3   </a:t>
            </a:r>
            <a:r>
              <a:rPr sz="840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2.4   </a:t>
            </a:r>
            <a:r>
              <a:rPr sz="840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2.5   </a:t>
            </a:r>
            <a:r>
              <a:rPr sz="840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2.6   </a:t>
            </a:r>
            <a:r>
              <a:rPr sz="840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2.7   </a:t>
            </a:r>
            <a:r>
              <a:rPr sz="840">
                <a:solidFill>
                  <a:srgbClr val="314359"/>
                </a:solidFill>
                <a:latin typeface="Arial"/>
              </a:rPr>
              <a:t>The same playbook as mid-market PE — without its costs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2.8   </a:t>
            </a:r>
            <a:r>
              <a:rPr sz="840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2.9   </a:t>
            </a:r>
            <a:r>
              <a:rPr sz="840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2.10   </a:t>
            </a:r>
            <a:r>
              <a:rPr sz="840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2.11   </a:t>
            </a:r>
            <a:r>
              <a:rPr sz="840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2.12   </a:t>
            </a:r>
            <a:r>
              <a:rPr sz="840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2.13   </a:t>
            </a:r>
            <a:r>
              <a:rPr sz="840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2.14   </a:t>
            </a:r>
            <a:r>
              <a:rPr sz="840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6)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2.15   </a:t>
            </a:r>
            <a:r>
              <a:rPr sz="840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2.16   </a:t>
            </a:r>
            <a:r>
              <a:rPr sz="840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2.17   </a:t>
            </a:r>
            <a:r>
              <a:rPr sz="840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2.18   </a:t>
            </a:r>
            <a:r>
              <a:rPr sz="840">
                <a:solidFill>
                  <a:srgbClr val="314359"/>
                </a:solidFill>
                <a:latin typeface="Arial"/>
              </a:rPr>
              <a:t>What it does to an allocator’s portfolio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5)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2.19   </a:t>
            </a:r>
            <a:r>
              <a:rPr sz="840">
                <a:solidFill>
                  <a:srgbClr val="314359"/>
                </a:solidFill>
                <a:latin typeface="Arial"/>
              </a:rPr>
              <a:t>Lower downside risk compounds into better outcomes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8)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2.20   </a:t>
            </a:r>
            <a:r>
              <a:rPr sz="840">
                <a:solidFill>
                  <a:srgbClr val="314359"/>
                </a:solidFill>
                <a:latin typeface="Arial"/>
              </a:rPr>
              <a:t>A complement to global equities, not a duplicate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6)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2.21   </a:t>
            </a:r>
            <a:r>
              <a:rPr sz="840">
                <a:solidFill>
                  <a:srgbClr val="314359"/>
                </a:solidFill>
                <a:latin typeface="Arial"/>
              </a:rPr>
              <a:t>What a blend does to the whole portfolio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7)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2.22   </a:t>
            </a:r>
            <a:r>
              <a:rPr sz="840">
                <a:solidFill>
                  <a:srgbClr val="314359"/>
                </a:solidFill>
                <a:latin typeface="Arial"/>
              </a:rPr>
              <a:t>What allocators actually earn from private equity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9)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2.23   </a:t>
            </a:r>
            <a:r>
              <a:rPr sz="840">
                <a:solidFill>
                  <a:srgbClr val="314359"/>
                </a:solidFill>
                <a:latin typeface="Arial"/>
              </a:rPr>
              <a:t>Switching a private-equity sleeve into Athanase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8)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2.24   </a:t>
            </a:r>
            <a:r>
              <a:rPr sz="840">
                <a:solidFill>
                  <a:srgbClr val="314359"/>
                </a:solidFill>
                <a:latin typeface="Arial"/>
              </a:rPr>
              <a:t>The volatility gap is settled in the literature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9)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2.25   </a:t>
            </a:r>
            <a:r>
              <a:rPr sz="840">
                <a:solidFill>
                  <a:srgbClr val="314359"/>
                </a:solidFill>
                <a:latin typeface="Arial"/>
              </a:rPr>
              <a:t>Same headline volatility — far lower real risk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10)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2.26   </a:t>
            </a:r>
            <a:r>
              <a:rPr sz="840">
                <a:solidFill>
                  <a:srgbClr val="314359"/>
                </a:solidFill>
                <a:latin typeface="Arial"/>
              </a:rPr>
              <a:t>PE’s “diversification” is an artefact — Athanase’s is real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11)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2.27   </a:t>
            </a:r>
            <a:r>
              <a:rPr sz="840">
                <a:solidFill>
                  <a:srgbClr val="314359"/>
                </a:solidFill>
                <a:latin typeface="Arial"/>
              </a:rPr>
              <a:t>When the tide goes out: the drawdown trap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2.28   </a:t>
            </a:r>
            <a:r>
              <a:rPr sz="840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40+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net annual IRR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inception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20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team working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together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7.1%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minimum annual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net return*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Average net return of 18.6%</a:t>
            </a:r>
            <a:r>
              <a:rPr sz="1200">
                <a:solidFill>
                  <a:srgbClr val="0E1620"/>
                </a:solidFill>
                <a:latin typeface="Arial"/>
              </a:rPr>
              <a:t>  (17.1% vs MSCI IMI 7.6% since inception), regardless of entry month.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+14.5% EBITA growth</a:t>
            </a:r>
            <a:r>
              <a:rPr sz="1200">
                <a:solidFill>
                  <a:srgbClr val="0E1620"/>
                </a:solidFill>
                <a:latin typeface="Arial"/>
              </a:rPr>
              <a:t>  in portfolio companies during the ownership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+0.2% in down markets</a:t>
            </a:r>
            <a:r>
              <a:rPr sz="1200">
                <a:solidFill>
                  <a:srgbClr val="0E1620"/>
                </a:solidFill>
                <a:latin typeface="Arial"/>
              </a:rPr>
              <a:t>  versus the market at –1.7% — downside protection when it matters most.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*Invested any month since 2006 and held to Dec 2025. Inception 2015-02-23.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40+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(ILLUSTRATIVE, INDEXED)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We remove the drag and refocus capital on the core — positive selection on a concealed asset, not negative selection on a lemon.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2.6 We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(rerating cycle)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Value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2.7 The same playbook as mid-market PE — without its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value creation in mid-cap businesses, but in a public wrapper that removes private equity’s structural drags.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3511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 private equity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engaged owner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643225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643225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643225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643225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Market + ~40% control premium — pays up front for the right to fix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643225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643225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discount to the core’s value at “shareholder exhaustion” — gets that right for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26745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26745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26745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26745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10-year lock-up, blind pool; capital trapped until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26745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26745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Listed, daily-priced positions — LPs keep liquidity and can exit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3891686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389168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Fees &amp; capital efficiency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3891686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389168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2&amp;20 on committed capital; fee drag while undeployed dry powder waits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3891686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389168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Lower fees; capital is deployed, not sitting in a capital-call queue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51591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51591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The J-curve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51591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51591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Opaque, model-marked write-downs before any mark-up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51591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51591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Live and visible — a tradable entry point, not a hidden cost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140147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14014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Transparency &amp; control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140147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14014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Annual mark-to-model; thesis underwritten once at close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140147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14014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Daily public scoreboard; board control secures cash flow, capex and pay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46" y="5764377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0130" y="576437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Scalability for 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21461" y="5764377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09245" y="576437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Rational to skip: 10× more capital per buyout, richer fees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421" y="5764377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57206" y="576437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Exactly why the niche stays open — little competition for these assets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2346" y="6564172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Private-equity-style operational turnarounds, imported into public markets — keeping the liquidity, transparency and lower fees PE gives up.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2.8 A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risk metrics (10/20/30% triggers) remove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2.9 The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reputational friction and the public J-curve source the alpha and protect it from arbitrage.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Friction is the catalyst.</a:t>
            </a:r>
            <a:r>
              <a:rPr sz="1160">
                <a:solidFill>
                  <a:srgbClr val="0E1620"/>
                </a:solidFill>
                <a:latin typeface="Arial"/>
              </a:rPr>
              <a:t>  Quiet engagement does not reprice a stock; public engagement forces the market to re-rate — and a 20-year reputation pulls sophisticated capital in behind us (the coattail effect).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have the industrial background and stamina to wage a multi-year campaign — so headline-shy capital leaves a persistent pricing inefficiency for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2.10 A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the multiple;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2.11 Risk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forces repricing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2.12 Proof: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Haldex AB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81% IRR · 3.9x money multiple. Spun off Concentric, refocused the core, re-invested in 2020 for a further 2.0x in under two years.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Compounding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~18x gross vs ~14x for MSCI IMI since 2006, with EBITA growth of +14.5% across portfolio companies.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Hit rate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39 larger investments since 2006 — profitable in 36, lost money in only 3.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2.13 AIP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36 of 39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2.14 Prior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5084191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142714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7059344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7117867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8120075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178598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22 deals   ·   weighted MOIC 2.7x   ·   average IRR 68%   ·   index outperformance +25 pts (invested-weighted)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2.15 Independently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and the 236-month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+1,402%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19.7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+14.8%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(time-weighted,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+6.0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for 20 years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3.11×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2.16 Repeatable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39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(36 of 39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10 of 39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Robust: even excluding Athanase Tech entirely, AIPFII still ~10% net annualised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2.17 Why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2.18 What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24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7.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2.19 Lower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6.1%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119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156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443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132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328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5%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2.20 A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26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2.21 What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27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 — every allocation improves the portfolio, so the case is to size up within prudent 3–8% limits, not to chase the mathematical optimum.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2.22 What allocators actually earn from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Stripping out headline-IRR marketing, cash-matched (PME) data shows PE earns a real ~3–6 pt premium over public markets — but lands below Athanase.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28</a:t>
            </a:r>
          </a:p>
        </p:txBody>
      </p:sp>
      <p:pic>
        <p:nvPicPr>
          <p:cNvPr id="10" name="Picture 9" descr="d_pe_real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579118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47266" y="2292096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3574" y="2389632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HEADLINE ≠ 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574" y="2643225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Top-quartile IRR is shown as ~18–22%, struck on drawn capital. Cash-matched to public markets, the real figure is far lower.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47266" y="3560064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574" y="365760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REAL PREMIUM IS GENUINE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574" y="3911193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PME studies agree: ~1.2× wealth multiple, a real 3–5 pt premium (Cambridge; Kaplan-Harris-Jenkinson / Burgiss; Cliffwater; BVCA).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47266" y="4828032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574" y="4925568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BUT BELOW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574" y="5179161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Allocators realise ~11–14% from PE. Athanase has delivered ~16% — net, real, and fully invested from day 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PE’s premium over public markets is real — but Athanase’s ~16% sits above even what the best allocators realise, with daily liquidity.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Cliffwater (US state pensions, 2000–22) PE 11.4% vs PME 5.8%; BVCA / Capital Dynamics (UK &amp; Europe, 2001–23) 14.1% vs 7.7%; corroborated by Cambridge Associates mPME 1.15–1.25× and Kaplan-Harris-Jenkinson KS-PME 1.20–1.27×. Athanase real, net, 2006–2025. See references.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2.23 Switching a private-equity sleeve into Athanase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true risk, PE and Athanase carry similar volatility — but Athanase’s is mostly upside, and it returns more, with daily liquidity.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29</a:t>
            </a:r>
          </a:p>
        </p:txBody>
      </p:sp>
      <p:pic>
        <p:nvPicPr>
          <p:cNvPr id="10" name="Picture 9" descr="d_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04070" cy="28164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76" y="609600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De-smoothed, PE’s ~10% reported vol is really ~28% (PIMCO; AQR beta 1.5–1.6) — about Athanase’s 27%, but levered downside, not upside.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7345" y="222381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652" y="2311602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997" y="230184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~16% vs ~11–14% realised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652" y="2574949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Above what even the best allocators realise from PE (Cliffwater; BVCA).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7345" y="3043122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652" y="313090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997" y="312115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652" y="3394251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3862424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652" y="395020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997" y="3940453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652" y="4213554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57345" y="4681726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652" y="47695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997" y="4759755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652" y="5032856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57345" y="550102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652" y="5588811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997" y="557905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Similar vol, opposite shape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652" y="5852158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PE’s true ~28% vol is levered downside; Athanase’s 27% is mostly upside (downside only ~11%).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Once PE’s smoothing is removed, the two carry similar volatility — but Athanase returns more, its risk is upside not downside, and it stays liquid and transparent.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 (total vol 27%). PE realised ~11–14% vs headline IRR ~18–22%; reported ~10% vol de-smoothed to ~25–30% (PIMCO; AQR beta 1.5–1.6). See references.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2.24 The volatility gap is settled in the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Cash-flow models, secondary-market prices and econometric unsmoothing all converge: PE’s true risk is roughly 2–3× its reported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30</a:t>
            </a:r>
          </a:p>
        </p:txBody>
      </p:sp>
      <p:pic>
        <p:nvPicPr>
          <p:cNvPr id="10" name="Picture 9" descr="d_pe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9" y="2243328"/>
            <a:ext cx="4834738" cy="2889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8075" y="2292096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383" y="2389632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CASH-FLOW NPV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383" y="2613964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Buyout vol 25% (vs 11% index), beta &gt; 1 — Ang, Chen, Goetzmann &amp; Phalippou (2018), J. Finance.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3286963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383" y="3384499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SECONDARY-MARKET PRICES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383" y="3608832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Traded-stake beta &gt; 2.0 vs &lt; 0.5 on NAV — Boyer, Nadauld, Vorkink &amp; Weisbach (2018).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8075" y="4281830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4379366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ECONOMETRIC UNSMOOTHING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383" y="4603699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Illiquidity creates spurious smoothness — Getmansky, Lo &amp; Makarov (2004), JFE (cited 1,300+).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5276697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383" y="5374233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CATERING / “LAUNDERING”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383" y="5598566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GPs smooth because LPs value the “phony happiness” — Jackson, Ling &amp; Naranjo (2022); Couts et al. (2020).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Independent methods, the same answer: PE is a highly-levered equity portfolio whose reported smoothness is an artefact.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60" b="0" i="0">
                <a:solidFill>
                  <a:srgbClr val="556A83"/>
                </a:solidFill>
                <a:latin typeface="Arial"/>
              </a:rPr>
              <a:t>Sources: Ang, Chen, Goetzmann &amp; Phalippou (2018); Boyer, Nadauld, Vorkink &amp; Weisbach (2018); Getmansky, Lo &amp; Makarov (2004); Couts, Gonçalves &amp; Rossi (2020); Jackson, Ling &amp; Naranjo (2022); PIMCO (2022); AQR. Bars show vol-equivalent risk; beta rows scaled for comparison. See references.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2.25 Same headline volatility — far lower real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Volatility is not symmetric. PE’s true risk is levered downside; Athanase’s is mostly upside, so its real loss risk is a fraction of PE’s.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31</a:t>
            </a:r>
          </a:p>
        </p:txBody>
      </p:sp>
      <p:pic>
        <p:nvPicPr>
          <p:cNvPr id="10" name="Picture 9" descr="d_pe_real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14211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157345" y="2292096"/>
            <a:ext cx="4169768" cy="1706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0229" y="2438400"/>
            <a:ext cx="3803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CHANCE OF A 30%+ LOSS OVER THREE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229" y="2789529"/>
            <a:ext cx="3803999" cy="1072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60" b="1">
                <a:solidFill>
                  <a:srgbClr val="556A83"/>
                </a:solidFill>
                <a:latin typeface="Times New Roman"/>
              </a:rPr>
              <a:t>~16%</a:t>
            </a:r>
            <a:r>
              <a:rPr sz="1040">
                <a:solidFill>
                  <a:srgbClr val="556A83"/>
                </a:solidFill>
                <a:latin typeface="Arial"/>
              </a:rPr>
              <a:t>   private equity</a:t>
            </a:r>
          </a:p>
          <a:p>
            <a:r>
              <a:rPr sz="2560" b="1">
                <a:solidFill>
                  <a:srgbClr val="152130"/>
                </a:solidFill>
                <a:latin typeface="Times New Roman"/>
              </a:rPr>
              <a:t>~2%</a:t>
            </a:r>
            <a:r>
              <a:rPr sz="1040">
                <a:solidFill>
                  <a:srgbClr val="556A83"/>
                </a:solidFill>
                <a:latin typeface="Arial"/>
              </a:rPr>
              <a:t>   Athanase (actual 3-yr windows)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4213555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0229" y="4330598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VOLATILITY ≠ RISK OF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0229" y="4584192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PE’s ~28% true vol is dominated by downside (levered, left-skewed). Athanase’s 27% is mostly upside — downside deviation only ~11%.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57345" y="5266944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229" y="5383987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RISK THAT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229" y="5637580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 large permanent loss — what allocators actually fear — Athanase’s real risk is roughly one-eighth of private equity’s.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Matched on true volatility, Athanase carries far less of the risk that actually hurts: its downside is a fraction of private equity’s.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downside vol 11% vs total 27% (real); 30%+ loss in 2% of actual rolling 3-yr windows. PE de-smoothed total vol ~28%, ~15–16% chance of a 30% drawdown over 3 years (PIMCO, 2022). See references.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2.26 PE’s “diversification” is an artefact — Athanase’s is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De-smoothed, PE is ~0.9 correlated to public equities: the same risk factors, just reported late. Athanase is genuinely uncorrelated.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32</a:t>
            </a:r>
          </a:p>
        </p:txBody>
      </p:sp>
      <p:pic>
        <p:nvPicPr>
          <p:cNvPr id="10" name="Picture 9" descr="d_pe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16062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267075" y="2292096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28014" y="2409139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SMOOTHING ILLUSION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8014" y="266273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Quarterly appraisals lag the market, so reported correlation looks low (0.75, beta 0.41). De-smoothed it is 0.89 / beta 0.87 (Two Sigma, 2024).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67075" y="354055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8014" y="365759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SAME RISK FACTORS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8014" y="391119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 is long-only levered equity driven by GDP, rates and earnings; over 10–20 yrs its correlation to small/mid-caps is ~0.89–0.92.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7075" y="478901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28014" y="490605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CRISIS MIRAGE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8014" y="515965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severe drawdowns true correlation converges toward 1.0 — PE takes the same hit, it just reports the markdown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 adds leveraged beta dressed as diversification. Athanase, at 0.44 correlation, is the genuine diversifier in a public-equity portfolio.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correlation 0.44 / beta 0.73 to MSCI World IMI (real). PE reported 0.75 / beta 0.41 de-smoothed to 0.89 / beta 0.87 (Two Sigma / Venn, 2024); long-horizon PE–small/mid-cap correlation ~0.89–0.92. See references.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2.27 When the tide goes out: the drawdown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PE’s smooth marks feel safe in calm markets — but in a shock they trigger the exact sequence that gets a CIO fired. Engaged ownership is the fiduciary safe harbour.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3160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TRAP — HELD AT FAKE NAVs IN A CRASH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76" y="2701747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53" y="2828544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1 · The denominator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53" y="315041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Public equities fall 25%; PE is marked flat. The PE weight jumps from 15% to 22%+ — an instant breach of board concentration limits.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76" y="3891686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53" y="4018483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2 · The liquidity death spiral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53" y="434035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Distributions stop but capital calls keep coming. To meet them, the allocator is forced to sell liquid equities at the bottom.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76" y="5081625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53" y="5208422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3 · The secondary-market humiliation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53" y="5530291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 cure the breach, PE stakes are sold at 15–25% haircuts — publicly crystallising losses and proving the “low volatility” was a fiction.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191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SAFE HARBOUR — ENGAGED OWNERSHIP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4191" y="2701747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5868" y="2828544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Honest pricing keeps weights balanced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5868" y="315041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Daily marks mean the sleeve falls with the market — so the denominator effect never fires and no threshold is breached.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4191" y="3891686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5868" y="4018483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Zero capital-call liability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5868" y="434035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No blind pools, no surprise calls. The allocator is never forced to become a distressed seller of other assets.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4191" y="5081625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5868" y="5208422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Alpha from turnarounds, not leverage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5868" y="5530291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Returns come from board-led operational change in high-ROIIC mid-caps — not the leverage and multiple-expansion that break in a downturn.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When the tide goes out, artificially-priced illiquid assets are indefensible to a board. Engaged ownership delivers PE-like alpha while protecting portfolio balance, liquidity — and the allocator’s seat.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Mechanism described follows from PE’s appraisal-based marking and capital-call structure (see references). Illustrative; for professional investors, not investment advice.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2.28 Responsible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1 of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ENGAGED OWNERSHIP / ACTIVISM (PART 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Bebchuk, L. A., Brav, A., &amp; Jiang, W. (2015). The long-term effects of hedge fund activism. </a:t>
            </a:r>
            <a:r>
              <a:rPr sz="720" i="1">
                <a:solidFill>
                  <a:srgbClr val="0E1620"/>
                </a:solidFill>
                <a:latin typeface="Arial"/>
              </a:rPr>
              <a:t>Columbia Law Review, 115</a:t>
            </a:r>
            <a:r>
              <a:rPr sz="720" i="0">
                <a:solidFill>
                  <a:srgbClr val="0E1620"/>
                </a:solidFill>
                <a:latin typeface="Arial"/>
              </a:rPr>
              <a:t>(5), 1085–1156.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Brav, A., Jiang, W., Partnoy, F., &amp; Thomas, R. (2008). Hedge fund activism, corporate governance, and firm performance. </a:t>
            </a:r>
            <a:r>
              <a:rPr sz="720" i="1">
                <a:solidFill>
                  <a:srgbClr val="0E1620"/>
                </a:solidFill>
                <a:latin typeface="Arial"/>
              </a:rPr>
              <a:t>The Journal of Finance, 63</a:t>
            </a:r>
            <a:r>
              <a:rPr sz="720" i="0">
                <a:solidFill>
                  <a:srgbClr val="0E1620"/>
                </a:solidFill>
                <a:latin typeface="Arial"/>
              </a:rPr>
              <a:t>(4), 1729–1775. https://doi.org/10.1111/j.1540-6261.2008.01373.x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Brav, A., Jiang, W., &amp; Kim, H. (2015). The real effects of hedge fund activism: Productivity, asset allocation, and labor outcomes. </a:t>
            </a:r>
            <a:r>
              <a:rPr sz="720" i="1">
                <a:solidFill>
                  <a:srgbClr val="0E1620"/>
                </a:solidFill>
                <a:latin typeface="Arial"/>
              </a:rPr>
              <a:t>The Review of Financial Studies, 28</a:t>
            </a:r>
            <a:r>
              <a:rPr sz="720" i="0">
                <a:solidFill>
                  <a:srgbClr val="0E1620"/>
                </a:solidFill>
                <a:latin typeface="Arial"/>
              </a:rPr>
              <a:t>(10), 2723–2769. https://doi.org/10.1093/rfs/hhv037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Klein, A., &amp; Zur, E. (2009). Entrepreneurial shareholder activism: Hedge funds and other private investors. </a:t>
            </a:r>
            <a:r>
              <a:rPr sz="720" i="1">
                <a:solidFill>
                  <a:srgbClr val="0E1620"/>
                </a:solidFill>
                <a:latin typeface="Arial"/>
              </a:rPr>
              <a:t>The Journal of Finance, 64</a:t>
            </a:r>
            <a:r>
              <a:rPr sz="720" i="0">
                <a:solidFill>
                  <a:srgbClr val="0E1620"/>
                </a:solidFill>
                <a:latin typeface="Arial"/>
              </a:rPr>
              <a:t>(1), 187–229. https://doi.org/10.1111/j.1540-6261.2008.01432.x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(PART II)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Ang, A., Chen, B., Goetzmann, W. N., &amp; Phalippou, L. (2018). Estimating private equity returns from limited partner cash flows.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1751–1783. https://doi.org/10.1111/jofi.12688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Boyer, B. H., Nadauld, T. D., Vorkink, K. P., &amp; Weisbach, M. S. (2018). Private equity indices based on secondary market transactions.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https://doi.org/10.2139/ssrn.3272357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Buchner, A., Kaserer, C., &amp; Wagner, N. F. (2010). Private equity funds: Valuation, systematic risk and illiquidity.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https://doi.org/10.2139/ssrn.1102471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Couts, S., Gonçalves, A. S., &amp; Rossi, A. (2020). Unsmoothing returns of illiquid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https://doi.org/10.2139/ssrn.3544854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Getmansky, M., Lo, A. W., &amp; Makarov, I. (2004). An econometric model of serial correlation and illiquidity in hedge fund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74</a:t>
            </a:r>
            <a:r>
              <a:rPr sz="680" i="0">
                <a:solidFill>
                  <a:srgbClr val="0E1620"/>
                </a:solidFill>
                <a:latin typeface="Arial"/>
              </a:rPr>
              <a:t>(3), 529–609. https://doi.org/10.1016/j.jfineco.2004.04.001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Harris, R. S., Jenkinson, T., &amp; Kaplan, S. N. (2014). Private equity performance: What do we know?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69</a:t>
            </a:r>
            <a:r>
              <a:rPr sz="680" i="0">
                <a:solidFill>
                  <a:srgbClr val="0E1620"/>
                </a:solidFill>
                <a:latin typeface="Arial"/>
              </a:rPr>
              <a:t>(5), 1851–1882. https://doi.org/10.1111/jofi.12154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Hayley, S., &amp; Sefiloglu, O. (2022). Biases in private equity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https://doi.org/10.2139/ssrn.4245715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Jackson, B., Ling, D. C., &amp; Naranjo, A. (2022). Catering and return manipulation in private equity.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https://doi.org/10.2139/ssrn.4244467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Meyer, T. (2020). Hidden in plain sight — the impact of undrawn commitments.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Alternative Investments, 23</a:t>
            </a:r>
            <a:r>
              <a:rPr sz="680" i="0">
                <a:solidFill>
                  <a:srgbClr val="0E1620"/>
                </a:solidFill>
                <a:latin typeface="Arial"/>
              </a:rPr>
              <a:t>(2), 94–110. https://doi.org/10.3905/jai.2020.1.101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Phalippou, L. (2020). An inconvenient fact: Private equity returns and the billionaire factory.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Investing, 30</a:t>
            </a:r>
            <a:r>
              <a:rPr sz="680" i="0">
                <a:solidFill>
                  <a:srgbClr val="0E1620"/>
                </a:solidFill>
                <a:latin typeface="Arial"/>
              </a:rPr>
              <a:t>(1), 11–39. https://doi.org/10.3905/joi.2020.1.153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 of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Datasets, practitioner research &amp;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INDUSTRY DATASETS &amp; PRACTITIONER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Asness, C. S. (2023). The volatility-laundering hidden in private-asset marks. </a:t>
            </a:r>
            <a:r>
              <a:rPr sz="680" i="1">
                <a:solidFill>
                  <a:srgbClr val="0E1620"/>
                </a:solidFill>
                <a:latin typeface="Arial"/>
              </a:rPr>
              <a:t>AQR Capital Management — Cliff’s Perspectives.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British Private Equity &amp; Venture Capital Association &amp; Capital Dynamics.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BVCA Private Equity Performance Measurement Survey (PME+).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BVCA.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Cambridge Associates.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US Private Equity Index and Selected Benchmark Statistics (Q2 2024).</a:t>
            </a:r>
            <a:r>
              <a:rPr sz="680" i="0">
                <a:solidFill>
                  <a:srgbClr val="0E1620"/>
                </a:solidFill>
                <a:latin typeface="Arial"/>
              </a:rPr>
              <a:t> Boston: Cambridge Associates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Cliffwater LLC.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Long-term private equity performance in US state pension plans (2000–2022).</a:t>
            </a:r>
            <a:r>
              <a:rPr sz="680" i="0">
                <a:solidFill>
                  <a:srgbClr val="0E1620"/>
                </a:solidFill>
                <a:latin typeface="Arial"/>
              </a:rPr>
              <a:t> Marina del Rey: Cliffwater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Financial Reporting Council. (2020). </a:t>
            </a:r>
            <a:r>
              <a:rPr sz="680" i="1">
                <a:solidFill>
                  <a:srgbClr val="0E1620"/>
                </a:solidFill>
                <a:latin typeface="Arial"/>
              </a:rPr>
              <a:t>The UK Stewardship Code 2020.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FRC.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Morningstar.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Volatility laundering: How private equity funds understate the risk of their investments.</a:t>
            </a:r>
            <a:r>
              <a:rPr sz="680" i="0">
                <a:solidFill>
                  <a:srgbClr val="0E1620"/>
                </a:solidFill>
                <a:latin typeface="Arial"/>
              </a:rPr>
              <a:t> Chicago: Morningstar,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PIMCO. (2022). </a:t>
            </a:r>
            <a:r>
              <a:rPr sz="680" i="1">
                <a:solidFill>
                  <a:srgbClr val="0E1620"/>
                </a:solidFill>
                <a:latin typeface="Arial"/>
              </a:rPr>
              <a:t>The discreet charm of private assets: De-smoothing and the true volatility of private equity.</a:t>
            </a:r>
            <a:r>
              <a:rPr sz="680" i="0">
                <a:solidFill>
                  <a:srgbClr val="0E1620"/>
                </a:solidFill>
                <a:latin typeface="Arial"/>
              </a:rPr>
              <a:t> Newport Beach: PIMCO.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Principles for Responsible Investment. (2021). </a:t>
            </a:r>
            <a:r>
              <a:rPr sz="680" i="1">
                <a:solidFill>
                  <a:srgbClr val="0E1620"/>
                </a:solidFill>
                <a:latin typeface="Arial"/>
              </a:rPr>
              <a:t>What are the Principles for Responsible Investment?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UN PRI.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Two Sigma Investments.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The alternative truth of private equity (Venn by Two Sigma).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Two Sigma.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DATA &amp; 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All Athanase figures are computed from the fund’s audited net monthly return series (235 months, 2006–2025):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Annualised return — geometric compounding of monthly net returns (16.0%).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Total volatility — st. dev. of monthly returns × √12 (27.0%).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Downside volatility — deviation of negative months below a 0% MAR × √12 (10.9%).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Correlation / beta — versus MSCI World IMI over the common period (0.44 / 0.73).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Large-loss frequency — share of rolling 36-month windows below −30% (≈2%).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Up/down capture — compounded Athanase return in the market’s up/down months ÷ the market’s.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Efficient frontier — monthly-rebalanced MSCI/Athanase blends; minimum-risk point is in-sample.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Private-equity figures are taken from the cited research. De-smoothed / true-economic / committed-capital values reflect that literature rather than reported (appraisal-based) data; bridge and illustrative magnitudes reconcile cited endpoints and are labelled as such. For professional investors; not investment advice.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