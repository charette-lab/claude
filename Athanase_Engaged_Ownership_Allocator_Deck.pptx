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3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4   </a:t>
            </a:r>
            <a:r>
              <a:rPr sz="919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5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6   </a:t>
            </a:r>
            <a:r>
              <a:rPr sz="919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7   </a:t>
            </a:r>
            <a:r>
              <a:rPr sz="919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8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6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6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6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640">
                <a:solidFill>
                  <a:srgbClr val="314359"/>
                </a:solidFill>
                <a:latin typeface="Arial"/>
              </a:rPr>
              <a:t>The ownership playbook, honed over 39 investments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6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6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6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64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64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640">
                <a:solidFill>
                  <a:srgbClr val="314359"/>
                </a:solidFill>
                <a:latin typeface="Arial"/>
              </a:rPr>
              <a:t>Sourcing &amp; screening: from ~7,200 names to a shortlist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64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64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6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6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6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64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6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6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6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640">
                <a:solidFill>
                  <a:srgbClr val="314359"/>
                </a:solidFill>
                <a:latin typeface="Arial"/>
              </a:rPr>
              <a:t>Earlier deals — part of the team (1996–2004)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6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6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6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6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6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6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6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6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6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6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6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6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6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6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39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16.1%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6.1%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39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39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39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16.1%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~7,200 names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the whole European listed market to a handful of candidates — before a single krona is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listed companies in selected European markets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2,500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sectors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thesis review and exit — removing PM emotion before a position spirals.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084191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142714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059344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117867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120075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178598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39-deal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9 deals   ·   weighted MOIC 1.9x   ·   gross IRR 22%   ·   +9.9% p.a. vs the SIX index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7.1bn invested → SEK 13.7bn returned.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19.5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11.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6.1%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445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5%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cap drawdowns before they spiral and remove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European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thesis review and exit.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16.1%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(39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 / ACTIVISM (PART 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72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72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72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72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72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(19.51 yrs, excluding the 2014–15 setup gap): 16.1%.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