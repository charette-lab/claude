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measured, not asserted.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campaign carries a large fixed cost — ~$10.7m on average (Gantchev, 2013) — recovered only by holding through the operating turnaround, where the value is actually made: activist targets keep improving operationally for years after intervention (Bebchuk, Brav &amp; Jiang, 2015). A high-cadence book re-pays that cost every turn and exits before the change compounds; we hold until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676595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Sources: Gantchev (2013), JFE; Bebchuk, Brav &amp; Jiang (2015), Columbia Law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Built for the committee: the harder objections, answered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volatility, headline and concentration (prior page), four structural objections decide a conservative allocation — each answered so the choice is defensible to a board, not just attractive in a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94614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20336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537" y="2292096"/>
            <a:ext cx="2523807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5953" y="2292096"/>
            <a:ext cx="236286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concern beneath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7345" y="2292096"/>
            <a:ext cx="4133191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9760" y="2292096"/>
            <a:ext cx="397225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structural cover we provide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2779776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2779776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99" y="2887065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It doesn’t fit our public- or private-equity bucket.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537" y="2779776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5214" y="2887065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Public-sleeve tracking error invites scrutiny; PE-sleeve liquidity invites the auditors.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2779776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9021" y="2887065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Sits in the PE sleeve as a liquidity-positive complement — PE-style operational returns (~16% net) with daily marks and zero capital calls, so it cushions the denominator effect instead of feeding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774643"/>
            <a:ext cx="2194614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22" y="3774643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3881932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 boutique carries key-person risk for a small sleeve.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3537" y="3774643"/>
            <a:ext cx="2523807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5214" y="3881932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If a boutique stumbles, the choice is hard to defend without a household name behind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345" y="3774643"/>
            <a:ext cx="4133191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9021" y="3881932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boutique team inside an institutional fortress: investment, risk and valuation segregated; custody SEB, administration MUFG, audit KPMG — an independently validated, tier-one paper trail.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769510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769510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4876800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~One mid-cap deal a year can’t move our needle.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537" y="4769510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5214" y="4876800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Hard to justify the team’s underwriting bandwidth on a 1–3% sleeve.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57345" y="4769510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9021" y="4876800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first-right co-investment “free look”: scale nominal exposure into the highest-conviction, already board-de-risked targets — without diluting the core fund’s agility (full terms in the appendix).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5852160"/>
            <a:ext cx="8851613" cy="9558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807" y="5852160"/>
            <a:ext cx="4791575" cy="955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And the statistical blanket: across 20 years of live cycles, even the single unluckiest entry month still compounded positively — net of all fees.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3114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~19%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23114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avg net, any
entry 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0152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+7%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0152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worst-ever
entry 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37190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7190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lost over the
hold period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Optional co-investment facility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co-investment “free look”: a post-engagement drawdown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decouple the co-investment’s timing from the engagement: the main fund bears the execution risk, and LP capital enters only after the turnaround is board-secured — when the public market discounts the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1 · MAIN FUND LEADS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Initiates the position, clears the tollgates and secures the board seat — the capital-allocation kill switch. Fundamental risk is structurally lowered.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4545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4745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7160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2 · FACILITY UNCALLED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4745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1791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Co-investment is committed but dormant through the engagement — no upfront execution risk, control premium or broken-deal cost for the LP.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0368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568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2983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3 · VALUATION TRIGGER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0568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4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Activated only if the public market later dislocates and discounts the price — after the board seat and operating plan are confirmed.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190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6390" y="2292096"/>
            <a:ext cx="211414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8806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4 · LP CAPITAL ENTERS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6390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3436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Capital draws instantly at the pre-agreed threshold, accumulating at the discounted multiple — below the main fund’s own basis.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4077003"/>
            <a:ext cx="4352652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THE CO-INVESTOR GETS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De-risked, at a discount.</a:t>
            </a:r>
            <a:r>
              <a:rPr sz="760">
                <a:solidFill>
                  <a:srgbClr val="0E1620"/>
                </a:solidFill>
                <a:latin typeface="Arial"/>
              </a:rPr>
              <a:t> — a governed, ROIIC-compounding core bought after the plan is secured — at a basis below the main fund’s.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Zero frictional drag.</a:t>
            </a:r>
            <a:r>
              <a:rPr sz="760">
                <a:solidFill>
                  <a:srgbClr val="0E1620"/>
                </a:solidFill>
                <a:latin typeface="Arial"/>
              </a:rPr>
              <a:t> — no broken-deal, advisory or syndication fees; ~20,000-company research is baseline, so 100% of drawn capital compounds in the equity.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scramble.</a:t>
            </a:r>
            <a:r>
              <a:rPr sz="760">
                <a:solidFill>
                  <a:srgbClr val="0E1620"/>
                </a:solidFill>
                <a:latin typeface="Arial"/>
              </a:rPr>
              <a:t> — pre-agreed terms bypass the 3–4-week syndication — capital hits the dislocation instantly at the optimal basis.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191" y="4077003"/>
            <a:ext cx="4206345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ALIGNMENT &amp; EXIT GOVERNANCE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Pro-rata exit.</a:t>
            </a:r>
            <a:r>
              <a:rPr sz="760">
                <a:solidFill>
                  <a:srgbClr val="0E1620"/>
                </a:solidFill>
                <a:latin typeface="Arial"/>
              </a:rPr>
              <a:t> — bound to exit in lockstep with the main fund — no separate timing, full parity with the Investment Committee.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Patient-capital enforcement.</a:t>
            </a:r>
            <a:r>
              <a:rPr sz="760">
                <a:solidFill>
                  <a:srgbClr val="0E1620"/>
                </a:solidFill>
                <a:latin typeface="Arial"/>
              </a:rPr>
              <a:t> — the same multi-year holding discipline — no reactionary selling into daily liquidity before the restructuring shows in cash flows and earnings.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910681"/>
            <a:ext cx="8851613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807" y="5910681"/>
            <a:ext cx="8485844" cy="8973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Decoupled in time, optical volatility becomes a pricing advantage — the ultimate institutional free look: turnaround execution risk, stripped of deal costs, priced at a market-driven discount.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term sheet: the drawdown mechanics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Dormant until the board seat is secured; drawn only on a 20–30% dislocation to accumulate a 10–20% block; zero fees until the promote; converts to a permanent capital vehicle at 2.5×.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707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1 · ACTIVATION PREREQUISITES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38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Board control secured</a:t>
            </a:r>
            <a:r>
              <a:rPr sz="680">
                <a:solidFill>
                  <a:srgbClr val="0E1620"/>
                </a:solidFill>
                <a:latin typeface="Arial"/>
              </a:rPr>
              <a:t> — the vehicle stays dormant until the main fund holds the board seat and the capital-allocation playbook.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blind-pool risk</a:t>
            </a:r>
            <a:r>
              <a:rPr sz="680">
                <a:solidFill>
                  <a:srgbClr val="0E1620"/>
                </a:solidFill>
                <a:latin typeface="Arial"/>
              </a:rPr>
              <a:t> — any drawdown notice names a vetted asset the team already runs from the inside.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8476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260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2 · DRAWDOWN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8476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891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Price-dislocation gate</a:t>
            </a:r>
            <a:r>
              <a:rPr sz="680">
                <a:solidFill>
                  <a:srgbClr val="0E1620"/>
                </a:solidFill>
                <a:latin typeface="Arial"/>
              </a:rPr>
              <a:t> — capital is called only on a severe optical drawdown — a formal 20–30% price drop.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Offensive accumulation</a:t>
            </a:r>
            <a:r>
              <a:rPr sz="680">
                <a:solidFill>
                  <a:srgbClr val="0E1620"/>
                </a:solidFill>
                <a:latin typeface="Arial"/>
              </a:rPr>
              <a:t> — build a 10–20% block at exhaustion prices — arbitrage on market psychology, not a falling knife: the board seat already floors fundamental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18029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5813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3 · CALL EXECUTION &amp; EXPIRY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18029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0444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Notice period</a:t>
            </a:r>
            <a:r>
              <a:rPr sz="680">
                <a:solidFill>
                  <a:srgbClr val="0E1620"/>
                </a:solidFill>
                <a:latin typeface="Arial"/>
              </a:rPr>
              <a:t> — a standard 10–15 business-day capital call funds the block build.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Expiration window</a:t>
            </a:r>
            <a:r>
              <a:rPr sz="680">
                <a:solidFill>
                  <a:srgbClr val="0E1620"/>
                </a:solidFill>
                <a:latin typeface="Arial"/>
              </a:rPr>
              <a:t> — capped to 18–24 months post-board-seat; if no J-curve appears, the commitment expires uncalled — freeing the LP’s risk budget.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4 · FEES &amp; PROMOTE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338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management fees</a:t>
            </a:r>
            <a:r>
              <a:rPr sz="680">
                <a:solidFill>
                  <a:srgbClr val="0E1620"/>
                </a:solidFill>
                <a:latin typeface="Arial"/>
              </a:rPr>
              <a:t> — through dormancy and accumulation — only a capped pass-through of verified admin and legal costs.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2.5× super-promote</a:t>
            </a:r>
            <a:r>
              <a:rPr sz="680">
                <a:solidFill>
                  <a:srgbClr val="0E1620"/>
                </a:solidFill>
                <a:latin typeface="Arial"/>
              </a:rPr>
              <a:t> — the manager takes a 20% stake in the listed vehicle only at 2.5× drawn capital, tested continuously (not a single date) — the moment LPs lock a 2.0× net return.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8476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16260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5 · LIQUIDITY — THE PCV FLIP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8476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0891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Direct listing at NAV</a:t>
            </a:r>
            <a:r>
              <a:rPr sz="680">
                <a:solidFill>
                  <a:srgbClr val="0E1620"/>
                </a:solidFill>
                <a:latin typeface="Arial"/>
              </a:rPr>
              <a:t> — a pre-agreed direct listing — a route the team has executed in Sweden — converts the vehicle to a PCV at NAV, with no bookbuild discount.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NAV-tight &amp; evergreen</a:t>
            </a:r>
            <a:r>
              <a:rPr sz="680">
                <a:solidFill>
                  <a:srgbClr val="0E1620"/>
                </a:solidFill>
                <a:latin typeface="Arial"/>
              </a:rPr>
              <a:t> — a mandatory buyback whenever the price trades &gt;10% below NAV holds the discount tight; LPs get daily liquidity, the manager keeps infinite duration.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8029" y="3969715"/>
            <a:ext cx="2872507" cy="3901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5813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LP PROTECTIONS · PROPOSED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8029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0444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 gaming the conversion</a:t>
            </a:r>
            <a:r>
              <a:rPr sz="680">
                <a:solidFill>
                  <a:srgbClr val="0E1620"/>
                </a:solidFill>
                <a:latin typeface="Arial"/>
              </a:rPr>
              <a:t> — NAV is mark-to-market from the listed holdings, valued on a 10-day VWAP — no independent appraisal, and a continuous test leaves no single window the manager can time.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Buyback &amp; negative control</a:t>
            </a:r>
            <a:r>
              <a:rPr sz="680">
                <a:solidFill>
                  <a:srgbClr val="0E1620"/>
                </a:solidFill>
                <a:latin typeface="Arial"/>
              </a:rPr>
              <a:t> — the &gt;10%-discount buyback is mandated in the listed vehicle; an LPAC veto on conversion ratio and promote terms; NAV redemption if no listing by the longstop.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676595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807" y="5676595"/>
            <a:ext cx="8485844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Fees accrue to LPs first: nothing to the manager until 2.5× — at which point the LP’s 2.0× net is already locked.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261811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Indicative terms for IC / LP discussion, subject to final fund documentation; the “LP protections” cell is a proposal, not yet agreed.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