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4.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556A83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5.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0E16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589836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1960473"/>
            <a:ext cx="4279499" cy="5462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   </a:t>
            </a:r>
            <a:r>
              <a:rPr sz="800">
                <a:solidFill>
                  <a:srgbClr val="314359"/>
                </a:solidFill>
                <a:latin typeface="Arial"/>
              </a:rPr>
              <a:t>Why now — the easy decade for beta is over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2   </a:t>
            </a:r>
            <a:r>
              <a:rPr sz="800">
                <a:solidFill>
                  <a:srgbClr val="314359"/>
                </a:solidFill>
                <a:latin typeface="Arial"/>
              </a:rPr>
              <a:t>Passive has become a concentrated bet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3   </a:t>
            </a:r>
            <a:r>
              <a:rPr sz="800">
                <a:solidFill>
                  <a:srgbClr val="314359"/>
                </a:solidFill>
                <a:latin typeface="Arial"/>
              </a:rPr>
              <a:t>Passive flows cut both ways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4   </a:t>
            </a:r>
            <a:r>
              <a:rPr sz="800">
                <a:solidFill>
                  <a:srgbClr val="314359"/>
                </a:solidFill>
                <a:latin typeface="Arial"/>
              </a:rPr>
              <a:t>The total cost of ownership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5   </a:t>
            </a:r>
            <a:r>
              <a:rPr sz="800">
                <a:solidFill>
                  <a:srgbClr val="314359"/>
                </a:solidFill>
                <a:latin typeface="Arial"/>
              </a:rPr>
              <a:t>From passive risk to active opportunity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6   </a:t>
            </a:r>
            <a:r>
              <a:rPr sz="800">
                <a:solidFill>
                  <a:srgbClr val="314359"/>
                </a:solidFill>
                <a:latin typeface="Arial"/>
              </a:rPr>
              <a:t>Two ways to own actively: public or private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7   </a:t>
            </a:r>
            <a:r>
              <a:rPr sz="800">
                <a:solidFill>
                  <a:srgbClr val="314359"/>
                </a:solidFill>
                <a:latin typeface="Arial"/>
              </a:rPr>
              <a:t>Where the allocation fits: three legitimate homes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8   </a:t>
            </a:r>
            <a:r>
              <a:rPr sz="800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9   </a:t>
            </a:r>
            <a:r>
              <a:rPr sz="800">
                <a:solidFill>
                  <a:srgbClr val="314359"/>
                </a:solidFill>
                <a:latin typeface="Arial"/>
              </a:rPr>
              <a:t>What AI changes — and what it can’t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1)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10   </a:t>
            </a:r>
            <a:r>
              <a:rPr sz="800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11   </a:t>
            </a:r>
            <a:r>
              <a:rPr sz="800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12   </a:t>
            </a:r>
            <a:r>
              <a:rPr sz="800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13   </a:t>
            </a:r>
            <a:r>
              <a:rPr sz="800">
                <a:solidFill>
                  <a:srgbClr val="314359"/>
                </a:solidFill>
                <a:latin typeface="Arial"/>
              </a:rPr>
              <a:t>Why mid-market is the sweet spot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2)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14   </a:t>
            </a:r>
            <a:r>
              <a:rPr sz="800">
                <a:solidFill>
                  <a:srgbClr val="314359"/>
                </a:solidFill>
                <a:latin typeface="Arial"/>
              </a:rPr>
              <a:t>Why mid-cap management listens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15   </a:t>
            </a:r>
            <a:r>
              <a:rPr sz="800">
                <a:solidFill>
                  <a:srgbClr val="314359"/>
                </a:solidFill>
                <a:latin typeface="Arial"/>
              </a:rPr>
              <a:t>Why boards say yes — constructive control, not a proxy war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16   </a:t>
            </a:r>
            <a:r>
              <a:rPr sz="800">
                <a:solidFill>
                  <a:srgbClr val="314359"/>
                </a:solidFill>
                <a:latin typeface="Arial"/>
              </a:rPr>
              <a:t>The evidence: constructive engagement works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3)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17   </a:t>
            </a:r>
            <a:r>
              <a:rPr sz="800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589836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1960473"/>
            <a:ext cx="4279499" cy="5462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1   Team &amp; operations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1.1   </a:t>
            </a:r>
            <a:r>
              <a:rPr sz="56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1.2   </a:t>
            </a:r>
            <a:r>
              <a:rPr sz="560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1.3   </a:t>
            </a:r>
            <a:r>
              <a:rPr sz="56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1.4   </a:t>
            </a:r>
            <a:r>
              <a:rPr sz="560">
                <a:solidFill>
                  <a:srgbClr val="314359"/>
                </a:solidFill>
                <a:latin typeface="Arial"/>
              </a:rPr>
              <a:t>A risk system that engineers out permanent loss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4)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1.5   </a:t>
            </a:r>
            <a:r>
              <a:rPr sz="560">
                <a:solidFill>
                  <a:srgbClr val="314359"/>
                </a:solidFill>
                <a:latin typeface="Arial"/>
              </a:rPr>
              <a:t>The ownership playbook, honed over 38 investments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2   The opportunity &amp; our edge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2.1   </a:t>
            </a:r>
            <a:r>
              <a:rPr sz="560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2.2   </a:t>
            </a:r>
            <a:r>
              <a:rPr sz="560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2)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2.3   </a:t>
            </a:r>
            <a:r>
              <a:rPr sz="560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5)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2.4   </a:t>
            </a:r>
            <a:r>
              <a:rPr sz="560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6)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2.5   </a:t>
            </a:r>
            <a:r>
              <a:rPr sz="560">
                <a:solidFill>
                  <a:srgbClr val="314359"/>
                </a:solidFill>
                <a:latin typeface="Arial"/>
              </a:rPr>
              <a:t>The same playbook as mid-market PE — without its costs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7)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2.6   </a:t>
            </a:r>
            <a:r>
              <a:rPr sz="560">
                <a:solidFill>
                  <a:srgbClr val="314359"/>
                </a:solidFill>
                <a:latin typeface="Arial"/>
              </a:rPr>
              <a:t>Why the specialist, not the household name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8)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3   How we invest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3.1   </a:t>
            </a:r>
            <a:r>
              <a:rPr sz="560">
                <a:solidFill>
                  <a:srgbClr val="314359"/>
                </a:solidFill>
                <a:latin typeface="Arial"/>
              </a:rPr>
              <a:t>How decisions are made: three tollgates, clear owners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3.2   </a:t>
            </a:r>
            <a:r>
              <a:rPr sz="560">
                <a:solidFill>
                  <a:srgbClr val="314359"/>
                </a:solidFill>
                <a:latin typeface="Arial"/>
              </a:rPr>
              <a:t>Sourcing &amp; screening: from ~20,000 to a shortlist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3)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3.3   </a:t>
            </a:r>
            <a:r>
              <a:rPr sz="560">
                <a:solidFill>
                  <a:srgbClr val="314359"/>
                </a:solidFill>
                <a:latin typeface="Arial"/>
              </a:rPr>
              <a:t>Due diligence: is the competitive position durable?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3.4   </a:t>
            </a:r>
            <a:r>
              <a:rPr sz="560">
                <a:solidFill>
                  <a:srgbClr val="314359"/>
                </a:solidFill>
                <a:latin typeface="Arial"/>
              </a:rPr>
              <a:t>Research &amp; due diligence: four analytical steps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3.5   </a:t>
            </a:r>
            <a:r>
              <a:rPr sz="560">
                <a:solidFill>
                  <a:srgbClr val="314359"/>
                </a:solidFill>
                <a:latin typeface="Arial"/>
              </a:rPr>
              <a:t>Decision, execution and board engagement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3.6   </a:t>
            </a:r>
            <a:r>
              <a:rPr sz="560">
                <a:solidFill>
                  <a:srgbClr val="314359"/>
                </a:solidFill>
                <a:latin typeface="Arial"/>
              </a:rPr>
              <a:t>Constructive by design — agreement before capital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3.7   </a:t>
            </a:r>
            <a:r>
              <a:rPr sz="560">
                <a:solidFill>
                  <a:srgbClr val="314359"/>
                </a:solidFill>
                <a:latin typeface="Arial"/>
              </a:rPr>
              <a:t>Evaluating the board and management — before we commit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3.8   </a:t>
            </a:r>
            <a:r>
              <a:rPr sz="560">
                <a:solidFill>
                  <a:srgbClr val="314359"/>
                </a:solidFill>
                <a:latin typeface="Arial"/>
              </a:rPr>
              <a:t>In the boardroom: consensus, one conversation at a time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4   Risk, honestly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4.1   </a:t>
            </a:r>
            <a:r>
              <a:rPr sz="560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4.2   </a:t>
            </a:r>
            <a:r>
              <a:rPr sz="560">
                <a:solidFill>
                  <a:srgbClr val="314359"/>
                </a:solidFill>
                <a:latin typeface="Arial"/>
              </a:rPr>
              <a:t>Which risks we are trying to avoid — and why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9)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4.3   </a:t>
            </a:r>
            <a:r>
              <a:rPr sz="560">
                <a:solidFill>
                  <a:srgbClr val="314359"/>
                </a:solidFill>
                <a:latin typeface="Arial"/>
              </a:rPr>
              <a:t>Diversification by design: the risk limits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10)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4.4   </a:t>
            </a:r>
            <a:r>
              <a:rPr sz="560">
                <a:solidFill>
                  <a:srgbClr val="314359"/>
                </a:solidFill>
                <a:latin typeface="Arial"/>
              </a:rPr>
              <a:t>How risk is governed: who decides, and when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4.5   </a:t>
            </a:r>
            <a:r>
              <a:rPr sz="560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4.6   </a:t>
            </a:r>
            <a:r>
              <a:rPr sz="560">
                <a:solidFill>
                  <a:srgbClr val="314359"/>
                </a:solidFill>
                <a:latin typeface="Arial"/>
              </a:rPr>
              <a:t>Restructuring, honestly — and the headline question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4.7   </a:t>
            </a:r>
            <a:r>
              <a:rPr sz="560">
                <a:solidFill>
                  <a:srgbClr val="314359"/>
                </a:solidFill>
                <a:latin typeface="Arial"/>
              </a:rPr>
              <a:t>Earnings compound the value — re-rating is upside we don’t need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4.8   </a:t>
            </a:r>
            <a:r>
              <a:rPr sz="560">
                <a:solidFill>
                  <a:srgbClr val="314359"/>
                </a:solidFill>
                <a:latin typeface="Arial"/>
              </a:rPr>
              <a:t>When the thesis breaks: determined, not forced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4.9   </a:t>
            </a:r>
            <a:r>
              <a:rPr sz="560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4)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4.10   </a:t>
            </a:r>
            <a:r>
              <a:rPr sz="560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11)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4.11   </a:t>
            </a:r>
            <a:r>
              <a:rPr sz="560">
                <a:solidFill>
                  <a:srgbClr val="314359"/>
                </a:solidFill>
                <a:latin typeface="Arial"/>
              </a:rPr>
              <a:t>Why an allocation here is not career-ending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5   The 20-year track record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5.1   </a:t>
            </a:r>
            <a:r>
              <a:rPr sz="560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5)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5.2   </a:t>
            </a:r>
            <a:r>
              <a:rPr sz="560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12)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5.3   </a:t>
            </a:r>
            <a:r>
              <a:rPr sz="560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13)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5.4   </a:t>
            </a:r>
            <a:r>
              <a:rPr sz="560">
                <a:solidFill>
                  <a:srgbClr val="314359"/>
                </a:solidFill>
                <a:latin typeface="Arial"/>
              </a:rPr>
              <a:t>Earlier deals — part of the team (1996–2006)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14)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5.5   </a:t>
            </a:r>
            <a:r>
              <a:rPr sz="560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5.6   </a:t>
            </a:r>
            <a:r>
              <a:rPr sz="560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5.7   </a:t>
            </a:r>
            <a:r>
              <a:rPr sz="560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6   What it means for your portfolio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6.1   </a:t>
            </a:r>
            <a:r>
              <a:rPr sz="560">
                <a:solidFill>
                  <a:srgbClr val="314359"/>
                </a:solidFill>
                <a:latin typeface="Arial"/>
              </a:rPr>
              <a:t>What it does to an allocator’s portfolio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6)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6.2   </a:t>
            </a:r>
            <a:r>
              <a:rPr sz="560">
                <a:solidFill>
                  <a:srgbClr val="314359"/>
                </a:solidFill>
                <a:latin typeface="Arial"/>
              </a:rPr>
              <a:t>Lower downside risk compounds into better outcomes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16)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6.3   </a:t>
            </a:r>
            <a:r>
              <a:rPr sz="560">
                <a:solidFill>
                  <a:srgbClr val="314359"/>
                </a:solidFill>
                <a:latin typeface="Arial"/>
              </a:rPr>
              <a:t>A complement to global equities, not a duplicate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7)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6.4   </a:t>
            </a:r>
            <a:r>
              <a:rPr sz="560">
                <a:solidFill>
                  <a:srgbClr val="314359"/>
                </a:solidFill>
                <a:latin typeface="Arial"/>
              </a:rPr>
              <a:t>A drawdown you can actually defend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6.5   </a:t>
            </a:r>
            <a:r>
              <a:rPr sz="560">
                <a:solidFill>
                  <a:srgbClr val="314359"/>
                </a:solidFill>
                <a:latin typeface="Arial"/>
              </a:rPr>
              <a:t>What a blend does to the whole portfolio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8)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7   Versus private equity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7.1   </a:t>
            </a:r>
            <a:r>
              <a:rPr sz="560">
                <a:solidFill>
                  <a:srgbClr val="314359"/>
                </a:solidFill>
                <a:latin typeface="Arial"/>
              </a:rPr>
              <a:t>What allocators actually earn from private equity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17)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7.2   </a:t>
            </a:r>
            <a:r>
              <a:rPr sz="560">
                <a:solidFill>
                  <a:srgbClr val="314359"/>
                </a:solidFill>
                <a:latin typeface="Arial"/>
              </a:rPr>
              <a:t>Switching a private-equity sleeve into Athanase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9)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7.3   </a:t>
            </a:r>
            <a:r>
              <a:rPr sz="560">
                <a:solidFill>
                  <a:srgbClr val="314359"/>
                </a:solidFill>
                <a:latin typeface="Arial"/>
              </a:rPr>
              <a:t>The volatility gap is settled in the literature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10)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7.4   </a:t>
            </a:r>
            <a:r>
              <a:rPr sz="560">
                <a:solidFill>
                  <a:srgbClr val="314359"/>
                </a:solidFill>
                <a:latin typeface="Arial"/>
              </a:rPr>
              <a:t>Same headline volatility — far lower real risk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11)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7.5   </a:t>
            </a:r>
            <a:r>
              <a:rPr sz="560">
                <a:solidFill>
                  <a:srgbClr val="314359"/>
                </a:solidFill>
                <a:latin typeface="Arial"/>
              </a:rPr>
              <a:t>PE’s “diversification” is an artefact — Athanase’s is real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12)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7.6   </a:t>
            </a:r>
            <a:r>
              <a:rPr sz="560">
                <a:solidFill>
                  <a:srgbClr val="314359"/>
                </a:solidFill>
                <a:latin typeface="Arial"/>
              </a:rPr>
              <a:t>When the tide goes out: the drawdown trap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7.7   </a:t>
            </a:r>
            <a:r>
              <a:rPr sz="560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1 Why now — the easy decade for beta is over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Equities are expensive on almost every measure, and the disinflation and zero-rate tailwind that lifted all assets has reversed.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EXPENSIVE ON MOST MEASURES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Shiller CAPE near ~36× — close to the dot-com extreme, and roughly double the long-run ~17×.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Forward P/E ~22× against a ~16× long-run average; the equity risk premium is compressed to multi-decade lows.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Most of the 2010s’ return came from re-rating — paying more per dollar of earnings — not earnings growth. That lever is largely spent.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MACRO TAILWIND HAS REVERSED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zero-rate, disinflationary backdrop that lifted every asset for a decade has reversed.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Deglobalisation, fiscal deficits and demographics point to structurally higher inflation and rates — higher for longer.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 higher cost of capital compresses valuations and punishes long-duration, unprofitable growth — the opposite of the last cycle.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beta is priced for perfection and the macro tailwind has reversed, index returns are set to be lower and riskier — the moment idiosyncratic, valuation-disciplined returns matter most.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Illustrative, recent data (2024–25); sources: R. Shiller (Yale) CAPE; S&amp;P Dow Jones Indices; consensus forward earnings. Valuations move — the regime, not the decimal, is the point.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2 Passive has become a concentrated 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cap-weighted index puts the most money into the stocks that have already risen the most — concentration and factor risk dressed as diversification.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53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of the S&amp;P 500 in its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10 largest stocks*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47960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47960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960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in the “Magnificent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Seven” alone*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47267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47267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267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~50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since US equity was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this concentrated*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3969715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Cap-weighting buys high by design.</a:t>
            </a:r>
            <a:r>
              <a:rPr sz="1120">
                <a:solidFill>
                  <a:srgbClr val="0E1620"/>
                </a:solidFill>
                <a:latin typeface="Arial"/>
              </a:rPr>
              <a:t>  The more a stock rises, the more of it you must own — the opposite of buy-low discipline.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A concentrated factor bet.</a:t>
            </a:r>
            <a:r>
              <a:rPr sz="1120">
                <a:solidFill>
                  <a:srgbClr val="0E1620"/>
                </a:solidFill>
                <a:latin typeface="Arial"/>
              </a:rPr>
              <a:t>  The “diversified” index is now a leveraged position in large-cap growth, momentum and a single theme (AI) — not diversification.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Breadth is fragile.</a:t>
            </a:r>
            <a:r>
              <a:rPr sz="1120">
                <a:solidFill>
                  <a:srgbClr val="0E1620"/>
                </a:solidFill>
                <a:latin typeface="Arial"/>
              </a:rPr>
              <a:t>  A stumble in a handful of mega-caps now moves the entire index; the rest of the market has been left behind.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*Illustrative, recent data (2024–25); source: S&amp;P Dow Jones Indices. Index concentration and factor tilts change over time.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3 Passive flows cut both ways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Index buying has grown from a niche to the majority of US equity fund assets — and the same price-insensitive mechanics can force selling on the way down.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pic>
        <p:nvPicPr>
          <p:cNvPr id="9" name="Picture 8" descr="mc_pass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22" y="2340864"/>
            <a:ext cx="4498960" cy="264644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57345" y="2292096"/>
            <a:ext cx="4096614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WHY IT CUTS BOTH WAYS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Markets are inelastic — a $1 flow can move aggregate value by ~$5; flows increasingly set the level (Gabaix &amp; Koijen, 2021).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ETFs raise the volatility of the stocks they hold (Ben-David et al., 2018); index inclusion inflates prices and comovement (Wurgler, 2011).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reported passive share understates the true price-insensitive base (Chinco &amp; Sammon, 2024).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multiplier runs in reverse: if flows slow, the most-owned mega-caps face mechanical selling — with few price-sensitive buyers left to absorb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concentration that flattered index returns on the way up is a forced-seller overhang on the way down — a risk you do not carry when returns come from company-specific change, not from flows.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8778459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Passive share approximate; sources: ICI, Morningstar (index funds + ETFs as a share of US equity fund assets). Research citations in references.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4 The total cost of ownership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quoted fee is the smallest, most visible layer — the real cost of owning the index is a multiple of it, and largely undisclosed.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MEASURABLE ANNUAL DRAG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3–9 bps</a:t>
            </a:r>
            <a:r>
              <a:rPr sz="960">
                <a:solidFill>
                  <a:srgbClr val="0E1620"/>
                </a:solidFill>
                <a:latin typeface="Arial"/>
              </a:rPr>
              <a:t>  the headline expense ratio — all you are quoted.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~20–80 bps/yr</a:t>
            </a:r>
            <a:r>
              <a:rPr sz="960">
                <a:solidFill>
                  <a:srgbClr val="0E1620"/>
                </a:solidFill>
                <a:latin typeface="Arial"/>
              </a:rPr>
              <a:t>  index reconstitution / front-running (Petajisto, 2011).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~30 bps+</a:t>
            </a:r>
            <a:r>
              <a:rPr sz="960">
                <a:solidFill>
                  <a:srgbClr val="0E1620"/>
                </a:solidFill>
                <a:latin typeface="Arial"/>
              </a:rPr>
              <a:t>  unrecovered foreign dividend-withholding tax on international holdings — more for emerging markets.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$1–2 bn/yr</a:t>
            </a:r>
            <a:r>
              <a:rPr sz="960">
                <a:solidFill>
                  <a:srgbClr val="0E1620"/>
                </a:solidFill>
                <a:latin typeface="Arial"/>
              </a:rPr>
              <a:t>  transferred to arbitrageurs at index changes (Chen, Noronha &amp; Singal, 2006).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768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FURTHER, HARDER-TO-SEE COSTS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768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Tracking difference</a:t>
            </a:r>
            <a:r>
              <a:rPr sz="840">
                <a:solidFill>
                  <a:srgbClr val="0E1620"/>
                </a:solidFill>
                <a:latin typeface="Arial"/>
              </a:rPr>
              <a:t>  — funds lag the index by more than their fee.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Bid-ask spread &amp; market impact</a:t>
            </a:r>
            <a:r>
              <a:rPr sz="840">
                <a:solidFill>
                  <a:srgbClr val="0E1620"/>
                </a:solidFill>
                <a:latin typeface="Arial"/>
              </a:rPr>
              <a:t>  on every trade and every rebalance.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Cash drag</a:t>
            </a:r>
            <a:r>
              <a:rPr sz="840">
                <a:solidFill>
                  <a:srgbClr val="0E1620"/>
                </a:solidFill>
                <a:latin typeface="Arial"/>
              </a:rPr>
              <a:t>  from the uninvested buffer, in rising markets.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Premium / discount to NAV</a:t>
            </a:r>
            <a:r>
              <a:rPr sz="840">
                <a:solidFill>
                  <a:srgbClr val="0E1620"/>
                </a:solidFill>
                <a:latin typeface="Arial"/>
              </a:rPr>
              <a:t>  — widens exactly when you need to sell.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Securities lending</a:t>
            </a:r>
            <a:r>
              <a:rPr sz="840">
                <a:solidFill>
                  <a:srgbClr val="0E1620"/>
                </a:solidFill>
                <a:latin typeface="Arial"/>
              </a:rPr>
              <a:t>  — revenue give-up and counterparty risk; it also supplies short-sellers.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Liquidity illusion / fire-sale risk</a:t>
            </a:r>
            <a:r>
              <a:rPr sz="840">
                <a:solidFill>
                  <a:srgbClr val="0E1620"/>
                </a:solidFill>
                <a:latin typeface="Arial"/>
              </a:rPr>
              <a:t>  in illiquid underlyings (Ben-David et al., 2018).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Capital-gains overhang</a:t>
            </a:r>
            <a:r>
              <a:rPr sz="840">
                <a:solidFill>
                  <a:srgbClr val="0E1620"/>
                </a:solidFill>
                <a:latin typeface="Arial"/>
              </a:rPr>
              <a:t>  in index mutual funds.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Quoted at a few basis points, the true cost runs into the tens — before the biggest cost of all: paying peak prices for the most crowded companies. That is what valuation-disciplined, idiosyncratic ownership is paid to avoid.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22" y="6944563"/>
            <a:ext cx="8851613" cy="331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Peer-reviewed: Petajisto (2011); Chen, Noronha &amp; Singal (2006); Ben-David et al. (2018). Withholding and other costs are structural/illustrative and vary by fund, domicile and period. See references.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5 From passive risk to active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expensive, concentrated, passive-dominated market is exactly the environment active management is built for — but the durable edge is ownership, not stock-picking.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1 · The setup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9861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Expensive equities, record index concentration, and price-insensitive passive flows that inflate the most crowded names.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2 · Why active now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806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35745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Wider mispricing and dispersion; valuation discipline is rewarded again. The “active underperforms” critique is cyclical — and weakest in exactly this market.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3 · A better kind of active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10690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1629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But stock-picking still mostly buys beta with tracking error and fees. The durable edge is active ownership — buying mispriced businesses and changing the outcome.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5614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81498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the index is the crowded, expensive, fragile trade, the answer is not to pick stocks and hope — it is to own undervalued businesses and make them better. That is engaged ownership.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Active Ownership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6 Two ways to own actively: public or private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operational value creation is available in both private equity and public markets — but the public route keeps what private gives 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1755691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1580122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2158037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60453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Private — PE / buyout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05998" y="2292096"/>
            <a:ext cx="3547960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08414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Public — engaged ownership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46" y="2701747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4761" y="2701747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How you act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58037" y="2701747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60453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Buy and control the whole company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05998" y="2701747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08414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Take a board seat and real influence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3247948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761" y="3247948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58037" y="3247948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260453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~40% control premium, up front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705998" y="3247948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08414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Market price — often at a discount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346" y="3794150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4761" y="3794150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158037" y="3794150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260453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10-year lock-up; blind-pool capital calls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05998" y="3794150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08414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Daily liquidity; exit at any time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02346" y="4340352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4761" y="4340352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Pricing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158037" y="4340352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260453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Smoothed quarterly appraisal marks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05998" y="4340352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08414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Honest daily market prices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2346" y="4886553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4761" y="4886553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Fees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158037" y="4886553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60453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2 &amp; 20, plus fees on idle dry powder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05998" y="4886553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08414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Lower, on capital actually deployed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02346" y="5432755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4761" y="5432755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value engine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158037" y="5432755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260453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Board-led operational improvement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705998" y="5432755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08414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same — board-led operational improvement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02346" y="6115507"/>
            <a:ext cx="8888190" cy="54620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53" y="6115507"/>
            <a:ext cx="8595575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Both are active ownership. The public route captures the same value creation while keeping liquidity, transparency and lower fees — and skips the control premium and the lock-up (Part II quantifies this).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7 Where the allocation fits: three legitimate homes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ownership does not need a bucket of its own. It can be funded from public equity, event-driven hedge funds or private equity — each defensible, depending on what it replaces.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Public equity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concentrated, active equity sleeve — long-only public companies with daily pricing and full transparency.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Adds idiosyncratic, governance-driven alpha to a beta-dominated equity book, while keeping liquidity, transparency and low fees inside an existing equity mandate.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Higher active risk than an index sleeve — it is meant to differ from the benchmark.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Event-driven hedge funds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catalyst strategy — returns come from proxy contests, board change, spin-offs, M&amp;A and capital-return programmes, not market direction.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return driver is event-specific and largely independent of rates and growth; it diversifies an absolute-return book and matches how the alpha is actually generated.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More concentrated and longer-horizon than a typical multi-strategy fund; positions are owned outright, not hedged.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Private equity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PE-style value creation — board influence, operational improvement and multi-year holds — executed in public markets.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same engaged-ownership return engine as private equity, but with public-market liquidity, daily transparency, lower fees and no J-curve or lock-up.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Marked to market daily — honest volatility instead of smoothed quarterly appraisals (see Part II).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291072"/>
            <a:ext cx="873456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291072"/>
            <a:ext cx="848584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same strategy, three valid homes — fund it wherever engaged ownership is the better risk-adjusted alternative to what it replaces.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8 A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0E162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0E162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0E162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0E162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0E162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9 What AI changes — and what it can’t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As machine analysis becomes ubiquitous, information-based edges are competed away faster. Engaged ownership creates the change rather than reads it — the least commoditised style.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01173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182153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Investment style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50653" y="2292096"/>
            <a:ext cx="3767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53068" y="2292096"/>
            <a:ext cx="3577222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AI changes 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2292096"/>
            <a:ext cx="307246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0490" y="2292096"/>
            <a:ext cx="288226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Effect on the edge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01173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682240"/>
            <a:ext cx="1821530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Quantitative / factor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50653" y="2682240"/>
            <a:ext cx="3767422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53068" y="2682240"/>
            <a:ext cx="3577222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Known signals are replicated and arbitraged at machine speed.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2682240"/>
            <a:ext cx="307246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20490" y="2682240"/>
            <a:ext cx="2882260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More crowded — published factors already fade ~58% post-publication (McLean &amp; Pontiff, 2016).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443020"/>
            <a:ext cx="201173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443020"/>
            <a:ext cx="1821530" cy="8193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&amp; value (fundamental)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50653" y="3443020"/>
            <a:ext cx="3767422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53068" y="3443020"/>
            <a:ext cx="3577222" cy="8193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LLMs already match or beat analysts at predicting the direction of earnings (Kim, Muhn &amp; Nikolaev, 2024).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8075" y="3443020"/>
            <a:ext cx="307246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20490" y="3443020"/>
            <a:ext cx="2882260" cy="8193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analytical edge commoditises; the crowd grows and the edge thins.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262323"/>
            <a:ext cx="201173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4262323"/>
            <a:ext cx="1821530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Passive / index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50653" y="4262323"/>
            <a:ext cx="3767422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53068" y="4262323"/>
            <a:ext cx="3577222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Method unchanged — but more capital chases a shrinking pool of active alpha.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8075" y="4262323"/>
            <a:ext cx="307246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20490" y="4262323"/>
            <a:ext cx="2882260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Concentration and reflexivity risk rise (see §2–3).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906060"/>
            <a:ext cx="2011730" cy="103388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906060"/>
            <a:ext cx="1821530" cy="1033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Engaged ownership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50653" y="4906060"/>
            <a:ext cx="3767422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53068" y="4906060"/>
            <a:ext cx="3577222" cy="1033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Alpha comes from changing the earnings trajectory from a board seat — not from reading public data faster. AI augments our sourcing and diligence; it can’t replicate access, influence or execution.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8075" y="4906060"/>
            <a:ext cx="3072460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20490" y="4906060"/>
            <a:ext cx="2882260" cy="1033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Least commoditised — the edge is created, not discovered.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76492"/>
            <a:ext cx="8851613" cy="53644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85230" y="6076492"/>
            <a:ext cx="8558998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When everyone can analyse, analysis stops being an edge. The durable edge is the one AI can’t run — changing the company itself.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10 Aligned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0E162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0E162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0E162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0E162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11 Diversification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0E162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0E162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0E162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0E162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12 Governance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0E162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0E162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0E162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0E162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13 Why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61913"/>
            <a:ext cx="8924767" cy="4096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46" y="6369100"/>
            <a:ext cx="8924767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And the opportunity set is deep and global: ~50,000 listed companies worldwide (World Federation of Exchanges, 2024); the investable MSCI ACWI IMI spans ~8,800 large-, mid- and small-cap names across 23 developed and 24 emerging markets — about 1,600 of them mid-caps (MSCI, 2024). Our €50m–€3bn target band, in markets with a stable legal system, is a large subset.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14 Why mid-cap management listens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structural reason engaged ownership works here: capable operators with predictable blind spots, and the room to act on good advice.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BLIND SPOT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Mid-cap CEOs are usually promoted from sales or operations — strong in their domain, first-time chief executives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have not run capital allocation, M&amp;A, financing or board strategy before — predictable, correctable gaps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know it — so credible, experienced owners are welcomed, not resisted, unlike at entrenched large-caps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WHAT IT MEANS FOR AN ENGAGED OWNER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 board seat is genuinely productive — advice is acted on, not filtered through layers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Change is collaborative, not a proxy fight — faster, cheaper, less headline risk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owner supplies exactly the missing experience: capital discipline, focus and a wider strategic lens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93536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0599" y="6193536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Capable management with a known blind spot, in a company small enough to change: the conditions under which engaged ownership compounds.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15 Why boards say yes — constructive control, not a proxy war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Four structural reasons mid-cap boards adopt the plan — the same edge Cevian, ValueAct and TCI built, applied where it meets the least resistance.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122" y="2418892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capital-allocation blind spot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22" y="2828544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Mid-cap CEOs are first-time chiefs promoted from operations or sales — they have rarely run M&amp;A, financing or portfolio capital allocation. Firms systematically misallocate across divisions and are slow to correct it (Scharfstein &amp; Stein, 2000; Lindlbauer, 2025) — a real, correctable gap they know they have.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81775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81775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71975" y="2418892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Industrial-peer credibility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1975" y="2828544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owner arrives as a 20-year operator who speaks ROIC, ROIIC and operations — not a financial engineer. Met as a peer who supplies the missing experience, defensiveness gives way to collaboration.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22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9122" y="4467148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board seat is the start, not a threat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22" y="4876800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In the Nordics the nomination committee is shareholder-led and rarely includes sitting directors — owners reshape boards without a public fight. Secured as a precondition, it is the proven, low-cost route to change (Bebchuk, Brav, Jiang &amp; Keusch, 2020) versus the ~$10.7m and entrenchment a proxy fight triggers (Gantchev, 2013).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81775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81775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71975" y="4467148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We fund their best business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71975" y="4876800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Quality-core constructivism: cut the loss-making “growth-trap” adjacencies and reinvest in the winning core. Management complies because we champion the part of the company they are proud of — not break up the house.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6388608"/>
            <a:ext cx="889550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30" y="6388608"/>
            <a:ext cx="863215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 proxy fight is expensive and breeds defenses; a board seat by agreement is faster, cheaper and collaborative — which is why ~two-thirds of engagements succeed without ever seeking control (Brav, Jiang, Partnoy &amp; Thomas, 2008).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16 The evidence: constructive engagement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Three decades of peer-reviewed research — across the US and Europe — converge on the same finding.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450653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022" y="2292096"/>
            <a:ext cx="227508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Study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9576" y="2292096"/>
            <a:ext cx="1865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84676" y="2292096"/>
            <a:ext cx="16898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What it covers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998" y="2292096"/>
            <a:ext cx="457942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50098" y="2292096"/>
            <a:ext cx="440386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What it establishes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4022" y="2682240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Brav, Jiang, Partnoy &amp; Thomas (2008) · J. Finance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89576" y="2682240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84676" y="2682240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1,000+ US engagements, 2001–06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998" y="2682240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50098" y="2682240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Activists “seldom seek control” and are “nonconfrontational”; ~2/3 reach full or partial success; +7% announcement return with no reversal; payout, operating performance and CEO turnover all rise.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521049"/>
            <a:ext cx="2450653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4022" y="3521049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Becht, Franks, Grant &amp; Wagner (2017) · Rev. Fin. Studies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89576" y="3521049"/>
            <a:ext cx="1865422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84676" y="3521049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1,740 engagements, 23 countries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998" y="3521049"/>
            <a:ext cx="4579429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50098" y="3521049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Outcomes and market responses are similar in Europe and North America — the playbook travels; board representation is a central, value-creating outcome.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359859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4022" y="4359859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Becht, Franks, Mayer &amp; Rossi (2009) · Rev. Fin. Studies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9576" y="4359859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84676" y="4359859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Clinical study — Hermes UK Focus Fund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54998" y="4359859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50098" y="4359859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Returns come from engagement, not stock-picking — via private, cooperative interventions: refocus on the core, return cash, change the CEO / chair.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198668"/>
            <a:ext cx="2450653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4022" y="5198668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Bebchuk, Brav, Jiang &amp; Keusch (2020) · J. Fin. Economics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89576" y="5198668"/>
            <a:ext cx="1865422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84676" y="5198668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US settlement agreements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54998" y="5198668"/>
            <a:ext cx="4579429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50098" y="5198668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Boards settle by granting board seats — the intermediary step to the operational and leadership change activists seek. Exactly the precondition model.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37478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4022" y="6037478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Gantchev (2013) · J. Fin. Economics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89576" y="6037478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84676" y="6037478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1,492 campaigns, 2000–07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754998" y="6037478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50098" y="6037478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campaign escalating to a proxy fight costs ~$10.7m; settling at the board-representation stage avoids most of it — collaboration is cheaper.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8922" y="6993331"/>
            <a:ext cx="8851613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academic record converges with our own 38 engagements: control secured cooperatively through a board seat is how operational value is created.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17 What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0E1620"/>
                </a:solidFill>
                <a:latin typeface="Arial"/>
              </a:rPr>
              <a:t>  for sourcing and underwriting correctable, undervalued companies.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0E162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0E1620"/>
                </a:solidFill>
                <a:latin typeface="Arial"/>
              </a:rPr>
              <a:t>  board seats won and value delivered across multiple market cycles.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0E1620"/>
                </a:solidFill>
                <a:latin typeface="Arial"/>
              </a:rPr>
              <a:t>  and a stable, long-tenured team that invests its own capital.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0E162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1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Team &amp;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   </a:t>
            </a:r>
            <a:r>
              <a:rPr sz="1000" b="1">
                <a:solidFill>
                  <a:srgbClr val="FFFFFF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38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16.3%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6.2%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38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1.3 The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CEO/CIO of Custos, Investment AB Öresund and Creades; CEO of Brokk; investment banker at Lehman Brothers and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1.4 A risk system that engineers out permanent loss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Risk is controlled before the investment is made — through valuation, diversification and influence — not managed after the fact.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BUILT ON THREE PILLARS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701747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76" y="2701747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015" y="2838297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Predictability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015" y="3150412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Only durable, market-leading cores in slow-moving industries — businesses whose future demand we can underwrite.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76" y="395020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2076" y="395020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3015" y="4086758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015" y="4398873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hard valuation floor: value the rectifiable core, assign zero to “growth-trap” divisions — a 30–40% margin of safety vs a PE bidder.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76" y="519866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76" y="519866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015" y="5335219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Influence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015" y="5647334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board seat as the “kill switch” — the ability to stop one bad decision lowers risk below any passive or active manager.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921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AUTOMATIC GUARDRAILS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921" y="2701747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Core &amp; satellite: a 30-stock equal-weighted index compounds all unallocated capital; 8–12 concentrated ideas sit on top.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93921" y="3599078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Entry gauntlet: every idea must clear a ≥12% expected IRR and ≤20% probability of a 30% drawdown before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921" y="4496409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Eleven standardised risk tags cap any single macro/business factor at ~20% of the concentrated book.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921" y="5393740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Hard triggers at −10% / −20% / −30% force a mandatory re-underwrite — and an exit where the thesis is broken — removing emotion and PM bias.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system is designed to make permanent capital loss structurally unlikely — not merely to react to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1.5 The ownership playbook, honed over 38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24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38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2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opportunity &amp;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 · CONSTANT MULTIPLE)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+40% is pure earnings and mix — the same multiple on a cleaner, higher-ROIIC core. Any re-rating is upside we underwrite at zero.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(earnings inflection)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Earnings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2.5 The same playbook as mid-market PE — without its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value creation in mid-cap businesses, but in a public wrapper that removes private equity’s structural drags.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3511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 private equity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engaged owner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643225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643225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643225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643225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Market + ~40% control premium — pays up front for the right to fix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643225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643225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discount to the core’s value at “shareholder exhaustion” — gets that right for free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26745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26745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26745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26745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10-year lock-up, blind pool; capital trapped until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26745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26745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Listed, daily-priced positions — LPs keep liquidity and can exit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3891686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389168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Fees &amp; capital efficiency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3891686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389168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2&amp;20 on committed capital; fee drag while undeployed dry powder waits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3891686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389168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Lower fees; capital is deployed, not sitting in a capital-call queue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51591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51591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The J-curve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51591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51591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Opaque, model-marked write-downs before any mark-up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51591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51591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Live and visible — a tradable entry point, not a hidden cost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140147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14014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Transparency &amp; control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140147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14014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Annual mark-to-model; thesis underwritten once at close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140147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14014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Daily public scoreboard; board control secures cash flow, capex and pay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46" y="5764377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0130" y="576437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Scalability for 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21461" y="5764377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09245" y="576437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Rational to skip: 10× more capital per buyout, richer fees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421" y="5764377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57206" y="576437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Exactly why the niche stays open — little competition for these assets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2346" y="6564172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Private-equity-style operational turnarounds, imported into public markets — keeping the liquidity, transparency and lower fees PE gives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2.6 Why the specialist, not the household name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Recommending Athanase over a brand name is a choice for structural alpha over institutional inertia.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463076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4761" y="2292096"/>
            <a:ext cx="1272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1865422" y="2292096"/>
            <a:ext cx="3694268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7838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household name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691" y="2292096"/>
            <a:ext cx="3694268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2106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Athanase — the specialist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4761" y="2701747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Scale &amp; influence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65422" y="2701747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67838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$10bn+ AUM forces them into large- and mega-caps, where one owner rarely shifts the agenda and growth is incremental.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59691" y="2701747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2106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Mid-market (€50m–€3bn), where a single board seat changes the outcome — the high-return, low-competition lane the giants left behind.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579571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4761" y="3579571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Return source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65422" y="3579571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67838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Large buyouts are leveraged beta — ~0.89 correlated to small/mid equities once de-smoothed; driven by GDP, rates and multiples.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59691" y="3579571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2106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Idiosyncratic, event-driven alpha at 0.44 correlation — a genuine diversifier, not a duplicate of your equity book.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457395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761" y="4457395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&amp; structure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65422" y="4457395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967838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~40% control premium up front, a 10-year blind-pool lock-up, and fees on undeployed dry powder.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59691" y="4457395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2106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Entry at “shareholder exhaustion” — the turnaround effectively for free — with daily liquidity and zero capital-call liability.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5335219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4761" y="5335219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What you’re buying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65422" y="5335219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67838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brand — but brand recognition does not compound capital.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59691" y="5335219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2106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Asymmetric capture (93% up / 43% down) and a validated 16.3% net, +7% worst-entry record — institutional process, not a logo.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6330086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53" y="6330086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recognition does not compound capital — asymmetric capture does. The edge is the very lane the household names had to abandon as they scaled.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2346" y="7003084"/>
            <a:ext cx="9217382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De-smoothed large-buyout correlation to small/mid-cap equities ~0.89 (Two Sigma / Venn, 2024; Couts, Gonçalves &amp; Rossi, 2020; Boyer et al., 2018). Athanase correlation 0.44 (real). See references.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3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How we invest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   </a:t>
            </a:r>
            <a:r>
              <a:rPr sz="1000" b="1">
                <a:solidFill>
                  <a:srgbClr val="FFFFFF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3.1 How decisions are made: three tollgates, clear owners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idea passes through the same three gates — each with an explicit bar and a named decision-maker. The process is documented, governed and repeatable.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1 · Valuation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SOURCING &amp; SCREENING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it cheap enough even if we change nothing?”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The core business alone justifies the price — a 30–40% margin of safety versus a private-equity bidder.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2 · The plan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RESEARCH &amp; DUE DILIGENCE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the improvement plan real — and can we deliver 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Upside quantified across the six value levers and validated with management and industry experts, with a credible path to a board seat.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Deal lead + Head of Research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3 · Go / No-Go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INVESTMENT COMMITTEE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“Right risk, right size, right fit?”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Within risk and portfolio limits, conviction-sized, with no better use of the capital available.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Committee — CIO + PMs; risk independent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047232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047232"/>
            <a:ext cx="8485844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Repeatable by design — the same gates the team has run since 2006, a written investment case, minuted decisions, and every holding re-underwritten each quarter. About 1 in 1,000 screened names is bought.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553" y="6827520"/>
            <a:ext cx="877845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A “no” at any gate ends the process — most ideas are rejected at Tollgate 1 or 2, long before capital is at risk.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3.2 Sourcing &amp; screening: from ~20,000 to a shortlist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Five sourcing channels feed a funnel that narrows our moat-scored universe — across every market with a stable legal system that supports ownership (Europe, Japan, Korea, Australia and more) — to a handful of candidates.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FIVE SOURCING CHANNELS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Network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Own research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Interviews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Company visits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External experts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15318" y="334548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20,000   </a:t>
            </a:r>
            <a:r>
              <a:rPr sz="880">
                <a:solidFill>
                  <a:srgbClr val="0E1620"/>
                </a:solidFill>
                <a:latin typeface="Arial"/>
              </a:rPr>
              <a:t>moat-scored universe (from our ~60k database)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54241" y="3950208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7,200   </a:t>
            </a:r>
            <a:r>
              <a:rPr sz="880">
                <a:solidFill>
                  <a:srgbClr val="0E1620"/>
                </a:solidFill>
                <a:latin typeface="Arial"/>
              </a:rPr>
              <a:t>in our selected geographies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93164" y="4554931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2,800   </a:t>
            </a:r>
            <a:r>
              <a:rPr sz="880">
                <a:solidFill>
                  <a:srgbClr val="0E1620"/>
                </a:solidFill>
                <a:latin typeface="Arial"/>
              </a:rPr>
              <a:t>with a market cap between €50m and €3bn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32087" y="515965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Shortlist   </a:t>
            </a:r>
            <a:r>
              <a:rPr sz="880">
                <a:solidFill>
                  <a:srgbClr val="0E1620"/>
                </a:solidFill>
                <a:latin typeface="Arial"/>
              </a:rPr>
              <a:t>suitable shareholder base for constructive ownership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5822899"/>
            <a:ext cx="8873559" cy="5657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5230" y="5822899"/>
            <a:ext cx="8558998" cy="565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First tollgate — is the valuation attractive even if we change nothing? We only proceed when the core alone justifies the price.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Due diligence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3.3 Due diligence: is the competitive position durable?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diligence has one goal — the sustainability of the moat. We build the view from proprietary data, then field-test it with everyone who knows the company.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35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Economic reality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99306" y="2292096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Our financial database spans just under 60,000 companies; we restate their accounting numbers into economic reality — separating the true performance of the profitable core from management’s newer strategic pivot, the part destroying value.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22" y="3208934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0599" y="3208934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Moat &amp; CEO scoring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99306" y="3208934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From that universe — minus industries we don’t cover — we do deeper work on ~20,000 companies: our own moat scores and CEO evaluation distil to a real target universe of about 2,500 companies.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125772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0599" y="4125772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Field-tested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9306" y="4125772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We then interview customers (quality, product ROI, competitive position), competitors, suppliers, former employees and former directors — to a structured question set built over 20 years, including what our own mistakes taught us.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5042611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0599" y="5042611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The incumbents, last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99306" y="5042611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Only then do we hear how current management and the board see the company — testing their view against the evidence we have already built, not the other way round.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5998464"/>
            <a:ext cx="8873559" cy="79979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8922" y="5998464"/>
            <a:ext cx="51207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807" y="6096000"/>
            <a:ext cx="8485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880" b="1" i="0">
                <a:solidFill>
                  <a:srgbClr val="152130"/>
                </a:solidFill>
                <a:latin typeface="Arial"/>
              </a:rPr>
              <a:t>WHERE WE HUNT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6369100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Slow-innovation industries where the future is predictable and market share has not shifted more than ~2% in five years — so our read on the competitive position is as certain as it can be.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Research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3.4 Research &amp; due diligence: four analytical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Idea generation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Internal research, our industry network and external advisors — plus meetings with company management, board members or former employees, and dialogue with other investors.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Financial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In-depth analysis of public financials; comparison with industry standards and similar businesses; interviews with senior and subsidiary management and with competitors; and an estimate of the optimal capital structure and M&amp;A headroom.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Operational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Interviews with management and selected board members; discussions across our network of industry leaders; visits to competitors, customers and suppliers; and interviews with former employees and board members.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Validation of the operating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Value the potential operational and structural improvements; pressure-test the plan with management and industry experts and secure their commitment; and select potential board members (and, if needed, a new management team).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Second tollgate — value the improvement programme across six levers: organic growth, M&amp;A, cost, structural, operational and financial.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Execute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3.5 Decision, execution and board engagement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37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team meeting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Discuss the analysis, the recommended size of the investment, and the risk and portfolio impact.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6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committee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Review the recommendation, the stake size and the risk and portfolio impact, and challenge the team — the third tollgate and the final Go / No-Go decision.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7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Trade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Work with our prime brokers to build the stake in the most cost- and time-efficient way, tracking any new information that could change the case.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8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Inform company, board &amp; stakeholders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Brief the Chairman and CEO, present the case to co-investors, secure at least one board seat for the Athanase team, and align subsidiary managers behind the plan.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Roughly one investment a year clears all three tollgates. The board seat is the engine of both value creation and risk control.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Engage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3.6 Constructive by design — agreement before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Nordic governance model, exported and honed over 20 years: we secure the board’s agreement before we commit — and never stake our reputation on a public fight.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HOW WE SECURE CHANGE WITHOUT A FIGHT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Nordic roots: there the nomination committee is appointed by shareholders and rarely includes sitting directors — owners reshape the board, incumbents don’t defend it. We built the model there and exported it.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Agreement before capital: we secure the board’s alignment before committing a larger position — the engagement risk is underwritten before the capital is.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pre-screen management and run a behavioural analysis, so we know how each board and CEO will respond before we engage.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Honed over 20 years by trial and error with immediate feedback — every engagement reinforces what works.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DISCIPLINE — AND THE BACKSTOP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have never needed a public fight to win a board seat — and will not stake a 20-year reputation on one.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If alignment can’t be reached, we walk away. That is cheaper than being wrong: no capital committed, no reputational toll, no protracted defense.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Once we hold a position, if the board obstructs we replace the board and management — through the shareholder-led committee, not a proxy war.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In every case where that has been required, we have secured the change.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Constructive by default, decisive when required: agreement before capital, the willingness to walk away, and a shareholder-led route to change the board and management if needed.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People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3.7 Evaluating the board and management — before we commit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People decide whether the plan gets executed — so management and board quality is underwritten as rigorously as the numbers, and it gates the investment.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WE ASSESS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Capability &amp; track record: operational strength versus the capital-allocation gap — their history of M&amp;A, financing and capital returns, and whether they built or diluted the core.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Incentives &amp; alignment: pay-for-performance, ownership and skin in the game, and any related-party or governance red flags.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Behavioural profile: how the CEO and chair respond to scrutiny and change — collaborator, fence-sitter or obstructer — read from references, the public record and direct interaction.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Board &amp; governance: independence, the nomination-committee structure, and whether owners can reshape the board without a public fight.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HOW IT GATES THE DECISION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is a tollgate input: a credible path to alignment is a precondition — no path, no position.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sets the engagement plan: who to back, who to replace, and what to expect the moment we engage.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sizes the risk: management and execution risk is the one a cheap stock cannot survive — so it is underwritten, not assumed.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backstop: if the read is wrong and the board obstructs, board control lets us change it — otherwise we walk away.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5149900"/>
            <a:ext cx="8895505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22" y="5149900"/>
            <a:ext cx="51207" cy="89733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807" y="5227929"/>
            <a:ext cx="8485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152130"/>
                </a:solidFill>
                <a:latin typeface="Arial"/>
              </a:rPr>
              <a:t>THE PROPRIETARY EDGE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807" y="5520537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proprietary database of ~20,000 CEOs — adjusted for industry and size — benchmarks each management team’s real track record. For the behavioural read we bring in psychologists to assess the actions of the board and management, and apply our own interviewing — a core skill honed over countless meetings — to hear what they really say and mean.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This is where the investment process and the risk system meet: it decides whether we invest, how we engage, and how we protect the capital once we do.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Boardroom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3.8 In the boardroom: consensus, one conversation at a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structured divide-and-build approach — Sun Tzu’s principle of taking one position at a time — applied to align an entire governing team behind the plan.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40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5969" y="2292096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Map every motivation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84" y="2292096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One-on-one with each director and senior manager to understand their incentives, priorities and what truly matters to them — whether they have articulated it or not.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22" y="3228441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5969" y="3228441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Profile the whole team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84" y="3228441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We build a profile of every member of the governing team; with psychologists we model how each behaves in a group — not just one-on-one — anticipating the room before we enter 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164787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5969" y="4164787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Open with a small, reasonable ask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84" y="4164787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Begin with a modest, easy-to-accept proposal. Early agreement is easy to give and sets a constructive, consistent tone for what follows.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5101132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5969" y="5101132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Win agreement one by 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60384" y="5101132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Secure each director individually and, with their consent, carry that endorsement to the next — building momentum and peer support so consensus forms before any formal meeting.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037478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5969" y="6037478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Build from there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0384" y="6037478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Each small commitment makes the next step the natural, consistent choice — so the board arrives aligned, and decisions pass without a public fight.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same approach aligns management. Done well, the hard decisions are agreed quietly, in advance — not fought over in public.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4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Risk, honestly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   </a:t>
            </a:r>
            <a:r>
              <a:rPr sz="1000" b="1">
                <a:solidFill>
                  <a:srgbClr val="FFFFFF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41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Automatic −10/−20/−30% triggers force a mandatory re-underwrite — removing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4.2 Which risks we are trying to avoid — and why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Four levers — knowledge, influence, diversification and low leverage — each aimed at a specific risk we refuse to carry.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231191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20409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risk we refuse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0114" y="2292096"/>
            <a:ext cx="3255345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2530" y="2292096"/>
            <a:ext cx="3065145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Why it is the one that matters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25460" y="2292096"/>
            <a:ext cx="3365076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27875" y="2292096"/>
            <a:ext cx="3174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the system removes 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701747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701747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Permanent loss of capital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70114" y="2701747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72530" y="2701747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only loss that never recovers — and the one that ends careers.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25460" y="2701747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27875" y="2701747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Enter at the valuation floor; value only the rectifiable core; a structural 30–40% margin of safety.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350361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350361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/ execution risk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70114" y="3350361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72530" y="3350361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cheap stock can still be run into the ground from the inside.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25460" y="3350361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27875" y="3350361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Board seats and control posts — chair and committees — so we hold the levers to act, not just advise.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998976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3998976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Concentration risk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70114" y="3998976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72530" y="3998976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One bad underlying driver can sink a focused book.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25460" y="3998976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27875" y="3998976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Hard limits on the economic drivers — sector, cycle, geography, maturity — never on industry labels.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647590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647590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Leverage / solvency risk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670114" y="4647590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72530" y="4647590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Debt turns a drawdown into a wipeout and forces selling at the bottom.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25460" y="4647590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27875" y="4647590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Leverage is low and isolated to a single investment — never at the fund level.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5296204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1338" y="5296204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Unwanted, uncompensated exposure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70114" y="5296204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72530" y="5296204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FX, raw materials and weak divisions add risk we are not paid to take.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25460" y="5296204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27875" y="5296204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Hedged or carved out — we keep only the exposure we actually underwrote.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5944819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338" y="5944819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Behavioural “hold-the-loser” risk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70114" y="5944819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72530" y="5944819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Conviction curdles into denial; managers average down on emotion.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925460" y="5944819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27875" y="5944819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Automatic −10/−20/−30% triggers force a mandatory re-underwrite — and a determined (not forced) exit if the thesis is broken.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6729984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30" y="6729984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We do not try to avoid volatility — we try to avoid the losses that do not come back. The limits and the board seat are what make that a discipline, not a hope.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4.3 Diversification by design: the risk limits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Hard limits on the underlying economic drivers — not industry labels — so the portfolio can never quietly become a single bet.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414076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22385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Risk dimension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52999" y="2292096"/>
            <a:ext cx="2084884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55414" y="2292096"/>
            <a:ext cx="1909314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Max % of NAV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37883" y="2292096"/>
            <a:ext cx="4352652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40298" y="2292096"/>
            <a:ext cx="417708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it is spread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701747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701747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Sector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52999" y="2701747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55414" y="2701747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50%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37883" y="2701747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40298" y="2701747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≤ 30% in any one; at least 5 sectors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208934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208934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Economic cycle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52999" y="3208934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55414" y="3208934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60%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37883" y="3208934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40298" y="3208934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early / mid / late — at least 2 represented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716121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3716121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Development maturity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52999" y="3716121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55414" y="3716121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60%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37883" y="3716121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40298" y="3716121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early / mid / late stage — at least 2 represented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223308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223308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Geography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52999" y="4223308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55414" y="4223308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50%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37883" y="4223308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40298" y="4223308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≤ 30% in any one; at least 4 of 6 regions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4730496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1338" y="4730496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Core ownership stake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52999" y="4730496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55414" y="4730496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40%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37883" y="4730496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40298" y="4730496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8–12 high-conviction positions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5237683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338" y="5237683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Single financial position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852999" y="5237683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955414" y="5237683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20% long / ≤ 10% short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937883" y="5237683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40298" y="5237683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satellite book; single-name shorts ≤ 30% in total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5900928"/>
            <a:ext cx="8851613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30" y="5900928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Limits are set on the underlying macroeconomic drivers, not labels. Leverage is limited and isolated to the single investment; unwanted exposures — FX, raw materials, weak divisions — are hedged out.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4.4 How risk is governed: who decides, and when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holding is re-underwritten continuously by the people closest to it — with sizing and exits owned at the committee, and operations independent.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CADENCE — RE-UNDERWRITTEN, NOT SET-AND-FORGET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Continuous monitoring of every holding against the original thesis and operating plan.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Each quarter, the company’s operating model is rebuilt from new financials — earnings power, competitive position and economic-cycle exposure re-assessed.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Stress tests on each holding’s financial and operating performance to find weak spots and refine the action plan.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WHO DECIDES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deal lead and investment team re-underwrite each name and propose the action.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Investment Committee owns position sizing and portfolio-level risk.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Operations, risk and valuation sit independent of the investment team — SEB · MUFG · KPMG verify every mark.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board seat is the lever to act — freeze bad capital allocation, change management.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And a hard backstop: automatic −10% / −20% / −30% triggers force a mandatory re-underwrite — and an exit where the thesis is broken — so no position spirals on portfolio-manager emotion.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4.5 The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“corporate raider” to “industrial constructivist”: the willingness to own publicly — and sit through a visible J-curve — is what competitors won’t, and what keeps the edge from being arbitraged away.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Visibility, not confrontation.</a:t>
            </a:r>
            <a:r>
              <a:rPr sz="1160">
                <a:solidFill>
                  <a:srgbClr val="0E1620"/>
                </a:solidFill>
                <a:latin typeface="Arial"/>
              </a:rPr>
              <a:t>  We win board seats by agreement — never a proxy war, and we walk away rather than fight — so the return comes from compounding earnings under that control, not from a public battle or a market re-rating.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0E1620"/>
                </a:solidFill>
                <a:latin typeface="Arial"/>
              </a:rPr>
              <a:t>  Few managers will own publicly and see a multi-year engagement through a visible J-curve — so headline-shy, scale-constrained capital leaves the inefficiency to those who will.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0E1620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0E1620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0E1620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4.6 Restructuring, honestly — and the headline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change is not always bloodless. Here is what we actually do — and why the headline risk is smaller, not larger, than with a brand-name activist.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WE ACTUALLY DO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reallocate capital to grow the winning core — not asset-strip for financial engineering (the raider / PE model we explicitly reject).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fix is usually redirecting investment and management focus; where cost must come out, it is to save and grow a viable business, not to dress it for a quick sale.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is done by agreement with the board and management — constructive, not imposed; we would rather walk away than fight.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don’t claim it is costless: change can affect jobs and sites, and we own that honestly.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HEADLINE QUESTION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Adversarial, brand-name activists generate far more press — proxy fights and public campaigns are their tool, and their main event.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engage privately and by agreement, so there is rarely a public “battle” to report in the first place.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global brand attracts scrutiny; it does not deflect it — the biggest names draw the most coverage.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And as a small, reversible, daily-priced sleeve, the committee is never locked into a position that turns uncomfortable in the press.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We grow good businesses, by agreement — and generate fewer headlines than the brand names, not more. We don’t pretend change is painless; we make sure it is constructive and reversible.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4.7 Earnings compound the value — re-rating is upside we don’t need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Historically the returns came from a better business, not a higher multiple — and board control lets us realise them without waiting for the market.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ENGINE IS EARNINGS, NOT THE MULTIPLE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20-year record was driven by earnings, ROIC and ROIIC improvement — not by paying-up multiple expansion.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Every deal is underwritten to a constant exit multiple; a re-rating is modelled at zero and treated as optional upside.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As quality rises a higher multiple is often warranted — but the return never depends on the market granting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WE DON’T NEED THE MARKET TO BANK IT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Board control returns cash directly — special dividends, buybacks and the sale of non-core divisions — without selling a share.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Concentrated stakes are realised through corporate transactions — trade sale, strategic buyer, take-private — that clear the whole block at fair value, not into thin daily liquidity.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If the market never re-rates, intrinsic value keeps compounding and we keep owning a better business — with no fund clock or capital calls, we are never a forced seller.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261811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261811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A flat share price is not a failed investment: the earnings keep compounding, the discount to intrinsic value widens, and the eventual buyer pays for the value we built.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4.8 When the thesis breaks: determined, not forced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patient case holds while the business compounds. When its competitive position weakens, we sell decisively — even at a discount — and diversification is what lets us.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WHEN WE SELL — AND WHY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thesis breaks when the competitive position weakens — surfaced by a price-drop re-underwrite, new information from our board seat, or the news flow.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Then we sell. Not because we are forced to — no margin or capital calls — but because we are determined to: redeploying into a winner beats nursing a loser.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accept that the mark falls meanwhile: in an illiquid name our own selling pushes the price toward the now-lower intrinsic value. We take that cost knowingly.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Twenty years have taught us that hesitating here costs far more than the exit discount.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WHY THE PROCESS AND PORTFOLIO MAKE IT WORK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purpose of our due diligence is to avoid businesses whose competitive position will deteriorate — so this is the exception, not the rule.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hold a portfolio, not a single bet, precisely so no one thesis can sink the fund.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Diversification is what lets us sell even an illiquid stake at the necessary discount and still stay within our risk limits.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board seat that surfaces the change early is also why we often see it before the market does.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Patient while the business compounds; decisive the moment it doesn’t — and diversified enough to act.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4.9 A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Public engaged ownership marks to market every day. The destination is compounding intrinsic value;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0E1620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0E1620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0E1620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4.10 Risk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wins control to drive the operational turn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4.11 Why an allocation here is not career-ending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three institutional anxieties — mark-to-market volatility, headline risk and concentration — each disarmed by the mechanics of the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Mark-to-market volatility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ISOLATED BY MANDATE DESIGN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Sized for immunity</a:t>
            </a:r>
            <a:r>
              <a:rPr sz="760">
                <a:solidFill>
                  <a:srgbClr val="0E1620"/>
                </a:solidFill>
                <a:latin typeface="Arial"/>
              </a:rPr>
              <a:t> — a 1–3% special-situations sleeve, so no single mark can dominate the fund or trigger board-level panic.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Pre-underwritten</a:t>
            </a:r>
            <a:r>
              <a:rPr sz="760">
                <a:solidFill>
                  <a:srgbClr val="0E1620"/>
                </a:solidFill>
                <a:latin typeface="Arial"/>
              </a:rPr>
              <a:t> — a ~50% drawdown tolerance agreed with the IC up front; reallocation triggers on manager turnover or style drift — never the share price.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capital-call trap</a:t>
            </a:r>
            <a:r>
              <a:rPr sz="760">
                <a:solidFill>
                  <a:srgbClr val="0E1620"/>
                </a:solidFill>
                <a:latin typeface="Arial"/>
              </a:rPr>
              <a:t> — unlike PE’s smoothed marks and the denominator effect, there is zero capital-call liability — you are never forced to sell liquid assets at the bottom.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Headline risk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REFRAMED AS FIDUCIARY STEWARDSHIP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Constructive, not confrontational</a:t>
            </a:r>
            <a:r>
              <a:rPr sz="760">
                <a:solidFill>
                  <a:srgbClr val="0E1620"/>
                </a:solidFill>
                <a:latin typeface="Arial"/>
              </a:rPr>
              <a:t> — quality-core constructivism — profitable market leaders that welcome capital discipline, not proxy fights.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Applied governance</a:t>
            </a:r>
            <a:r>
              <a:rPr sz="760">
                <a:solidFill>
                  <a:srgbClr val="0E1620"/>
                </a:solidFill>
                <a:latin typeface="Arial"/>
              </a:rPr>
              <a:t> — board independence, pay-for-performance and capital discipline are the “G” in ESG — turning hidden governance risk into a return engine.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Defensible</a:t>
            </a:r>
            <a:r>
              <a:rPr sz="760">
                <a:solidFill>
                  <a:srgbClr val="0E1620"/>
                </a:solidFill>
                <a:latin typeface="Arial"/>
              </a:rPr>
              <a:t> — aligned with UN PRI fiduciary duty and easy to explain to stakeholders.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Concentration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FLOORED BY HARDENED GUARDRAILS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60">
                <a:solidFill>
                  <a:srgbClr val="0E1620"/>
                </a:solidFill>
                <a:latin typeface="Arial"/>
              </a:rPr>
              <a:t> — every idea clears a tollgate where the core alone justifies the price: a structural 30–40% margin of safety.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Mechanized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automatic −10% / −20% / −30% force a mandatory re-underwrite — and an exit where the thesis is broken — removing PM emotion.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core-and-satellite buffer</a:t>
            </a:r>
            <a:r>
              <a:rPr sz="760">
                <a:solidFill>
                  <a:srgbClr val="0E1620"/>
                </a:solidFill>
                <a:latin typeface="Arial"/>
              </a:rPr>
              <a:t> — 8–12 conviction ideas sit on a 30-stock equal-weighted core that absorbs idiosyncratic shocks.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125260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9861" y="6125260"/>
            <a:ext cx="841269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Career risk is engineered out — sized so no mark dominates, governed so headlines read as stewardship, floored so concentration cannot blow up: a bad quarter is underwritten, not a surprise.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5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20-year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53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5.1 Proof: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54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Athanase fell ~1.5% on average versus the market’s ~3.8% —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18× growth of capital vs 3.2× for the market since 2006.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5.2 AIP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35 of 38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5.3 Prior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21 deals  ·  weighted MOIC 2.6x  ·  capital-weighted IRR 38.4% (+25 pts vs index)  ·  average IRR 67.7% (+53.5 pts)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of the investment team. Losses shown in italic. Capital in SEK; ~$400M invested over the period.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5.4 Earlier deals — part of the team (1996–2006)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38-deal record is the full team since 2006. Earlier, members of the team led these larger deals from 1996 — the same engaged-ownership playbook, through earlier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 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Skanska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Svedala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ASG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SCA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Perbio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119%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4.2x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Perstorp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Acando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Pergo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-22%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5.2x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38922" y="4096505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48653" y="4096505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10 deals  ·  weighted MOIC 2.0x  ·  capital-weighted IRR 22% (+9.9 pts vs index)  ·  average IRR 31.7% (+19.6 pts)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8922" y="4545171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led by members of the current team from 1996, before the full team formed in 2006. Losses shown in lighter type. Capital in SEK; SEK 7.2bn invested → SEK 14.3bn returned.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5.5 Independently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58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19.3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5.6 Repeatable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review tested the “you can’t rely on the big winners” objection directly against 38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92% deal-level hit rate (35 of 38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 of 38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decade-definers, not one: Klarna 28× (2007) and Athanase Tech 5.4× (2021)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5.7 Why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6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What it means for your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   </a:t>
            </a:r>
            <a:r>
              <a:rPr sz="1000" b="1">
                <a:solidFill>
                  <a:srgbClr val="FFFFFF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61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6.1 What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62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15.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6.2 Lower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6.2%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452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4%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6.3 A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64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6.4 A drawdown you can actually defend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fear is defending a halved position in a live crisis review. The arithmetic — and the down-capture — make this the line item you point to with relief, not apology.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65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279499" cy="41452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41452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807" y="2467660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FULL-FUND ARITHMETIC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2877312"/>
            <a:ext cx="3950306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 i="0" spc="-90">
                <a:solidFill>
                  <a:srgbClr val="314359"/>
                </a:solidFill>
                <a:latin typeface="Times New Roman"/>
              </a:rPr>
              <a:t>≈ 1% of the fund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807" y="3540556"/>
            <a:ext cx="395030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is what a 50% drawdown in a 2% sleeve costs at the total-fund level — inside a normal month’s equity noise.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807" y="4291582"/>
            <a:ext cx="395030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≈ 1.5% at a 3% sleeve — recoverable, and small.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807" y="4925568"/>
            <a:ext cx="3950306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Sized so that no single name — and no sleeve-wide drawdown — can move the fund’s outcome. The position is liquid and daily-priced, so the committee can exit at will: it is never locked in defending 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7614" y="2292096"/>
            <a:ext cx="4352652" cy="4145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WHY IT CUSHIONS, NOT AMPLIFIES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At 43% down-capture, in a macro selloff the sleeve falls roughly half as much as the equity book — it softens the crisis, it doesn’t add to it.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Down months average ~1.5% versus the market’s ~3.8%.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Daily marks and zero capital calls — no forced selling of good assets at the bottom (the denominator effect that traps PE allocators).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two ~50% episodes were idiosyncratic and fully recovered (2010, 2020); Sortino 2.40.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A 50% drawdown on a small, liquid, low-down-capture sleeve is a ~1% fund event you can exit at will — not a career-defining hole you are locked into. The PE alternative is also down ~50%, but invisible and illiquid.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6.5 What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66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trade-off: every allocation raises return and lowers downside risk — so to a committee this is a mathematical risk-reduction tool, not a risky bet, sized within prudent 3–8% limits.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7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Versus private equity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   </a:t>
            </a:r>
            <a:r>
              <a:rPr sz="1000" b="1">
                <a:solidFill>
                  <a:srgbClr val="FFFFFF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67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7.1 What allocators actually earn from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Stripping out headline-IRR marketing, cash-matched (PME) data shows PE earns a real ~3–6 pt premium over public markets — but lands below Athanase.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68</a:t>
            </a:r>
          </a:p>
        </p:txBody>
      </p:sp>
      <p:pic>
        <p:nvPicPr>
          <p:cNvPr id="10" name="Picture 9" descr="d_pe_reali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579118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47266" y="2292096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3574" y="2389632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HEADLINE ≠ REALISED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574" y="2643225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Top-quartile IRR is shown as ~18–22%, struck on drawn capital. Cash-matched to public markets, the real figure is far lower.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47266" y="3560064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574" y="365760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REAL PREMIUM IS GENUINE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574" y="3911193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PME studies agree: ~1.2× wealth multiple, a real 3–5 pt premium (Cambridge; Kaplan-Harris-Jenkinson / Burgiss; Cliffwater; BVCA).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47266" y="4828032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574" y="4925568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BUT BELOW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574" y="5179161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Allocators realise ~11–14% from PE. Athanase has delivered ~16% — net, real, and fully invested from day one.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PE’s premium over public markets is real — but Athanase’s ~16% sits above even what the best allocators realise, with daily liquidity.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Sources: Cliffwater (US state pensions, 2000–22) PE 11.4% vs PME 5.8%; BVCA / Capital Dynamics (UK &amp; Europe, 2001–23) 14.1% vs 7.7%; corroborated by Cambridge Associates mPME 1.15–1.25× and Kaplan-Harris-Jenkinson KS-PME 1.20–1.27×. Athanase real, net, 2006–2025. See references.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7.2 Switching a private-equity sleeve into Athanase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On true risk, PE and Athanase carry similar volatility — but Athanase’s is mostly upside, and it returns more, with daily liquidity.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69</a:t>
            </a:r>
          </a:p>
        </p:txBody>
      </p:sp>
      <p:pic>
        <p:nvPicPr>
          <p:cNvPr id="10" name="Picture 9" descr="d_p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04070" cy="28164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2076" y="6096000"/>
            <a:ext cx="4535537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De-smoothed, PE’s ~10% reported vol is really ~28% (PIMCO; AQR beta 1.5–1.6) — about Athanase’s 27%, but levered downside, not upside.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57345" y="222381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652" y="2311602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997" y="230184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~16% vs ~11–14% realised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652" y="2574949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Above what even the best allocators realise from PE (Cliffwater; BVCA).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57345" y="3043122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652" y="3130904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997" y="3121150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vs 10-yr lock-up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652" y="3394251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Listed positions you can exit; no blind-pool capital calls.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3862424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652" y="3950206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FEES &amp; CAPITAL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6997" y="3940453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Lower drag, fully invested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652" y="4213554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No fees on undeployed dry powder waiting in a queue.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57345" y="4681726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652" y="4769509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TRANSPARENCY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997" y="4759755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marks, real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652" y="5032856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public scoreboard plus board control of cash flow, capex and pay.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57345" y="550102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652" y="5588811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RISK, HONESTLY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997" y="557905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Similar vol, opposite shape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652" y="5852158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PE’s true ~28% vol is levered downside; Athanase’s 27% is mostly upside (downside only ~11%).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Once PE’s smoothing is removed, the two carry similar volatility — but Athanase returns more, its risk is upside not downside, and it stays liquid and transparent.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Athanase: net monthly returns, 235 months (2006–2025), real (total vol 27%). PE realised ~11–14% vs headline IRR ~18–22%; reported ~10% vol de-smoothed to ~25–30% (PIMCO; AQR beta 1.5–1.6). See references.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7.3 The volatility gap is settled in the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Cash-flow models, secondary-market prices and econometric unsmoothing all converge: PE’s true risk is roughly 2–3× its reported figure.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70</a:t>
            </a:r>
          </a:p>
        </p:txBody>
      </p:sp>
      <p:pic>
        <p:nvPicPr>
          <p:cNvPr id="10" name="Picture 9" descr="d_pe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9" y="2243328"/>
            <a:ext cx="4834738" cy="28895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8075" y="2292096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383" y="2389632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CASH-FLOW NPV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383" y="2613964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Buyout vol 25% (vs 11% index), beta &gt; 1 — Ang, Chen, Goetzmann &amp; Phalippou (2018), J. Finance.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3286963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383" y="3384499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SECONDARY-MARKET PRICES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383" y="3608832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Traded-stake beta &gt; 2.0 vs &lt; 0.5 on NAV — Boyer, Nadauld, Vorkink &amp; Weisbach (2018).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8075" y="4281830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4379366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ECONOMETRIC UNSMOOTHING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383" y="4603699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Illiquidity creates spurious smoothness — Getmansky, Lo &amp; Makarov (2004), JFE (cited 1,300+).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5276697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383" y="5374233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CATERING / “LAUNDERING”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383" y="5598566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GPs smooth because LPs value the “phony happiness” — Jackson, Ling &amp; Naranjo (2022); Couts et al. (2020).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Independent methods, the same answer: PE is a highly-levered equity portfolio whose reported smoothness is an artefact.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60" b="0" i="0">
                <a:solidFill>
                  <a:srgbClr val="556A83"/>
                </a:solidFill>
                <a:latin typeface="Arial"/>
              </a:rPr>
              <a:t>Sources: Ang, Chen, Goetzmann &amp; Phalippou (2018); Boyer, Nadauld, Vorkink &amp; Weisbach (2018); Getmansky, Lo &amp; Makarov (2004); Couts, Gonçalves &amp; Rossi (2020); Jackson, Ling &amp; Naranjo (2022); PIMCO (2022); AQR. Bars show vol-equivalent risk; beta rows scaled for comparison. See references.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7.4 Same headline volatility — far lower real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Volatility is not symmetric. PE’s true risk is levered downside; Athanase’s is mostly upside, so its real loss risk is a fraction of PE’s.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71</a:t>
            </a:r>
          </a:p>
        </p:txBody>
      </p:sp>
      <p:pic>
        <p:nvPicPr>
          <p:cNvPr id="10" name="Picture 9" descr="d_pe_real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14211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157345" y="2292096"/>
            <a:ext cx="4169768" cy="1706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0229" y="2438400"/>
            <a:ext cx="3803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CHANCE OF A 30%+ LOSS OVER THREE YEARS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229" y="2789529"/>
            <a:ext cx="3803999" cy="1072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560" b="1">
                <a:solidFill>
                  <a:srgbClr val="556A83"/>
                </a:solidFill>
                <a:latin typeface="Times New Roman"/>
              </a:rPr>
              <a:t>~16%</a:t>
            </a:r>
            <a:r>
              <a:rPr sz="1040">
                <a:solidFill>
                  <a:srgbClr val="556A83"/>
                </a:solidFill>
                <a:latin typeface="Arial"/>
              </a:rPr>
              <a:t>   private equity</a:t>
            </a:r>
          </a:p>
          <a:p>
            <a:r>
              <a:rPr sz="2560" b="1">
                <a:solidFill>
                  <a:srgbClr val="152130"/>
                </a:solidFill>
                <a:latin typeface="Times New Roman"/>
              </a:rPr>
              <a:t>~2%</a:t>
            </a:r>
            <a:r>
              <a:rPr sz="1040">
                <a:solidFill>
                  <a:srgbClr val="556A83"/>
                </a:solidFill>
                <a:latin typeface="Arial"/>
              </a:rPr>
              <a:t>   Athanase (actual 3-yr windows)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7345" y="4213555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0229" y="4330598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VOLATILITY ≠ RISK OF 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0229" y="4584192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PE’s ~28% true vol is dominated by downside (levered, left-skewed). Athanase’s 27% is mostly upside — downside deviation only ~11%.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57345" y="5266944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229" y="5383987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RISK THAT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229" y="5637580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 large permanent loss — what allocators actually fear — Athanase’s real risk is roughly one-eighth of private equity’s.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Matched on true volatility, Athanase carries far less of the risk that actually hurts: its downside is a fraction of private equity’s.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downside vol 11% vs total 27% (real); 30%+ loss in 2% of actual rolling 3-yr windows. PE de-smoothed total vol ~28%, ~15–16% chance of a 30% drawdown over 3 years (PIMCO, 2022). See references.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7.5 PE’s “diversification” is an artefact — Athanase’s is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De-smoothed, PE is ~0.9 correlated to public equities: the same risk factors, just reported late. Athanase is genuinely uncorrelated.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72</a:t>
            </a:r>
          </a:p>
        </p:txBody>
      </p:sp>
      <p:pic>
        <p:nvPicPr>
          <p:cNvPr id="10" name="Picture 9" descr="d_pe_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16062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267075" y="2292096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28014" y="2409139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SMOOTHING ILLUSION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28014" y="266273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Quarterly appraisals lag the market, so reported correlation looks low (0.75, beta 0.41). De-smoothed it is 0.89 / beta 0.87 (Two Sigma, 2024).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67075" y="354055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28014" y="365759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SAME RISK FACTORS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8014" y="391119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 is long-only levered equity driven by GDP, rates and earnings; over 10–20 yrs its correlation to small/mid-caps is ~0.89–0.92.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7075" y="478901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28014" y="490605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CRISIS MIRAGE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8014" y="515965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severe drawdowns true correlation converges toward 1.0 — PE takes the same hit, it just reports the markdown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 adds leveraged beta dressed as diversification. Athanase, at 0.44 correlation, is the genuine diversifier in a public-equity portfolio.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correlation 0.44 / beta 0.73 to MSCI World IMI (real). PE reported 0.75 / beta 0.41 de-smoothed to 0.89 / beta 0.87 (Two Sigma / Venn, 2024); long-horizon PE–small/mid-cap correlation ~0.89–0.92. See references.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7.6 When the tide goes out: the drawdown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PE’s smooth marks feel safe in calm markets — but in a shock they trigger the exact sequence that gets a CIO fired. Engaged ownership is the fiduciary safe harbour.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3160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TRAP — HELD AT FAKE NAVs IN A CRASH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76" y="2701747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53" y="2828544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1 · The denominator effect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53" y="315041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Public equities fall 25%; PE is marked flat. The PE weight jumps from 15% to 22%+ — an instant breach of board concentration limits.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76" y="3891686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53" y="4018483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2 · The liquidity death spiral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53" y="434035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Distributions stop but capital calls keep coming. To meet them, the allocator is forced to sell liquid equities at the bottom.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76" y="5081625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53" y="5208422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3 · The secondary-market humiliation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53" y="5530291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 cure the breach, PE stakes are sold at 15–25% haircuts — publicly crystallising losses and proving the “low volatility” was a fiction.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191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SAFE HARBOUR — ENGAGED OWNERSHIP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4191" y="2701747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5868" y="2828544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Honest pricing keeps weights balanced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5868" y="315041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Daily marks mean the sleeve falls with the market — so the denominator effect never fires and no threshold is breached.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4191" y="3891686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5868" y="4018483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Zero capital-call liability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5868" y="434035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No blind pools, no surprise calls. The allocator is never forced to become a distressed seller of other assets.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4191" y="5081625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5868" y="5208422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Alpha from turnarounds, not leverage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5868" y="5530291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Returns come from board-led operational change in high-ROIIC mid-caps — not the leverage and multiple-expansion that break in a downturn.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When the tide goes out, artificially-priced illiquid assets are indefensible to a board. Engaged ownership delivers PE-like alpha while protecting portfolio balance, liquidity — and the allocator’s seat.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Mechanism described follows from PE’s appraisal-based marking and capital-call structure (see references). Illustrative; for professional investors, not investment advice.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7.7 Responsible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0E162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0E162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0E1620"/>
                </a:solidFill>
                <a:latin typeface="Arial"/>
              </a:rPr>
              <a:t>  adhering to the Six Principles for Responsible Investment.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0E162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objections we hear — and the arsenal to answer them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common declines are rarely about the returns. Each concern has a concrete, quantified rebuttal.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75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2560384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238481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objection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62730" y="2292096"/>
            <a:ext cx="6071767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5145" y="2292096"/>
            <a:ext cx="589619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arsenal — how we answer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46" y="268224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392" y="268224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“It falls between our buckets.”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tracking-error fear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62730" y="268224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94407" y="268224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0.44 correlation, 43% down-capture</a:t>
            </a:r>
            <a:r>
              <a:rPr sz="760">
                <a:solidFill>
                  <a:srgbClr val="0E1620"/>
                </a:solidFill>
                <a:latin typeface="Arial"/>
              </a:rPr>
              <a:t> — the divergence is portfolio armour, not a risk — it stops you riding the index to the bottom.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Alpha from corporate events</a:t>
            </a:r>
            <a:r>
              <a:rPr sz="760">
                <a:solidFill>
                  <a:srgbClr val="0E1620"/>
                </a:solidFill>
                <a:latin typeface="Arial"/>
              </a:rPr>
              <a:t> — stripping growth traps, reallocating to ROIIC — measurable, not macro.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When the market tanks</a:t>
            </a:r>
            <a:r>
              <a:rPr sz="760">
                <a:solidFill>
                  <a:srgbClr val="0E1620"/>
                </a:solidFill>
                <a:latin typeface="Arial"/>
              </a:rPr>
              <a:t> — that deliberate divergence defends your short-term numbers.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46" y="365760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" y="365760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“Key-person risk at a boutique.”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political cover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62730" y="365760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94407" y="365760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Segregation of duties</a:t>
            </a:r>
            <a:r>
              <a:rPr sz="760">
                <a:solidFill>
                  <a:srgbClr val="0E1620"/>
                </a:solidFill>
                <a:latin typeface="Arial"/>
              </a:rPr>
              <a:t> — operations, risk and finance sit fully independent of the investment team.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60">
                <a:solidFill>
                  <a:srgbClr val="0E1620"/>
                </a:solidFill>
                <a:latin typeface="Arial"/>
              </a:rPr>
              <a:t> — custody, administration and audit verify every move — a heavyweight institutional fortress.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The same investment team since 2006</a:t>
            </a:r>
            <a:r>
              <a:rPr sz="760">
                <a:solidFill>
                  <a:srgbClr val="0E1620"/>
                </a:solidFill>
                <a:latin typeface="Arial"/>
              </a:rPr>
              <a:t> — a 20-year playbook — institutional memory that engineers out permanent loss, not key-person risk.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463296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392" y="463296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“Capacity — only one deal a year.”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effort vs. sleeve size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62730" y="463296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94407" y="463296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3–8% sleeve is not a rounding error</a:t>
            </a:r>
            <a:r>
              <a:rPr sz="760">
                <a:solidFill>
                  <a:srgbClr val="0E1620"/>
                </a:solidFill>
                <a:latin typeface="Arial"/>
              </a:rPr>
              <a:t> — it shifts the whole equity book’s frontier up-and-to-the-left — real basis points.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fees on undeployed dry powder</a:t>
            </a:r>
            <a:r>
              <a:rPr sz="760">
                <a:solidFill>
                  <a:srgbClr val="0E1620"/>
                </a:solidFill>
                <a:latin typeface="Arial"/>
              </a:rPr>
              <a:t> — deploy once, capital works immediately.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blind-pool capital calls</a:t>
            </a:r>
            <a:r>
              <a:rPr sz="760">
                <a:solidFill>
                  <a:srgbClr val="0E1620"/>
                </a:solidFill>
                <a:latin typeface="Arial"/>
              </a:rPr>
              <a:t> — none of the administration that comes with them.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2346" y="560832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9392" y="560832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“Duration ties up our risk budget.”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comp-cycle mismatch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62730" y="560832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94407" y="560832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Down months ~1.5% vs the market’s ~3.8%</a:t>
            </a:r>
            <a:r>
              <a:rPr sz="760">
                <a:solidFill>
                  <a:srgbClr val="0E1620"/>
                </a:solidFill>
                <a:latin typeface="Arial"/>
              </a:rPr>
              <a:t> — immediate downside preservation, this year.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−10% / −20% / −30% hard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force a re-underwrite and exit a broken thesis — capping drawdowns and removing PM bias.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Worst-ever entry still +7% net</a:t>
            </a:r>
            <a:r>
              <a:rPr sz="760">
                <a:solidFill>
                  <a:srgbClr val="0E1620"/>
                </a:solidFill>
                <a:latin typeface="Arial"/>
              </a:rPr>
              <a:t> — a statistical safety blanket over the holding period.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2346" y="6710476"/>
            <a:ext cx="899792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314359"/>
                </a:solidFill>
                <a:latin typeface="Arial"/>
              </a:rPr>
              <a:t>We meet each objection where it sits — and answer it with structure, not optimism. The allocation is engineered to be defensible, not just to perform.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case for your investment committee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argument in four moves — structure, engine, downside and proof.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The mandate &amp; structure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PE-style operational value creation</a:t>
            </a:r>
            <a:r>
              <a:rPr sz="720">
                <a:solidFill>
                  <a:srgbClr val="0E1620"/>
                </a:solidFill>
                <a:latin typeface="Arial"/>
              </a:rPr>
              <a:t> — executed entirely in the public markets.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transparency and liquidity, lower fees</a:t>
            </a:r>
            <a:r>
              <a:rPr sz="720">
                <a:solidFill>
                  <a:srgbClr val="0E1620"/>
                </a:solidFill>
                <a:latin typeface="Arial"/>
              </a:rPr>
              <a:t> — and no 10-year blind-pool lock-up.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Applied corporate governance</a:t>
            </a:r>
            <a:r>
              <a:rPr sz="720">
                <a:solidFill>
                  <a:srgbClr val="0E1620"/>
                </a:solidFill>
                <a:latin typeface="Arial"/>
              </a:rPr>
              <a:t> — board independence, capital discipline and pay-for-performance — fulfilling UN PRI fiduciary duty.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The engine — quality-core constructivism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Market-leading developed-market mid-caps</a:t>
            </a:r>
            <a:r>
              <a:rPr sz="720">
                <a:solidFill>
                  <a:srgbClr val="0E1620"/>
                </a:solidFill>
                <a:latin typeface="Arial"/>
              </a:rPr>
              <a:t> — with highly profitable, durable cores — not broken turnarounds.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We enter at “shareholder exhaustion”</a:t>
            </a:r>
            <a:r>
              <a:rPr sz="720">
                <a:solidFill>
                  <a:srgbClr val="0E1620"/>
                </a:solidFill>
                <a:latin typeface="Arial"/>
              </a:rPr>
              <a:t> — the buyer of last resort after management diluted the core chasing prestige projects.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Secure the board seat</a:t>
            </a:r>
            <a:r>
              <a:rPr sz="720">
                <a:solidFill>
                  <a:srgbClr val="0E1620"/>
                </a:solidFill>
                <a:latin typeface="Arial"/>
              </a:rPr>
              <a:t> — strip the growth-trap adjacencies and reallocate capital to the core to maximise ROIIC.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The moat — engineered downside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20">
                <a:solidFill>
                  <a:srgbClr val="0E1620"/>
                </a:solidFill>
                <a:latin typeface="Arial"/>
              </a:rPr>
              <a:t> — the core alone justifies the price; zero value to weak divisions — a 30–40% margin of safety vs a PE bidder.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The board seat is the kill switch</a:t>
            </a:r>
            <a:r>
              <a:rPr sz="720">
                <a:solidFill>
                  <a:srgbClr val="0E1620"/>
                </a:solidFill>
                <a:latin typeface="Arial"/>
              </a:rPr>
              <a:t> — authority to freeze bad capital deployment the moment the macro shifts.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Mechanized discipline</a:t>
            </a:r>
            <a:r>
              <a:rPr sz="720">
                <a:solidFill>
                  <a:srgbClr val="0E1620"/>
                </a:solidFill>
                <a:latin typeface="Arial"/>
              </a:rPr>
              <a:t> — automatic −10% / −20% / −30% triggers force a re-underwrite and exit a broken thesis.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The proof — two decades of compounding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16.3% net p.a.; capital grown 18×</a:t>
            </a:r>
            <a:r>
              <a:rPr sz="720">
                <a:solidFill>
                  <a:srgbClr val="0E1620"/>
                </a:solidFill>
                <a:latin typeface="Arial"/>
              </a:rPr>
              <a:t> — across multiple market cycles.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92% deal-level hit rate (38 deals)</a:t>
            </a:r>
            <a:r>
              <a:rPr sz="720">
                <a:solidFill>
                  <a:srgbClr val="0E1620"/>
                </a:solidFill>
                <a:latin typeface="Arial"/>
              </a:rPr>
              <a:t> — a 5× MOIC roughly every two years.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93% up-capture vs 43% down-capture</a:t>
            </a:r>
            <a:r>
              <a:rPr sz="720">
                <a:solidFill>
                  <a:srgbClr val="0E1620"/>
                </a:solidFill>
                <a:latin typeface="Arial"/>
              </a:rPr>
              <a:t> — losing less than half preserves the compounding base.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protects the committee — not just the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Beyond the returns, four things an investment committee can point to — a due-diligence shield, a capital floor, peer-reviewed cover and a liquidity escape hatch.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77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Independent validation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Independently validated</a:t>
            </a:r>
            <a:r>
              <a:rPr sz="720">
                <a:solidFill>
                  <a:srgbClr val="0E1620"/>
                </a:solidFill>
                <a:latin typeface="Arial"/>
              </a:rPr>
              <a:t> — the 20-year net record was reconciled from security-level StatPro data to actual LP-level returns — not a back-test or internal spreadsheet.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20">
                <a:solidFill>
                  <a:srgbClr val="0E1620"/>
                </a:solidFill>
                <a:latin typeface="Arial"/>
              </a:rPr>
              <a:t> — custody, administration and audit by top-tier institutions verify every NAV and fee.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An air-tight paper trail</a:t>
            </a:r>
            <a:r>
              <a:rPr sz="720">
                <a:solidFill>
                  <a:srgbClr val="0E1620"/>
                </a:solidFill>
                <a:latin typeface="Arial"/>
              </a:rPr>
              <a:t> — no auditor or regulator can level an accusation of lax oversight.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No investor has lost capital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19% average net return</a:t>
            </a:r>
            <a:r>
              <a:rPr sz="720">
                <a:solidFill>
                  <a:srgbClr val="0E1620"/>
                </a:solidFill>
                <a:latin typeface="Arial"/>
              </a:rPr>
              <a:t> — regardless of the month an investor entered the fund.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+7% in the worst entry month</a:t>
            </a:r>
            <a:r>
              <a:rPr sz="720">
                <a:solidFill>
                  <a:srgbClr val="0E1620"/>
                </a:solidFill>
                <a:latin typeface="Arial"/>
              </a:rPr>
              <a:t> — the single unluckiest entry over 20 years was still positive, net.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Zero holding-period losses</a:t>
            </a:r>
            <a:r>
              <a:rPr sz="720">
                <a:solidFill>
                  <a:srgbClr val="0E1620"/>
                </a:solidFill>
                <a:latin typeface="Arial"/>
              </a:rPr>
              <a:t> — historically, no investor has lost money over a holding period.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Backed by peer-reviewed science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Settled in the literature</a:t>
            </a:r>
            <a:r>
              <a:rPr sz="720">
                <a:solidFill>
                  <a:srgbClr val="0E1620"/>
                </a:solidFill>
                <a:latin typeface="Arial"/>
              </a:rPr>
              <a:t> — 13D alpha and PE’s volatility laundering / de-smoothing are backed by the Journal of Finance and Review of Financial Studies.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0.44 correlation, by the science</a:t>
            </a:r>
            <a:r>
              <a:rPr sz="720">
                <a:solidFill>
                  <a:srgbClr val="0E1620"/>
                </a:solidFill>
                <a:latin typeface="Arial"/>
              </a:rPr>
              <a:t> — the low correlation and risk/return profile are established, not asserted.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Cover in a bad quarter</a:t>
            </a:r>
            <a:r>
              <a:rPr sz="720">
                <a:solidFill>
                  <a:srgbClr val="0E1620"/>
                </a:solidFill>
                <a:latin typeface="Arial"/>
              </a:rPr>
              <a:t> — point to the evidence, not to hope — a fundamentally sound economic engine.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A liquidity escape hatch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pricing and liquidity</a:t>
            </a:r>
            <a:r>
              <a:rPr sz="720">
                <a:solidFill>
                  <a:srgbClr val="0E1620"/>
                </a:solidFill>
                <a:latin typeface="Arial"/>
              </a:rPr>
              <a:t> — the strategy lives entirely in listed public equities.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No lock-up or capital-call queue</a:t>
            </a:r>
            <a:r>
              <a:rPr sz="720">
                <a:solidFill>
                  <a:srgbClr val="0E1620"/>
                </a:solidFill>
                <a:latin typeface="Arial"/>
              </a:rPr>
              <a:t> — none of PE’s 10-year blind-pool traps or blind extensions.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Total optionality</a:t>
            </a:r>
            <a:r>
              <a:rPr sz="720">
                <a:solidFill>
                  <a:srgbClr val="0E1620"/>
                </a:solidFill>
                <a:latin typeface="Arial"/>
              </a:rPr>
              <a:t> — if style drifts or the landscape changes, the committee can vote to pivot out seamlessly.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Is a household name really the safer choice?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instinct to reach for a tier-one brand is understandable — but for a fund our size it adds correlated risk and cost, and it is not what discharges fiduciary duty.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BRAND PROMISES COVER — BUT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“No one is fired for picking a household name.” Yet fiduciary duty is discharged by process and outcome — not by brand recognition.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mega-cap activist’s returns are leveraged beta — ~0.89 correlated to equities once de-smoothed: correlated risk dressed as diversification, at tier-one fees.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When that book falls with the market, the brand is no defence — and you have paid up for the privilege.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Reaching for the familiar name is herding; crowding into the same mega-cap trades is itself a fiduciary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ACTUALLY PROTECTS A FIDUCIARY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documented, repeatable process and a 20-year record independently reconciled and audited — SEB · MUFG · KPMG.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Daily transparency — a drawdown you can explain with facts, and exit at will — not an opaque mark you must take on faith.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Alignment — the team invests its own capital alongside yours.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genuine 0.44-correlation diversifier that defends the book when the index falls — the opposite of buying more of what you already own.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is reputational comfort, not fiduciary protection. The defensible choice is the one backed by process, independent validation and genuine diversification — not the most familiar logo.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 spc="-78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1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 (Part 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ENGAGED OWNERSHIP, ACTIVISM &amp; CAPITAL ALLOCATION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Bebchuk, L. A., Brav, A., &amp; Jiang, W. (2015). The long-term effects of hedge fund activism. </a:t>
            </a:r>
            <a:r>
              <a:rPr sz="680" i="1">
                <a:solidFill>
                  <a:srgbClr val="0E1620"/>
                </a:solidFill>
                <a:latin typeface="Arial"/>
              </a:rPr>
              <a:t>Columbia Law Review, 115</a:t>
            </a:r>
            <a:r>
              <a:rPr sz="680" i="0">
                <a:solidFill>
                  <a:srgbClr val="0E1620"/>
                </a:solidFill>
                <a:latin typeface="Arial"/>
              </a:rPr>
              <a:t>(5), 1085–1156.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Bebchuk, L. A., Brav, A., Jiang, W., &amp; Keusch, T. (2020). Dancing with activists.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137</a:t>
            </a:r>
            <a:r>
              <a:rPr sz="680" i="0">
                <a:solidFill>
                  <a:srgbClr val="0E1620"/>
                </a:solidFill>
                <a:latin typeface="Arial"/>
              </a:rPr>
              <a:t>(1), 1–41. https://doi.org/10.1016/j.jfineco.2020.01.001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Becht, M., Franks, J., Mayer, C., &amp; Rossi, S. (2009). Returns to shareholder activism: Evidence from a clinical study of the Hermes UK Focus Fund.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22</a:t>
            </a:r>
            <a:r>
              <a:rPr sz="680" i="0">
                <a:solidFill>
                  <a:srgbClr val="0E1620"/>
                </a:solidFill>
                <a:latin typeface="Arial"/>
              </a:rPr>
              <a:t>(8), 3093–3129. https://doi.org/10.1093/rfs/hhn054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Becht, M., Franks, J. R., Grant, J., &amp; Wagner, H. F. (2017). Returns to hedge fund activism: An international study.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30</a:t>
            </a:r>
            <a:r>
              <a:rPr sz="680" i="0">
                <a:solidFill>
                  <a:srgbClr val="0E1620"/>
                </a:solidFill>
                <a:latin typeface="Arial"/>
              </a:rPr>
              <a:t>(9), 2933–2971. https://doi.org/10.1093/rfs/hhx048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Brav, A., Jiang, W., Partnoy, F., &amp; Thomas, R. (2008). Hedge fund activism, corporate governance, and firm performance.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1729–1775. https://doi.org/10.1111/j.1540-6261.2008.01373.x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Brav, A., Jiang, W., &amp; Kim, H. (2015). The real effects of hedge fund activism: Productivity, asset allocation, and labor outcomes.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28</a:t>
            </a:r>
            <a:r>
              <a:rPr sz="680" i="0">
                <a:solidFill>
                  <a:srgbClr val="0E1620"/>
                </a:solidFill>
                <a:latin typeface="Arial"/>
              </a:rPr>
              <a:t>(10), 2723–2769. https://doi.org/10.1093/rfs/hhv037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Gantchev, N. (2013). The costs of shareholder activism: Evidence from a sequential decision model.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107</a:t>
            </a:r>
            <a:r>
              <a:rPr sz="680" i="0">
                <a:solidFill>
                  <a:srgbClr val="0E1620"/>
                </a:solidFill>
                <a:latin typeface="Arial"/>
              </a:rPr>
              <a:t>(3), 610–631. https://doi.org/10.1016/j.jfineco.2012.09.007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Klein, A., &amp; Zur, E. (2009). Entrepreneurial shareholder activism: Hedge funds and other private investors.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64</a:t>
            </a:r>
            <a:r>
              <a:rPr sz="680" i="0">
                <a:solidFill>
                  <a:srgbClr val="0E1620"/>
                </a:solidFill>
                <a:latin typeface="Arial"/>
              </a:rPr>
              <a:t>(1), 187–229. https://doi.org/10.1111/j.1540-6261.2008.01432.x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Lindlbauer, N. (2025). Unpacking the inertia in resource allocation adjustments of multi-business firms. </a:t>
            </a:r>
            <a:r>
              <a:rPr sz="680" i="1">
                <a:solidFill>
                  <a:srgbClr val="0E1620"/>
                </a:solidFill>
                <a:latin typeface="Arial"/>
              </a:rPr>
              <a:t>Strategic Management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, advance online publication. https://doi.org/10.1002/smj.3722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Scharfstein, D. S., &amp; Stein, J. C. (2000). The dark side of internal capital markets: Divisional rent-seeking and inefficient investment.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55</a:t>
            </a:r>
            <a:r>
              <a:rPr sz="680" i="0">
                <a:solidFill>
                  <a:srgbClr val="0E1620"/>
                </a:solidFill>
                <a:latin typeface="Arial"/>
              </a:rPr>
              <a:t>(6), 2537–2564. https://doi.org/10.1111/0022-1082.00299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PASSIVE INVESTING &amp; MARKET 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Ben-David, I., Franzoni, F., &amp; Moussawi, R. (2018). Do ETFs increase volatility?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(6), 2471–2535. https://doi.org/10.1111/jofi.12727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Bond, P., &amp; García, D. (2022). The equilibrium consequences of indexing.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35</a:t>
            </a:r>
            <a:r>
              <a:rPr sz="680" i="0">
                <a:solidFill>
                  <a:srgbClr val="0E1620"/>
                </a:solidFill>
                <a:latin typeface="Arial"/>
              </a:rPr>
              <a:t>(7), 3175–3230.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Chen, H., Noronha, G., &amp; Singal, V. (2006). Index changes and losses to index fund investors. </a:t>
            </a:r>
            <a:r>
              <a:rPr sz="680" i="1">
                <a:solidFill>
                  <a:srgbClr val="0E1620"/>
                </a:solidFill>
                <a:latin typeface="Arial"/>
              </a:rPr>
              <a:t>Financial Analysts Journal, 62</a:t>
            </a:r>
            <a:r>
              <a:rPr sz="680" i="0">
                <a:solidFill>
                  <a:srgbClr val="0E1620"/>
                </a:solidFill>
                <a:latin typeface="Arial"/>
              </a:rPr>
              <a:t>(4), 31–47. https://doi.org/10.2469/faj.v62.n4.4185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Chinco, A., &amp; Sammon, M. (2024). The passive-ownership share is double what you think.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Gabaix, X., &amp; Koijen, R. S. J. (2021). In search of the origins of financial fluctuations: The inelastic markets hypothesis.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28967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https://doi.org/10.3386/w28967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Kim, A. G., Muhn, M., &amp; Nikolaev, V. V. (2024). Financial statement analysis with large language models. </a:t>
            </a:r>
            <a:r>
              <a:rPr sz="680" i="1">
                <a:solidFill>
                  <a:srgbClr val="0E1620"/>
                </a:solidFill>
                <a:latin typeface="Arial"/>
              </a:rPr>
              <a:t>Chicago Booth Research Paper (working paper)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https://doi.org/10.48550/arXiv.2407.17866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McLean, R. D., &amp; Pontiff, J. (2016). Does academic research destroy stock return predictability?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71</a:t>
            </a:r>
            <a:r>
              <a:rPr sz="680" i="0">
                <a:solidFill>
                  <a:srgbClr val="0E1620"/>
                </a:solidFill>
                <a:latin typeface="Arial"/>
              </a:rPr>
              <a:t>(1), 5–32. https://doi.org/10.1111/jofi.12365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Petajisto, A. (2011). The index premium and its hidden cost for index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Empirical Finance, 18</a:t>
            </a:r>
            <a:r>
              <a:rPr sz="680" i="0">
                <a:solidFill>
                  <a:srgbClr val="0E1620"/>
                </a:solidFill>
                <a:latin typeface="Arial"/>
              </a:rPr>
              <a:t>(2), 271–288. https://doi.org/10.1016/j.jempfin.2010.10.002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Wurgler, J. (2011). On the economic consequences of index-linked investing.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16376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https://doi.org/10.3386/w16376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 (Part II)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(PART II)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Ang, A., Chen, B., Goetzmann, W. N., &amp; Phalippou, L. (2018). Estimating private equity returns from limited partner cash flows.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1751–1783. https://doi.org/10.1111/jofi.12688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Boyer, B. H., Nadauld, T. D., Vorkink, K. P., &amp; Weisbach, M. S. (2018). Private equity indices based on secondary market transactions.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https://doi.org/10.2139/ssrn.3272357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Buchner, A., Kaserer, C., &amp; Wagner, N. F. (2010). Private equity funds: Valuation, systematic risk and illiquidity.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https://doi.org/10.2139/ssrn.1102471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Couts, S., Gonçalves, A. S., &amp; Rossi, A. (2020). Unsmoothing returns of illiquid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https://doi.org/10.2139/ssrn.3544854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Getmansky, M., Lo, A. W., &amp; Makarov, I. (2004). An econometric model of serial correlation and illiquidity in hedge fund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74</a:t>
            </a:r>
            <a:r>
              <a:rPr sz="680" i="0">
                <a:solidFill>
                  <a:srgbClr val="0E1620"/>
                </a:solidFill>
                <a:latin typeface="Arial"/>
              </a:rPr>
              <a:t>(3), 529–609. https://doi.org/10.1016/j.jfineco.2004.04.001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(CONT.)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Harris, R. S., Jenkinson, T., &amp; Kaplan, S. N. (2014). Private equity performance: What do we know?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69</a:t>
            </a:r>
            <a:r>
              <a:rPr sz="680" i="0">
                <a:solidFill>
                  <a:srgbClr val="0E1620"/>
                </a:solidFill>
                <a:latin typeface="Arial"/>
              </a:rPr>
              <a:t>(5), 1851–1882. https://doi.org/10.1111/jofi.12154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Hayley, S., &amp; Sefiloglu, O. (2022). Biases in private equity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https://doi.org/10.2139/ssrn.4245715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Jackson, B., Ling, D. C., &amp; Naranjo, A. (2022). Catering and return manipulation in private equity.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https://doi.org/10.2139/ssrn.4244467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Meyer, T. (2020). Hidden in plain sight — the impact of undrawn commitments.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Alternative Investments, 23</a:t>
            </a:r>
            <a:r>
              <a:rPr sz="680" i="0">
                <a:solidFill>
                  <a:srgbClr val="0E1620"/>
                </a:solidFill>
                <a:latin typeface="Arial"/>
              </a:rPr>
              <a:t>(2), 94–110. https://doi.org/10.3905/jai.2020.1.101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Phalippou, L. (2020). An inconvenient fact: Private equity returns and the billionaire factory.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Investing, 30</a:t>
            </a:r>
            <a:r>
              <a:rPr sz="680" i="0">
                <a:solidFill>
                  <a:srgbClr val="0E1620"/>
                </a:solidFill>
                <a:latin typeface="Arial"/>
              </a:rPr>
              <a:t>(1), 11–39. https://doi.org/10.3905/joi.2020.1.153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3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Datasets, practitioner research &amp;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INDUSTRY DATASETS &amp; PRACTITIONER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Asness, C. S. (2023). The volatility-laundering hidden in private-asset marks. </a:t>
            </a:r>
            <a:r>
              <a:rPr sz="680" i="1">
                <a:solidFill>
                  <a:srgbClr val="0E1620"/>
                </a:solidFill>
                <a:latin typeface="Arial"/>
              </a:rPr>
              <a:t>AQR Capital Management — Cliff’s Perspectives.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British Private Equity &amp; Venture Capital Association &amp; Capital Dynamics.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BVCA Private Equity Performance Measurement Survey (PME+).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BVCA.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Cambridge Associates.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US Private Equity Index and Selected Benchmark Statistics (Q2 2024).</a:t>
            </a:r>
            <a:r>
              <a:rPr sz="680" i="0">
                <a:solidFill>
                  <a:srgbClr val="0E1620"/>
                </a:solidFill>
                <a:latin typeface="Arial"/>
              </a:rPr>
              <a:t> Boston: Cambridge Associates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Cliffwater LLC.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Long-term private equity performance in US state pension plans (2000–2022).</a:t>
            </a:r>
            <a:r>
              <a:rPr sz="680" i="0">
                <a:solidFill>
                  <a:srgbClr val="0E1620"/>
                </a:solidFill>
                <a:latin typeface="Arial"/>
              </a:rPr>
              <a:t> Marina del Rey: Cliffwater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Financial Reporting Council. (2020). </a:t>
            </a:r>
            <a:r>
              <a:rPr sz="680" i="1">
                <a:solidFill>
                  <a:srgbClr val="0E1620"/>
                </a:solidFill>
                <a:latin typeface="Arial"/>
              </a:rPr>
              <a:t>The UK Stewardship Code 2020.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FRC.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Morningstar.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Volatility laundering: How private equity funds understate the risk of their investments.</a:t>
            </a:r>
            <a:r>
              <a:rPr sz="680" i="0">
                <a:solidFill>
                  <a:srgbClr val="0E1620"/>
                </a:solidFill>
                <a:latin typeface="Arial"/>
              </a:rPr>
              <a:t> Chicago: Morningstar,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MSCI.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MSCI ACWI IMI Index and MSCI ACWI Mid Cap Index — factsheets.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MSCI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PIMCO. (2022). </a:t>
            </a:r>
            <a:r>
              <a:rPr sz="680" i="1">
                <a:solidFill>
                  <a:srgbClr val="0E1620"/>
                </a:solidFill>
                <a:latin typeface="Arial"/>
              </a:rPr>
              <a:t>The discreet charm of private assets: De-smoothing and the true volatility of private equity.</a:t>
            </a:r>
            <a:r>
              <a:rPr sz="680" i="0">
                <a:solidFill>
                  <a:srgbClr val="0E1620"/>
                </a:solidFill>
                <a:latin typeface="Arial"/>
              </a:rPr>
              <a:t> Newport Beach: PIMCO.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Principles for Responsible Investment. (2021). </a:t>
            </a:r>
            <a:r>
              <a:rPr sz="680" i="1">
                <a:solidFill>
                  <a:srgbClr val="0E1620"/>
                </a:solidFill>
                <a:latin typeface="Arial"/>
              </a:rPr>
              <a:t>What are the Principles for Responsible Investment?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UN PRI.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Two Sigma Investments.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The alternative truth of private equity (Venn by Two Sigma).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Two Sigma.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World Federation of Exchanges.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WFE market statistics — number of listed companies.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WFE.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DATA &amp; 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All Athanase figures are computed from the fund’s audited net monthly return series across two vehicles (Öresund/Creades Jan 2006–Jun 2014; AIPFII from 23 Feb 2015):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Annualised return — cumulative net return compounded, then annualised over actual invested time (19.32 yrs, excluding the 2014–15 setup gap): 16.3%.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Total volatility — st. dev. of monthly returns × √12 (27.0%).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Downside volatility — deviation of negative months below a 0% MAR × √12 (10.9%).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Correlation / beta — versus MSCI World IMI over the common period (0.44 / 0.73).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Large-loss frequency — share of rolling 36-month windows below −30% (≈2%).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Up/down capture — compounded Athanase return in the market’s up/down months ÷ the market’s.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Efficient frontier — monthly-rebalanced MSCI/Athanase blends; minimum-risk point is in-sample.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Private-equity figures are taken from the cited research. De-smoothed / true-economic / committed-capital values reflect that literature rather than reported (appraisal-based) data — including the de-smoothed large-buyout correlation to small/mid-cap equities of ~0.89 (Two Sigma / Venn, 2024; Couts, Gonçalves &amp; Rossi, 2020; Boyer, Nadauld, Vorkink &amp; Weisbach, 2018). Bridge and illustrative magnitudes reconcile cited endpoints and are labelled as such. For professional investors; not investment advice. Past performance is not indicative of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