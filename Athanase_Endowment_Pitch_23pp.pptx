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343" r:id="rId34"/>
    <p:sldId id="260" r:id="rId6"/>
    <p:sldId id="263" r:id="rId7"/>
    <p:sldId id="267" r:id="rId8"/>
    <p:sldId id="284" r:id="rId9"/>
    <p:sldId id="271" r:id="rId10"/>
    <p:sldId id="341" r:id="rId11"/>
    <p:sldId id="342" r:id="rId12"/>
    <p:sldId id="278" r:id="rId13"/>
    <p:sldId id="339" r:id="rId14"/>
    <p:sldId id="279" r:id="rId15"/>
    <p:sldId id="340" r:id="rId16"/>
    <p:sldId id="285" r:id="rId17"/>
    <p:sldId id="282" r:id="rId18"/>
    <p:sldId id="289" r:id="rId19"/>
    <p:sldId id="327" r:id="rId20"/>
    <p:sldId id="330" r:id="rId21"/>
    <p:sldId id="326" r:id="rId22"/>
    <p:sldId id="325" r:id="rId23"/>
    <p:sldId id="329" r:id="rId24"/>
    <p:sldId id="317" r:id="rId25"/>
    <p:sldId id="321" r:id="rId26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3" dt="2026-06-09T15:02:11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addSld modSld">
      <pc:chgData name="Stefan Charette" userId="0db9b4c6-585a-4616-ab53-47ba82066cad" providerId="ADAL" clId="{42E455C0-5321-4BA4-9654-3C8921CE5DA4}" dt="2026-06-09T15:02:11.765" v="341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add">
        <pc:chgData name="Stefan Charette" userId="0db9b4c6-585a-4616-ab53-47ba82066cad" providerId="ADAL" clId="{42E455C0-5321-4BA4-9654-3C8921CE5DA4}" dt="2026-06-09T15:02:11.765" v="341"/>
        <pc:sldMkLst>
          <pc:docMk/>
          <pc:sldMk cId="0" sldId="330"/>
        </pc:sldMkLst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970-45BA-8499-251F9C2C08E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970-45BA-8499-251F9C2C08E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80"/>
          </a:pPr>
          <a:endParaRPr lang="sv-SE"/>
        </a:p>
      </c:txPr>
    </c:legend>
    <c:plotVisOnly val="1"/>
    <c:dispBlanksAs val="gap"/>
    <c:showDLblsOverMax val="1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Investor Presentation</a:t>
            </a:r>
            <a:endParaRPr sz="3360" b="0" i="0" spc="-126" dirty="0">
              <a:solidFill>
                <a:srgbClr val="FFFFFF"/>
              </a:solidFill>
              <a:latin typeface="Times New Roman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The inefficiency Athanase harvests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mid-caps are more often mispriced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Why this opportunity isn’t arbitraged away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Athanase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Why Athanase is best built to capture it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Operators and investors in one team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We buy hidden cores, not broken companies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ownership playbook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Why the specialist, not the household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III  ·  Your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A complement to global equities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18   </a:t>
            </a:r>
            <a:r>
              <a:rPr sz="800">
                <a:solidFill>
                  <a:srgbClr val="314359"/>
                </a:solidFill>
                <a:latin typeface="Arial"/>
              </a:rPr>
              <a:t>Built for down markets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19   </a:t>
            </a:r>
            <a:r>
              <a:rPr sz="800">
                <a:solidFill>
                  <a:srgbClr val="314359"/>
                </a:solidFill>
                <a:latin typeface="Arial"/>
              </a:rPr>
              <a:t>Lower downside risk compounds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20   </a:t>
            </a:r>
            <a:r>
              <a:rPr sz="800">
                <a:solidFill>
                  <a:srgbClr val="314359"/>
                </a:solidFill>
                <a:latin typeface="Arial"/>
              </a:rPr>
              <a:t>What it does to your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21   </a:t>
            </a:r>
            <a:r>
              <a:rPr sz="800">
                <a:solidFill>
                  <a:srgbClr val="314359"/>
                </a:solidFill>
                <a:latin typeface="Arial"/>
              </a:rPr>
              <a:t>What a blend does to the whole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Appendix  · 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22   </a:t>
            </a:r>
            <a:r>
              <a:rPr sz="800">
                <a:solidFill>
                  <a:srgbClr val="314359"/>
                </a:solidFill>
                <a:latin typeface="Arial"/>
              </a:rPr>
              <a:t>Outperformance with downside protection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23   </a:t>
            </a:r>
            <a:r>
              <a:rPr sz="800">
                <a:solidFill>
                  <a:srgbClr val="314359"/>
                </a:solidFill>
                <a:latin typeface="Arial"/>
              </a:rPr>
              <a:t>Independently validated: 20 years, net of fees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p.3).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10×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this opportunity isn’t arbitraged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is hard, uncomfortable and off-mandate for most investors — so the crowd stays away and the inefficiency is never competed out. Four barriers keep the lane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Fear keeps the crowd on the sidelines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Most investors avoid a company while it is underperforming and wait for the turn — buying back only once results visibly improve, and the price with them. We do the opposite: we buy at the point of maximum doubt and create the improvement ourselves.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skill bar is genuinely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It takes three things at once — operating credibility, deep investment experience, and the psychological strength to convince a board and fellow shareholders you are right. Few managers have all three, so few can even attempt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Career risk — and the wrong mandate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Voicing a public or private view on what a company must do carries real career risk; the typical, risk-averse equity manager would rather stay quiet. And most funds have no mandate to engage at all — they simply vote with their feet and sell.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They misread the discount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crowd assumes a cheap, troubled company is even worse than it looks — and is often right. We play a different game: we buy good businesses hidden inside a poorly-run structure — quality at a discount, not a value trap.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Each barrier filters out the typical manager; together they keep the opportunity uncrowded — and clearing all four at once is exactly what our combination of operating and investing experience is built to 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invest only after securing agreement on board engagement with the other shareholders.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/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 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 dirty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 dirty="0">
                <a:solidFill>
                  <a:srgbClr val="314359"/>
                </a:solidFill>
                <a:latin typeface="Times New Roman"/>
              </a:rPr>
              <a:t>Built for down markets — where the record is made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shows most when the market falls: a small positive return in the average down month, and outperformance in four of the last five stress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3145614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3162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526182"/>
            <a:ext cx="28529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 THE AVERAGE MONTH OF A DOWN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52876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+0.2%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755136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Athanase — a small gain in the average month of a down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340352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556A83"/>
                </a:solidFill>
                <a:latin typeface="Times New Roman"/>
              </a:rPr>
              <a:t>−1.7%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5042611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MSCI World IMI — the market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152" y="2292096"/>
            <a:ext cx="5413383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OUTPERFORMANCE IN STRESS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7152" y="2877312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845" y="2999232"/>
            <a:ext cx="384330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53960" y="2877312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152" y="3413760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845" y="3535680"/>
            <a:ext cx="1380096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9725" y="3413760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+7.9%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152" y="3950208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845" y="4072128"/>
            <a:ext cx="2061409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1038" y="3950208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+11.8%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152" y="4486656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81845" y="4608576"/>
            <a:ext cx="296982" cy="29260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66612" y="4486656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556A83"/>
                </a:solidFill>
                <a:latin typeface="Arial"/>
              </a:rPr>
              <a:t>−1.7%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152" y="5023104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845" y="5145024"/>
            <a:ext cx="3511383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1013" y="5023104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7152" y="5618073"/>
            <a:ext cx="5413383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The risk system forces diversification of business exposures and screens out weak competitive positions and untrustworthy management — which pays in demanding markets.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6242304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30" y="6242304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market falls, the discipline pays — outperformance in four of the last five stress years, and a gain in the average down month.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847027"/>
            <a:ext cx="9217382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Down-year figure: average monthly return across all months of the years in which the MSCI World IMI finished down. Annual figures: AIP net return − MSCI IMI. Source: Athanase, April 2026.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(p.18),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— any month the market fell — Athanase fell ~1.5% on average versus the market’s ~3.8%,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4505</Words>
  <Application>Microsoft Office PowerPoint</Application>
  <PresentationFormat>Custom</PresentationFormat>
  <Paragraphs>433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2026-06-09T15:02:21Z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