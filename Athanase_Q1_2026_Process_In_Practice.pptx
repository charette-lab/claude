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323088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4846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56A83"/>
                </a:solidFill>
                <a:latin typeface="Arial"/>
              </a:rPr>
              <a:t>ATHANASE · PROCESS ATTESTATION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 i="0">
                <a:solidFill>
                  <a:srgbClr val="314359"/>
                </a:solidFill>
                <a:latin typeface="Times New Roman"/>
              </a:rPr>
              <a:t>Investment process in practice - Q1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1">
                <a:solidFill>
                  <a:srgbClr val="556A83"/>
                </a:solidFill>
                <a:latin typeface="Arial"/>
              </a:rPr>
              <a:t>Each standing claim from our presentation, mapped to what we actually did this quarter - so you can verify we do what we say.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56A83"/>
                </a:solidFill>
                <a:latin typeface="Arial"/>
              </a:rPr>
              <a:t>Strictly confidential · for professional and intermediary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56A83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WHAT WE SAY  (the standing claim)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10312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WHAT WE DID  (Q1 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50592"/>
            <a:ext cx="11091672" cy="17780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542032"/>
            <a:ext cx="4251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Selective; we won't force deployment.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542032"/>
            <a:ext cx="6035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Held ~6.9% cash and flagged difficulty finding value; we are sourcing in the UK and Japan rather than chase an expensive market.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45536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18688"/>
            <a:ext cx="182880" cy="1828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145536"/>
            <a:ext cx="4251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Buy quality at a discount.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145536"/>
            <a:ext cx="6035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Core holdings are dominant franchises bought on value - Auto Trader (~10x its nearest rival), Rightmove (~80% of portal time), Somero (~80% global share) at a cyclical low, TBK on ~2x normalised earnings.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49040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22192"/>
            <a:ext cx="182880" cy="1828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749040"/>
            <a:ext cx="4251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Agreement before capital; determined, not forced, sellers.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749040"/>
            <a:ext cx="6035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Tendered Zalaris into Norvestor's NOK 100 cash offer (+37% on the day) - sold on a fair-value trigger, on the facts, not sentiment.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52544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25696"/>
            <a:ext cx="182880" cy="1828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352544"/>
            <a:ext cx="4251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We create the value from the boardroom.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352544"/>
            <a:ext cx="6035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Tempest: progressing a Lex Asea spin-off and a buyback / redemption of cash. TBK: pursuing the operational plan to lift margins toward 10%.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56048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029200"/>
            <a:ext cx="182880" cy="1828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56048"/>
            <a:ext cx="4251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Returns from earnings, not re-rating.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4956048"/>
            <a:ext cx="6035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Operating profit grew across the book - Roko EBITA +5% (SEK 415m), Tempest operating result up (sales +11%), TBK EBIT JPY 1.50bn (from 0.94bn).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559552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632704"/>
            <a:ext cx="182880" cy="1828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559552"/>
            <a:ext cx="4251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Low cadence, high conviction.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5559552"/>
            <a:ext cx="6035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17 positions, the ten largest ~84% of NAV; no new platform forced in a quarter where we judged the market expensive.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163056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323088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4846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56A83"/>
                </a:solidFill>
                <a:latin typeface="Arial"/>
              </a:rPr>
              <a:t>ATHANASE · PROCESS ATTESTATION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0" i="0">
                <a:solidFill>
                  <a:srgbClr val="314359"/>
                </a:solidFill>
                <a:latin typeface="Times New Roman"/>
              </a:rPr>
              <a:t>Risk process in practice - Q1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1">
                <a:solidFill>
                  <a:srgbClr val="556A83"/>
                </a:solidFill>
                <a:latin typeface="Arial"/>
              </a:rPr>
              <a:t>The same map for risk - each safeguard, with the Q1 evidence that we applied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56A83"/>
                </a:solidFill>
                <a:latin typeface="Arial"/>
              </a:rPr>
              <a:t>Strictly confidential · for professional and intermediary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56A83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WHAT WE SAY  (the standing claim)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10312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WHAT WE DID  (Q1 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50592"/>
            <a:ext cx="11091672" cy="17780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15184"/>
            <a:ext cx="182880" cy="1828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542032"/>
            <a:ext cx="4251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No leverage at the fund.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542032"/>
            <a:ext cx="6035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Gross exposure 85.3% = net exposure 85.3% - zero fund-level leverage, with ~6.9% cash.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45536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18688"/>
            <a:ext cx="182880" cy="1828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145536"/>
            <a:ext cx="4251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Sized and measured so no mark dominates.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145536"/>
            <a:ext cx="6035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17 positions; downside risk 8.7%, 1-day 95% VaR 1.5%; a full liquidity profile disclosed (22.5% of NAV within one day).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49040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22192"/>
            <a:ext cx="182880" cy="1828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749040"/>
            <a:ext cx="4251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Diversification across exposures.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749040"/>
            <a:ext cx="6035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Spread across Nordic, UK and Japanese listings and across software, industrials, gaming, media and resources.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52544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25696"/>
            <a:ext cx="182880" cy="1828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352544"/>
            <a:ext cx="4251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Mechanised discipline, not emotion.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352544"/>
            <a:ext cx="6035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Acted on the Zalaris fair-value trigger; held cash rather than relax the valuation bar in a market we find expensive.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56048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029200"/>
            <a:ext cx="182880" cy="1828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56048"/>
            <a:ext cx="4251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Quality cores; avoid permanent loss.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4956048"/>
            <a:ext cx="6035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The book is concentrated in durable market leaders; speculative exposure is limited and disclosed (e.g. NGEx held as exploration optionality).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559552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632704"/>
            <a:ext cx="182880" cy="1828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559552"/>
            <a:ext cx="4251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314359"/>
                </a:solidFill>
                <a:latin typeface="Arial"/>
              </a:rPr>
              <a:t>Independent checks and full disclosure.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5559552"/>
            <a:ext cx="60350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0E1620"/>
                </a:solidFill>
                <a:latin typeface="Arial"/>
              </a:rPr>
              <a:t>Performance sourced from StatPro; figures reconciled, with open items (liquidity placeholders, unit flags) listed explicitly for verification.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163056"/>
            <a:ext cx="11091672" cy="889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