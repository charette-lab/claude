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Switching a private-equity sleeve into Athanase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Same operational value creation — at a higher return, with liquidity, lower fees and daily transparency the private-equity wrapper gives up.</a:t>
            </a:r>
          </a:p>
        </p:txBody>
      </p:sp>
      <p:pic>
        <p:nvPicPr>
          <p:cNvPr id="8" name="Picture 7" descr="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23819"/>
            <a:ext cx="4108072" cy="2889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76" y="6096000"/>
            <a:ext cx="4535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Marked daily like Athanase, PE’s appraisal-smoothed risk roughly doubles — its “low volatility” is largely an accounting artefact.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57345" y="2243328"/>
            <a:ext cx="4169768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652" y="234086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56997" y="233111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Times New Roman"/>
              </a:rPr>
              <a:t>+3 pts net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652" y="2633472"/>
            <a:ext cx="387715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 vs ~13% net IRR — more return, not less, for the switch.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3179673"/>
            <a:ext cx="4169768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652" y="32772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997" y="3267456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652" y="3569817"/>
            <a:ext cx="387715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7345" y="4116019"/>
            <a:ext cx="4169768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652" y="4213555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56997" y="4203801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652" y="4506163"/>
            <a:ext cx="387715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No 2&amp;20 on undeployed dry powder waiting in a queue.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57345" y="5052364"/>
            <a:ext cx="4169768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652" y="5149900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56997" y="5140147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652" y="5442508"/>
            <a:ext cx="387715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57345" y="5988710"/>
            <a:ext cx="4169768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03652" y="608624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56997" y="6076492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Times New Roman"/>
              </a:rPr>
              <a:t>Lower true downside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652" y="6378854"/>
            <a:ext cx="387715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De-smoothed, PE’s economic downside is ~13% vs Athanase’s ~11%.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Switching a PE sleeve into Athanase keeps the operational upside but adds return, liquidity and transparency — and removes the smoothing that hides PE’s true risk.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22" y="6983577"/>
            <a:ext cx="921738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real. *Mid-market PE shown from assumptions (≈13% net IRR; reported downside ≈7%, de-smoothed ≈13% for appraisal autocorrelation), not a supplied return series. Illustrative;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