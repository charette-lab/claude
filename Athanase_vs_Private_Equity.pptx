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What allocators actually earn from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pic>
        <p:nvPicPr>
          <p:cNvPr id="8" name="Picture 7" descr="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5941604" cy="2889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47266" y="2262835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574" y="2360371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574" y="261396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47266" y="3589324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574" y="368686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574" y="394045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over public equities (Cambridge; Kaplan-Schoar / Burgiss; Cliffwater; BVCA).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6" y="4915814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574" y="501335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574" y="526694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25056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2000–2022): PE 11.4% vs PME 5.8%. BVCA / Capital Dynamics (UK &amp; Europe, 2001–2023): 14.1% vs 7.7% (PME+). Corroborated by Cambridge Associates mPME (1.15–1.25×) and Kaplan-Harris-Jenkinson KS-PME on Burgiss (1.20–1.27×), ≈ +3 pts/yr. Athanase real, net, 2006–2025.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Switching a private-equity sleeve into Athanase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pic>
        <p:nvPicPr>
          <p:cNvPr id="8" name="Picture 7" descr="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4108072" cy="2889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76" y="612526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57345" y="2243328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652" y="234086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6997" y="233111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652" y="2633472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3179673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652" y="32772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997" y="3267456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652" y="3569817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7345" y="4116019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652" y="4213555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997" y="4203801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652" y="4506163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57345" y="5052364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652" y="5149900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997" y="5140147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652" y="5442508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57345" y="5988710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652" y="608624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997" y="6076492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652" y="6378854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27%, downside 11%). PE realised ~11–14% (Cliffwater 11.4%; BVCA 14.1%) vs headline IRR ~18–22%; reported ~10% vol de-smoothed to ~25–30% (PIMCO; AQR equity beta 1.5–1.6; Couts-Gonçalves-Rossi, 2024). Illustrative; past performance ≠ future results.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The volatility gap is settled in the literature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pic>
        <p:nvPicPr>
          <p:cNvPr id="8" name="Picture 7" descr="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194560"/>
            <a:ext cx="4957136" cy="29627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18075" y="2243328"/>
            <a:ext cx="3109037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383" y="2340864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383" y="2574950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8075" y="3257702"/>
            <a:ext cx="3109037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383" y="3355238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383" y="358932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for the same firms on NAV — Boyer, Nadauld, Vorkink &amp; Weisbach (2018).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8075" y="4272076"/>
            <a:ext cx="3109037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383" y="436961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that suppresses vol — Getmansky, Lo &amp; Makarov (2004), JFE (cited 1,300+).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8075" y="5286451"/>
            <a:ext cx="3109037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383" y="5383987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383" y="5618073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returns because LPs value the “phony happiness” — Jackson, Ling &amp; Naranjo (2022); Couts et al. (2020).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 — its true volatility rivals Athanase’s, without the upside skew.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(2018, J. Finance 73(4)); Boyer, Nadauld, Vorkink &amp; Weisbach (2018); Getmansky, Lo &amp; Makarov (2004, JFE 74(3)); Couts, Gonçalves &amp; Rossi (2020); Jackson, Ling &amp; Naranjo (2022); PIMCO (2022); AQR (Asness). Bars show vol-equivalent risk; beta rows scaled for comparison. Illustrative.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Same headline volatility — far lower real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pic>
        <p:nvPicPr>
          <p:cNvPr id="8" name="Picture 7" descr="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4118476" cy="2889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157345" y="2243328"/>
            <a:ext cx="4169768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40229" y="2399385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789529"/>
            <a:ext cx="3803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72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72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429158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0229" y="440862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0229" y="466222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is only ~11%.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57345" y="5344972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229" y="5462016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0229" y="5715609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the measure allocators actually care about — large permanent loss — Athanase’s real risk is roughly one-eighth of private equity’s.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(real, 235 months); 30%+ loss in 2% of actual rolling 3-yr windows. PE de-smoothed total vol ~28%, ~15–16% chance of a 30% drawdown over 3 years (PIMCO, 2022). Illustrative; past performance ≠ future results.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PE’s “diversification” is an artefact — Athanase’s is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pic>
        <p:nvPicPr>
          <p:cNvPr id="8" name="Picture 7" descr="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4268692" cy="2889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267075" y="2243328"/>
            <a:ext cx="406003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28014" y="2360371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014" y="2613964"/>
            <a:ext cx="3738160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PE correlation looks low (0.75, beta 0.41). De-smoothed it is 0.89 / beta 0.87 (Two Sigma, 2024).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67075" y="3530803"/>
            <a:ext cx="406003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28014" y="3647846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8014" y="3901440"/>
            <a:ext cx="3738160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the same forces — GDP, rates, earnings. Over 10–20 yrs its correlation to small/mid-caps is ~0.89–0.92.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67075" y="4818278"/>
            <a:ext cx="406003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28014" y="4935321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28014" y="5188915"/>
            <a:ext cx="3738160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 No help when it’s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(real, 235 months). PE reported 0.75 / beta 0.41 de-smoothed to 0.89 / beta 0.87 (Two Sigma / Venn, 2024, Preqin PE Index); long-horizon PE–small/mid cap correlation ~0.89–0.92. Illustrative; past performance ≠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