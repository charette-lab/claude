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What allocators actually earn from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pic>
        <p:nvPicPr>
          <p:cNvPr id="8" name="Picture 7" descr="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941604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60371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1396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68686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4045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over public equities (Cambridge; Kaplan-Schoar / Burgiss; Cliffwater; BVCA).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1335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26694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2000–2022): PE 11.4% vs PME 5.8%. BVCA / Capital Dynamics (UK &amp; Europe, 2001–2023): 14.1% vs 7.7% (PME+). Corroborated by Cambridge Associates mPME (1.15–1.25×) and Kaplan-Harris-Jenkinson KS-PME on Burgiss (1.20–1.27×), ≈ +3 pts/yr.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27%, downside 11%). PE realised ~11–14% (Cliffwater 11.4%; BVCA 14.1%) vs headline IRR ~18–22%; reported ~10% vol de-smoothed to ~25–30% (PIMCO; AQR equity beta 1.5–1.6; Couts-Gonçalves-Rossi, 2024). Illustrative; past performance ≠ future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The volatility gap is settled in the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pic>
        <p:nvPicPr>
          <p:cNvPr id="8" name="Picture 7" descr="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194560"/>
            <a:ext cx="4957136" cy="29627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8075" y="2243328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383" y="2340864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383" y="2574950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8075" y="3257702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383" y="3355238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383" y="358932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for the same firms on NAV — Boyer, Nadauld, Vorkink &amp; Weisbach (2018).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8075" y="4272076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383" y="436961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that suppresses vol — Getmansky, Lo &amp; Makarov (2004), JFE (cited 1,300+).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8075" y="5286451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383" y="5383987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383" y="5618073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returns because LPs value the “phony happiness” — Jackson, Ling &amp; Naranjo (2022); Couts et al. (2020).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 — its true volatility rivals Athanase’s, without the upside skew.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(2018, J. Finance 73(4)); Boyer, Nadauld, Vorkink &amp; Weisbach (2018); Getmansky, Lo &amp; Makarov (2004, JFE 74(3)); Couts, Gonçalves &amp; Rossi (2020); Jackson, Ling &amp; Naranjo (2022); PIMCO (2022); AQR (Asness). Bars show vol-equivalent risk; beta rows scaled for comparison.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Same headline volatility — far lower real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pic>
        <p:nvPicPr>
          <p:cNvPr id="8" name="Picture 7" descr="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18476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157345" y="2243328"/>
            <a:ext cx="4169768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0229" y="2399385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789529"/>
            <a:ext cx="3803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72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72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429158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0229" y="440862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229" y="466222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is only ~11%.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345" y="5344972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229" y="5462016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229" y="5715609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the measure allocators actually care about — large permanent loss — Athanase’s real risk is roughly one-eighth of private equity’s.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(real, 235 months); 30%+ loss in 2% of actual rolling 3-yr windows. PE de-smoothed total vol ~28%, ~15–16% chance of a 30% drawdown over 3 years (PIMCO, 2022). Illustrative; past performance ≠ future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PE’s “diversification” is an artefact — Athanase’s is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pic>
        <p:nvPicPr>
          <p:cNvPr id="8" name="Picture 7" descr="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268692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67075" y="2243328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8014" y="2360371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014" y="2613964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PE correlation looks low (0.75, beta 0.41). De-smoothed it is 0.89 / beta 0.87 (Two Sigma, 2024).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67075" y="3530803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8014" y="3647846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8014" y="3901440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the same forces — GDP, rates, earnings. Over 10–20 yrs its correlation to small/mid-caps is ~0.89–0.92.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7075" y="4818278"/>
            <a:ext cx="406003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8014" y="4935321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8014" y="5188915"/>
            <a:ext cx="3738160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 No help when it’s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(real, 235 months). PE reported 0.75 / beta 0.41 de-smoothed to 0.89 / beta 0.87 (Two Sigma / Venn, 2024, Preqin PE Index); long-horizon PE–small/mid cap correlation ~0.89–0.92. Illustrative; past performance ≠ future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private-equity figure traces to published research; every Athanase figure is computed from audited net monthly returns, 2006–2025.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2292096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ACADEMIC &amp; EMPIRICAL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682240"/>
            <a:ext cx="438922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Ang, Chen, Goetzmann &amp; Phalippou (2018), J. Finance 73(4), 1751–1783.</a:t>
            </a:r>
            <a:r>
              <a:rPr sz="760">
                <a:solidFill>
                  <a:srgbClr val="0E1620"/>
                </a:solidFill>
                <a:latin typeface="Arial"/>
              </a:rPr>
              <a:t>  — PE cash-flow returns; buyout vol ~25% vs 11% index, beta &gt; 1.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Boyer, Nadauld, Vorkink &amp; Weisbach (2018), SSRN 3272357.</a:t>
            </a:r>
            <a:r>
              <a:rPr sz="760">
                <a:solidFill>
                  <a:srgbClr val="0E1620"/>
                </a:solidFill>
                <a:latin typeface="Arial"/>
              </a:rPr>
              <a:t>  — Secondary-market PE index; traded beta &gt; 2.0 vs &lt; 0.5 on NAV.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Getmansky, Lo &amp; Makarov (2004), J. Financial Economics 74(3).</a:t>
            </a:r>
            <a:r>
              <a:rPr sz="760">
                <a:solidFill>
                  <a:srgbClr val="0E1620"/>
                </a:solidFill>
                <a:latin typeface="Arial"/>
              </a:rPr>
              <a:t>  — Illiquidity creates serial correlation that suppresses reported vol.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Couts, Gonçalves &amp; Rossi (2020), SSRN 3544854.</a:t>
            </a:r>
            <a:r>
              <a:rPr sz="760">
                <a:solidFill>
                  <a:srgbClr val="0E1620"/>
                </a:solidFill>
                <a:latin typeface="Arial"/>
              </a:rPr>
              <a:t>  — 3-step unsmoothing; true vol and market co-movement rise.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Jackson, Ling &amp; Naranjo (2022), SSRN 4244467.</a:t>
            </a:r>
            <a:r>
              <a:rPr sz="760">
                <a:solidFill>
                  <a:srgbClr val="0E1620"/>
                </a:solidFill>
                <a:latin typeface="Arial"/>
              </a:rPr>
              <a:t>  — Catering / return manipulation — “volatility laundering”.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Phalippou (2020), “An Inconvenient Fact.”</a:t>
            </a:r>
            <a:r>
              <a:rPr sz="760">
                <a:solidFill>
                  <a:srgbClr val="0E1620"/>
                </a:solidFill>
                <a:latin typeface="Arial"/>
              </a:rPr>
              <a:t>  — PE 2006–18 ≈ S&amp;P 500 on a public-market-equivalent basis.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Meyer (2020), J. Alternative Investments 23; Hayley &amp; Sefiloglu (2022); Buchner, Kaserer &amp; Wagner (2010).</a:t>
            </a:r>
            <a:r>
              <a:rPr sz="760">
                <a:solidFill>
                  <a:srgbClr val="0E1620"/>
                </a:solidFill>
                <a:latin typeface="Arial"/>
              </a:rPr>
              <a:t>  — Committed-capital / undrawn-commitment drag on realised returns.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2682240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Cliffwater (2023), State of US State Pension PE.</a:t>
            </a:r>
            <a:r>
              <a:rPr sz="760">
                <a:solidFill>
                  <a:srgbClr val="0E1620"/>
                </a:solidFill>
                <a:latin typeface="Arial"/>
              </a:rPr>
              <a:t>  — Realised PE 11.4% vs PME 5.8%, 2000–2022.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BVCA / Capital Dynamics (2024), PME+ analysis.</a:t>
            </a:r>
            <a:r>
              <a:rPr sz="760">
                <a:solidFill>
                  <a:srgbClr val="0E1620"/>
                </a:solidFill>
                <a:latin typeface="Arial"/>
              </a:rPr>
              <a:t>  — UK &amp; Europe PE 14.1% vs PME 7.7%, 2001–2023.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Cambridge Associates (2024), US PE Benchmark.</a:t>
            </a:r>
            <a:r>
              <a:rPr sz="760">
                <a:solidFill>
                  <a:srgbClr val="0E1620"/>
                </a:solidFill>
                <a:latin typeface="Arial"/>
              </a:rPr>
              <a:t>  — Top-quartile headline IRR ~18–22%; mPME ~1.15–1.25×.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Kaplan, Harris &amp; Jenkinson (Burgiss data).</a:t>
            </a:r>
            <a:r>
              <a:rPr sz="760">
                <a:solidFill>
                  <a:srgbClr val="0E1620"/>
                </a:solidFill>
                <a:latin typeface="Arial"/>
              </a:rPr>
              <a:t>  — KS-PME ~1.20–1.27×; ≈ +3 pts/yr net over public markets.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PIMCO (2022), “The Discreet Charm of Private Assets.”</a:t>
            </a:r>
            <a:r>
              <a:rPr sz="760">
                <a:solidFill>
                  <a:srgbClr val="0E1620"/>
                </a:solidFill>
                <a:latin typeface="Arial"/>
              </a:rPr>
              <a:t>  — De-smoothed PE vol ~30%; ~15–16% chance of a 30% 3-yr drawdown.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AQR / Asness (2019–2023), “Volatility Laundering.”</a:t>
            </a:r>
            <a:r>
              <a:rPr sz="760">
                <a:solidFill>
                  <a:srgbClr val="0E1620"/>
                </a:solidFill>
                <a:latin typeface="Arial"/>
              </a:rPr>
              <a:t>  — PE equity beta ~1.5–1.6 from leverage; smoothing critique.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760" b="1">
                <a:solidFill>
                  <a:srgbClr val="314359"/>
                </a:solidFill>
                <a:latin typeface="Arial"/>
              </a:rPr>
              <a:t>Two Sigma / Venn (2024), Preqin PE Index analysis.</a:t>
            </a:r>
            <a:r>
              <a:rPr sz="760">
                <a:solidFill>
                  <a:srgbClr val="0E1620"/>
                </a:solidFill>
                <a:latin typeface="Arial"/>
              </a:rPr>
              <a:t>  — Correlation 0.75→0.89, beta 0.41→0.87 once de-smoothed.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778752"/>
            <a:ext cx="8873559" cy="40965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6778752"/>
            <a:ext cx="863215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Athanase returns, volatility, downside deviation, correlation and rolling loss frequencies are computed directly from the fund’s net monthly return series (2006–2025).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