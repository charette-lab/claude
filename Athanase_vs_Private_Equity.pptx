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753600" cy="7315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Risk-Adjusted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42229" y="263347"/>
            <a:ext cx="208488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556A83"/>
                </a:solidFill>
                <a:latin typeface="Arial"/>
              </a:rPr>
              <a:t>Figure 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>
                <a:solidFill>
                  <a:srgbClr val="314359"/>
                </a:solidFill>
                <a:latin typeface="Times New Roman"/>
              </a:rPr>
              <a:t>What allocators actually earn from private equity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Stripping out headline-IRR marketing, cash-matched (PME) data shows PE earns a real ~3–6 pt premium over public markets — but lands below Athanase.</a:t>
            </a:r>
          </a:p>
        </p:txBody>
      </p:sp>
      <p:pic>
        <p:nvPicPr>
          <p:cNvPr id="8" name="Picture 7" descr="pe_realis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46" y="2223819"/>
            <a:ext cx="5941604" cy="288957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547266" y="2262835"/>
            <a:ext cx="2779845" cy="117043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93574" y="2360371"/>
            <a:ext cx="248723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40" b="1" i="0">
                <a:solidFill>
                  <a:srgbClr val="314359"/>
                </a:solidFill>
                <a:latin typeface="Arial"/>
              </a:rPr>
              <a:t>HEADLINE ≠ REALISED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93574" y="2613964"/>
            <a:ext cx="2487230" cy="7802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40" b="0" i="0">
                <a:solidFill>
                  <a:srgbClr val="0E1620"/>
                </a:solidFill>
                <a:latin typeface="Arial"/>
              </a:rPr>
              <a:t>Top-quartile IRR is shown as ~18–22%, struck on drawn capital. Cash-matched to public markets, the real figure is far lower.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47266" y="3589324"/>
            <a:ext cx="2779845" cy="117043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93574" y="3686860"/>
            <a:ext cx="248723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40" b="1" i="0">
                <a:solidFill>
                  <a:srgbClr val="314359"/>
                </a:solidFill>
                <a:latin typeface="Arial"/>
              </a:rPr>
              <a:t>THE REAL PREMIUM IS GENUINE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93574" y="3940454"/>
            <a:ext cx="2487230" cy="7802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40" b="0" i="0">
                <a:solidFill>
                  <a:srgbClr val="0E1620"/>
                </a:solidFill>
                <a:latin typeface="Arial"/>
              </a:rPr>
              <a:t>PME studies agree: ~1.2× wealth multiple, a real 3–5 pt premium over public equities (Cambridge; Kaplan-Schoar / Burgiss; Cliffwater; BVCA).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47266" y="4915814"/>
            <a:ext cx="2779845" cy="117043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93574" y="5013350"/>
            <a:ext cx="248723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40" b="1" i="0">
                <a:solidFill>
                  <a:srgbClr val="314359"/>
                </a:solidFill>
                <a:latin typeface="Arial"/>
              </a:rPr>
              <a:t>BUT BELOW ATHANASE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93574" y="5266944"/>
            <a:ext cx="2487230" cy="7802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40" b="0" i="0">
                <a:solidFill>
                  <a:srgbClr val="0E1620"/>
                </a:solidFill>
                <a:latin typeface="Arial"/>
              </a:rPr>
              <a:t>Allocators realise ~11–14% from PE. Athanase has delivered ~16% — net, real, and fully invested from day one.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22" y="6456883"/>
            <a:ext cx="8873559" cy="448665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0599" y="6456883"/>
            <a:ext cx="8632151" cy="44866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0" i="1">
                <a:solidFill>
                  <a:srgbClr val="FFFFFF"/>
                </a:solidFill>
                <a:latin typeface="Arial"/>
              </a:rPr>
              <a:t>PE’s premium over public markets is real — but Athanase’s ~16% sits above even what the best allocators realise, with daily liquidity.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22" y="6925056"/>
            <a:ext cx="9217382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600" b="0" i="0">
                <a:solidFill>
                  <a:srgbClr val="556A83"/>
                </a:solidFill>
                <a:latin typeface="Arial"/>
              </a:rPr>
              <a:t>Sources: Cliffwater (US state pensions, 2000–2022): PE 11.4% vs PME 5.8%. BVCA / Capital Dynamics (UK &amp; Europe, 2001–2023): 14.1% vs 7.7% (PME+). Corroborated by Cambridge Associates mPME (1.15–1.25×) and Kaplan-Harris-Jenkinson KS-PME on Burgiss (1.20–1.27×), ≈ +3 pts/yr. Athanase real, net, 2006–2025.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Risk-Adjusted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42229" y="263347"/>
            <a:ext cx="208488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556A83"/>
                </a:solidFill>
                <a:latin typeface="Arial"/>
              </a:rPr>
              <a:t>Figure 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>
                <a:solidFill>
                  <a:srgbClr val="314359"/>
                </a:solidFill>
                <a:latin typeface="Times New Roman"/>
              </a:rPr>
              <a:t>Switching a private-equity sleeve into Athanase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On true risk, PE and Athanase carry similar volatility — but Athanase’s is mostly upside, and it returns more, with daily liquidity.</a:t>
            </a:r>
          </a:p>
        </p:txBody>
      </p:sp>
      <p:pic>
        <p:nvPicPr>
          <p:cNvPr id="8" name="Picture 7" descr="pe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46" y="2223819"/>
            <a:ext cx="4108072" cy="28895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12076" y="6125260"/>
            <a:ext cx="4535537" cy="390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1">
                <a:solidFill>
                  <a:srgbClr val="556A83"/>
                </a:solidFill>
                <a:latin typeface="Arial"/>
              </a:rPr>
              <a:t>De-smoothed, PE’s ~10% reported vol is really ~28% (PIMCO; AQR beta 1.5–1.6) — about Athanase’s 27%, but levered downside, not upside.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57345" y="2243328"/>
            <a:ext cx="4169768" cy="838809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652" y="2340864"/>
            <a:ext cx="1463076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60" b="1" i="0">
                <a:solidFill>
                  <a:srgbClr val="314359"/>
                </a:solidFill>
                <a:latin typeface="Arial"/>
              </a:rPr>
              <a:t>RETURN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56997" y="2331110"/>
            <a:ext cx="248723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1" i="0">
                <a:solidFill>
                  <a:srgbClr val="314359"/>
                </a:solidFill>
                <a:latin typeface="Times New Roman"/>
              </a:rPr>
              <a:t>~16% vs ~11–14% realised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652" y="2633472"/>
            <a:ext cx="3877152" cy="4096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Above what even the best allocators realise from PE (Cliffwater; BVCA).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57345" y="3179673"/>
            <a:ext cx="4169768" cy="838809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652" y="3277209"/>
            <a:ext cx="1463076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60" b="1" i="0">
                <a:solidFill>
                  <a:srgbClr val="314359"/>
                </a:solidFill>
                <a:latin typeface="Arial"/>
              </a:rPr>
              <a:t>LIQUIDITY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56997" y="3267456"/>
            <a:ext cx="248723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1" i="0">
                <a:solidFill>
                  <a:srgbClr val="314359"/>
                </a:solidFill>
                <a:latin typeface="Times New Roman"/>
              </a:rPr>
              <a:t>Daily vs 10-yr lock-up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652" y="3569817"/>
            <a:ext cx="3877152" cy="4096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Listed positions you can exit; no blind-pool capital calls.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7345" y="4116019"/>
            <a:ext cx="4169768" cy="838809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652" y="4213555"/>
            <a:ext cx="1463076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60" b="1" i="0">
                <a:solidFill>
                  <a:srgbClr val="314359"/>
                </a:solidFill>
                <a:latin typeface="Arial"/>
              </a:rPr>
              <a:t>FEES &amp; CAPITAL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56997" y="4203801"/>
            <a:ext cx="248723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1" i="0">
                <a:solidFill>
                  <a:srgbClr val="314359"/>
                </a:solidFill>
                <a:latin typeface="Times New Roman"/>
              </a:rPr>
              <a:t>Lower drag, fully invested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652" y="4506163"/>
            <a:ext cx="3877152" cy="4096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No fees on undeployed dry powder waiting in a queue.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57345" y="5052364"/>
            <a:ext cx="4169768" cy="838809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652" y="5149900"/>
            <a:ext cx="1463076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60" b="1" i="0">
                <a:solidFill>
                  <a:srgbClr val="314359"/>
                </a:solidFill>
                <a:latin typeface="Arial"/>
              </a:rPr>
              <a:t>TRANSPARENCY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56997" y="5140147"/>
            <a:ext cx="248723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1" i="0">
                <a:solidFill>
                  <a:srgbClr val="314359"/>
                </a:solidFill>
                <a:latin typeface="Times New Roman"/>
              </a:rPr>
              <a:t>Daily marks, real control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652" y="5442508"/>
            <a:ext cx="3877152" cy="4096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A public scoreboard plus board control of cash flow, capex and pay.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57345" y="5988710"/>
            <a:ext cx="4169768" cy="838809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652" y="6086246"/>
            <a:ext cx="1463076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60" b="1" i="0">
                <a:solidFill>
                  <a:srgbClr val="314359"/>
                </a:solidFill>
                <a:latin typeface="Arial"/>
              </a:rPr>
              <a:t>RISK, HONESTLY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56997" y="6076492"/>
            <a:ext cx="248723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1" i="0">
                <a:solidFill>
                  <a:srgbClr val="314359"/>
                </a:solidFill>
                <a:latin typeface="Times New Roman"/>
              </a:rPr>
              <a:t>Similar vol, opposite shape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652" y="6378854"/>
            <a:ext cx="3877152" cy="4096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PE’s true ~28% vol is levered downside; Athanase’s 27% is mostly upside (downside only ~11%).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8922" y="6456883"/>
            <a:ext cx="8873559" cy="448665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0599" y="6456883"/>
            <a:ext cx="8632151" cy="44866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0" i="1">
                <a:solidFill>
                  <a:srgbClr val="FFFFFF"/>
                </a:solidFill>
                <a:latin typeface="Arial"/>
              </a:rPr>
              <a:t>Once PE’s smoothing is removed, the two carry similar volatility — but Athanase returns more, its risk is upside not downside, and it stays liquid and transparent.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22" y="6944563"/>
            <a:ext cx="9217382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600" b="0" i="0">
                <a:solidFill>
                  <a:srgbClr val="556A83"/>
                </a:solidFill>
                <a:latin typeface="Arial"/>
              </a:rPr>
              <a:t>Athanase: net monthly returns, 235 months (2006–2025), real (total vol 27%, downside 11%). PE realised ~11–14% (Cliffwater 11.4%; BVCA 14.1%) vs headline IRR ~18–22%; reported ~10% vol de-smoothed to ~25–30% (PIMCO; AQR equity beta 1.5–1.6; Couts-Gonçalves-Rossi, 2024). Illustrative; past performance ≠ future results.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Risk-Adjusted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42229" y="263347"/>
            <a:ext cx="208488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556A83"/>
                </a:solidFill>
                <a:latin typeface="Arial"/>
              </a:rPr>
              <a:t>Figure 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>
                <a:solidFill>
                  <a:srgbClr val="314359"/>
                </a:solidFill>
                <a:latin typeface="Times New Roman"/>
              </a:rPr>
              <a:t>The volatility gap is settled in the literature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Cash-flow models, secondary-market prices and econometric unsmoothing all converge: PE’s true risk is roughly 2–3× its reported figure.</a:t>
            </a:r>
          </a:p>
        </p:txBody>
      </p:sp>
      <p:pic>
        <p:nvPicPr>
          <p:cNvPr id="8" name="Picture 7" descr="pe_evid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9" y="2194560"/>
            <a:ext cx="4957136" cy="296273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218075" y="2243328"/>
            <a:ext cx="3109037" cy="897331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64383" y="2340864"/>
            <a:ext cx="2816422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1" i="0">
                <a:solidFill>
                  <a:srgbClr val="314359"/>
                </a:solidFill>
                <a:latin typeface="Arial"/>
              </a:rPr>
              <a:t>CASH-FLOW NPV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64383" y="2574950"/>
            <a:ext cx="2816422" cy="536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60" b="0" i="0">
                <a:solidFill>
                  <a:srgbClr val="0E1620"/>
                </a:solidFill>
                <a:latin typeface="Arial"/>
              </a:rPr>
              <a:t>Buyout vol 25% (vs 11% index), beta &gt; 1 — Ang, Chen, Goetzmann &amp; Phalippou (2018), J. Finance.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8075" y="3257702"/>
            <a:ext cx="3109037" cy="897331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64383" y="3355238"/>
            <a:ext cx="2816422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1" i="0">
                <a:solidFill>
                  <a:srgbClr val="314359"/>
                </a:solidFill>
                <a:latin typeface="Arial"/>
              </a:rPr>
              <a:t>SECONDARY-MARKET PRICES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4383" y="3589324"/>
            <a:ext cx="2816422" cy="536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60" b="0" i="0">
                <a:solidFill>
                  <a:srgbClr val="0E1620"/>
                </a:solidFill>
                <a:latin typeface="Arial"/>
              </a:rPr>
              <a:t>Traded-stake beta &gt; 2.0 vs &lt; 0.5 for the same firms on NAV — Boyer, Nadauld, Vorkink &amp; Weisbach (2018).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8075" y="4272076"/>
            <a:ext cx="3109037" cy="897331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4383" y="4369612"/>
            <a:ext cx="2816422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1" i="0">
                <a:solidFill>
                  <a:srgbClr val="314359"/>
                </a:solidFill>
                <a:latin typeface="Arial"/>
              </a:rPr>
              <a:t>ECONOMETRIC UNSMOOTHING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383" y="4603699"/>
            <a:ext cx="2816422" cy="536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60" b="0" i="0">
                <a:solidFill>
                  <a:srgbClr val="0E1620"/>
                </a:solidFill>
                <a:latin typeface="Arial"/>
              </a:rPr>
              <a:t>Illiquidity creates spurious smoothness that suppresses vol — Getmansky, Lo &amp; Makarov (2004), JFE (cited 1,300+).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8075" y="5286451"/>
            <a:ext cx="3109037" cy="897331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64383" y="5383987"/>
            <a:ext cx="2816422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1" i="0">
                <a:solidFill>
                  <a:srgbClr val="314359"/>
                </a:solidFill>
                <a:latin typeface="Arial"/>
              </a:rPr>
              <a:t>CATERING / “LAUNDERING”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4383" y="5618073"/>
            <a:ext cx="2816422" cy="536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60" b="0" i="0">
                <a:solidFill>
                  <a:srgbClr val="0E1620"/>
                </a:solidFill>
                <a:latin typeface="Arial"/>
              </a:rPr>
              <a:t>GPs smooth returns because LPs value the “phony happiness” — Jackson, Ling &amp; Naranjo (2022); Couts et al. (2020).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22" y="6456883"/>
            <a:ext cx="8873559" cy="448665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0599" y="6456883"/>
            <a:ext cx="8632151" cy="44866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0" i="1">
                <a:solidFill>
                  <a:srgbClr val="FFFFFF"/>
                </a:solidFill>
                <a:latin typeface="Arial"/>
              </a:rPr>
              <a:t>Independent methods, the same answer: PE is a highly-levered equity portfolio whose reported smoothness is an artefact — its true volatility rivals Athanase’s, without the upside skew.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22" y="6944563"/>
            <a:ext cx="9217382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560" b="0" i="0">
                <a:solidFill>
                  <a:srgbClr val="556A83"/>
                </a:solidFill>
                <a:latin typeface="Arial"/>
              </a:rPr>
              <a:t>Sources: Ang, Chen, Goetzmann &amp; Phalippou (2018, J. Finance 73(4)); Boyer, Nadauld, Vorkink &amp; Weisbach (2018); Getmansky, Lo &amp; Makarov (2004, JFE 74(3)); Couts, Gonçalves &amp; Rossi (2020); Jackson, Ling &amp; Naranjo (2022); PIMCO (2022); AQR (Asness). Bars show vol-equivalent risk; beta rows scaled for comparison. Illustrative.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52130"/>
      </a:dk1>
      <a:lt1>
        <a:srgbClr val="FFFFFF"/>
      </a:lt1>
      <a:dk2>
        <a:srgbClr val="0E1620"/>
      </a:dk2>
      <a:lt2>
        <a:srgbClr val="F6F7F9"/>
      </a:lt2>
      <a:accent1>
        <a:srgbClr val="152130"/>
      </a:accent1>
      <a:accent2>
        <a:srgbClr val="314359"/>
      </a:accent2>
      <a:accent3>
        <a:srgbClr val="556A83"/>
      </a:accent3>
      <a:accent4>
        <a:srgbClr val="0E1620"/>
      </a:accent4>
      <a:accent5>
        <a:srgbClr val="E2E5E9"/>
      </a:accent5>
      <a:accent6>
        <a:srgbClr val="F6F7F9"/>
      </a:accent6>
      <a:hlink>
        <a:srgbClr val="314359"/>
      </a:hlink>
      <a:folHlink>
        <a:srgbClr val="556A83"/>
      </a:folHlink>
    </a:clrScheme>
    <a:fontScheme name="Office">
      <a:majorFont>
        <a:latin typeface="Times New Roman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