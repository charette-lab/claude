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3" r:id="rId12"/>
    <p:sldId id="278" r:id="rId27"/>
    <p:sldId id="282" r:id="rId31"/>
    <p:sldId id="274" r:id="rId23"/>
    <p:sldId id="327" r:id="rId76"/>
    <p:sldId id="329" r:id="rId78"/>
    <p:sldId id="317" r:id="rId66"/>
    <p:sldId id="318" r:id="rId67"/>
    <p:sldId id="321" r:id="rId70"/>
  </p:sldIdLst>
  <p:sldSz cx="975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2" Type="http://schemas.openxmlformats.org/officeDocument/2006/relationships/slide" Target="slides/slide2.xml"/><Relationship Id="rId23" Type="http://schemas.openxmlformats.org/officeDocument/2006/relationships/slide" Target="slides/slide5.xml"/><Relationship Id="rId27" Type="http://schemas.openxmlformats.org/officeDocument/2006/relationships/slide" Target="slides/slide3.xml"/><Relationship Id="rId31" Type="http://schemas.openxmlformats.org/officeDocument/2006/relationships/slide" Target="slides/slide4.xml"/><Relationship Id="rId66" Type="http://schemas.openxmlformats.org/officeDocument/2006/relationships/slide" Target="slides/slide8.xml"/><Relationship Id="rId67" Type="http://schemas.openxmlformats.org/officeDocument/2006/relationships/slide" Target="slides/slide9.xml"/><Relationship Id="rId70" Type="http://schemas.openxmlformats.org/officeDocument/2006/relationships/slide" Target="slides/slide10.xml"/><Relationship Id="rId76" Type="http://schemas.openxmlformats.org/officeDocument/2006/relationships/slide" Target="slides/slide6.xml"/><Relationship Id="rId78" Type="http://schemas.openxmlformats.org/officeDocument/2006/relationships/slide" Target="slides/slide7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Relationship Id="rId10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Charette" userId="0db9b4c6-585a-4616-ab53-47ba82066cad" providerId="ADAL" clId="{42E455C0-5321-4BA4-9654-3C8921CE5DA4}"/>
    <pc:docChg chg="modSld">
      <pc:chgData name="Stefan Charette" userId="0db9b4c6-585a-4616-ab53-47ba82066cad" providerId="ADAL" clId="{42E455C0-5321-4BA4-9654-3C8921CE5DA4}" dt="2026-06-09T08:13:34.859" v="41" actId="20577"/>
      <pc:docMkLst>
        <pc:docMk/>
      </pc:docMkLst>
      <pc:sldChg chg="modSp mod">
        <pc:chgData name="Stefan Charette" userId="0db9b4c6-585a-4616-ab53-47ba82066cad" providerId="ADAL" clId="{42E455C0-5321-4BA4-9654-3C8921CE5DA4}" dt="2026-06-09T08:13:12.051" v="23" actId="20577"/>
        <pc:sldMkLst>
          <pc:docMk/>
          <pc:sldMk cId="0" sldId="268"/>
        </pc:sldMkLst>
        <pc:spChg chg="mod">
          <ac:chgData name="Stefan Charette" userId="0db9b4c6-585a-4616-ab53-47ba82066cad" providerId="ADAL" clId="{42E455C0-5321-4BA4-9654-3C8921CE5DA4}" dt="2026-06-09T08:13:12.051" v="2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34.859" v="41" actId="20577"/>
        <pc:sldMkLst>
          <pc:docMk/>
          <pc:sldMk cId="0" sldId="269"/>
        </pc:sldMkLst>
        <pc:spChg chg="mod">
          <ac:chgData name="Stefan Charette" userId="0db9b4c6-585a-4616-ab53-47ba82066cad" providerId="ADAL" clId="{42E455C0-5321-4BA4-9654-3C8921CE5DA4}" dt="2026-06-09T08:13:34.859" v="41" actId="20577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960">
                <a:solidFill>
                  <a:srgbClr val="556A83"/>
                </a:solidFill>
              </a:rPr>
              <a:t>Figure 5.  Average monthly return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Athanase</c:v>
                </c:pt>
              </c:strCache>
            </c:strRef>
          </c:tx>
          <c:spPr>
            <a:solidFill>
              <a:srgbClr val="152130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1.2</c:v>
                </c:pt>
                <c:pt idx="2">
                  <c:v>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70-45BA-8499-251F9C2C0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IMI</c:v>
                </c:pt>
              </c:strCache>
            </c:strRef>
          </c:tx>
          <c:spPr>
            <a:solidFill>
              <a:srgbClr val="556A83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1.3</c:v>
                </c:pt>
                <c:pt idx="2">
                  <c:v>-1.7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70-45BA-8499-251F9C2C08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80"/>
          </a:pPr>
          <a:endParaRPr lang="sv-SE"/>
        </a:p>
      </c:txPr>
    </c:legend>
    <c:plotVisOnly val="1"/>
    <c:dispBlanksAs val="gap"/>
    <c:showDLblsOverMax val="1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1950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360" b="0" i="0" spc="-126">
                <a:solidFill>
                  <a:srgbClr val="FFFFFF"/>
                </a:solidFill>
                <a:latin typeface="Times New Roman"/>
              </a:rPr>
              <a:t>Engaged Ownership as an Asset Class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20" b="0" i="1" spc="-72">
                <a:solidFill>
                  <a:srgbClr val="E2E5E9"/>
                </a:solidFill>
                <a:latin typeface="Times New Roman"/>
              </a:rPr>
              <a:t>Why allocators should consider it — and why Athanase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553" y="6437376"/>
            <a:ext cx="5852306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An endowment briefing  ·  Replacing part of global public equity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exactly the environment active management is built for — and as analysis itself commoditises, the most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Expensive equities, record index concentration, and price-insensitive passive flows that inflate the most crowded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Why active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Wider mispricing and dispersion; valuation discipline is rewarded again. The “active underperforms” critique is cyclical — and weakest in exactly this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A better kind of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Other genuine edges exist — quant and specialist alpha — but they compete on analysing the same public data, which is what commoditises fastest. The most durable edge is ownership: buying mispriced businesses and changing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614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498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When the index is the crowded, expensive, fragile trade, the answer is not to pick stocks and hope — it is to own undervalued businesses and make them better. That is engaged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38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19%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avg annualised NET,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any entry month*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worst-ever entry,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still positive*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growth of capital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~19% average annualised return*</a:t>
            </a:r>
            <a:r>
              <a:rPr sz="1200">
                <a:solidFill>
                  <a:srgbClr val="0E1620"/>
                </a:solidFill>
                <a:latin typeface="Arial"/>
              </a:rPr>
              <a:t>  whatever month you invested and held to today — entry timing has barely mattered.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~7% in the single worst entry month</a:t>
            </a:r>
            <a:r>
              <a:rPr sz="1200">
                <a:solidFill>
                  <a:srgbClr val="0E1620"/>
                </a:solidFill>
                <a:latin typeface="Arial"/>
              </a:rPr>
              <a:t>  even the unluckiest possible entry still compounded at a mid-single-digit net return — no investor lost over the holding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16.3% time-weighted NET since 2006</a:t>
            </a:r>
            <a:r>
              <a:rPr sz="1200">
                <a:solidFill>
                  <a:srgbClr val="0E1620"/>
                </a:solidFill>
                <a:latin typeface="Arial"/>
              </a:rPr>
              <a:t>  vs MSCI IMI 6.2% — net of all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*Average of the annualised NET return earned investing in each individual month and holding to the end (107 entry months, AIPFII). Time-weighted figure annualised over actual invested time. Past performance is not indicative of future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ownership playbook, honed over 38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38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evidence: constructive engagement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Three decades of peer-reviewed research — across the US and Europe — converge on the same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450653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022" y="2292096"/>
            <a:ext cx="2275084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9576" y="2292096"/>
            <a:ext cx="1865422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4676" y="2292096"/>
            <a:ext cx="16898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What it covers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998" y="2292096"/>
            <a:ext cx="457942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50098" y="2292096"/>
            <a:ext cx="440386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What it establishes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682240"/>
            <a:ext cx="2450653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022" y="2682240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Brav, Jiang, Partnoy &amp; Thomas (2008) · J. Finance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9576" y="2682240"/>
            <a:ext cx="1865422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84676" y="2682240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1,000+ US engagements, 2001–06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998" y="2682240"/>
            <a:ext cx="4579429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50098" y="2682240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Activists “seldom seek control” and are “nonconfrontational”; ~2/3 reach full or partial success; +7% announcement return with no reversal; payout, operating performance and CEO turnover all rise.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521049"/>
            <a:ext cx="2450653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022" y="3521049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Becht, Franks, Grant &amp; Wagner (2017) · Rev. Fin. Studies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9576" y="3521049"/>
            <a:ext cx="1865422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84676" y="3521049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1,740 engagements, 23 countries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998" y="3521049"/>
            <a:ext cx="4579429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50098" y="3521049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Outcomes and market responses are similar in Europe and North America — the playbook travels; board representation is a central, value-creating outcome.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4359859"/>
            <a:ext cx="2450653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022" y="4359859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Becht, Franks, Mayer &amp; Rossi (2009) · Rev. Fin. Studies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9576" y="4359859"/>
            <a:ext cx="1865422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84676" y="4359859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Clinical study — Hermes UK Focus Fund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998" y="4359859"/>
            <a:ext cx="4579429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50098" y="4359859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Returns come from engagement, not stock-picking — via private, cooperative interventions: refocus on the core, return cash, change the CEO / chair.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5198668"/>
            <a:ext cx="2450653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022" y="5198668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Bebchuk, Brav, Jiang &amp; Keusch (2020) · J. Fin. Economics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9576" y="5198668"/>
            <a:ext cx="1865422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84676" y="5198668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US settlement agreements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998" y="5198668"/>
            <a:ext cx="4579429" cy="838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50098" y="5198668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Boards settle by granting board seats — the intermediary step to the operational and leadership change activists seek. Exactly the precondition model.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6037478"/>
            <a:ext cx="2450653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4022" y="6037478"/>
            <a:ext cx="2275084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Gantchev (2013) · J. Fin. Economics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9576" y="6037478"/>
            <a:ext cx="1865422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84676" y="6037478"/>
            <a:ext cx="1689853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1,492 campaigns, 2000–07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998" y="6037478"/>
            <a:ext cx="4579429" cy="83880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50098" y="6037478"/>
            <a:ext cx="4403860" cy="838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 campaign escalating to a proxy fight costs ~$10.7m; settling at the board-representation stage avoids most of it — collaboration is cheaper.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22" y="6993331"/>
            <a:ext cx="8851613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academic record converges with our own 38 engagements: control secured cooperatively through a board seat is how operational value is created.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trade-off: every allocation raises return and lowers downside risk — so to a committee this is a mathematical risk-reduction tool, not a risky bet, sized within prudent 3–8%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Proof: outperformance with downside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76" y="1901952"/>
          <a:ext cx="5193921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25460" y="1999488"/>
            <a:ext cx="336507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What downside protection means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In the market’s down months Athanase fell ~1.5% on average versus the market’s ~3.8% — losing less than half as much when it matters.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Positive when the market wasn’t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Across the six worst years for global equities, Athanase outperformed in five — and stayed positive in two: +9% in 2015 and +0.3% in 2022, while the market fell −6% and −20%.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Why it compounds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Losing less in drawdowns leaves more capital working in the recovery — the engine behind 18× growth of capital vs 3.2× for the market since 2006.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AIP Fund II — transactions (2015–present)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Each position shown against its benchmark; invested capital weighted MOIC of 2.2x.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414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7176" y="2292096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2730" y="2292096"/>
            <a:ext cx="1463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1253" y="229209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Holding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806" y="2292096"/>
            <a:ext cx="1243615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4329" y="229209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421" y="2292096"/>
            <a:ext cx="1243615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7944" y="229209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3036" y="2292096"/>
            <a:ext cx="1463076" cy="20677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1560" y="229209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vs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53" y="2498871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7176" y="2498871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Bufab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62730" y="2498871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21253" y="249887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5806" y="2498871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4329" y="249887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421" y="2498871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27944" y="249887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2.0x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3036" y="2498871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1560" y="249887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53" y="2705646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7176" y="2705646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DistIt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2730" y="2705646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21253" y="270564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5806" y="2705646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4329" y="270564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421" y="2705646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27944" y="270564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13036" y="2705646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71560" y="270564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-1%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53" y="2912422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7176" y="2912422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Ngex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2730" y="2912422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21253" y="291242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5806" y="2912422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4329" y="291242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421" y="2912422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27944" y="291242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6.2x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13036" y="2912422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71560" y="291242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+59%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53" y="3119197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7176" y="3119197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Alcadon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62730" y="3119197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21253" y="311919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25806" y="3119197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84329" y="311919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421" y="3119197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27944" y="311919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3036" y="3119197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71560" y="311919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+65%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53" y="3325973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7176" y="3325973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Tempest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62730" y="3325973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021253" y="332597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25806" y="3325973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84329" y="332597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421" y="3325973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27944" y="332597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13036" y="3325973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71560" y="332597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53" y="3532748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7176" y="3532748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Zalaris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62730" y="3532748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021253" y="353274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25806" y="3532748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84329" y="353274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421" y="3532748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27944" y="353274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13036" y="3532748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971560" y="353274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53" y="3739524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07176" y="3739524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Zutec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62730" y="3739524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21253" y="3739524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5806" y="3739524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484329" y="3739524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421" y="3739524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727944" y="3739524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2.8x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13036" y="3739524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971560" y="3739524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53" y="3946299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7176" y="3946299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Roko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62730" y="3946299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021253" y="3946299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25806" y="3946299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484329" y="3946299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421" y="3946299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27944" y="3946299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5.1x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3036" y="3946299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971560" y="3946299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+18%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53" y="4153075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7176" y="4153075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Catella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62730" y="4153075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021253" y="4153075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425806" y="4153075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484329" y="4153075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421" y="4153075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727944" y="4153075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13036" y="4153075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971560" y="4153075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53" y="4359850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07176" y="4359850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62730" y="4359850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021253" y="4359850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425806" y="4359850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484329" y="4359850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421" y="4359850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727944" y="4359850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5.4x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13036" y="4359850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971560" y="4359850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53" y="4566626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07176" y="4566626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Renold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962730" y="4566626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021253" y="456662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2024-2025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425806" y="4566626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484329" y="456662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220%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421" y="4566626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727944" y="4566626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13036" y="4566626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971560" y="4566626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+211%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53" y="4773401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07176" y="4773401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Actic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62730" y="4773401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021253" y="477340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2017-2023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25806" y="4773401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84329" y="477340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-27%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69421" y="4773401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727944" y="4773401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0.4x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13036" y="4773401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971560" y="4773401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-33%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8653" y="4980177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07176" y="4980177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Haldex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62730" y="4980177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021253" y="498017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25806" y="4980177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84329" y="498017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421" y="4980177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727944" y="4980177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13036" y="4980177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971560" y="4980177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+33%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53" y="5186952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607176" y="5186952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Robit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962730" y="5186952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021253" y="518695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25806" y="5186952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484329" y="518695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14%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669421" y="5186952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727944" y="5186952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1.4x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13036" y="5186952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971560" y="5186952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48653" y="5393728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07176" y="5393728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Kitron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62730" y="539372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021253" y="539372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2016-2018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425806" y="539372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484329" y="539372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40%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669421" y="539372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727944" y="539372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1.5x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913036" y="539372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971560" y="539372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48653" y="5600503"/>
            <a:ext cx="2414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07176" y="5600503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Sandvik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962730" y="5600503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021253" y="560050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425806" y="5600503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484329" y="560050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49%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669421" y="5600503"/>
            <a:ext cx="1243615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727944" y="5600503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1.6x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913036" y="5600503"/>
            <a:ext cx="1463076" cy="206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971560" y="5600503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+43%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48653" y="5807278"/>
            <a:ext cx="2414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07176" y="5807278"/>
            <a:ext cx="2326291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Transcom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962730" y="580727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021253" y="580727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425806" y="580727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484329" y="580727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80%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669421" y="5807278"/>
            <a:ext cx="1243615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5727944" y="5807278"/>
            <a:ext cx="1155830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1.7x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13036" y="5807278"/>
            <a:ext cx="1463076" cy="20677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971560" y="5807278"/>
            <a:ext cx="1375292" cy="206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+80%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48653" y="6111590"/>
            <a:ext cx="7827459" cy="33162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58384" y="6111590"/>
            <a:ext cx="7607998" cy="3316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Arial"/>
              </a:rPr>
              <a:t>17 deals   ·   weighted MOIC 2.2x   ·   ex best/worst IRR 41% vs index ~9%   ·   35 of 38 deals profitable since 2006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48653" y="6521241"/>
            <a:ext cx="8632151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IRR/MOIC net of the position; “n.m.” where short holding periods make annualised figures not meaningful. Capital in SEK.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against the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+1,743%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19.3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+16.3%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(net of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vs the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5.8×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7318a-0826-4810-8988-cc3e5c2e3a20">
      <Terms xmlns="http://schemas.microsoft.com/office/infopath/2007/PartnerControls"/>
    </lcf76f155ced4ddcb4097134ff3c332f>
    <TaxCatchAll xmlns="4124b31e-6573-4802-b7ef-311f4d2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10709CD82A6741BE5E8B9BFA41D3C0" ma:contentTypeVersion="13" ma:contentTypeDescription="Skapa ett nytt dokument." ma:contentTypeScope="" ma:versionID="ea70554b132df1325a42697029f21ce4">
  <xsd:schema xmlns:xsd="http://www.w3.org/2001/XMLSchema" xmlns:xs="http://www.w3.org/2001/XMLSchema" xmlns:p="http://schemas.microsoft.com/office/2006/metadata/properties" xmlns:ns2="5e27318a-0826-4810-8988-cc3e5c2e3a20" xmlns:ns3="4124b31e-6573-4802-b7ef-311f4d26277d" targetNamespace="http://schemas.microsoft.com/office/2006/metadata/properties" ma:root="true" ma:fieldsID="cc21193230fc81558174baefa7095284" ns2:_="" ns3:_="">
    <xsd:import namespace="5e27318a-0826-4810-8988-cc3e5c2e3a20"/>
    <xsd:import namespace="4124b31e-6573-4802-b7ef-311f4d2627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7318a-0826-4810-8988-cc3e5c2e3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7f99c0e0-a277-4309-9e70-fff5b915c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24b31e-6573-4802-b7ef-311f4d2627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70a8ef-2ce6-4f9b-a60c-abb7e201e7ac}" ma:internalName="TaxCatchAll" ma:showField="CatchAllData" ma:web="4124b31e-6573-4802-b7ef-311f4d2627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9CEDA-D96E-4DE0-BD69-05CF6CA08BCA}">
  <ds:schemaRefs>
    <ds:schemaRef ds:uri="http://schemas.microsoft.com/office/2006/metadata/properties"/>
    <ds:schemaRef ds:uri="http://schemas.microsoft.com/office/infopath/2007/PartnerControls"/>
    <ds:schemaRef ds:uri="5e27318a-0826-4810-8988-cc3e5c2e3a20"/>
    <ds:schemaRef ds:uri="4124b31e-6573-4802-b7ef-311f4d26277d"/>
  </ds:schemaRefs>
</ds:datastoreItem>
</file>

<file path=customXml/itemProps2.xml><?xml version="1.0" encoding="utf-8"?>
<ds:datastoreItem xmlns:ds="http://schemas.openxmlformats.org/officeDocument/2006/customXml" ds:itemID="{2B94E596-B65B-4BD7-8F65-8C8EB76BB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B4E500-B9BC-47AF-8F6B-49D89CFF5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27318a-0826-4810-8988-cc3e5c2e3a20"/>
    <ds:schemaRef ds:uri="4124b31e-6573-4802-b7ef-311f4d262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20734</Words>
  <Application>Microsoft Office PowerPoint</Application>
  <PresentationFormat>Custom</PresentationFormat>
  <Paragraphs>1785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 Charette</cp:lastModifiedBy>
  <cp:revision>1</cp:revision>
  <dcterms:created xsi:type="dcterms:W3CDTF">2013-01-27T09:14:16Z</dcterms:created>
  <dcterms:modified xsi:type="dcterms:W3CDTF">2026-06-09T08:13:39Z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0x0101006310709CD82A6741BE5E8B9BFA41D3C0</vt:lpwstr>
  </property>
</Properties>
</file>